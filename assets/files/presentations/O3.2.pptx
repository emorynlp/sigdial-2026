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fd8eec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5fd8eec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fd8eec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fd8eec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fd8eec4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5fd8eec4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fd8eec4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5fd8eec4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fd8eec4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5fd8eec4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fd8eec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5fd8eec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5fd8eec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f5fd8eec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5fd8eec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5fd8eec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5fd8eec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5fd8eec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5fd8eec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5fd8eec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5fd8eec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5fd8eec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5fd8eec4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f5fd8eec4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9450" y="11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-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7750" y="-12175"/>
            <a:ext cx="9144000" cy="834600"/>
          </a:xfrm>
          <a:prstGeom prst="rect">
            <a:avLst/>
          </a:prstGeom>
          <a:solidFill>
            <a:srgbClr val="FFAE7C"/>
          </a:solidFill>
          <a:ln cap="flat" cmpd="sng" w="9525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12475" y="32850"/>
            <a:ext cx="768399" cy="76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30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A5B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>
                <a:solidFill>
                  <a:schemeClr val="lt1"/>
                </a:solidFill>
                <a:highlight>
                  <a:srgbClr val="FFAE7C"/>
                </a:highlight>
              </a:rPr>
              <a:t>GBC:</a:t>
            </a:r>
            <a:endParaRPr sz="5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00">
                <a:solidFill>
                  <a:schemeClr val="lt1"/>
                </a:solidFill>
                <a:highlight>
                  <a:srgbClr val="FFAE7C"/>
                </a:highlight>
              </a:rPr>
              <a:t>G</a:t>
            </a:r>
            <a:r>
              <a:rPr lang="en" sz="4200">
                <a:solidFill>
                  <a:schemeClr val="lt1"/>
                </a:solidFill>
              </a:rPr>
              <a:t>radient-</a:t>
            </a:r>
            <a:r>
              <a:rPr lang="en" sz="4200">
                <a:solidFill>
                  <a:schemeClr val="lt1"/>
                </a:solidFill>
                <a:highlight>
                  <a:srgbClr val="FFAE7C"/>
                </a:highlight>
              </a:rPr>
              <a:t>B</a:t>
            </a:r>
            <a:r>
              <a:rPr lang="en" sz="4200">
                <a:solidFill>
                  <a:schemeClr val="lt1"/>
                </a:solidFill>
              </a:rPr>
              <a:t>ased </a:t>
            </a:r>
            <a:r>
              <a:rPr lang="en" sz="4200">
                <a:solidFill>
                  <a:schemeClr val="lt1"/>
                </a:solidFill>
                <a:highlight>
                  <a:srgbClr val="FFAE7C"/>
                </a:highlight>
              </a:rPr>
              <a:t>C</a:t>
            </a:r>
            <a:r>
              <a:rPr lang="en" sz="4200">
                <a:solidFill>
                  <a:schemeClr val="lt1"/>
                </a:solidFill>
              </a:rPr>
              <a:t>onnections for Optimizing Multi-Agent Systems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294B"/>
                </a:solidFill>
              </a:rPr>
              <a:t>Xiaocheng Yang, Abdulrahman Alrabah,</a:t>
            </a:r>
            <a:endParaRPr>
              <a:solidFill>
                <a:srgbClr val="13294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3294B"/>
                </a:solidFill>
              </a:rPr>
              <a:t>Dilek Hakkani-Tür, Gokhan Tur</a:t>
            </a:r>
            <a:endParaRPr>
              <a:solidFill>
                <a:srgbClr val="13294B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7899" l="0" r="0" t="7434"/>
          <a:stretch/>
        </p:blipFill>
        <p:spPr>
          <a:xfrm>
            <a:off x="5610609" y="3626727"/>
            <a:ext cx="853202" cy="72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0188" y="3652989"/>
            <a:ext cx="2675669" cy="696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8"/>
              <a:t>Motivation</a:t>
            </a:r>
            <a:endParaRPr sz="167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Multi-agent systems are hard to debug</a:t>
            </a:r>
            <a:endParaRPr b="1" sz="2356"/>
          </a:p>
        </p:txBody>
      </p:sp>
      <p:grpSp>
        <p:nvGrpSpPr>
          <p:cNvPr id="65" name="Google Shape;65;p14"/>
          <p:cNvGrpSpPr/>
          <p:nvPr/>
        </p:nvGrpSpPr>
        <p:grpSpPr>
          <a:xfrm>
            <a:off x="1940774" y="2003562"/>
            <a:ext cx="988444" cy="531221"/>
            <a:chOff x="2368255" y="1235868"/>
            <a:chExt cx="1292591" cy="694589"/>
          </a:xfrm>
        </p:grpSpPr>
        <p:sp>
          <p:nvSpPr>
            <p:cNvPr id="66" name="Google Shape;66;p14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Manager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637224" y="1755977"/>
            <a:ext cx="989100" cy="1026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94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4547581" y="2003167"/>
            <a:ext cx="989453" cy="531273"/>
            <a:chOff x="4745825" y="3894350"/>
            <a:chExt cx="1990050" cy="1069175"/>
          </a:xfrm>
        </p:grpSpPr>
        <p:sp>
          <p:nvSpPr>
            <p:cNvPr id="70" name="Google Shape;70;p14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Responder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1" name="Google Shape;71;p14" title="robot (1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/>
          <p:nvPr/>
        </p:nvSpPr>
        <p:spPr>
          <a:xfrm>
            <a:off x="7517967" y="1945895"/>
            <a:ext cx="988800" cy="647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Verbal</a:t>
            </a: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 Loss</a:t>
            </a:r>
            <a:endParaRPr b="1" sz="1376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850633" y="1945585"/>
            <a:ext cx="989100" cy="647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Output</a:t>
            </a:r>
            <a:endParaRPr b="1" sz="1376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4" name="Google Shape;74;p14"/>
          <p:cNvCxnSpPr>
            <a:endCxn id="66" idx="1"/>
          </p:cNvCxnSpPr>
          <p:nvPr/>
        </p:nvCxnSpPr>
        <p:spPr>
          <a:xfrm>
            <a:off x="1625831" y="2269245"/>
            <a:ext cx="478200" cy="93000"/>
          </a:xfrm>
          <a:prstGeom prst="bentConnector3">
            <a:avLst>
              <a:gd fmla="val 50000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5" name="Google Shape;75;p14"/>
          <p:cNvGrpSpPr/>
          <p:nvPr/>
        </p:nvGrpSpPr>
        <p:grpSpPr>
          <a:xfrm>
            <a:off x="3243975" y="1126514"/>
            <a:ext cx="988469" cy="735196"/>
            <a:chOff x="3698046" y="2540373"/>
            <a:chExt cx="955504" cy="710678"/>
          </a:xfrm>
        </p:grpSpPr>
        <p:sp>
          <p:nvSpPr>
            <p:cNvPr id="76" name="Google Shape;76;p14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1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7" name="Google Shape;77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" name="Google Shape;79;p14"/>
          <p:cNvGrpSpPr/>
          <p:nvPr/>
        </p:nvGrpSpPr>
        <p:grpSpPr>
          <a:xfrm>
            <a:off x="3243975" y="2677500"/>
            <a:ext cx="988469" cy="735196"/>
            <a:chOff x="3698046" y="2540373"/>
            <a:chExt cx="955504" cy="710678"/>
          </a:xfrm>
        </p:grpSpPr>
        <p:sp>
          <p:nvSpPr>
            <p:cNvPr id="80" name="Google Shape;80;p14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3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1" name="Google Shape;8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14"/>
          <p:cNvGrpSpPr/>
          <p:nvPr/>
        </p:nvGrpSpPr>
        <p:grpSpPr>
          <a:xfrm>
            <a:off x="3243975" y="1902013"/>
            <a:ext cx="988469" cy="735196"/>
            <a:chOff x="3698046" y="2540373"/>
            <a:chExt cx="955504" cy="710678"/>
          </a:xfrm>
        </p:grpSpPr>
        <p:sp>
          <p:nvSpPr>
            <p:cNvPr id="84" name="Google Shape;84;p14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2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7" name="Google Shape;87;p14"/>
          <p:cNvCxnSpPr>
            <a:stCxn id="66" idx="3"/>
            <a:endCxn id="76" idx="1"/>
          </p:cNvCxnSpPr>
          <p:nvPr/>
        </p:nvCxnSpPr>
        <p:spPr>
          <a:xfrm flipH="1" rot="10800000">
            <a:off x="2929219" y="1587345"/>
            <a:ext cx="477900" cy="774900"/>
          </a:xfrm>
          <a:prstGeom prst="bentConnector3">
            <a:avLst>
              <a:gd fmla="val 49969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>
            <a:stCxn id="66" idx="3"/>
            <a:endCxn id="84" idx="1"/>
          </p:cNvCxnSpPr>
          <p:nvPr/>
        </p:nvCxnSpPr>
        <p:spPr>
          <a:xfrm>
            <a:off x="2929219" y="2362245"/>
            <a:ext cx="477900" cy="600"/>
          </a:xfrm>
          <a:prstGeom prst="bentConnector3">
            <a:avLst>
              <a:gd fmla="val 49969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>
            <a:stCxn id="66" idx="3"/>
            <a:endCxn id="80" idx="1"/>
          </p:cNvCxnSpPr>
          <p:nvPr/>
        </p:nvCxnSpPr>
        <p:spPr>
          <a:xfrm>
            <a:off x="2929219" y="2362245"/>
            <a:ext cx="477900" cy="775800"/>
          </a:xfrm>
          <a:prstGeom prst="bentConnector3">
            <a:avLst>
              <a:gd fmla="val 49969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4"/>
          <p:cNvCxnSpPr>
            <a:stCxn id="76" idx="3"/>
            <a:endCxn id="70" idx="1"/>
          </p:cNvCxnSpPr>
          <p:nvPr/>
        </p:nvCxnSpPr>
        <p:spPr>
          <a:xfrm>
            <a:off x="4232445" y="1587206"/>
            <a:ext cx="478500" cy="774600"/>
          </a:xfrm>
          <a:prstGeom prst="bentConnector3">
            <a:avLst>
              <a:gd fmla="val 4999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stCxn id="84" idx="3"/>
            <a:endCxn id="70" idx="1"/>
          </p:cNvCxnSpPr>
          <p:nvPr/>
        </p:nvCxnSpPr>
        <p:spPr>
          <a:xfrm flipH="1" rot="10800000">
            <a:off x="4232445" y="2361805"/>
            <a:ext cx="478500" cy="900"/>
          </a:xfrm>
          <a:prstGeom prst="bentConnector3">
            <a:avLst>
              <a:gd fmla="val 4999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4"/>
          <p:cNvCxnSpPr>
            <a:stCxn id="80" idx="3"/>
            <a:endCxn id="70" idx="1"/>
          </p:cNvCxnSpPr>
          <p:nvPr/>
        </p:nvCxnSpPr>
        <p:spPr>
          <a:xfrm flipH="1" rot="10800000">
            <a:off x="4232445" y="2361791"/>
            <a:ext cx="478500" cy="776400"/>
          </a:xfrm>
          <a:prstGeom prst="bentConnector3">
            <a:avLst>
              <a:gd fmla="val 4999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4"/>
          <p:cNvCxnSpPr>
            <a:stCxn id="70" idx="3"/>
            <a:endCxn id="73" idx="1"/>
          </p:cNvCxnSpPr>
          <p:nvPr/>
        </p:nvCxnSpPr>
        <p:spPr>
          <a:xfrm flipH="1" rot="10800000">
            <a:off x="5537034" y="2269191"/>
            <a:ext cx="313500" cy="92700"/>
          </a:xfrm>
          <a:prstGeom prst="bentConnector3">
            <a:avLst>
              <a:gd fmla="val 49955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4"/>
          <p:cNvCxnSpPr>
            <a:stCxn id="73" idx="3"/>
            <a:endCxn id="72" idx="1"/>
          </p:cNvCxnSpPr>
          <p:nvPr/>
        </p:nvCxnSpPr>
        <p:spPr>
          <a:xfrm>
            <a:off x="6839733" y="2269285"/>
            <a:ext cx="678300" cy="600"/>
          </a:xfrm>
          <a:prstGeom prst="bentConnector3">
            <a:avLst>
              <a:gd fmla="val 50019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284550" y="36156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FFAE7C"/>
                </a:solidFill>
              </a:rPr>
              <a:t>●  ●●</a:t>
            </a:r>
            <a:endParaRPr sz="1000">
              <a:solidFill>
                <a:srgbClr val="FFAE7C"/>
              </a:solidFill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00"/>
              <a:t>But optimization needs: which agent, step, or token caused the error?</a:t>
            </a:r>
            <a:endParaRPr sz="1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09650" y="36156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73A5B8"/>
                </a:solidFill>
              </a:rPr>
              <a:t>●  ●●</a:t>
            </a:r>
            <a:endParaRPr sz="1000">
              <a:solidFill>
                <a:srgbClr val="73A5B8"/>
              </a:solidFill>
            </a:endParaRPr>
          </a:p>
          <a:p>
            <a:pPr indent="0" lvl="0" marL="0" rtl="0" algn="ctr">
              <a:spcBef>
                <a:spcPts val="500"/>
              </a:spcBef>
              <a:spcAft>
                <a:spcPts val="1200"/>
              </a:spcAft>
              <a:buSzPts val="358"/>
              <a:buNone/>
            </a:pPr>
            <a:r>
              <a:rPr lang="en" sz="1000"/>
              <a:t>A final failure often hides where the failure actually started.</a:t>
            </a:r>
            <a:endParaRPr sz="10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859450" y="36156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73A5B8"/>
                </a:solidFill>
              </a:rPr>
              <a:t>●  ●●</a:t>
            </a:r>
            <a:endParaRPr sz="1000">
              <a:solidFill>
                <a:srgbClr val="73A5B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358"/>
              <a:buNone/>
            </a:pPr>
            <a:r>
              <a:rPr lang="en" sz="1000"/>
              <a:t>Without attribution, prompt updates become broad and noisy.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8"/>
              <a:t>Intuition</a:t>
            </a:r>
            <a:endParaRPr sz="167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6698"/>
              <a:buFont typeface="Arial"/>
              <a:buNone/>
            </a:pPr>
            <a:r>
              <a:rPr b="1" lang="en" sz="2356"/>
              <a:t>Core idea: build credit paths backward from loss</a:t>
            </a:r>
            <a:endParaRPr b="1" sz="2356"/>
          </a:p>
        </p:txBody>
      </p:sp>
      <p:grpSp>
        <p:nvGrpSpPr>
          <p:cNvPr id="103" name="Google Shape;103;p15"/>
          <p:cNvGrpSpPr/>
          <p:nvPr/>
        </p:nvGrpSpPr>
        <p:grpSpPr>
          <a:xfrm>
            <a:off x="1940774" y="2003562"/>
            <a:ext cx="988444" cy="531221"/>
            <a:chOff x="2368255" y="1235868"/>
            <a:chExt cx="1292591" cy="694589"/>
          </a:xfrm>
        </p:grpSpPr>
        <p:sp>
          <p:nvSpPr>
            <p:cNvPr id="104" name="Google Shape;104;p15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Manager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5" name="Google Shape;105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5"/>
          <p:cNvSpPr/>
          <p:nvPr/>
        </p:nvSpPr>
        <p:spPr>
          <a:xfrm>
            <a:off x="637224" y="1755977"/>
            <a:ext cx="989100" cy="1026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94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" name="Google Shape;107;p15"/>
          <p:cNvGrpSpPr/>
          <p:nvPr/>
        </p:nvGrpSpPr>
        <p:grpSpPr>
          <a:xfrm>
            <a:off x="4547581" y="2003167"/>
            <a:ext cx="989453" cy="531273"/>
            <a:chOff x="4745825" y="3894350"/>
            <a:chExt cx="1990050" cy="1069175"/>
          </a:xfrm>
        </p:grpSpPr>
        <p:sp>
          <p:nvSpPr>
            <p:cNvPr id="108" name="Google Shape;108;p15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Responder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9" name="Google Shape;109;p15" title="robot (1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5"/>
          <p:cNvSpPr/>
          <p:nvPr/>
        </p:nvSpPr>
        <p:spPr>
          <a:xfrm>
            <a:off x="7517967" y="1945895"/>
            <a:ext cx="988800" cy="647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Verbal Loss</a:t>
            </a:r>
            <a:endParaRPr b="1" sz="1376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850633" y="1945585"/>
            <a:ext cx="989100" cy="647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730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75" lIns="69875" spcFirstLastPara="1" rIns="69875" wrap="square" tIns="6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76">
                <a:latin typeface="Lexend"/>
                <a:ea typeface="Lexend"/>
                <a:cs typeface="Lexend"/>
                <a:sym typeface="Lexend"/>
              </a:rPr>
              <a:t>Output</a:t>
            </a:r>
            <a:endParaRPr b="1" sz="1376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" name="Google Shape;112;p15"/>
          <p:cNvCxnSpPr>
            <a:endCxn id="104" idx="1"/>
          </p:cNvCxnSpPr>
          <p:nvPr/>
        </p:nvCxnSpPr>
        <p:spPr>
          <a:xfrm>
            <a:off x="1625831" y="2269245"/>
            <a:ext cx="478200" cy="93000"/>
          </a:xfrm>
          <a:prstGeom prst="bentConnector3">
            <a:avLst>
              <a:gd fmla="val 50000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113" name="Google Shape;113;p15"/>
          <p:cNvGrpSpPr/>
          <p:nvPr/>
        </p:nvGrpSpPr>
        <p:grpSpPr>
          <a:xfrm>
            <a:off x="3243975" y="1126514"/>
            <a:ext cx="988469" cy="735196"/>
            <a:chOff x="3698046" y="2540373"/>
            <a:chExt cx="955504" cy="710678"/>
          </a:xfrm>
        </p:grpSpPr>
        <p:sp>
          <p:nvSpPr>
            <p:cNvPr id="114" name="Google Shape;114;p15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1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5" name="Google Shape;115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5"/>
          <p:cNvGrpSpPr/>
          <p:nvPr/>
        </p:nvGrpSpPr>
        <p:grpSpPr>
          <a:xfrm>
            <a:off x="3243975" y="2677500"/>
            <a:ext cx="988469" cy="735196"/>
            <a:chOff x="3698046" y="2540373"/>
            <a:chExt cx="955504" cy="710678"/>
          </a:xfrm>
        </p:grpSpPr>
        <p:sp>
          <p:nvSpPr>
            <p:cNvPr id="118" name="Google Shape;118;p15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73A5B8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3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9" name="Google Shape;119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5"/>
          <p:cNvGrpSpPr/>
          <p:nvPr/>
        </p:nvGrpSpPr>
        <p:grpSpPr>
          <a:xfrm>
            <a:off x="3243975" y="1902013"/>
            <a:ext cx="988469" cy="735196"/>
            <a:chOff x="3698046" y="2540373"/>
            <a:chExt cx="955504" cy="710678"/>
          </a:xfrm>
        </p:grpSpPr>
        <p:sp>
          <p:nvSpPr>
            <p:cNvPr id="122" name="Google Shape;122;p15"/>
            <p:cNvSpPr/>
            <p:nvPr/>
          </p:nvSpPr>
          <p:spPr>
            <a:xfrm>
              <a:off x="3855850" y="2720351"/>
              <a:ext cx="797700" cy="5307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47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375" lIns="45375" spcFirstLastPara="1" rIns="45375" wrap="square" tIns="4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4">
                  <a:latin typeface="Lexend"/>
                  <a:ea typeface="Lexend"/>
                  <a:cs typeface="Lexend"/>
                  <a:sym typeface="Lexend"/>
                </a:rPr>
                <a:t>Worker 2</a:t>
              </a:r>
              <a:endParaRPr b="1" sz="894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3" name="Google Shape;12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00103" y="2540380"/>
              <a:ext cx="302056" cy="302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8046" y="2540373"/>
              <a:ext cx="302048" cy="30217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5" name="Google Shape;125;p15"/>
          <p:cNvCxnSpPr>
            <a:stCxn id="104" idx="3"/>
            <a:endCxn id="114" idx="1"/>
          </p:cNvCxnSpPr>
          <p:nvPr/>
        </p:nvCxnSpPr>
        <p:spPr>
          <a:xfrm flipH="1" rot="10800000">
            <a:off x="2929219" y="1587345"/>
            <a:ext cx="477900" cy="774900"/>
          </a:xfrm>
          <a:prstGeom prst="bentConnector3">
            <a:avLst>
              <a:gd fmla="val 5001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6" name="Google Shape;126;p15"/>
          <p:cNvCxnSpPr>
            <a:stCxn id="104" idx="3"/>
            <a:endCxn id="122" idx="1"/>
          </p:cNvCxnSpPr>
          <p:nvPr/>
        </p:nvCxnSpPr>
        <p:spPr>
          <a:xfrm>
            <a:off x="2929219" y="2362245"/>
            <a:ext cx="477900" cy="600"/>
          </a:xfrm>
          <a:prstGeom prst="bentConnector3">
            <a:avLst>
              <a:gd fmla="val 5001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7" name="Google Shape;127;p15"/>
          <p:cNvCxnSpPr>
            <a:stCxn id="104" idx="3"/>
            <a:endCxn id="118" idx="1"/>
          </p:cNvCxnSpPr>
          <p:nvPr/>
        </p:nvCxnSpPr>
        <p:spPr>
          <a:xfrm>
            <a:off x="2929219" y="2362245"/>
            <a:ext cx="477900" cy="775800"/>
          </a:xfrm>
          <a:prstGeom prst="bentConnector3">
            <a:avLst>
              <a:gd fmla="val 50011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" name="Google Shape;128;p15"/>
          <p:cNvCxnSpPr>
            <a:stCxn id="114" idx="3"/>
            <a:endCxn id="108" idx="1"/>
          </p:cNvCxnSpPr>
          <p:nvPr/>
        </p:nvCxnSpPr>
        <p:spPr>
          <a:xfrm>
            <a:off x="4232445" y="1587206"/>
            <a:ext cx="478500" cy="774600"/>
          </a:xfrm>
          <a:prstGeom prst="bentConnector3">
            <a:avLst>
              <a:gd fmla="val 50004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" name="Google Shape;129;p15"/>
          <p:cNvCxnSpPr>
            <a:stCxn id="122" idx="3"/>
            <a:endCxn id="108" idx="1"/>
          </p:cNvCxnSpPr>
          <p:nvPr/>
        </p:nvCxnSpPr>
        <p:spPr>
          <a:xfrm flipH="1" rot="10800000">
            <a:off x="4232445" y="2361805"/>
            <a:ext cx="478500" cy="900"/>
          </a:xfrm>
          <a:prstGeom prst="bentConnector3">
            <a:avLst>
              <a:gd fmla="val 50004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0" name="Google Shape;130;p15"/>
          <p:cNvCxnSpPr>
            <a:stCxn id="118" idx="3"/>
            <a:endCxn id="108" idx="1"/>
          </p:cNvCxnSpPr>
          <p:nvPr/>
        </p:nvCxnSpPr>
        <p:spPr>
          <a:xfrm flipH="1" rot="10800000">
            <a:off x="4232445" y="2361791"/>
            <a:ext cx="478500" cy="776400"/>
          </a:xfrm>
          <a:prstGeom prst="bentConnector3">
            <a:avLst>
              <a:gd fmla="val 50004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1" name="Google Shape;131;p15"/>
          <p:cNvCxnSpPr>
            <a:stCxn id="108" idx="3"/>
            <a:endCxn id="111" idx="1"/>
          </p:cNvCxnSpPr>
          <p:nvPr/>
        </p:nvCxnSpPr>
        <p:spPr>
          <a:xfrm flipH="1" rot="10800000">
            <a:off x="5537034" y="2269191"/>
            <a:ext cx="313500" cy="92700"/>
          </a:xfrm>
          <a:prstGeom prst="bentConnector3">
            <a:avLst>
              <a:gd fmla="val 50016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" name="Google Shape;132;p15"/>
          <p:cNvCxnSpPr>
            <a:stCxn id="111" idx="3"/>
            <a:endCxn id="110" idx="1"/>
          </p:cNvCxnSpPr>
          <p:nvPr/>
        </p:nvCxnSpPr>
        <p:spPr>
          <a:xfrm>
            <a:off x="6839733" y="2269285"/>
            <a:ext cx="678300" cy="600"/>
          </a:xfrm>
          <a:prstGeom prst="bentConnector3">
            <a:avLst>
              <a:gd fmla="val 49995" name="adj1"/>
            </a:avLst>
          </a:prstGeom>
          <a:noFill/>
          <a:ln cap="flat" cmpd="sng" w="19700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33" name="Google Shape;13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3975" y="3184950"/>
            <a:ext cx="330275" cy="3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637325" y="3743275"/>
            <a:ext cx="78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FFAE7C"/>
                </a:solidFill>
              </a:rPr>
              <a:t>●</a:t>
            </a:r>
            <a:r>
              <a:rPr lang="en" sz="1000"/>
              <a:t>   Can we treat a multi-agent workflow as a computational graph, then estimate how each predecessor output influences downstream generation?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749400" y="3849375"/>
            <a:ext cx="19113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1. Forward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Run the agent graph and produce the output.</a:t>
            </a:r>
            <a:endParaRPr sz="1000"/>
          </a:p>
        </p:txBody>
      </p:sp>
      <p:sp>
        <p:nvSpPr>
          <p:cNvPr id="140" name="Google Shape;140;p16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Method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GBC pipeline: Forward→Attribution→Backward→Update</a:t>
            </a:r>
            <a:endParaRPr b="1" sz="2356"/>
          </a:p>
        </p:txBody>
      </p:sp>
      <p:sp>
        <p:nvSpPr>
          <p:cNvPr id="141" name="Google Shape;141;p16"/>
          <p:cNvSpPr txBox="1"/>
          <p:nvPr>
            <p:ph idx="1" type="body"/>
          </p:nvPr>
        </p:nvSpPr>
        <p:spPr>
          <a:xfrm>
            <a:off x="2660700" y="3849375"/>
            <a:ext cx="19113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2</a:t>
            </a: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. Attribution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Compute connection weights.</a:t>
            </a:r>
            <a:endParaRPr sz="1000"/>
          </a:p>
        </p:txBody>
      </p:sp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4572000" y="3849375"/>
            <a:ext cx="19113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3</a:t>
            </a: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. Backward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Propagate the loss through the attribution graph.</a:t>
            </a:r>
            <a:endParaRPr sz="1000"/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6483300" y="3849375"/>
            <a:ext cx="19113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4</a:t>
            </a: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. Update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Rewrite the target prompts with an optimizer LLM.</a:t>
            </a:r>
            <a:endParaRPr sz="1000"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53281" y="1040195"/>
            <a:ext cx="616437" cy="331319"/>
            <a:chOff x="2368255" y="1235868"/>
            <a:chExt cx="1292591" cy="694589"/>
          </a:xfrm>
        </p:grpSpPr>
        <p:sp>
          <p:nvSpPr>
            <p:cNvPr id="145" name="Google Shape;145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6" name="Google Shape;14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6"/>
          <p:cNvSpPr/>
          <p:nvPr/>
        </p:nvSpPr>
        <p:spPr>
          <a:xfrm>
            <a:off x="311777" y="1490533"/>
            <a:ext cx="6168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153499" y="1490587"/>
            <a:ext cx="616720" cy="331337"/>
            <a:chOff x="2368238" y="2571750"/>
            <a:chExt cx="1990062" cy="1069175"/>
          </a:xfrm>
        </p:grpSpPr>
        <p:sp>
          <p:nvSpPr>
            <p:cNvPr id="149" name="Google Shape;149;p16"/>
            <p:cNvSpPr/>
            <p:nvPr/>
          </p:nvSpPr>
          <p:spPr>
            <a:xfrm>
              <a:off x="2696900" y="29464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0" name="Google Shape;150;p16" title="robo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8238" y="25717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6"/>
          <p:cNvGrpSpPr/>
          <p:nvPr/>
        </p:nvGrpSpPr>
        <p:grpSpPr>
          <a:xfrm>
            <a:off x="1153780" y="1940922"/>
            <a:ext cx="616716" cy="331337"/>
            <a:chOff x="4745825" y="3894350"/>
            <a:chExt cx="1990050" cy="1069175"/>
          </a:xfrm>
        </p:grpSpPr>
        <p:sp>
          <p:nvSpPr>
            <p:cNvPr id="152" name="Google Shape;152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3" name="Google Shape;153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6"/>
          <p:cNvGrpSpPr/>
          <p:nvPr/>
        </p:nvGrpSpPr>
        <p:grpSpPr>
          <a:xfrm>
            <a:off x="1994845" y="1040190"/>
            <a:ext cx="616476" cy="331294"/>
            <a:chOff x="4571997" y="1235870"/>
            <a:chExt cx="1292674" cy="694537"/>
          </a:xfrm>
        </p:grpSpPr>
        <p:sp>
          <p:nvSpPr>
            <p:cNvPr id="155" name="Google Shape;155;p16"/>
            <p:cNvSpPr/>
            <p:nvPr/>
          </p:nvSpPr>
          <p:spPr>
            <a:xfrm>
              <a:off x="4785571" y="147920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Tool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71997" y="1235870"/>
              <a:ext cx="408625" cy="4086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6"/>
          <p:cNvGrpSpPr/>
          <p:nvPr/>
        </p:nvGrpSpPr>
        <p:grpSpPr>
          <a:xfrm>
            <a:off x="1994796" y="1490474"/>
            <a:ext cx="616437" cy="331319"/>
            <a:chOff x="2368255" y="1235868"/>
            <a:chExt cx="1292591" cy="694589"/>
          </a:xfrm>
        </p:grpSpPr>
        <p:sp>
          <p:nvSpPr>
            <p:cNvPr id="158" name="Google Shape;158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9" name="Google Shape;15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6"/>
          <p:cNvGrpSpPr/>
          <p:nvPr/>
        </p:nvGrpSpPr>
        <p:grpSpPr>
          <a:xfrm>
            <a:off x="2917303" y="1490619"/>
            <a:ext cx="616716" cy="331337"/>
            <a:chOff x="4745825" y="3894350"/>
            <a:chExt cx="1990050" cy="1069175"/>
          </a:xfrm>
        </p:grpSpPr>
        <p:sp>
          <p:nvSpPr>
            <p:cNvPr id="161" name="Google Shape;161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2" name="Google Shape;162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6"/>
          <p:cNvSpPr/>
          <p:nvPr/>
        </p:nvSpPr>
        <p:spPr>
          <a:xfrm>
            <a:off x="3758161" y="1490533"/>
            <a:ext cx="6168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Loss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16"/>
          <p:cNvCxnSpPr>
            <a:stCxn id="147" idx="3"/>
            <a:endCxn id="145" idx="1"/>
          </p:cNvCxnSpPr>
          <p:nvPr/>
        </p:nvCxnSpPr>
        <p:spPr>
          <a:xfrm flipH="1" rot="10800000">
            <a:off x="928577" y="1263883"/>
            <a:ext cx="326400" cy="392100"/>
          </a:xfrm>
          <a:prstGeom prst="bentConnector3">
            <a:avLst>
              <a:gd fmla="val 5001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6"/>
          <p:cNvCxnSpPr>
            <a:endCxn id="149" idx="1"/>
          </p:cNvCxnSpPr>
          <p:nvPr/>
        </p:nvCxnSpPr>
        <p:spPr>
          <a:xfrm>
            <a:off x="928352" y="1656712"/>
            <a:ext cx="327000" cy="57600"/>
          </a:xfrm>
          <a:prstGeom prst="bentConnector3">
            <a:avLst>
              <a:gd fmla="val 5000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6"/>
          <p:cNvCxnSpPr>
            <a:stCxn id="147" idx="3"/>
            <a:endCxn id="152" idx="1"/>
          </p:cNvCxnSpPr>
          <p:nvPr/>
        </p:nvCxnSpPr>
        <p:spPr>
          <a:xfrm>
            <a:off x="928577" y="1655983"/>
            <a:ext cx="327000" cy="508800"/>
          </a:xfrm>
          <a:prstGeom prst="bentConnector3">
            <a:avLst>
              <a:gd fmla="val 5000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6"/>
          <p:cNvCxnSpPr>
            <a:stCxn id="145" idx="3"/>
            <a:endCxn id="155" idx="1"/>
          </p:cNvCxnSpPr>
          <p:nvPr/>
        </p:nvCxnSpPr>
        <p:spPr>
          <a:xfrm>
            <a:off x="1769718" y="1263903"/>
            <a:ext cx="327000" cy="600"/>
          </a:xfrm>
          <a:prstGeom prst="bentConnector3">
            <a:avLst>
              <a:gd fmla="val 49997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6"/>
          <p:cNvCxnSpPr>
            <a:stCxn id="149" idx="3"/>
            <a:endCxn id="158" idx="1"/>
          </p:cNvCxnSpPr>
          <p:nvPr/>
        </p:nvCxnSpPr>
        <p:spPr>
          <a:xfrm>
            <a:off x="1770219" y="1714312"/>
            <a:ext cx="326400" cy="600"/>
          </a:xfrm>
          <a:prstGeom prst="bentConnector3">
            <a:avLst>
              <a:gd fmla="val 4999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6"/>
          <p:cNvCxnSpPr>
            <a:stCxn id="152" idx="3"/>
            <a:endCxn id="158" idx="1"/>
          </p:cNvCxnSpPr>
          <p:nvPr/>
        </p:nvCxnSpPr>
        <p:spPr>
          <a:xfrm flipH="1" rot="10800000">
            <a:off x="1770497" y="1714046"/>
            <a:ext cx="326100" cy="450600"/>
          </a:xfrm>
          <a:prstGeom prst="straightConnector1">
            <a:avLst/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6"/>
          <p:cNvCxnSpPr>
            <a:stCxn id="152" idx="3"/>
            <a:endCxn id="161" idx="1"/>
          </p:cNvCxnSpPr>
          <p:nvPr/>
        </p:nvCxnSpPr>
        <p:spPr>
          <a:xfrm flipH="1" rot="10800000">
            <a:off x="1770497" y="1714346"/>
            <a:ext cx="1248600" cy="450300"/>
          </a:xfrm>
          <a:prstGeom prst="bentConnector3">
            <a:avLst>
              <a:gd fmla="val 78782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6"/>
          <p:cNvCxnSpPr>
            <a:stCxn id="158" idx="3"/>
            <a:endCxn id="161" idx="1"/>
          </p:cNvCxnSpPr>
          <p:nvPr/>
        </p:nvCxnSpPr>
        <p:spPr>
          <a:xfrm>
            <a:off x="2611232" y="1714181"/>
            <a:ext cx="408000" cy="600"/>
          </a:xfrm>
          <a:prstGeom prst="bentConnector3">
            <a:avLst>
              <a:gd fmla="val 4999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6"/>
          <p:cNvCxnSpPr>
            <a:stCxn id="155" idx="3"/>
            <a:endCxn id="161" idx="1"/>
          </p:cNvCxnSpPr>
          <p:nvPr/>
        </p:nvCxnSpPr>
        <p:spPr>
          <a:xfrm>
            <a:off x="2611321" y="1263873"/>
            <a:ext cx="407700" cy="450600"/>
          </a:xfrm>
          <a:prstGeom prst="bentConnector3">
            <a:avLst>
              <a:gd fmla="val 50016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6"/>
          <p:cNvCxnSpPr>
            <a:stCxn id="161" idx="3"/>
            <a:endCxn id="163" idx="1"/>
          </p:cNvCxnSpPr>
          <p:nvPr/>
        </p:nvCxnSpPr>
        <p:spPr>
          <a:xfrm flipH="1" rot="10800000">
            <a:off x="3534019" y="1655844"/>
            <a:ext cx="224100" cy="58500"/>
          </a:xfrm>
          <a:prstGeom prst="bentConnector3">
            <a:avLst>
              <a:gd fmla="val 50009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4" name="Google Shape;174;p16"/>
          <p:cNvGrpSpPr/>
          <p:nvPr/>
        </p:nvGrpSpPr>
        <p:grpSpPr>
          <a:xfrm>
            <a:off x="1153281" y="2391295"/>
            <a:ext cx="616437" cy="331319"/>
            <a:chOff x="2368255" y="1235868"/>
            <a:chExt cx="1292591" cy="694589"/>
          </a:xfrm>
        </p:grpSpPr>
        <p:sp>
          <p:nvSpPr>
            <p:cNvPr id="175" name="Google Shape;175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6" name="Google Shape;17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16"/>
          <p:cNvSpPr/>
          <p:nvPr/>
        </p:nvSpPr>
        <p:spPr>
          <a:xfrm>
            <a:off x="311777" y="2841633"/>
            <a:ext cx="6168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16"/>
          <p:cNvGrpSpPr/>
          <p:nvPr/>
        </p:nvGrpSpPr>
        <p:grpSpPr>
          <a:xfrm>
            <a:off x="1153499" y="2841687"/>
            <a:ext cx="616720" cy="331337"/>
            <a:chOff x="2368238" y="2571750"/>
            <a:chExt cx="1990062" cy="1069175"/>
          </a:xfrm>
        </p:grpSpPr>
        <p:sp>
          <p:nvSpPr>
            <p:cNvPr id="179" name="Google Shape;179;p16"/>
            <p:cNvSpPr/>
            <p:nvPr/>
          </p:nvSpPr>
          <p:spPr>
            <a:xfrm>
              <a:off x="2696900" y="29464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0" name="Google Shape;180;p16" title="robo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8238" y="25717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16"/>
          <p:cNvGrpSpPr/>
          <p:nvPr/>
        </p:nvGrpSpPr>
        <p:grpSpPr>
          <a:xfrm>
            <a:off x="1153780" y="3292021"/>
            <a:ext cx="616716" cy="331337"/>
            <a:chOff x="4745825" y="3894350"/>
            <a:chExt cx="1990050" cy="1069175"/>
          </a:xfrm>
        </p:grpSpPr>
        <p:sp>
          <p:nvSpPr>
            <p:cNvPr id="182" name="Google Shape;182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3" name="Google Shape;183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6"/>
          <p:cNvGrpSpPr/>
          <p:nvPr/>
        </p:nvGrpSpPr>
        <p:grpSpPr>
          <a:xfrm>
            <a:off x="1994845" y="2391290"/>
            <a:ext cx="616476" cy="331294"/>
            <a:chOff x="4571997" y="1235870"/>
            <a:chExt cx="1292674" cy="694537"/>
          </a:xfrm>
        </p:grpSpPr>
        <p:sp>
          <p:nvSpPr>
            <p:cNvPr id="185" name="Google Shape;185;p16"/>
            <p:cNvSpPr/>
            <p:nvPr/>
          </p:nvSpPr>
          <p:spPr>
            <a:xfrm>
              <a:off x="4785571" y="147920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Tool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6" name="Google Shape;18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71997" y="1235870"/>
              <a:ext cx="408625" cy="4086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6"/>
          <p:cNvGrpSpPr/>
          <p:nvPr/>
        </p:nvGrpSpPr>
        <p:grpSpPr>
          <a:xfrm>
            <a:off x="1994796" y="2841573"/>
            <a:ext cx="616437" cy="331319"/>
            <a:chOff x="2368255" y="1235868"/>
            <a:chExt cx="1292591" cy="694589"/>
          </a:xfrm>
        </p:grpSpPr>
        <p:sp>
          <p:nvSpPr>
            <p:cNvPr id="188" name="Google Shape;188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9" name="Google Shape;18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" name="Google Shape;190;p16"/>
          <p:cNvGrpSpPr/>
          <p:nvPr/>
        </p:nvGrpSpPr>
        <p:grpSpPr>
          <a:xfrm>
            <a:off x="2917303" y="2841719"/>
            <a:ext cx="616716" cy="331337"/>
            <a:chOff x="4745825" y="3894350"/>
            <a:chExt cx="1990050" cy="1069175"/>
          </a:xfrm>
        </p:grpSpPr>
        <p:sp>
          <p:nvSpPr>
            <p:cNvPr id="191" name="Google Shape;191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2" name="Google Shape;192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16"/>
          <p:cNvSpPr/>
          <p:nvPr/>
        </p:nvSpPr>
        <p:spPr>
          <a:xfrm>
            <a:off x="3758161" y="2841633"/>
            <a:ext cx="6168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Loss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16"/>
          <p:cNvCxnSpPr>
            <a:stCxn id="177" idx="3"/>
            <a:endCxn id="175" idx="1"/>
          </p:cNvCxnSpPr>
          <p:nvPr/>
        </p:nvCxnSpPr>
        <p:spPr>
          <a:xfrm flipH="1" rot="10800000">
            <a:off x="928577" y="2614983"/>
            <a:ext cx="326400" cy="392100"/>
          </a:xfrm>
          <a:prstGeom prst="bentConnector3">
            <a:avLst>
              <a:gd fmla="val 5001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5" name="Google Shape;195;p16"/>
          <p:cNvCxnSpPr>
            <a:endCxn id="179" idx="1"/>
          </p:cNvCxnSpPr>
          <p:nvPr/>
        </p:nvCxnSpPr>
        <p:spPr>
          <a:xfrm>
            <a:off x="928352" y="3007812"/>
            <a:ext cx="327000" cy="57600"/>
          </a:xfrm>
          <a:prstGeom prst="bentConnector3">
            <a:avLst>
              <a:gd fmla="val 5000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6" name="Google Shape;196;p16"/>
          <p:cNvCxnSpPr>
            <a:stCxn id="177" idx="3"/>
            <a:endCxn id="182" idx="1"/>
          </p:cNvCxnSpPr>
          <p:nvPr/>
        </p:nvCxnSpPr>
        <p:spPr>
          <a:xfrm>
            <a:off x="928577" y="3007083"/>
            <a:ext cx="327000" cy="508800"/>
          </a:xfrm>
          <a:prstGeom prst="bentConnector3">
            <a:avLst>
              <a:gd fmla="val 5000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7" name="Google Shape;197;p16"/>
          <p:cNvCxnSpPr>
            <a:stCxn id="175" idx="3"/>
            <a:endCxn id="185" idx="1"/>
          </p:cNvCxnSpPr>
          <p:nvPr/>
        </p:nvCxnSpPr>
        <p:spPr>
          <a:xfrm>
            <a:off x="1769718" y="2615002"/>
            <a:ext cx="327000" cy="600"/>
          </a:xfrm>
          <a:prstGeom prst="bentConnector3">
            <a:avLst>
              <a:gd fmla="val 49997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8" name="Google Shape;198;p16"/>
          <p:cNvCxnSpPr>
            <a:stCxn id="179" idx="3"/>
            <a:endCxn id="188" idx="1"/>
          </p:cNvCxnSpPr>
          <p:nvPr/>
        </p:nvCxnSpPr>
        <p:spPr>
          <a:xfrm>
            <a:off x="1770219" y="3065412"/>
            <a:ext cx="326400" cy="600"/>
          </a:xfrm>
          <a:prstGeom prst="bentConnector3">
            <a:avLst>
              <a:gd fmla="val 4999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" name="Google Shape;199;p16"/>
          <p:cNvCxnSpPr>
            <a:stCxn id="182" idx="3"/>
            <a:endCxn id="188" idx="1"/>
          </p:cNvCxnSpPr>
          <p:nvPr/>
        </p:nvCxnSpPr>
        <p:spPr>
          <a:xfrm flipH="1" rot="10800000">
            <a:off x="1770497" y="3065146"/>
            <a:ext cx="326100" cy="450600"/>
          </a:xfrm>
          <a:prstGeom prst="straightConnector1">
            <a:avLst/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0" name="Google Shape;200;p16"/>
          <p:cNvCxnSpPr>
            <a:stCxn id="182" idx="3"/>
            <a:endCxn id="191" idx="1"/>
          </p:cNvCxnSpPr>
          <p:nvPr/>
        </p:nvCxnSpPr>
        <p:spPr>
          <a:xfrm flipH="1" rot="10800000">
            <a:off x="1770497" y="3065446"/>
            <a:ext cx="1248600" cy="450300"/>
          </a:xfrm>
          <a:prstGeom prst="bentConnector3">
            <a:avLst>
              <a:gd fmla="val 7832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1" name="Google Shape;201;p16"/>
          <p:cNvCxnSpPr>
            <a:stCxn id="188" idx="3"/>
            <a:endCxn id="191" idx="1"/>
          </p:cNvCxnSpPr>
          <p:nvPr/>
        </p:nvCxnSpPr>
        <p:spPr>
          <a:xfrm>
            <a:off x="2611232" y="3065281"/>
            <a:ext cx="408000" cy="600"/>
          </a:xfrm>
          <a:prstGeom prst="bentConnector3">
            <a:avLst>
              <a:gd fmla="val 4999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2" name="Google Shape;202;p16"/>
          <p:cNvCxnSpPr>
            <a:stCxn id="185" idx="3"/>
            <a:endCxn id="191" idx="1"/>
          </p:cNvCxnSpPr>
          <p:nvPr/>
        </p:nvCxnSpPr>
        <p:spPr>
          <a:xfrm>
            <a:off x="2611321" y="2614973"/>
            <a:ext cx="407700" cy="450600"/>
          </a:xfrm>
          <a:prstGeom prst="bentConnector3">
            <a:avLst>
              <a:gd fmla="val 50016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3" name="Google Shape;203;p16"/>
          <p:cNvCxnSpPr>
            <a:stCxn id="191" idx="3"/>
            <a:endCxn id="193" idx="1"/>
          </p:cNvCxnSpPr>
          <p:nvPr/>
        </p:nvCxnSpPr>
        <p:spPr>
          <a:xfrm flipH="1" rot="10800000">
            <a:off x="3534019" y="3006943"/>
            <a:ext cx="224100" cy="58500"/>
          </a:xfrm>
          <a:prstGeom prst="bentConnector3">
            <a:avLst>
              <a:gd fmla="val 50009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4" name="Google Shape;204;p16"/>
          <p:cNvSpPr/>
          <p:nvPr/>
        </p:nvSpPr>
        <p:spPr>
          <a:xfrm>
            <a:off x="1813879" y="2913270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0.2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1994310" y="3256568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0.8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1813871" y="2463331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2858982" y="2628558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0.2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2631932" y="2913472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0.5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2791440" y="3243441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0.3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3565954" y="2875534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902215" y="2652997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1119684" y="3185541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902215" y="3350477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311776" y="1118741"/>
            <a:ext cx="7011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Forward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311775" y="2373553"/>
            <a:ext cx="7497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Attribution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5339551" y="1945355"/>
            <a:ext cx="1067400" cy="4167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6172144" y="1435117"/>
            <a:ext cx="234900" cy="9267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5306561" y="1432343"/>
            <a:ext cx="307200" cy="9267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4616797" y="1432343"/>
            <a:ext cx="996900" cy="4860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172144" y="1436277"/>
            <a:ext cx="2660100" cy="4860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" name="Google Shape;221;p16"/>
          <p:cNvGrpSpPr/>
          <p:nvPr/>
        </p:nvGrpSpPr>
        <p:grpSpPr>
          <a:xfrm>
            <a:off x="5530977" y="1057722"/>
            <a:ext cx="615920" cy="330972"/>
            <a:chOff x="2368255" y="1235868"/>
            <a:chExt cx="1292591" cy="694589"/>
          </a:xfrm>
        </p:grpSpPr>
        <p:sp>
          <p:nvSpPr>
            <p:cNvPr id="222" name="Google Shape;222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3" name="Google Shape;22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16"/>
          <p:cNvSpPr/>
          <p:nvPr/>
        </p:nvSpPr>
        <p:spPr>
          <a:xfrm>
            <a:off x="4690290" y="1507864"/>
            <a:ext cx="6165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16"/>
          <p:cNvGrpSpPr/>
          <p:nvPr/>
        </p:nvGrpSpPr>
        <p:grpSpPr>
          <a:xfrm>
            <a:off x="5531491" y="1508028"/>
            <a:ext cx="616322" cy="331124"/>
            <a:chOff x="2368238" y="2571750"/>
            <a:chExt cx="1990062" cy="1069175"/>
          </a:xfrm>
        </p:grpSpPr>
        <p:sp>
          <p:nvSpPr>
            <p:cNvPr id="226" name="Google Shape;226;p16"/>
            <p:cNvSpPr/>
            <p:nvPr/>
          </p:nvSpPr>
          <p:spPr>
            <a:xfrm>
              <a:off x="2696900" y="29464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7" name="Google Shape;227;p16" title="robo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8238" y="25717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16"/>
          <p:cNvGrpSpPr/>
          <p:nvPr/>
        </p:nvGrpSpPr>
        <p:grpSpPr>
          <a:xfrm>
            <a:off x="5531626" y="1958066"/>
            <a:ext cx="616318" cy="331123"/>
            <a:chOff x="4745825" y="3894350"/>
            <a:chExt cx="1990050" cy="1069175"/>
          </a:xfrm>
        </p:grpSpPr>
        <p:sp>
          <p:nvSpPr>
            <p:cNvPr id="229" name="Google Shape;229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0" name="Google Shape;230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16"/>
          <p:cNvGrpSpPr/>
          <p:nvPr/>
        </p:nvGrpSpPr>
        <p:grpSpPr>
          <a:xfrm>
            <a:off x="6371753" y="1057717"/>
            <a:ext cx="615959" cy="330947"/>
            <a:chOff x="4571997" y="1235870"/>
            <a:chExt cx="1292674" cy="694537"/>
          </a:xfrm>
        </p:grpSpPr>
        <p:sp>
          <p:nvSpPr>
            <p:cNvPr id="232" name="Google Shape;232;p16"/>
            <p:cNvSpPr/>
            <p:nvPr/>
          </p:nvSpPr>
          <p:spPr>
            <a:xfrm>
              <a:off x="4785571" y="147920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Tool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3" name="Google Shape;233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71997" y="1235870"/>
              <a:ext cx="408625" cy="4086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6"/>
          <p:cNvGrpSpPr/>
          <p:nvPr/>
        </p:nvGrpSpPr>
        <p:grpSpPr>
          <a:xfrm>
            <a:off x="6372114" y="1507648"/>
            <a:ext cx="615920" cy="330972"/>
            <a:chOff x="2368255" y="1235868"/>
            <a:chExt cx="1292591" cy="694589"/>
          </a:xfrm>
        </p:grpSpPr>
        <p:sp>
          <p:nvSpPr>
            <p:cNvPr id="235" name="Google Shape;235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6" name="Google Shape;23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16"/>
          <p:cNvGrpSpPr/>
          <p:nvPr/>
        </p:nvGrpSpPr>
        <p:grpSpPr>
          <a:xfrm>
            <a:off x="7294359" y="1508116"/>
            <a:ext cx="616318" cy="331123"/>
            <a:chOff x="4745825" y="3894350"/>
            <a:chExt cx="1990050" cy="1069175"/>
          </a:xfrm>
        </p:grpSpPr>
        <p:sp>
          <p:nvSpPr>
            <p:cNvPr id="238" name="Google Shape;238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9" name="Google Shape;239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16"/>
          <p:cNvSpPr/>
          <p:nvPr/>
        </p:nvSpPr>
        <p:spPr>
          <a:xfrm>
            <a:off x="8135130" y="1507864"/>
            <a:ext cx="6165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Loss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16"/>
          <p:cNvCxnSpPr>
            <a:stCxn id="224" idx="3"/>
            <a:endCxn id="222" idx="1"/>
          </p:cNvCxnSpPr>
          <p:nvPr/>
        </p:nvCxnSpPr>
        <p:spPr>
          <a:xfrm flipH="1" rot="10800000">
            <a:off x="5306790" y="1281214"/>
            <a:ext cx="325800" cy="392100"/>
          </a:xfrm>
          <a:prstGeom prst="bentConnector3">
            <a:avLst>
              <a:gd fmla="val 5001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2" name="Google Shape;242;p16"/>
          <p:cNvCxnSpPr>
            <a:endCxn id="226" idx="1"/>
          </p:cNvCxnSpPr>
          <p:nvPr/>
        </p:nvCxnSpPr>
        <p:spPr>
          <a:xfrm>
            <a:off x="5306877" y="1673408"/>
            <a:ext cx="326400" cy="58200"/>
          </a:xfrm>
          <a:prstGeom prst="bentConnector3">
            <a:avLst>
              <a:gd fmla="val 50000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" name="Google Shape;243;p16"/>
          <p:cNvCxnSpPr>
            <a:stCxn id="224" idx="3"/>
            <a:endCxn id="229" idx="1"/>
          </p:cNvCxnSpPr>
          <p:nvPr/>
        </p:nvCxnSpPr>
        <p:spPr>
          <a:xfrm>
            <a:off x="5306790" y="1673314"/>
            <a:ext cx="326700" cy="508200"/>
          </a:xfrm>
          <a:prstGeom prst="bentConnector3">
            <a:avLst>
              <a:gd fmla="val 4998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4" name="Google Shape;244;p16"/>
          <p:cNvCxnSpPr>
            <a:stCxn id="222" idx="3"/>
            <a:endCxn id="232" idx="1"/>
          </p:cNvCxnSpPr>
          <p:nvPr/>
        </p:nvCxnSpPr>
        <p:spPr>
          <a:xfrm>
            <a:off x="6146896" y="1281195"/>
            <a:ext cx="326700" cy="600"/>
          </a:xfrm>
          <a:prstGeom prst="bentConnector3">
            <a:avLst>
              <a:gd fmla="val 4998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5" name="Google Shape;245;p16"/>
          <p:cNvCxnSpPr>
            <a:stCxn id="226" idx="3"/>
            <a:endCxn id="235" idx="1"/>
          </p:cNvCxnSpPr>
          <p:nvPr/>
        </p:nvCxnSpPr>
        <p:spPr>
          <a:xfrm>
            <a:off x="6147813" y="1731608"/>
            <a:ext cx="326100" cy="600"/>
          </a:xfrm>
          <a:prstGeom prst="bentConnector3">
            <a:avLst>
              <a:gd fmla="val 49989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6" name="Google Shape;246;p16"/>
          <p:cNvCxnSpPr>
            <a:stCxn id="229" idx="3"/>
            <a:endCxn id="235" idx="1"/>
          </p:cNvCxnSpPr>
          <p:nvPr/>
        </p:nvCxnSpPr>
        <p:spPr>
          <a:xfrm flipH="1" rot="10800000">
            <a:off x="6147945" y="1731046"/>
            <a:ext cx="325800" cy="450600"/>
          </a:xfrm>
          <a:prstGeom prst="straightConnector1">
            <a:avLst/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7" name="Google Shape;247;p16"/>
          <p:cNvCxnSpPr>
            <a:stCxn id="229" idx="3"/>
            <a:endCxn id="238" idx="1"/>
          </p:cNvCxnSpPr>
          <p:nvPr/>
        </p:nvCxnSpPr>
        <p:spPr>
          <a:xfrm flipH="1" rot="10800000">
            <a:off x="6147945" y="1731646"/>
            <a:ext cx="1248300" cy="450000"/>
          </a:xfrm>
          <a:prstGeom prst="bentConnector3">
            <a:avLst>
              <a:gd fmla="val 78663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8" name="Google Shape;248;p16"/>
          <p:cNvCxnSpPr>
            <a:stCxn id="235" idx="3"/>
            <a:endCxn id="238" idx="1"/>
          </p:cNvCxnSpPr>
          <p:nvPr/>
        </p:nvCxnSpPr>
        <p:spPr>
          <a:xfrm>
            <a:off x="6988033" y="1731121"/>
            <a:ext cx="408000" cy="600"/>
          </a:xfrm>
          <a:prstGeom prst="bentConnector3">
            <a:avLst>
              <a:gd fmla="val 50013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9" name="Google Shape;249;p16"/>
          <p:cNvCxnSpPr>
            <a:stCxn id="232" idx="3"/>
            <a:endCxn id="238" idx="1"/>
          </p:cNvCxnSpPr>
          <p:nvPr/>
        </p:nvCxnSpPr>
        <p:spPr>
          <a:xfrm>
            <a:off x="6987712" y="1281165"/>
            <a:ext cx="408300" cy="450600"/>
          </a:xfrm>
          <a:prstGeom prst="bentConnector3">
            <a:avLst>
              <a:gd fmla="val 50016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" name="Google Shape;250;p16"/>
          <p:cNvCxnSpPr>
            <a:stCxn id="238" idx="3"/>
            <a:endCxn id="240" idx="1"/>
          </p:cNvCxnSpPr>
          <p:nvPr/>
        </p:nvCxnSpPr>
        <p:spPr>
          <a:xfrm flipH="1" rot="10800000">
            <a:off x="7910677" y="1673196"/>
            <a:ext cx="224400" cy="58500"/>
          </a:xfrm>
          <a:prstGeom prst="bentConnector3">
            <a:avLst>
              <a:gd fmla="val 50012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1" name="Google Shape;251;p16"/>
          <p:cNvSpPr/>
          <p:nvPr/>
        </p:nvSpPr>
        <p:spPr>
          <a:xfrm>
            <a:off x="6191719" y="1579445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0.2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6372069" y="1922475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0.8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191711" y="1129859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7236355" y="1294956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0.2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009406" y="1579647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0.5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168842" y="1922467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0.3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7943009" y="1541739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280464" y="1319376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97835" y="1851503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280464" y="2016310"/>
            <a:ext cx="159600" cy="939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">
                <a:latin typeface="Lexend"/>
                <a:ea typeface="Lexend"/>
                <a:cs typeface="Lexend"/>
                <a:sym typeface="Lexend"/>
              </a:rPr>
              <a:t>1.0</a:t>
            </a:r>
            <a:endParaRPr sz="38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4616797" y="2671611"/>
            <a:ext cx="4215600" cy="486000"/>
          </a:xfrm>
          <a:prstGeom prst="rect">
            <a:avLst/>
          </a:prstGeom>
          <a:solidFill>
            <a:srgbClr val="73A5B8"/>
          </a:solidFill>
          <a:ln>
            <a:noFill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690291" y="1040151"/>
            <a:ext cx="7011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Backward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4690290" y="2749261"/>
            <a:ext cx="6165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4" name="Google Shape;264;p16"/>
          <p:cNvGrpSpPr/>
          <p:nvPr/>
        </p:nvGrpSpPr>
        <p:grpSpPr>
          <a:xfrm>
            <a:off x="5531159" y="2749513"/>
            <a:ext cx="616318" cy="331123"/>
            <a:chOff x="4745825" y="3894350"/>
            <a:chExt cx="1990050" cy="1069175"/>
          </a:xfrm>
        </p:grpSpPr>
        <p:sp>
          <p:nvSpPr>
            <p:cNvPr id="265" name="Google Shape;265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66" name="Google Shape;266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p16"/>
          <p:cNvGrpSpPr/>
          <p:nvPr/>
        </p:nvGrpSpPr>
        <p:grpSpPr>
          <a:xfrm>
            <a:off x="6372114" y="2749045"/>
            <a:ext cx="615920" cy="330972"/>
            <a:chOff x="2368255" y="1235868"/>
            <a:chExt cx="1292591" cy="694589"/>
          </a:xfrm>
        </p:grpSpPr>
        <p:sp>
          <p:nvSpPr>
            <p:cNvPr id="268" name="Google Shape;268;p16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00" lIns="28300" spcFirstLastPara="1" rIns="28300" wrap="square" tIns="2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69" name="Google Shape;26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16"/>
          <p:cNvGrpSpPr/>
          <p:nvPr/>
        </p:nvGrpSpPr>
        <p:grpSpPr>
          <a:xfrm>
            <a:off x="7294359" y="2749512"/>
            <a:ext cx="616318" cy="331123"/>
            <a:chOff x="4745825" y="3894350"/>
            <a:chExt cx="1990050" cy="1069175"/>
          </a:xfrm>
        </p:grpSpPr>
        <p:sp>
          <p:nvSpPr>
            <p:cNvPr id="271" name="Google Shape;271;p16"/>
            <p:cNvSpPr/>
            <p:nvPr/>
          </p:nvSpPr>
          <p:spPr>
            <a:xfrm>
              <a:off x="5074475" y="4269025"/>
              <a:ext cx="1661400" cy="6945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2925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7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55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72" name="Google Shape;272;p16" title="robot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3" name="Google Shape;273;p16"/>
          <p:cNvSpPr/>
          <p:nvPr/>
        </p:nvSpPr>
        <p:spPr>
          <a:xfrm>
            <a:off x="8135130" y="2749261"/>
            <a:ext cx="616500" cy="330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45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00" lIns="43600" spcFirstLastPara="1" rIns="43600" wrap="square" tIns="4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8">
                <a:latin typeface="Lexend"/>
                <a:ea typeface="Lexend"/>
                <a:cs typeface="Lexend"/>
                <a:sym typeface="Lexend"/>
              </a:rPr>
              <a:t>Loss</a:t>
            </a:r>
            <a:endParaRPr b="1" sz="85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16"/>
          <p:cNvCxnSpPr>
            <a:stCxn id="263" idx="3"/>
            <a:endCxn id="265" idx="1"/>
          </p:cNvCxnSpPr>
          <p:nvPr/>
        </p:nvCxnSpPr>
        <p:spPr>
          <a:xfrm>
            <a:off x="5306790" y="2914711"/>
            <a:ext cx="326100" cy="58500"/>
          </a:xfrm>
          <a:prstGeom prst="bentConnector3">
            <a:avLst>
              <a:gd fmla="val 50008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16"/>
          <p:cNvCxnSpPr>
            <a:stCxn id="265" idx="3"/>
            <a:endCxn id="268" idx="1"/>
          </p:cNvCxnSpPr>
          <p:nvPr/>
        </p:nvCxnSpPr>
        <p:spPr>
          <a:xfrm flipH="1" rot="10800000">
            <a:off x="6147477" y="2972493"/>
            <a:ext cx="326400" cy="600"/>
          </a:xfrm>
          <a:prstGeom prst="straightConnector1">
            <a:avLst/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16"/>
          <p:cNvCxnSpPr>
            <a:stCxn id="268" idx="3"/>
            <a:endCxn id="271" idx="1"/>
          </p:cNvCxnSpPr>
          <p:nvPr/>
        </p:nvCxnSpPr>
        <p:spPr>
          <a:xfrm>
            <a:off x="6988033" y="2972518"/>
            <a:ext cx="408000" cy="600"/>
          </a:xfrm>
          <a:prstGeom prst="bentConnector3">
            <a:avLst>
              <a:gd fmla="val 50013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16"/>
          <p:cNvCxnSpPr>
            <a:stCxn id="271" idx="3"/>
            <a:endCxn id="273" idx="1"/>
          </p:cNvCxnSpPr>
          <p:nvPr/>
        </p:nvCxnSpPr>
        <p:spPr>
          <a:xfrm flipH="1" rot="10800000">
            <a:off x="7910677" y="2914593"/>
            <a:ext cx="224400" cy="58500"/>
          </a:xfrm>
          <a:prstGeom prst="bentConnector3">
            <a:avLst>
              <a:gd fmla="val 50012" name="adj1"/>
            </a:avLst>
          </a:prstGeom>
          <a:noFill/>
          <a:ln cap="flat" cmpd="sng" w="136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16"/>
          <p:cNvSpPr/>
          <p:nvPr/>
        </p:nvSpPr>
        <p:spPr>
          <a:xfrm>
            <a:off x="4690291" y="2459633"/>
            <a:ext cx="7011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Update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16"/>
          <p:cNvCxnSpPr>
            <a:stCxn id="229" idx="2"/>
            <a:endCxn id="265" idx="0"/>
          </p:cNvCxnSpPr>
          <p:nvPr/>
        </p:nvCxnSpPr>
        <p:spPr>
          <a:xfrm flipH="1">
            <a:off x="5890077" y="2289189"/>
            <a:ext cx="600" cy="576300"/>
          </a:xfrm>
          <a:prstGeom prst="straightConnector1">
            <a:avLst/>
          </a:prstGeom>
          <a:noFill/>
          <a:ln cap="flat" cmpd="sng" w="12275">
            <a:solidFill>
              <a:srgbClr val="595959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0" name="Google Shape;280;p16"/>
          <p:cNvCxnSpPr>
            <a:stCxn id="235" idx="2"/>
            <a:endCxn id="268" idx="0"/>
          </p:cNvCxnSpPr>
          <p:nvPr/>
        </p:nvCxnSpPr>
        <p:spPr>
          <a:xfrm>
            <a:off x="6730938" y="1838620"/>
            <a:ext cx="0" cy="1026300"/>
          </a:xfrm>
          <a:prstGeom prst="straightConnector1">
            <a:avLst/>
          </a:prstGeom>
          <a:noFill/>
          <a:ln cap="flat" cmpd="sng" w="12275">
            <a:solidFill>
              <a:srgbClr val="595959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1" name="Google Shape;281;p16"/>
          <p:cNvCxnSpPr>
            <a:stCxn id="238" idx="2"/>
            <a:endCxn id="271" idx="0"/>
          </p:cNvCxnSpPr>
          <p:nvPr/>
        </p:nvCxnSpPr>
        <p:spPr>
          <a:xfrm>
            <a:off x="7653409" y="1839239"/>
            <a:ext cx="0" cy="1026300"/>
          </a:xfrm>
          <a:prstGeom prst="straightConnector1">
            <a:avLst/>
          </a:prstGeom>
          <a:noFill/>
          <a:ln cap="flat" cmpd="sng" w="12275">
            <a:solidFill>
              <a:srgbClr val="595959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282" name="Google Shape;282;p16" title="robo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30369" y="3207600"/>
            <a:ext cx="486051" cy="48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9278" y="3207595"/>
            <a:ext cx="486051" cy="486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16"/>
          <p:cNvCxnSpPr>
            <a:stCxn id="261" idx="1"/>
            <a:endCxn id="282" idx="1"/>
          </p:cNvCxnSpPr>
          <p:nvPr/>
        </p:nvCxnSpPr>
        <p:spPr>
          <a:xfrm>
            <a:off x="4616797" y="2914611"/>
            <a:ext cx="1013700" cy="536100"/>
          </a:xfrm>
          <a:prstGeom prst="bentConnector3">
            <a:avLst>
              <a:gd fmla="val -15606" name="adj1"/>
            </a:avLst>
          </a:prstGeom>
          <a:noFill/>
          <a:ln cap="flat" cmpd="sng" w="12275">
            <a:solidFill>
              <a:srgbClr val="595959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5" name="Google Shape;285;p16"/>
          <p:cNvCxnSpPr>
            <a:stCxn id="282" idx="3"/>
            <a:endCxn id="283" idx="1"/>
          </p:cNvCxnSpPr>
          <p:nvPr/>
        </p:nvCxnSpPr>
        <p:spPr>
          <a:xfrm>
            <a:off x="6116419" y="3450626"/>
            <a:ext cx="1143000" cy="0"/>
          </a:xfrm>
          <a:prstGeom prst="straightConnector1">
            <a:avLst/>
          </a:prstGeom>
          <a:noFill/>
          <a:ln cap="flat" cmpd="sng" w="12275">
            <a:solidFill>
              <a:srgbClr val="595959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86" name="Google Shape;286;p16"/>
          <p:cNvSpPr/>
          <p:nvPr/>
        </p:nvSpPr>
        <p:spPr>
          <a:xfrm>
            <a:off x="5231438" y="3207600"/>
            <a:ext cx="451500" cy="1506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latin typeface="Lexend"/>
                <a:ea typeface="Lexend"/>
                <a:cs typeface="Lexend"/>
                <a:sym typeface="Lexend"/>
              </a:rPr>
              <a:t>Optimizer</a:t>
            </a:r>
            <a:endParaRPr sz="645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7691894" y="3207600"/>
            <a:ext cx="451500" cy="1506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latin typeface="Lexend"/>
                <a:ea typeface="Lexend"/>
                <a:cs typeface="Lexend"/>
                <a:sym typeface="Lexend"/>
              </a:rPr>
              <a:t>Target</a:t>
            </a:r>
            <a:endParaRPr sz="645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116483" y="3191724"/>
            <a:ext cx="224837" cy="22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6"/>
          <p:cNvSpPr/>
          <p:nvPr/>
        </p:nvSpPr>
        <p:spPr>
          <a:xfrm>
            <a:off x="6361267" y="3207600"/>
            <a:ext cx="807600" cy="1506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>
                <a:latin typeface="Lexend"/>
                <a:ea typeface="Lexend"/>
                <a:cs typeface="Lexend"/>
                <a:sym typeface="Lexend"/>
              </a:rPr>
              <a:t>Rewrite prompt</a:t>
            </a:r>
            <a:endParaRPr sz="645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Method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Gradient-based connections quantify influence</a:t>
            </a:r>
            <a:endParaRPr b="1" sz="2356"/>
          </a:p>
        </p:txBody>
      </p:sp>
      <p:grpSp>
        <p:nvGrpSpPr>
          <p:cNvPr id="295" name="Google Shape;295;p17"/>
          <p:cNvGrpSpPr/>
          <p:nvPr/>
        </p:nvGrpSpPr>
        <p:grpSpPr>
          <a:xfrm>
            <a:off x="614185" y="2301369"/>
            <a:ext cx="809751" cy="634266"/>
            <a:chOff x="4745825" y="3894350"/>
            <a:chExt cx="1990049" cy="1558776"/>
          </a:xfrm>
        </p:grpSpPr>
        <p:sp>
          <p:nvSpPr>
            <p:cNvPr id="296" name="Google Shape;296;p17"/>
            <p:cNvSpPr/>
            <p:nvPr/>
          </p:nvSpPr>
          <p:spPr>
            <a:xfrm>
              <a:off x="5074474" y="4269026"/>
              <a:ext cx="1661400" cy="11841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3850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200" lIns="37200" spcFirstLastPara="1" rIns="37200" wrap="square" tIns="3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732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O</a:t>
              </a:r>
              <a:r>
                <a:rPr b="1" baseline="-25000" lang="en" sz="732">
                  <a:latin typeface="Lexend"/>
                  <a:ea typeface="Lexend"/>
                  <a:cs typeface="Lexend"/>
                  <a:sym typeface="Lexend"/>
                </a:rPr>
                <a:t>u</a:t>
              </a:r>
              <a:endParaRPr b="1" baseline="-25000" sz="732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97" name="Google Shape;297;p17" title="robot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45825" y="3894350"/>
              <a:ext cx="629025" cy="62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p17"/>
          <p:cNvGrpSpPr/>
          <p:nvPr/>
        </p:nvGrpSpPr>
        <p:grpSpPr>
          <a:xfrm>
            <a:off x="614461" y="1666936"/>
            <a:ext cx="809420" cy="435021"/>
            <a:chOff x="2368255" y="1235868"/>
            <a:chExt cx="1292591" cy="694589"/>
          </a:xfrm>
        </p:grpSpPr>
        <p:sp>
          <p:nvSpPr>
            <p:cNvPr id="299" name="Google Shape;299;p17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3850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50" lIns="37150" spcFirstLastPara="1" rIns="37150" wrap="square" tIns="37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732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00" name="Google Shape;300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" name="Google Shape;301;p17"/>
          <p:cNvGrpSpPr/>
          <p:nvPr/>
        </p:nvGrpSpPr>
        <p:grpSpPr>
          <a:xfrm>
            <a:off x="1825691" y="1667079"/>
            <a:ext cx="809746" cy="634257"/>
            <a:chOff x="2724128" y="1641829"/>
            <a:chExt cx="809746" cy="634257"/>
          </a:xfrm>
        </p:grpSpPr>
        <p:sp>
          <p:nvSpPr>
            <p:cNvPr id="302" name="Google Shape;302;p17"/>
            <p:cNvSpPr/>
            <p:nvPr/>
          </p:nvSpPr>
          <p:spPr>
            <a:xfrm>
              <a:off x="2857850" y="1794275"/>
              <a:ext cx="676024" cy="48181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3850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200" lIns="37200" spcFirstLastPara="1" rIns="37200" wrap="square" tIns="3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732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O</a:t>
              </a:r>
              <a:r>
                <a:rPr b="1" baseline="-25000" lang="en" sz="732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b="1" sz="732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03" name="Google Shape;303;p17" title="robot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24128" y="1641829"/>
              <a:ext cx="255950" cy="2559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04" name="Google Shape;304;p17"/>
          <p:cNvCxnSpPr>
            <a:stCxn id="296" idx="3"/>
            <a:endCxn id="302" idx="1"/>
          </p:cNvCxnSpPr>
          <p:nvPr/>
        </p:nvCxnSpPr>
        <p:spPr>
          <a:xfrm flipH="1" rot="10800000">
            <a:off x="1423936" y="2060530"/>
            <a:ext cx="535500" cy="634200"/>
          </a:xfrm>
          <a:prstGeom prst="bentConnector3">
            <a:avLst>
              <a:gd fmla="val 49998" name="adj1"/>
            </a:avLst>
          </a:prstGeom>
          <a:noFill/>
          <a:ln cap="flat" cmpd="sng" w="179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17"/>
          <p:cNvCxnSpPr>
            <a:stCxn id="299" idx="3"/>
            <a:endCxn id="302" idx="1"/>
          </p:cNvCxnSpPr>
          <p:nvPr/>
        </p:nvCxnSpPr>
        <p:spPr>
          <a:xfrm>
            <a:off x="1423881" y="1960664"/>
            <a:ext cx="535500" cy="99900"/>
          </a:xfrm>
          <a:prstGeom prst="bentConnector3">
            <a:avLst>
              <a:gd fmla="val 50003" name="adj1"/>
            </a:avLst>
          </a:prstGeom>
          <a:noFill/>
          <a:ln cap="flat" cmpd="sng" w="179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17"/>
          <p:cNvCxnSpPr>
            <a:stCxn id="307" idx="3"/>
            <a:endCxn id="302" idx="1"/>
          </p:cNvCxnSpPr>
          <p:nvPr/>
        </p:nvCxnSpPr>
        <p:spPr>
          <a:xfrm>
            <a:off x="1423881" y="1326196"/>
            <a:ext cx="535500" cy="734100"/>
          </a:xfrm>
          <a:prstGeom prst="bentConnector3">
            <a:avLst>
              <a:gd fmla="val 50003" name="adj1"/>
            </a:avLst>
          </a:prstGeom>
          <a:noFill/>
          <a:ln cap="flat" cmpd="sng" w="179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08" name="Google Shape;308;p17"/>
          <p:cNvGrpSpPr/>
          <p:nvPr/>
        </p:nvGrpSpPr>
        <p:grpSpPr>
          <a:xfrm>
            <a:off x="614461" y="1032468"/>
            <a:ext cx="809420" cy="435021"/>
            <a:chOff x="2368255" y="1235868"/>
            <a:chExt cx="1292591" cy="694589"/>
          </a:xfrm>
        </p:grpSpPr>
        <p:sp>
          <p:nvSpPr>
            <p:cNvPr id="307" name="Google Shape;307;p17"/>
            <p:cNvSpPr/>
            <p:nvPr/>
          </p:nvSpPr>
          <p:spPr>
            <a:xfrm>
              <a:off x="2581746" y="1479257"/>
              <a:ext cx="1079100" cy="451200"/>
            </a:xfrm>
            <a:prstGeom prst="roundRect">
              <a:avLst>
                <a:gd fmla="val 16667" name="adj"/>
              </a:avLst>
            </a:prstGeom>
            <a:solidFill>
              <a:srgbClr val="FFAE7C"/>
            </a:solidFill>
            <a:ln cap="flat" cmpd="sng" w="3850">
              <a:solidFill>
                <a:srgbClr val="FFAE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150" lIns="37150" spcFirstLastPara="1" rIns="37150" wrap="square" tIns="37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32">
                  <a:latin typeface="Lexend"/>
                  <a:ea typeface="Lexend"/>
                  <a:cs typeface="Lexend"/>
                  <a:sym typeface="Lexend"/>
                </a:rPr>
                <a:t>LLM Output</a:t>
              </a:r>
              <a:endParaRPr b="1" sz="732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09" name="Google Shape;3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8255" y="1235868"/>
              <a:ext cx="408614" cy="4086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2994213" y="1032475"/>
            <a:ext cx="27678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Predecessor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O</a:t>
            </a:r>
            <a:r>
              <a:rPr baseline="-25000" lang="en" sz="1342">
                <a:solidFill>
                  <a:schemeClr val="dk1"/>
                </a:solidFill>
              </a:rPr>
              <a:t>u</a:t>
            </a:r>
            <a:endParaRPr baseline="-25000"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(</a:t>
            </a:r>
            <a:r>
              <a:rPr lang="en" sz="800"/>
              <a:t>Input sequence length × 1)</a:t>
            </a:r>
            <a:endParaRPr sz="1342">
              <a:solidFill>
                <a:schemeClr val="dk1"/>
              </a:solidFill>
            </a:endParaRPr>
          </a:p>
        </p:txBody>
      </p:sp>
      <p:sp>
        <p:nvSpPr>
          <p:cNvPr id="311" name="Google Shape;311;p17"/>
          <p:cNvSpPr txBox="1"/>
          <p:nvPr>
            <p:ph idx="1" type="body"/>
          </p:nvPr>
        </p:nvSpPr>
        <p:spPr>
          <a:xfrm>
            <a:off x="5762013" y="1032475"/>
            <a:ext cx="27678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Token-level gradient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∇∏</a:t>
            </a:r>
            <a:r>
              <a:rPr baseline="-25000" lang="en" sz="1342">
                <a:solidFill>
                  <a:schemeClr val="dk1"/>
                </a:solidFill>
              </a:rPr>
              <a:t>w∈Ov</a:t>
            </a:r>
            <a:r>
              <a:rPr lang="en" sz="1342">
                <a:solidFill>
                  <a:schemeClr val="dk1"/>
                </a:solidFill>
              </a:rPr>
              <a:t>P(w | Embed(O</a:t>
            </a:r>
            <a:r>
              <a:rPr baseline="-25000" lang="en" sz="1342">
                <a:solidFill>
                  <a:schemeClr val="dk1"/>
                </a:solidFill>
              </a:rPr>
              <a:t>u</a:t>
            </a:r>
            <a:r>
              <a:rPr lang="en" sz="1342">
                <a:solidFill>
                  <a:schemeClr val="dk1"/>
                </a:solidFill>
              </a:rPr>
              <a:t>))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(Input sequence length × hidden size)</a:t>
            </a:r>
            <a:endParaRPr sz="1342">
              <a:solidFill>
                <a:schemeClr val="dk1"/>
              </a:solidFill>
            </a:endParaRPr>
          </a:p>
        </p:txBody>
      </p:sp>
      <p:sp>
        <p:nvSpPr>
          <p:cNvPr id="312" name="Google Shape;312;p17"/>
          <p:cNvSpPr txBox="1"/>
          <p:nvPr>
            <p:ph idx="1" type="body"/>
          </p:nvPr>
        </p:nvSpPr>
        <p:spPr>
          <a:xfrm>
            <a:off x="2994213" y="2253225"/>
            <a:ext cx="27678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Token-level weight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Aggregation over </a:t>
            </a:r>
            <a:br>
              <a:rPr lang="en" sz="1342">
                <a:solidFill>
                  <a:schemeClr val="dk1"/>
                </a:solidFill>
              </a:rPr>
            </a:br>
            <a:r>
              <a:rPr lang="en" sz="1342">
                <a:solidFill>
                  <a:schemeClr val="dk1"/>
                </a:solidFill>
              </a:rPr>
              <a:t>dimension of hidden siz</a:t>
            </a:r>
            <a:r>
              <a:rPr lang="en" sz="1342">
                <a:solidFill>
                  <a:schemeClr val="dk1"/>
                </a:solidFill>
              </a:rPr>
              <a:t>e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(Input sequence length × 1)</a:t>
            </a:r>
            <a:endParaRPr sz="1342">
              <a:solidFill>
                <a:schemeClr val="dk1"/>
              </a:solidFill>
            </a:endParaRPr>
          </a:p>
        </p:txBody>
      </p:sp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5762013" y="2253225"/>
            <a:ext cx="27678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Connection</a:t>
            </a: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 weight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Aggregation over </a:t>
            </a:r>
            <a:br>
              <a:rPr lang="en" sz="1342">
                <a:solidFill>
                  <a:schemeClr val="dk1"/>
                </a:solidFill>
              </a:rPr>
            </a:br>
            <a:r>
              <a:rPr lang="en" sz="1342">
                <a:solidFill>
                  <a:schemeClr val="dk1"/>
                </a:solidFill>
              </a:rPr>
              <a:t>dimension of </a:t>
            </a:r>
            <a:r>
              <a:rPr lang="en" sz="1342">
                <a:solidFill>
                  <a:schemeClr val="dk1"/>
                </a:solidFill>
              </a:rPr>
              <a:t>sequence</a:t>
            </a:r>
            <a:r>
              <a:rPr lang="en" sz="1342">
                <a:solidFill>
                  <a:schemeClr val="dk1"/>
                </a:solidFill>
              </a:rPr>
              <a:t> length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(</a:t>
            </a:r>
            <a:r>
              <a:rPr lang="en" sz="800"/>
              <a:t>Scalar)</a:t>
            </a:r>
            <a:endParaRPr sz="1342">
              <a:solidFill>
                <a:schemeClr val="dk1"/>
              </a:solidFill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3136563" y="3556375"/>
            <a:ext cx="24831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3A5B8"/>
                </a:solidFill>
                <a:latin typeface="Lexend"/>
                <a:ea typeface="Lexend"/>
                <a:cs typeface="Lexend"/>
                <a:sym typeface="Lexend"/>
              </a:rPr>
              <a:t>●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L1 norm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|| ∇∏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w∈Ov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P(w | Embed(O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)) ||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L1</a:t>
            </a:r>
            <a:endParaRPr baseline="-25000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3A5B8"/>
                </a:solidFill>
                <a:latin typeface="Lexend"/>
                <a:ea typeface="Lexend"/>
                <a:cs typeface="Lexend"/>
                <a:sym typeface="Lexend"/>
              </a:rPr>
              <a:t>●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Product with Input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∇∏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w∈Ov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P(w | Embed(O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)) · Embed(O</a:t>
            </a:r>
            <a:r>
              <a:rPr baseline="-25000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17"/>
          <p:cNvSpPr txBox="1"/>
          <p:nvPr/>
        </p:nvSpPr>
        <p:spPr>
          <a:xfrm>
            <a:off x="5904375" y="3556375"/>
            <a:ext cx="25746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AE7C"/>
                </a:solidFill>
                <a:latin typeface="Lexend"/>
                <a:ea typeface="Lexend"/>
                <a:cs typeface="Lexend"/>
                <a:sym typeface="Lexend"/>
              </a:rPr>
              <a:t>●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Average effect of each token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Avg( 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· 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aseline="-25000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AE7C"/>
                </a:solidFill>
                <a:latin typeface="Lexend"/>
                <a:ea typeface="Lexend"/>
                <a:cs typeface="Lexend"/>
                <a:sym typeface="Lexend"/>
              </a:rPr>
              <a:t>●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Effect of the most important token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Max( 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·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14463" y="3135050"/>
            <a:ext cx="2237400" cy="1214700"/>
          </a:xfrm>
          <a:prstGeom prst="roundRect">
            <a:avLst>
              <a:gd fmla="val 16667" name="adj"/>
            </a:avLst>
          </a:prstGeom>
          <a:solidFill>
            <a:srgbClr val="FFAE7C"/>
          </a:solidFill>
          <a:ln cap="flat" cmpd="sng" w="9525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b="1" baseline="-25000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Example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hotel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named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F0000"/>
                </a:highlight>
                <a:latin typeface="Lexend"/>
                <a:ea typeface="Lexend"/>
                <a:cs typeface="Lexend"/>
                <a:sym typeface="Lexend"/>
              </a:rPr>
              <a:t>Bedouin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has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been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F0000"/>
                </a:highlight>
                <a:latin typeface="Lexend"/>
                <a:ea typeface="Lexend"/>
                <a:cs typeface="Lexend"/>
                <a:sym typeface="Lexend"/>
              </a:rPr>
              <a:t>booked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Reference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is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F0000"/>
                </a:highlight>
                <a:latin typeface="Lexend"/>
                <a:ea typeface="Lexend"/>
                <a:cs typeface="Lexend"/>
                <a:sym typeface="Lexend"/>
              </a:rPr>
              <a:t>FRQZWQL2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Please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inform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user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of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932">
                <a:solidFill>
                  <a:schemeClr val="dk1"/>
                </a:solidFill>
                <a:highlight>
                  <a:srgbClr val="F4CCCC"/>
                </a:highlight>
                <a:latin typeface="Lexend"/>
                <a:ea typeface="Lexend"/>
                <a:cs typeface="Lexend"/>
                <a:sym typeface="Lexend"/>
              </a:rPr>
              <a:t>information</a:t>
            </a:r>
            <a:r>
              <a:rPr lang="en" sz="932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32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Implementation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Prefix trick makes optimization loop practical</a:t>
            </a:r>
            <a:endParaRPr b="1" sz="2356"/>
          </a:p>
        </p:txBody>
      </p:sp>
      <p:sp>
        <p:nvSpPr>
          <p:cNvPr id="322" name="Google Shape;322;p18"/>
          <p:cNvSpPr/>
          <p:nvPr/>
        </p:nvSpPr>
        <p:spPr>
          <a:xfrm>
            <a:off x="538100" y="1395675"/>
            <a:ext cx="1107300" cy="357000"/>
          </a:xfrm>
          <a:prstGeom prst="rect">
            <a:avLst/>
          </a:prstGeom>
          <a:solidFill>
            <a:schemeClr val="lt2"/>
          </a:solidFill>
          <a:ln cap="flat" cmpd="sng" w="6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Prompt</a:t>
            </a:r>
            <a:endParaRPr sz="87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1645222" y="1395675"/>
            <a:ext cx="1107300" cy="357000"/>
          </a:xfrm>
          <a:prstGeom prst="rect">
            <a:avLst/>
          </a:prstGeom>
          <a:solidFill>
            <a:srgbClr val="FFAE7C"/>
          </a:solidFill>
          <a:ln cap="flat" cmpd="sng" w="6400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Input</a:t>
            </a:r>
            <a:endParaRPr sz="874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672" y="1410687"/>
            <a:ext cx="326895" cy="3268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18"/>
          <p:cNvCxnSpPr>
            <a:stCxn id="323" idx="3"/>
            <a:endCxn id="324" idx="1"/>
          </p:cNvCxnSpPr>
          <p:nvPr/>
        </p:nvCxnSpPr>
        <p:spPr>
          <a:xfrm>
            <a:off x="2752522" y="1574175"/>
            <a:ext cx="3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18"/>
          <p:cNvSpPr/>
          <p:nvPr/>
        </p:nvSpPr>
        <p:spPr>
          <a:xfrm>
            <a:off x="3681904" y="1395675"/>
            <a:ext cx="1107300" cy="357000"/>
          </a:xfrm>
          <a:prstGeom prst="rect">
            <a:avLst/>
          </a:prstGeom>
          <a:solidFill>
            <a:srgbClr val="FFAE7C"/>
          </a:solidFill>
          <a:ln cap="flat" cmpd="sng" w="6400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Output</a:t>
            </a:r>
            <a:endParaRPr b="1" sz="874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7" name="Google Shape;327;p18"/>
          <p:cNvCxnSpPr>
            <a:stCxn id="324" idx="3"/>
            <a:endCxn id="326" idx="1"/>
          </p:cNvCxnSpPr>
          <p:nvPr/>
        </p:nvCxnSpPr>
        <p:spPr>
          <a:xfrm>
            <a:off x="3380568" y="1574135"/>
            <a:ext cx="3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18"/>
          <p:cNvSpPr/>
          <p:nvPr/>
        </p:nvSpPr>
        <p:spPr>
          <a:xfrm>
            <a:off x="538100" y="2190725"/>
            <a:ext cx="1107300" cy="357000"/>
          </a:xfrm>
          <a:prstGeom prst="rect">
            <a:avLst/>
          </a:prstGeom>
          <a:solidFill>
            <a:schemeClr val="lt2"/>
          </a:solidFill>
          <a:ln cap="flat" cmpd="sng" w="6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Prompt</a:t>
            </a:r>
            <a:endParaRPr b="1" sz="874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(no grad required)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9" name="Google Shape;3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197" y="2205787"/>
            <a:ext cx="326895" cy="326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/>
          <p:nvPr/>
        </p:nvSpPr>
        <p:spPr>
          <a:xfrm>
            <a:off x="2023197" y="2727025"/>
            <a:ext cx="1107300" cy="357000"/>
          </a:xfrm>
          <a:prstGeom prst="rect">
            <a:avLst/>
          </a:prstGeom>
          <a:solidFill>
            <a:srgbClr val="FFAE7C"/>
          </a:solidFill>
          <a:ln cap="flat" cmpd="sng" w="6400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Input</a:t>
            </a:r>
            <a:endParaRPr b="1" sz="874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(grad required)</a:t>
            </a:r>
            <a:endParaRPr b="1" sz="874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1" name="Google Shape;3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347" y="2384287"/>
            <a:ext cx="326895" cy="326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8"/>
          <p:cNvSpPr/>
          <p:nvPr/>
        </p:nvSpPr>
        <p:spPr>
          <a:xfrm>
            <a:off x="4490629" y="2369225"/>
            <a:ext cx="1107300" cy="357000"/>
          </a:xfrm>
          <a:prstGeom prst="rect">
            <a:avLst/>
          </a:prstGeom>
          <a:solidFill>
            <a:srgbClr val="FFAE7C"/>
          </a:solidFill>
          <a:ln cap="flat" cmpd="sng" w="6400">
            <a:solidFill>
              <a:srgbClr val="FFAE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Output</a:t>
            </a:r>
            <a:endParaRPr b="1" sz="874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18"/>
          <p:cNvCxnSpPr>
            <a:stCxn id="328" idx="3"/>
            <a:endCxn id="329" idx="1"/>
          </p:cNvCxnSpPr>
          <p:nvPr/>
        </p:nvCxnSpPr>
        <p:spPr>
          <a:xfrm>
            <a:off x="1645400" y="2369225"/>
            <a:ext cx="24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18"/>
          <p:cNvCxnSpPr>
            <a:stCxn id="330" idx="3"/>
            <a:endCxn id="331" idx="2"/>
          </p:cNvCxnSpPr>
          <p:nvPr/>
        </p:nvCxnSpPr>
        <p:spPr>
          <a:xfrm flipH="1" rot="10800000">
            <a:off x="3130497" y="2711125"/>
            <a:ext cx="881400" cy="1944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18"/>
          <p:cNvCxnSpPr>
            <a:stCxn id="331" idx="3"/>
            <a:endCxn id="332" idx="1"/>
          </p:cNvCxnSpPr>
          <p:nvPr/>
        </p:nvCxnSpPr>
        <p:spPr>
          <a:xfrm>
            <a:off x="4175243" y="2547735"/>
            <a:ext cx="31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18"/>
          <p:cNvSpPr/>
          <p:nvPr/>
        </p:nvSpPr>
        <p:spPr>
          <a:xfrm>
            <a:off x="2425675" y="2190725"/>
            <a:ext cx="1107300" cy="357000"/>
          </a:xfrm>
          <a:prstGeom prst="rect">
            <a:avLst/>
          </a:prstGeom>
          <a:solidFill>
            <a:schemeClr val="lt2"/>
          </a:solidFill>
          <a:ln cap="flat" cmpd="sng" w="6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500" lIns="61500" spcFirstLastPara="1" rIns="61500" wrap="square" tIns="6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4">
                <a:latin typeface="Lexend"/>
                <a:ea typeface="Lexend"/>
                <a:cs typeface="Lexend"/>
                <a:sym typeface="Lexend"/>
              </a:rPr>
              <a:t>KV Cache</a:t>
            </a:r>
            <a:endParaRPr sz="874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7" name="Google Shape;337;p18"/>
          <p:cNvCxnSpPr>
            <a:stCxn id="329" idx="3"/>
            <a:endCxn id="336" idx="1"/>
          </p:cNvCxnSpPr>
          <p:nvPr/>
        </p:nvCxnSpPr>
        <p:spPr>
          <a:xfrm>
            <a:off x="2216093" y="2369235"/>
            <a:ext cx="209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18"/>
          <p:cNvCxnSpPr>
            <a:stCxn id="336" idx="3"/>
            <a:endCxn id="331" idx="1"/>
          </p:cNvCxnSpPr>
          <p:nvPr/>
        </p:nvCxnSpPr>
        <p:spPr>
          <a:xfrm>
            <a:off x="3532975" y="2369225"/>
            <a:ext cx="315300" cy="1785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18"/>
          <p:cNvSpPr/>
          <p:nvPr/>
        </p:nvSpPr>
        <p:spPr>
          <a:xfrm>
            <a:off x="311775" y="1118750"/>
            <a:ext cx="11784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W/o prefix trick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311775" y="1913800"/>
            <a:ext cx="1178400" cy="192000"/>
          </a:xfrm>
          <a:prstGeom prst="rect">
            <a:avLst/>
          </a:prstGeom>
          <a:noFill/>
          <a:ln cap="flat" cmpd="sng" w="61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950" lIns="58950" spcFirstLastPara="1" rIns="58950" wrap="square" tIns="5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3">
                <a:latin typeface="Lexend"/>
                <a:ea typeface="Lexend"/>
                <a:cs typeface="Lexend"/>
                <a:sym typeface="Lexend"/>
              </a:rPr>
              <a:t>W/ prefix trick</a:t>
            </a:r>
            <a:endParaRPr sz="90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18"/>
          <p:cNvSpPr txBox="1"/>
          <p:nvPr>
            <p:ph idx="1" type="body"/>
          </p:nvPr>
        </p:nvSpPr>
        <p:spPr>
          <a:xfrm>
            <a:off x="311775" y="3263325"/>
            <a:ext cx="5286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73A5B8"/>
                </a:solidFill>
              </a:rPr>
              <a:t>●</a:t>
            </a:r>
            <a:r>
              <a:rPr lang="en" sz="1000"/>
              <a:t>   Prompt tokens are treated as a fixed prefix.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73A5B8"/>
                </a:solidFill>
              </a:rPr>
              <a:t>●</a:t>
            </a:r>
            <a:r>
              <a:rPr lang="en" sz="1000"/>
              <a:t>   G</a:t>
            </a:r>
            <a:r>
              <a:rPr lang="en" sz="1000"/>
              <a:t>radients are only stored for input tokens.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FFAE7C"/>
                </a:solidFill>
              </a:rPr>
              <a:t>●</a:t>
            </a:r>
            <a:r>
              <a:rPr lang="en" sz="1000"/>
              <a:t>   Autograd activation memory: O(n · d · L) → O((n - k) · d · L)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00">
                <a:solidFill>
                  <a:srgbClr val="FFAE7C"/>
                </a:solidFill>
              </a:rPr>
              <a:t>●</a:t>
            </a:r>
            <a:r>
              <a:rPr lang="en" sz="1000"/>
              <a:t>   AgentChord, a practical, lightweight framework is built around this prefix trick.</a:t>
            </a:r>
            <a:endParaRPr sz="1000"/>
          </a:p>
        </p:txBody>
      </p:sp>
      <p:pic>
        <p:nvPicPr>
          <p:cNvPr id="342" name="Google Shape;3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3725" y="1151051"/>
            <a:ext cx="2896175" cy="8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 txBox="1"/>
          <p:nvPr>
            <p:ph idx="1" type="body"/>
          </p:nvPr>
        </p:nvSpPr>
        <p:spPr>
          <a:xfrm>
            <a:off x="5783875" y="2105800"/>
            <a:ext cx="2896200" cy="23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AE7C"/>
                </a:solidFill>
              </a:rPr>
              <a:t>●  ●●</a:t>
            </a:r>
            <a:endParaRPr sz="1000"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/>
              <a:t>Gradient-Based Connections for </a:t>
            </a:r>
            <a:r>
              <a:rPr lang="en" sz="1000"/>
              <a:t>automated</a:t>
            </a:r>
            <a:r>
              <a:rPr lang="en" sz="1000"/>
              <a:t> multi-agent system optimization.</a:t>
            </a:r>
            <a:endParaRPr sz="1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3A5B8"/>
                </a:solidFill>
              </a:rPr>
              <a:t>●  ●●</a:t>
            </a:r>
            <a:endParaRPr sz="1000"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/>
              <a:t>Handy visualization of Gradient-Based Connections.</a:t>
            </a:r>
            <a:endParaRPr sz="1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AE7C"/>
                </a:solidFill>
              </a:rPr>
              <a:t>●  ●●</a:t>
            </a:r>
            <a:endParaRPr sz="1000"/>
          </a:p>
          <a:p>
            <a:pPr indent="0" lvl="0" marL="0" rtl="0" algn="ctr">
              <a:spcBef>
                <a:spcPts val="5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Connected to W&amp;B to easily monitor the optimization process.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 txBox="1"/>
          <p:nvPr>
            <p:ph idx="1" type="body"/>
          </p:nvPr>
        </p:nvSpPr>
        <p:spPr>
          <a:xfrm>
            <a:off x="6426625" y="3741925"/>
            <a:ext cx="22941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10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Steps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Update after each complete conversation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49" name="Google Shape;349;p19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Experiment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Evaluation: dialogue + tool-use multi-agent systems</a:t>
            </a:r>
            <a:endParaRPr b="1" sz="2356"/>
          </a:p>
        </p:txBody>
      </p:sp>
      <p:grpSp>
        <p:nvGrpSpPr>
          <p:cNvPr id="350" name="Google Shape;350;p19"/>
          <p:cNvGrpSpPr/>
          <p:nvPr/>
        </p:nvGrpSpPr>
        <p:grpSpPr>
          <a:xfrm>
            <a:off x="300001" y="1932042"/>
            <a:ext cx="3417040" cy="1666015"/>
            <a:chOff x="201689" y="2098173"/>
            <a:chExt cx="3886091" cy="1894706"/>
          </a:xfrm>
        </p:grpSpPr>
        <p:grpSp>
          <p:nvGrpSpPr>
            <p:cNvPr id="351" name="Google Shape;351;p19"/>
            <p:cNvGrpSpPr/>
            <p:nvPr/>
          </p:nvGrpSpPr>
          <p:grpSpPr>
            <a:xfrm>
              <a:off x="845362" y="2914291"/>
              <a:ext cx="488082" cy="262346"/>
              <a:chOff x="2368255" y="1235868"/>
              <a:chExt cx="1292591" cy="694589"/>
            </a:xfrm>
          </p:grpSpPr>
          <p:sp>
            <p:nvSpPr>
              <p:cNvPr id="352" name="Google Shape;352;p19"/>
              <p:cNvSpPr/>
              <p:nvPr/>
            </p:nvSpPr>
            <p:spPr>
              <a:xfrm>
                <a:off x="2581746" y="1479257"/>
                <a:ext cx="1079100" cy="4512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5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700" lIns="19700" spcFirstLastPara="1" rIns="19700" wrap="square" tIns="19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88">
                    <a:latin typeface="Lexend"/>
                    <a:ea typeface="Lexend"/>
                    <a:cs typeface="Lexend"/>
                    <a:sym typeface="Lexend"/>
                  </a:rPr>
                  <a:t>Manager</a:t>
                </a:r>
                <a:endParaRPr b="1" sz="388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353" name="Google Shape;353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368255" y="1235868"/>
                <a:ext cx="408614" cy="4086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4" name="Google Shape;354;p19"/>
            <p:cNvSpPr/>
            <p:nvPr/>
          </p:nvSpPr>
          <p:spPr>
            <a:xfrm>
              <a:off x="201689" y="2791981"/>
              <a:ext cx="488400" cy="5070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88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[Agent] xxx</a:t>
              </a:r>
              <a:endParaRPr b="1" sz="388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88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55" name="Google Shape;355;p19"/>
            <p:cNvGrpSpPr/>
            <p:nvPr/>
          </p:nvGrpSpPr>
          <p:grpSpPr>
            <a:xfrm>
              <a:off x="2132536" y="2914166"/>
              <a:ext cx="488557" cy="262375"/>
              <a:chOff x="4745825" y="3894350"/>
              <a:chExt cx="1990050" cy="1069175"/>
            </a:xfrm>
          </p:grpSpPr>
          <p:sp>
            <p:nvSpPr>
              <p:cNvPr id="356" name="Google Shape;356;p19"/>
              <p:cNvSpPr/>
              <p:nvPr/>
            </p:nvSpPr>
            <p:spPr>
              <a:xfrm>
                <a:off x="5074475" y="4269025"/>
                <a:ext cx="1661400" cy="6945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5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700" lIns="19700" spcFirstLastPara="1" rIns="19700" wrap="square" tIns="19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88">
                    <a:latin typeface="Lexend"/>
                    <a:ea typeface="Lexend"/>
                    <a:cs typeface="Lexend"/>
                    <a:sym typeface="Lexend"/>
                  </a:rPr>
                  <a:t>Responder</a:t>
                </a:r>
                <a:endParaRPr b="1" sz="388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357" name="Google Shape;357;p19" title="robot (1)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745825" y="3894350"/>
                <a:ext cx="629025" cy="629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8" name="Google Shape;358;p19"/>
            <p:cNvSpPr/>
            <p:nvPr/>
          </p:nvSpPr>
          <p:spPr>
            <a:xfrm>
              <a:off x="3599380" y="2885762"/>
              <a:ext cx="488400" cy="3198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JGA Loss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1488790" y="2098173"/>
              <a:ext cx="488072" cy="1894706"/>
              <a:chOff x="2678671" y="100248"/>
              <a:chExt cx="955504" cy="3709290"/>
            </a:xfrm>
          </p:grpSpPr>
          <p:grpSp>
            <p:nvGrpSpPr>
              <p:cNvPr id="360" name="Google Shape;360;p19"/>
              <p:cNvGrpSpPr/>
              <p:nvPr/>
            </p:nvGrpSpPr>
            <p:grpSpPr>
              <a:xfrm>
                <a:off x="2678671" y="849898"/>
                <a:ext cx="955504" cy="710678"/>
                <a:chOff x="3698046" y="2540373"/>
                <a:chExt cx="955504" cy="710678"/>
              </a:xfrm>
            </p:grpSpPr>
            <p:sp>
              <p:nvSpPr>
                <p:cNvPr id="361" name="Google Shape;361;p19"/>
                <p:cNvSpPr/>
                <p:nvPr/>
              </p:nvSpPr>
              <p:spPr>
                <a:xfrm>
                  <a:off x="3855850" y="2720351"/>
                  <a:ext cx="797700" cy="5307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AE7C"/>
                </a:solidFill>
                <a:ln cap="flat" cmpd="sng" w="2050">
                  <a:solidFill>
                    <a:srgbClr val="FFAE7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9700" lIns="19700" spcFirstLastPara="1" rIns="19700" wrap="square" tIns="19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Hotel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Worker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pic>
              <p:nvPicPr>
                <p:cNvPr id="362" name="Google Shape;362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000103" y="2540380"/>
                  <a:ext cx="302056" cy="3021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3" name="Google Shape;363;p1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98046" y="2540373"/>
                  <a:ext cx="302048" cy="3021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4" name="Google Shape;364;p19"/>
              <p:cNvGrpSpPr/>
              <p:nvPr/>
            </p:nvGrpSpPr>
            <p:grpSpPr>
              <a:xfrm>
                <a:off x="2678671" y="100248"/>
                <a:ext cx="955504" cy="710678"/>
                <a:chOff x="3698046" y="2540373"/>
                <a:chExt cx="955504" cy="710678"/>
              </a:xfrm>
            </p:grpSpPr>
            <p:sp>
              <p:nvSpPr>
                <p:cNvPr id="365" name="Google Shape;365;p19"/>
                <p:cNvSpPr/>
                <p:nvPr/>
              </p:nvSpPr>
              <p:spPr>
                <a:xfrm>
                  <a:off x="3855850" y="2720351"/>
                  <a:ext cx="797700" cy="5307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AE7C"/>
                </a:solidFill>
                <a:ln cap="flat" cmpd="sng" w="2050">
                  <a:solidFill>
                    <a:srgbClr val="FFAE7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9700" lIns="19700" spcFirstLastPara="1" rIns="19700" wrap="square" tIns="19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Attraction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Worker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pic>
              <p:nvPicPr>
                <p:cNvPr id="366" name="Google Shape;366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000103" y="2540380"/>
                  <a:ext cx="302056" cy="3021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1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98046" y="2540373"/>
                  <a:ext cx="302048" cy="3021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19"/>
              <p:cNvGrpSpPr/>
              <p:nvPr/>
            </p:nvGrpSpPr>
            <p:grpSpPr>
              <a:xfrm>
                <a:off x="2678671" y="2349210"/>
                <a:ext cx="955504" cy="710678"/>
                <a:chOff x="3698046" y="2540373"/>
                <a:chExt cx="955504" cy="710678"/>
              </a:xfrm>
            </p:grpSpPr>
            <p:sp>
              <p:nvSpPr>
                <p:cNvPr id="369" name="Google Shape;369;p19"/>
                <p:cNvSpPr/>
                <p:nvPr/>
              </p:nvSpPr>
              <p:spPr>
                <a:xfrm>
                  <a:off x="3855850" y="2720351"/>
                  <a:ext cx="797700" cy="5307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AE7C"/>
                </a:solidFill>
                <a:ln cap="flat" cmpd="sng" w="2050">
                  <a:solidFill>
                    <a:srgbClr val="FFAE7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9700" lIns="19700" spcFirstLastPara="1" rIns="19700" wrap="square" tIns="19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Train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Worker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pic>
              <p:nvPicPr>
                <p:cNvPr id="370" name="Google Shape;370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000103" y="2540380"/>
                  <a:ext cx="302056" cy="3021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1" name="Google Shape;371;p1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98046" y="2540373"/>
                  <a:ext cx="302048" cy="3021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2" name="Google Shape;372;p19"/>
              <p:cNvGrpSpPr/>
              <p:nvPr/>
            </p:nvGrpSpPr>
            <p:grpSpPr>
              <a:xfrm>
                <a:off x="2678671" y="1599560"/>
                <a:ext cx="955504" cy="710678"/>
                <a:chOff x="3698046" y="2540373"/>
                <a:chExt cx="955504" cy="710678"/>
              </a:xfrm>
            </p:grpSpPr>
            <p:sp>
              <p:nvSpPr>
                <p:cNvPr id="373" name="Google Shape;373;p19"/>
                <p:cNvSpPr/>
                <p:nvPr/>
              </p:nvSpPr>
              <p:spPr>
                <a:xfrm>
                  <a:off x="3855850" y="2720351"/>
                  <a:ext cx="797700" cy="5307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AE7C"/>
                </a:solidFill>
                <a:ln cap="flat" cmpd="sng" w="2050">
                  <a:solidFill>
                    <a:srgbClr val="FFAE7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9700" lIns="19700" spcFirstLastPara="1" rIns="19700" wrap="square" tIns="19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Restaurant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Worker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pic>
              <p:nvPicPr>
                <p:cNvPr id="374" name="Google Shape;374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000103" y="2540380"/>
                  <a:ext cx="302056" cy="3021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1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98046" y="2540373"/>
                  <a:ext cx="302048" cy="3021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19"/>
              <p:cNvGrpSpPr/>
              <p:nvPr/>
            </p:nvGrpSpPr>
            <p:grpSpPr>
              <a:xfrm>
                <a:off x="2678671" y="3098860"/>
                <a:ext cx="955504" cy="710678"/>
                <a:chOff x="3698046" y="2540373"/>
                <a:chExt cx="955504" cy="710678"/>
              </a:xfrm>
            </p:grpSpPr>
            <p:sp>
              <p:nvSpPr>
                <p:cNvPr id="377" name="Google Shape;377;p19"/>
                <p:cNvSpPr/>
                <p:nvPr/>
              </p:nvSpPr>
              <p:spPr>
                <a:xfrm>
                  <a:off x="3855850" y="2720351"/>
                  <a:ext cx="797700" cy="5307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FAE7C"/>
                </a:solidFill>
                <a:ln cap="flat" cmpd="sng" w="2050">
                  <a:solidFill>
                    <a:srgbClr val="FFAE7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9700" lIns="19700" spcFirstLastPara="1" rIns="19700" wrap="square" tIns="19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Taxi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388">
                      <a:latin typeface="Lexend"/>
                      <a:ea typeface="Lexend"/>
                      <a:cs typeface="Lexend"/>
                      <a:sym typeface="Lexend"/>
                    </a:rPr>
                    <a:t>Worker</a:t>
                  </a:r>
                  <a:endParaRPr b="1" sz="388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pic>
              <p:nvPicPr>
                <p:cNvPr id="378" name="Google Shape;378;p19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000103" y="2540380"/>
                  <a:ext cx="302056" cy="3021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9" name="Google Shape;379;p1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98046" y="2540373"/>
                  <a:ext cx="302048" cy="30217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80" name="Google Shape;380;p19"/>
            <p:cNvSpPr/>
            <p:nvPr/>
          </p:nvSpPr>
          <p:spPr>
            <a:xfrm>
              <a:off x="2776055" y="2885609"/>
              <a:ext cx="488400" cy="3198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(2nd Turn)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1" name="Google Shape;381;p19"/>
            <p:cNvCxnSpPr>
              <a:endCxn id="352" idx="1"/>
            </p:cNvCxnSpPr>
            <p:nvPr/>
          </p:nvCxnSpPr>
          <p:spPr>
            <a:xfrm>
              <a:off x="689877" y="3045528"/>
              <a:ext cx="236100" cy="45900"/>
            </a:xfrm>
            <a:prstGeom prst="bentConnector3">
              <a:avLst>
                <a:gd fmla="val 50000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2" name="Google Shape;382;p19"/>
            <p:cNvCxnSpPr>
              <a:stCxn id="352" idx="3"/>
              <a:endCxn id="365" idx="1"/>
            </p:cNvCxnSpPr>
            <p:nvPr/>
          </p:nvCxnSpPr>
          <p:spPr>
            <a:xfrm flipH="1" rot="10800000">
              <a:off x="1333445" y="2325528"/>
              <a:ext cx="236100" cy="765900"/>
            </a:xfrm>
            <a:prstGeom prst="bentConnector3">
              <a:avLst>
                <a:gd fmla="val 50006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3" name="Google Shape;383;p19"/>
            <p:cNvCxnSpPr>
              <a:stCxn id="352" idx="3"/>
              <a:endCxn id="361" idx="1"/>
            </p:cNvCxnSpPr>
            <p:nvPr/>
          </p:nvCxnSpPr>
          <p:spPr>
            <a:xfrm flipH="1" rot="10800000">
              <a:off x="1333445" y="2708628"/>
              <a:ext cx="236100" cy="382800"/>
            </a:xfrm>
            <a:prstGeom prst="bentConnector3">
              <a:avLst>
                <a:gd fmla="val 50006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4" name="Google Shape;384;p19"/>
            <p:cNvCxnSpPr>
              <a:stCxn id="352" idx="3"/>
              <a:endCxn id="373" idx="1"/>
            </p:cNvCxnSpPr>
            <p:nvPr/>
          </p:nvCxnSpPr>
          <p:spPr>
            <a:xfrm>
              <a:off x="1333445" y="3091428"/>
              <a:ext cx="236100" cy="600"/>
            </a:xfrm>
            <a:prstGeom prst="bentConnector3">
              <a:avLst>
                <a:gd fmla="val 50006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5" name="Google Shape;385;p19"/>
            <p:cNvCxnSpPr>
              <a:stCxn id="352" idx="3"/>
              <a:endCxn id="369" idx="1"/>
            </p:cNvCxnSpPr>
            <p:nvPr/>
          </p:nvCxnSpPr>
          <p:spPr>
            <a:xfrm>
              <a:off x="1333445" y="3091428"/>
              <a:ext cx="236100" cy="383100"/>
            </a:xfrm>
            <a:prstGeom prst="bentConnector3">
              <a:avLst>
                <a:gd fmla="val 50006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6" name="Google Shape;386;p19"/>
            <p:cNvCxnSpPr>
              <a:stCxn id="352" idx="3"/>
              <a:endCxn id="377" idx="1"/>
            </p:cNvCxnSpPr>
            <p:nvPr/>
          </p:nvCxnSpPr>
          <p:spPr>
            <a:xfrm>
              <a:off x="1333445" y="3091428"/>
              <a:ext cx="236100" cy="765900"/>
            </a:xfrm>
            <a:prstGeom prst="bentConnector3">
              <a:avLst>
                <a:gd fmla="val 50006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7" name="Google Shape;387;p19"/>
            <p:cNvCxnSpPr>
              <a:stCxn id="365" idx="3"/>
              <a:endCxn id="356" idx="1"/>
            </p:cNvCxnSpPr>
            <p:nvPr/>
          </p:nvCxnSpPr>
          <p:spPr>
            <a:xfrm>
              <a:off x="1976861" y="2325647"/>
              <a:ext cx="236400" cy="765600"/>
            </a:xfrm>
            <a:prstGeom prst="bentConnector3">
              <a:avLst>
                <a:gd fmla="val 49985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8" name="Google Shape;388;p19"/>
            <p:cNvCxnSpPr>
              <a:stCxn id="361" idx="3"/>
              <a:endCxn id="356" idx="1"/>
            </p:cNvCxnSpPr>
            <p:nvPr/>
          </p:nvCxnSpPr>
          <p:spPr>
            <a:xfrm>
              <a:off x="1976861" y="2708568"/>
              <a:ext cx="236400" cy="382800"/>
            </a:xfrm>
            <a:prstGeom prst="bentConnector3">
              <a:avLst>
                <a:gd fmla="val 49985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9" name="Google Shape;389;p19"/>
            <p:cNvCxnSpPr>
              <a:stCxn id="373" idx="3"/>
              <a:endCxn id="356" idx="1"/>
            </p:cNvCxnSpPr>
            <p:nvPr/>
          </p:nvCxnSpPr>
          <p:spPr>
            <a:xfrm>
              <a:off x="1976861" y="3091495"/>
              <a:ext cx="236400" cy="600"/>
            </a:xfrm>
            <a:prstGeom prst="bentConnector3">
              <a:avLst>
                <a:gd fmla="val 49985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0" name="Google Shape;390;p19"/>
            <p:cNvCxnSpPr>
              <a:stCxn id="369" idx="3"/>
              <a:endCxn id="356" idx="1"/>
            </p:cNvCxnSpPr>
            <p:nvPr/>
          </p:nvCxnSpPr>
          <p:spPr>
            <a:xfrm flipH="1" rot="10800000">
              <a:off x="1976861" y="3091317"/>
              <a:ext cx="236400" cy="383100"/>
            </a:xfrm>
            <a:prstGeom prst="bentConnector3">
              <a:avLst>
                <a:gd fmla="val 49985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1" name="Google Shape;391;p19"/>
            <p:cNvCxnSpPr>
              <a:stCxn id="377" idx="3"/>
              <a:endCxn id="356" idx="1"/>
            </p:cNvCxnSpPr>
            <p:nvPr/>
          </p:nvCxnSpPr>
          <p:spPr>
            <a:xfrm flipH="1" rot="10800000">
              <a:off x="1976861" y="3091438"/>
              <a:ext cx="236400" cy="765900"/>
            </a:xfrm>
            <a:prstGeom prst="bentConnector3">
              <a:avLst>
                <a:gd fmla="val 49985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92" name="Google Shape;392;p19"/>
            <p:cNvCxnSpPr>
              <a:stCxn id="356" idx="3"/>
              <a:endCxn id="380" idx="1"/>
            </p:cNvCxnSpPr>
            <p:nvPr/>
          </p:nvCxnSpPr>
          <p:spPr>
            <a:xfrm flipH="1" rot="10800000">
              <a:off x="2621093" y="3045427"/>
              <a:ext cx="155100" cy="45900"/>
            </a:xfrm>
            <a:prstGeom prst="bentConnector3">
              <a:avLst>
                <a:gd fmla="val 50010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3" name="Google Shape;393;p19"/>
            <p:cNvCxnSpPr>
              <a:stCxn id="380" idx="3"/>
              <a:endCxn id="358" idx="1"/>
            </p:cNvCxnSpPr>
            <p:nvPr/>
          </p:nvCxnSpPr>
          <p:spPr>
            <a:xfrm>
              <a:off x="3264455" y="3045509"/>
              <a:ext cx="334800" cy="600"/>
            </a:xfrm>
            <a:prstGeom prst="bentConnector3">
              <a:avLst>
                <a:gd fmla="val 49998" name="adj1"/>
              </a:avLst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4" name="Google Shape;394;p19"/>
            <p:cNvSpPr/>
            <p:nvPr/>
          </p:nvSpPr>
          <p:spPr>
            <a:xfrm>
              <a:off x="201689" y="2350887"/>
              <a:ext cx="488400" cy="3576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88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2775672" y="2369812"/>
              <a:ext cx="488400" cy="3198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(1st Turn)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96" name="Google Shape;396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5400000">
              <a:off x="360059" y="3367198"/>
              <a:ext cx="171470" cy="1714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19"/>
            <p:cNvSpPr/>
            <p:nvPr/>
          </p:nvSpPr>
          <p:spPr>
            <a:xfrm>
              <a:off x="201689" y="3606820"/>
              <a:ext cx="488400" cy="3576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(Last Turn)</a:t>
              </a:r>
              <a:endParaRPr b="1" sz="388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2776055" y="3625745"/>
              <a:ext cx="488400" cy="3198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8">
                  <a:latin typeface="Lexend"/>
                  <a:ea typeface="Lexend"/>
                  <a:cs typeface="Lexend"/>
                  <a:sym typeface="Lexend"/>
                </a:rPr>
                <a:t>(Last Turn)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99" name="Google Shape;399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5400000">
              <a:off x="2934043" y="3329846"/>
              <a:ext cx="171470" cy="1714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19"/>
            <p:cNvSpPr/>
            <p:nvPr/>
          </p:nvSpPr>
          <p:spPr>
            <a:xfrm>
              <a:off x="3599380" y="3367196"/>
              <a:ext cx="488400" cy="5793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1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0350" lIns="30350" spcFirstLastPara="1" rIns="30350" wrap="square" tIns="3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97">
                  <a:latin typeface="Lexend"/>
                  <a:ea typeface="Lexend"/>
                  <a:cs typeface="Lexend"/>
                  <a:sym typeface="Lexend"/>
                </a:rPr>
                <a:t>Inform &amp; Success Loss</a:t>
              </a:r>
              <a:endParaRPr b="1" sz="597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1" name="Google Shape;401;p19"/>
            <p:cNvCxnSpPr>
              <a:stCxn id="395" idx="3"/>
              <a:endCxn id="400" idx="1"/>
            </p:cNvCxnSpPr>
            <p:nvPr/>
          </p:nvCxnSpPr>
          <p:spPr>
            <a:xfrm>
              <a:off x="3264072" y="2529712"/>
              <a:ext cx="335400" cy="1127100"/>
            </a:xfrm>
            <a:prstGeom prst="straightConnector1">
              <a:avLst/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2" name="Google Shape;402;p19"/>
            <p:cNvCxnSpPr>
              <a:stCxn id="380" idx="3"/>
              <a:endCxn id="400" idx="1"/>
            </p:cNvCxnSpPr>
            <p:nvPr/>
          </p:nvCxnSpPr>
          <p:spPr>
            <a:xfrm>
              <a:off x="3264455" y="3045509"/>
              <a:ext cx="334800" cy="611400"/>
            </a:xfrm>
            <a:prstGeom prst="straightConnector1">
              <a:avLst/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3" name="Google Shape;403;p19"/>
            <p:cNvCxnSpPr>
              <a:stCxn id="398" idx="3"/>
              <a:endCxn id="400" idx="1"/>
            </p:cNvCxnSpPr>
            <p:nvPr/>
          </p:nvCxnSpPr>
          <p:spPr>
            <a:xfrm flipH="1" rot="10800000">
              <a:off x="3264455" y="3656945"/>
              <a:ext cx="334800" cy="128700"/>
            </a:xfrm>
            <a:prstGeom prst="straightConnector1">
              <a:avLst/>
            </a:prstGeom>
            <a:noFill/>
            <a:ln cap="flat" cmpd="sng" w="85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04" name="Google Shape;404;p19"/>
          <p:cNvSpPr txBox="1"/>
          <p:nvPr>
            <p:ph idx="1" type="body"/>
          </p:nvPr>
        </p:nvSpPr>
        <p:spPr>
          <a:xfrm>
            <a:off x="912925" y="1020200"/>
            <a:ext cx="21912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MultiWOZ 2.4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Task-oriented dialogue.</a:t>
            </a:r>
            <a:endParaRPr sz="1000"/>
          </a:p>
        </p:txBody>
      </p:sp>
      <p:grpSp>
        <p:nvGrpSpPr>
          <p:cNvPr id="405" name="Google Shape;405;p19"/>
          <p:cNvGrpSpPr/>
          <p:nvPr/>
        </p:nvGrpSpPr>
        <p:grpSpPr>
          <a:xfrm>
            <a:off x="4009225" y="2068951"/>
            <a:ext cx="4834786" cy="1470202"/>
            <a:chOff x="5266212" y="2098099"/>
            <a:chExt cx="4787865" cy="1455934"/>
          </a:xfrm>
        </p:grpSpPr>
        <p:grpSp>
          <p:nvGrpSpPr>
            <p:cNvPr id="406" name="Google Shape;406;p19"/>
            <p:cNvGrpSpPr/>
            <p:nvPr/>
          </p:nvGrpSpPr>
          <p:grpSpPr>
            <a:xfrm>
              <a:off x="6498682" y="3331973"/>
              <a:ext cx="412983" cy="222060"/>
              <a:chOff x="2368255" y="1235868"/>
              <a:chExt cx="1292591" cy="694589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2581746" y="1479257"/>
                <a:ext cx="1079100" cy="4512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Manager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08" name="Google Shape;408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368255" y="1235868"/>
                <a:ext cx="408614" cy="4086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09" name="Google Shape;409;p19"/>
            <p:cNvSpPr/>
            <p:nvPr/>
          </p:nvSpPr>
          <p:spPr>
            <a:xfrm>
              <a:off x="5921846" y="2515263"/>
              <a:ext cx="413100" cy="4293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7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[Agent] xxx</a:t>
              </a:r>
              <a:endParaRPr b="1" sz="377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77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10" name="Google Shape;410;p19"/>
            <p:cNvGrpSpPr/>
            <p:nvPr/>
          </p:nvGrpSpPr>
          <p:grpSpPr>
            <a:xfrm>
              <a:off x="8448491" y="2629523"/>
              <a:ext cx="413333" cy="222068"/>
              <a:chOff x="4745825" y="3894350"/>
              <a:chExt cx="1990050" cy="1069175"/>
            </a:xfrm>
          </p:grpSpPr>
          <p:sp>
            <p:nvSpPr>
              <p:cNvPr id="411" name="Google Shape;411;p19"/>
              <p:cNvSpPr/>
              <p:nvPr/>
            </p:nvSpPr>
            <p:spPr>
              <a:xfrm>
                <a:off x="5074475" y="4269025"/>
                <a:ext cx="1661400" cy="6945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75" lIns="19175" spcFirstLastPara="1" rIns="19175" wrap="square" tIns="19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Responder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12" name="Google Shape;412;p19" title="robot (1).png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745825" y="3894350"/>
                <a:ext cx="629025" cy="629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13" name="Google Shape;413;p19"/>
            <p:cNvSpPr/>
            <p:nvPr/>
          </p:nvSpPr>
          <p:spPr>
            <a:xfrm>
              <a:off x="8993270" y="2605201"/>
              <a:ext cx="413100" cy="2706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(2nd Turn)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14" name="Google Shape;414;p19"/>
            <p:cNvCxnSpPr>
              <a:stCxn id="415" idx="3"/>
              <a:endCxn id="411" idx="1"/>
            </p:cNvCxnSpPr>
            <p:nvPr/>
          </p:nvCxnSpPr>
          <p:spPr>
            <a:xfrm flipH="1" rot="10800000">
              <a:off x="8269128" y="2779543"/>
              <a:ext cx="247500" cy="31200"/>
            </a:xfrm>
            <a:prstGeom prst="bentConnector3">
              <a:avLst>
                <a:gd fmla="val 49997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6" name="Google Shape;416;p19"/>
            <p:cNvCxnSpPr>
              <a:stCxn id="411" idx="3"/>
              <a:endCxn id="413" idx="1"/>
            </p:cNvCxnSpPr>
            <p:nvPr/>
          </p:nvCxnSpPr>
          <p:spPr>
            <a:xfrm flipH="1" rot="10800000">
              <a:off x="8861825" y="2740467"/>
              <a:ext cx="131400" cy="39000"/>
            </a:xfrm>
            <a:prstGeom prst="bentConnector3">
              <a:avLst>
                <a:gd fmla="val 50010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7" name="Google Shape;417;p19"/>
            <p:cNvSpPr/>
            <p:nvPr/>
          </p:nvSpPr>
          <p:spPr>
            <a:xfrm>
              <a:off x="5921846" y="2142006"/>
              <a:ext cx="413100" cy="3027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[User] xxx</a:t>
              </a:r>
              <a:endParaRPr b="1" sz="377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8992946" y="2168729"/>
              <a:ext cx="413100" cy="2706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(1st Turn)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419" name="Google Shape;419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5400000">
              <a:off x="6055861" y="3002014"/>
              <a:ext cx="145102" cy="1451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19"/>
            <p:cNvSpPr/>
            <p:nvPr/>
          </p:nvSpPr>
          <p:spPr>
            <a:xfrm>
              <a:off x="5921846" y="3204787"/>
              <a:ext cx="413100" cy="3027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(Last Turn)</a:t>
              </a:r>
              <a:endParaRPr b="1" sz="377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8993270" y="3231510"/>
              <a:ext cx="413100" cy="2706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77">
                  <a:latin typeface="Lexend"/>
                  <a:ea typeface="Lexend"/>
                  <a:cs typeface="Lexend"/>
                  <a:sym typeface="Lexend"/>
                </a:rPr>
                <a:t>(Last Turn)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422" name="Google Shape;422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5400000">
              <a:off x="9126961" y="2981115"/>
              <a:ext cx="145102" cy="1451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9"/>
            <p:cNvSpPr/>
            <p:nvPr/>
          </p:nvSpPr>
          <p:spPr>
            <a:xfrm>
              <a:off x="9640977" y="2495434"/>
              <a:ext cx="413100" cy="4902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30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9500" lIns="29500" spcFirstLastPara="1" rIns="29500" wrap="square" tIns="2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latin typeface="Lexend"/>
                  <a:ea typeface="Lexend"/>
                  <a:cs typeface="Lexend"/>
                  <a:sym typeface="Lexend"/>
                </a:rPr>
                <a:t>Reward Loss</a:t>
              </a:r>
              <a:endParaRPr b="1" sz="581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24" name="Google Shape;424;p19"/>
            <p:cNvCxnSpPr>
              <a:stCxn id="418" idx="3"/>
              <a:endCxn id="423" idx="1"/>
            </p:cNvCxnSpPr>
            <p:nvPr/>
          </p:nvCxnSpPr>
          <p:spPr>
            <a:xfrm>
              <a:off x="9406046" y="2304029"/>
              <a:ext cx="234900" cy="436500"/>
            </a:xfrm>
            <a:prstGeom prst="straightConnector1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5" name="Google Shape;425;p19"/>
            <p:cNvCxnSpPr>
              <a:stCxn id="413" idx="3"/>
              <a:endCxn id="423" idx="1"/>
            </p:cNvCxnSpPr>
            <p:nvPr/>
          </p:nvCxnSpPr>
          <p:spPr>
            <a:xfrm>
              <a:off x="9406370" y="2740501"/>
              <a:ext cx="234600" cy="0"/>
            </a:xfrm>
            <a:prstGeom prst="straightConnector1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6" name="Google Shape;426;p19"/>
            <p:cNvCxnSpPr>
              <a:stCxn id="421" idx="3"/>
              <a:endCxn id="423" idx="1"/>
            </p:cNvCxnSpPr>
            <p:nvPr/>
          </p:nvCxnSpPr>
          <p:spPr>
            <a:xfrm flipH="1" rot="10800000">
              <a:off x="9406370" y="2740410"/>
              <a:ext cx="234600" cy="626400"/>
            </a:xfrm>
            <a:prstGeom prst="straightConnector1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427" name="Google Shape;427;p19"/>
            <p:cNvGrpSpPr/>
            <p:nvPr/>
          </p:nvGrpSpPr>
          <p:grpSpPr>
            <a:xfrm>
              <a:off x="7513172" y="2098099"/>
              <a:ext cx="412969" cy="380413"/>
              <a:chOff x="3698046" y="2159373"/>
              <a:chExt cx="955504" cy="880177"/>
            </a:xfrm>
          </p:grpSpPr>
          <p:sp>
            <p:nvSpPr>
              <p:cNvPr id="428" name="Google Shape;428;p19"/>
              <p:cNvSpPr/>
              <p:nvPr/>
            </p:nvSpPr>
            <p:spPr>
              <a:xfrm>
                <a:off x="3855850" y="2339350"/>
                <a:ext cx="797700" cy="7002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Post Delivery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Worker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29" name="Google Shape;429;p1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00103" y="2159380"/>
                <a:ext cx="302056" cy="30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0" name="Google Shape;430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98046" y="2159373"/>
                <a:ext cx="302048" cy="3021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1" name="Google Shape;431;p19"/>
            <p:cNvGrpSpPr/>
            <p:nvPr/>
          </p:nvGrpSpPr>
          <p:grpSpPr>
            <a:xfrm>
              <a:off x="8145664" y="3065161"/>
              <a:ext cx="412969" cy="307155"/>
              <a:chOff x="3698046" y="2921373"/>
              <a:chExt cx="955504" cy="710678"/>
            </a:xfrm>
          </p:grpSpPr>
          <p:sp>
            <p:nvSpPr>
              <p:cNvPr id="432" name="Google Shape;432;p19"/>
              <p:cNvSpPr/>
              <p:nvPr/>
            </p:nvSpPr>
            <p:spPr>
              <a:xfrm>
                <a:off x="3855850" y="3101351"/>
                <a:ext cx="797700" cy="5307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User Profile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Worker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33" name="Google Shape;433;p1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00103" y="2921380"/>
                <a:ext cx="302056" cy="30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4" name="Google Shape;434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98046" y="2921373"/>
                <a:ext cx="302048" cy="3021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5" name="Google Shape;435;p19"/>
            <p:cNvGrpSpPr/>
            <p:nvPr/>
          </p:nvGrpSpPr>
          <p:grpSpPr>
            <a:xfrm>
              <a:off x="7808314" y="2580796"/>
              <a:ext cx="460813" cy="382104"/>
              <a:chOff x="3698046" y="2540373"/>
              <a:chExt cx="1066204" cy="884090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3855850" y="2720363"/>
                <a:ext cx="908400" cy="7041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Order Modification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Worker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36" name="Google Shape;436;p1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00103" y="2540380"/>
                <a:ext cx="302056" cy="30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98046" y="2540373"/>
                <a:ext cx="302048" cy="3021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8" name="Google Shape;438;p19"/>
            <p:cNvGrpSpPr/>
            <p:nvPr/>
          </p:nvGrpSpPr>
          <p:grpSpPr>
            <a:xfrm>
              <a:off x="6498560" y="2199115"/>
              <a:ext cx="412974" cy="382098"/>
              <a:chOff x="3698046" y="2540373"/>
              <a:chExt cx="955517" cy="884077"/>
            </a:xfrm>
          </p:grpSpPr>
          <p:sp>
            <p:nvSpPr>
              <p:cNvPr id="439" name="Google Shape;439;p19"/>
              <p:cNvSpPr/>
              <p:nvPr/>
            </p:nvSpPr>
            <p:spPr>
              <a:xfrm>
                <a:off x="3855863" y="2720350"/>
                <a:ext cx="797700" cy="7041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User Resolution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Worker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40" name="Google Shape;440;p1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00103" y="2540380"/>
                <a:ext cx="302056" cy="30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1" name="Google Shape;441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98046" y="2540373"/>
                <a:ext cx="302048" cy="3021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2" name="Google Shape;442;p19"/>
            <p:cNvGrpSpPr/>
            <p:nvPr/>
          </p:nvGrpSpPr>
          <p:grpSpPr>
            <a:xfrm>
              <a:off x="7005871" y="2199110"/>
              <a:ext cx="412969" cy="307155"/>
              <a:chOff x="3698046" y="2540373"/>
              <a:chExt cx="955504" cy="710678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3855850" y="2720351"/>
                <a:ext cx="797700" cy="5307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Retrieval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Worker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44" name="Google Shape;444;p1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00103" y="2540380"/>
                <a:ext cx="302056" cy="30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5" name="Google Shape;445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98046" y="2540373"/>
                <a:ext cx="302048" cy="3021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446" name="Google Shape;446;p19"/>
            <p:cNvCxnSpPr>
              <a:stCxn id="407" idx="3"/>
              <a:endCxn id="439" idx="2"/>
            </p:cNvCxnSpPr>
            <p:nvPr/>
          </p:nvCxnSpPr>
          <p:spPr>
            <a:xfrm rot="10800000">
              <a:off x="6739165" y="2581309"/>
              <a:ext cx="172500" cy="900600"/>
            </a:xfrm>
            <a:prstGeom prst="bentConnector4">
              <a:avLst>
                <a:gd fmla="val -59725" name="adj1"/>
                <a:gd fmla="val 54006" name="adj2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7" name="Google Shape;447;p19"/>
            <p:cNvCxnSpPr>
              <a:stCxn id="407" idx="3"/>
              <a:endCxn id="443" idx="2"/>
            </p:cNvCxnSpPr>
            <p:nvPr/>
          </p:nvCxnSpPr>
          <p:spPr>
            <a:xfrm flipH="1" rot="10800000">
              <a:off x="6911665" y="2506309"/>
              <a:ext cx="334800" cy="9756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8" name="Google Shape;448;p19"/>
            <p:cNvCxnSpPr>
              <a:stCxn id="407" idx="3"/>
              <a:endCxn id="428" idx="2"/>
            </p:cNvCxnSpPr>
            <p:nvPr/>
          </p:nvCxnSpPr>
          <p:spPr>
            <a:xfrm flipH="1" rot="10800000">
              <a:off x="6911665" y="2478409"/>
              <a:ext cx="842100" cy="10035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9" name="Google Shape;449;p19"/>
            <p:cNvCxnSpPr>
              <a:stCxn id="407" idx="3"/>
              <a:endCxn id="415" idx="2"/>
            </p:cNvCxnSpPr>
            <p:nvPr/>
          </p:nvCxnSpPr>
          <p:spPr>
            <a:xfrm flipH="1" rot="10800000">
              <a:off x="6911665" y="2962909"/>
              <a:ext cx="1161300" cy="5190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0" name="Google Shape;450;p19"/>
            <p:cNvCxnSpPr>
              <a:stCxn id="407" idx="3"/>
              <a:endCxn id="432" idx="2"/>
            </p:cNvCxnSpPr>
            <p:nvPr/>
          </p:nvCxnSpPr>
          <p:spPr>
            <a:xfrm flipH="1" rot="10800000">
              <a:off x="6911665" y="3372409"/>
              <a:ext cx="1474500" cy="1095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1" name="Google Shape;451;p19"/>
            <p:cNvCxnSpPr>
              <a:stCxn id="439" idx="3"/>
              <a:endCxn id="443" idx="1"/>
            </p:cNvCxnSpPr>
            <p:nvPr/>
          </p:nvCxnSpPr>
          <p:spPr>
            <a:xfrm flipH="1" rot="10800000">
              <a:off x="6911534" y="2391557"/>
              <a:ext cx="162600" cy="37500"/>
            </a:xfrm>
            <a:prstGeom prst="bentConnector3">
              <a:avLst>
                <a:gd fmla="val 50010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2" name="Google Shape;452;p19"/>
            <p:cNvCxnSpPr>
              <a:stCxn id="443" idx="3"/>
              <a:endCxn id="428" idx="1"/>
            </p:cNvCxnSpPr>
            <p:nvPr/>
          </p:nvCxnSpPr>
          <p:spPr>
            <a:xfrm flipH="1" rot="10800000">
              <a:off x="7418840" y="2327080"/>
              <a:ext cx="162600" cy="64500"/>
            </a:xfrm>
            <a:prstGeom prst="bentConnector3">
              <a:avLst>
                <a:gd fmla="val 50008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3" name="Google Shape;453;p19"/>
            <p:cNvCxnSpPr>
              <a:stCxn id="443" idx="3"/>
              <a:endCxn id="415" idx="1"/>
            </p:cNvCxnSpPr>
            <p:nvPr/>
          </p:nvCxnSpPr>
          <p:spPr>
            <a:xfrm>
              <a:off x="7418840" y="2391580"/>
              <a:ext cx="457800" cy="419100"/>
            </a:xfrm>
            <a:prstGeom prst="bentConnector3">
              <a:avLst>
                <a:gd fmla="val 12114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4" name="Google Shape;454;p19"/>
            <p:cNvCxnSpPr>
              <a:stCxn id="443" idx="3"/>
              <a:endCxn id="432" idx="1"/>
            </p:cNvCxnSpPr>
            <p:nvPr/>
          </p:nvCxnSpPr>
          <p:spPr>
            <a:xfrm>
              <a:off x="7418840" y="2391580"/>
              <a:ext cx="795000" cy="866100"/>
            </a:xfrm>
            <a:prstGeom prst="bentConnector3">
              <a:avLst>
                <a:gd fmla="val 6907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5" name="Google Shape;455;p19"/>
            <p:cNvCxnSpPr>
              <a:stCxn id="428" idx="3"/>
              <a:endCxn id="411" idx="0"/>
            </p:cNvCxnSpPr>
            <p:nvPr/>
          </p:nvCxnSpPr>
          <p:spPr>
            <a:xfrm>
              <a:off x="7926141" y="2327198"/>
              <a:ext cx="763200" cy="3801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6" name="Google Shape;456;p19"/>
            <p:cNvCxnSpPr>
              <a:stCxn id="432" idx="3"/>
              <a:endCxn id="411" idx="2"/>
            </p:cNvCxnSpPr>
            <p:nvPr/>
          </p:nvCxnSpPr>
          <p:spPr>
            <a:xfrm flipH="1" rot="10800000">
              <a:off x="8558633" y="2851732"/>
              <a:ext cx="130800" cy="405900"/>
            </a:xfrm>
            <a:prstGeom prst="bentConnector2">
              <a:avLst/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457" name="Google Shape;457;p19"/>
            <p:cNvGrpSpPr/>
            <p:nvPr/>
          </p:nvGrpSpPr>
          <p:grpSpPr>
            <a:xfrm>
              <a:off x="5266212" y="2576339"/>
              <a:ext cx="412983" cy="307132"/>
              <a:chOff x="2368255" y="1235868"/>
              <a:chExt cx="1292591" cy="960689"/>
            </a:xfrm>
          </p:grpSpPr>
          <p:sp>
            <p:nvSpPr>
              <p:cNvPr id="458" name="Google Shape;458;p19"/>
              <p:cNvSpPr/>
              <p:nvPr/>
            </p:nvSpPr>
            <p:spPr>
              <a:xfrm>
                <a:off x="2581746" y="1479257"/>
                <a:ext cx="1079100" cy="717300"/>
              </a:xfrm>
              <a:prstGeom prst="roundRect">
                <a:avLst>
                  <a:gd fmla="val 16667" name="adj"/>
                </a:avLst>
              </a:prstGeom>
              <a:solidFill>
                <a:srgbClr val="FFAE7C"/>
              </a:solidFill>
              <a:ln cap="flat" cmpd="sng" w="2000">
                <a:solidFill>
                  <a:srgbClr val="FFAE7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9150" lIns="19150" spcFirstLastPara="1" rIns="19150" wrap="square" tIns="191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7">
                    <a:latin typeface="Lexend"/>
                    <a:ea typeface="Lexend"/>
                    <a:cs typeface="Lexend"/>
                    <a:sym typeface="Lexend"/>
                  </a:rPr>
                  <a:t>User Simulator</a:t>
                </a:r>
                <a:endParaRPr b="1" sz="377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59" name="Google Shape;459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368255" y="1235868"/>
                <a:ext cx="408614" cy="4086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460" name="Google Shape;460;p19"/>
            <p:cNvCxnSpPr>
              <a:stCxn id="413" idx="3"/>
              <a:endCxn id="458" idx="0"/>
            </p:cNvCxnSpPr>
            <p:nvPr/>
          </p:nvCxnSpPr>
          <p:spPr>
            <a:xfrm rot="10800000">
              <a:off x="5506670" y="2654101"/>
              <a:ext cx="3899700" cy="86400"/>
            </a:xfrm>
            <a:prstGeom prst="bentConnector4">
              <a:avLst>
                <a:gd fmla="val -2639" name="adj1"/>
                <a:gd fmla="val 832938" name="adj2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1" name="Google Shape;461;p19"/>
            <p:cNvCxnSpPr>
              <a:stCxn id="458" idx="3"/>
              <a:endCxn id="409" idx="1"/>
            </p:cNvCxnSpPr>
            <p:nvPr/>
          </p:nvCxnSpPr>
          <p:spPr>
            <a:xfrm flipH="1" rot="10800000">
              <a:off x="5679195" y="2729811"/>
              <a:ext cx="242700" cy="39000"/>
            </a:xfrm>
            <a:prstGeom prst="bentConnector3">
              <a:avLst>
                <a:gd fmla="val 50000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2" name="Google Shape;462;p19"/>
            <p:cNvCxnSpPr>
              <a:stCxn id="409" idx="3"/>
              <a:endCxn id="407" idx="1"/>
            </p:cNvCxnSpPr>
            <p:nvPr/>
          </p:nvCxnSpPr>
          <p:spPr>
            <a:xfrm>
              <a:off x="6334946" y="2729913"/>
              <a:ext cx="231900" cy="752100"/>
            </a:xfrm>
            <a:prstGeom prst="bentConnector3">
              <a:avLst>
                <a:gd fmla="val 49991" name="adj1"/>
              </a:avLst>
            </a:prstGeom>
            <a:noFill/>
            <a:ln cap="flat" cmpd="sng" w="835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3" name="Google Shape;463;p19"/>
          <p:cNvSpPr txBox="1"/>
          <p:nvPr>
            <p:ph idx="1" type="body"/>
          </p:nvPr>
        </p:nvSpPr>
        <p:spPr>
          <a:xfrm>
            <a:off x="4670113" y="1020200"/>
            <a:ext cx="35130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τ-bench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Interactive multi-step tool-use with a user simulator.</a:t>
            </a:r>
            <a:endParaRPr sz="1000"/>
          </a:p>
        </p:txBody>
      </p:sp>
      <p:sp>
        <p:nvSpPr>
          <p:cNvPr id="464" name="Google Shape;464;p19"/>
          <p:cNvSpPr txBox="1"/>
          <p:nvPr>
            <p:ph idx="1" type="body"/>
          </p:nvPr>
        </p:nvSpPr>
        <p:spPr>
          <a:xfrm>
            <a:off x="14725" y="3741925"/>
            <a:ext cx="22206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6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Metrics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Inform, Success, JGA, and Slot metrics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65" name="Google Shape;465;p19"/>
          <p:cNvSpPr txBox="1"/>
          <p:nvPr>
            <p:ph idx="1" type="body"/>
          </p:nvPr>
        </p:nvSpPr>
        <p:spPr>
          <a:xfrm>
            <a:off x="2235325" y="3741925"/>
            <a:ext cx="1767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10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Steps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Update every 3 samples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66" name="Google Shape;466;p19"/>
          <p:cNvSpPr txBox="1"/>
          <p:nvPr>
            <p:ph idx="1" type="body"/>
          </p:nvPr>
        </p:nvSpPr>
        <p:spPr>
          <a:xfrm>
            <a:off x="4235423" y="3741925"/>
            <a:ext cx="21912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3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Metrics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Action, Output, and Overall Reward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Result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MultiWOZ: GBC builds a strong TOD system</a:t>
            </a:r>
            <a:endParaRPr b="1" sz="2356"/>
          </a:p>
        </p:txBody>
      </p:sp>
      <p:pic>
        <p:nvPicPr>
          <p:cNvPr id="472" name="Google Shape;472;p20" title="Chart"/>
          <p:cNvPicPr preferRelativeResize="0"/>
          <p:nvPr/>
        </p:nvPicPr>
        <p:blipFill rotWithShape="1">
          <a:blip r:embed="rId3">
            <a:alphaModFix/>
          </a:blip>
          <a:srcRect b="0" l="6897" r="3529" t="0"/>
          <a:stretch/>
        </p:blipFill>
        <p:spPr>
          <a:xfrm>
            <a:off x="311700" y="1178438"/>
            <a:ext cx="6121923" cy="2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0"/>
          <p:cNvSpPr txBox="1"/>
          <p:nvPr>
            <p:ph idx="1" type="body"/>
          </p:nvPr>
        </p:nvSpPr>
        <p:spPr>
          <a:xfrm>
            <a:off x="311700" y="3743275"/>
            <a:ext cx="8520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FFAE7C"/>
                </a:solidFill>
              </a:rPr>
              <a:t>●</a:t>
            </a:r>
            <a:r>
              <a:rPr lang="en" sz="1000"/>
              <a:t>   </a:t>
            </a:r>
            <a:r>
              <a:rPr lang="en" sz="1000"/>
              <a:t>Qwen-3-32B multi-agent system</a:t>
            </a:r>
            <a:r>
              <a:rPr lang="en" sz="1000"/>
              <a:t> before optimization had high Inform/Success but weaker state tracking; GBC fixes the bottleneck.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000">
                <a:solidFill>
                  <a:srgbClr val="FFAE7C"/>
                </a:solidFill>
              </a:rPr>
              <a:t>●</a:t>
            </a:r>
            <a:r>
              <a:rPr lang="en" sz="1000"/>
              <a:t>   </a:t>
            </a:r>
            <a:r>
              <a:rPr lang="en" sz="1000"/>
              <a:t>The optimized MAS surpasses the </a:t>
            </a:r>
            <a:r>
              <a:rPr lang="en" sz="1000"/>
              <a:t>Qwen-3-32B</a:t>
            </a:r>
            <a:r>
              <a:rPr lang="en" sz="1000"/>
              <a:t> single-agent baseline on Inform, Success, JGA, and Slot metrics.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474" name="Google Shape;474;p20"/>
          <p:cNvSpPr txBox="1"/>
          <p:nvPr>
            <p:ph idx="1" type="body"/>
          </p:nvPr>
        </p:nvSpPr>
        <p:spPr>
          <a:xfrm>
            <a:off x="6433625" y="1178450"/>
            <a:ext cx="12561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+25.5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JGA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28.9→54.4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75" name="Google Shape;475;p20"/>
          <p:cNvSpPr txBox="1"/>
          <p:nvPr>
            <p:ph idx="1" type="body"/>
          </p:nvPr>
        </p:nvSpPr>
        <p:spPr>
          <a:xfrm>
            <a:off x="7689725" y="1178450"/>
            <a:ext cx="12561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+12.1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Slot F1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79.3→91.4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76" name="Google Shape;476;p20"/>
          <p:cNvSpPr txBox="1"/>
          <p:nvPr>
            <p:ph idx="1" type="body"/>
          </p:nvPr>
        </p:nvSpPr>
        <p:spPr>
          <a:xfrm>
            <a:off x="6433625" y="2304050"/>
            <a:ext cx="12561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99.0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Inform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Best score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77" name="Google Shape;477;p20"/>
          <p:cNvSpPr txBox="1"/>
          <p:nvPr>
            <p:ph idx="1" type="body"/>
          </p:nvPr>
        </p:nvSpPr>
        <p:spPr>
          <a:xfrm>
            <a:off x="7689725" y="2304050"/>
            <a:ext cx="12561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94.0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Success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2nd best score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"/>
          <p:cNvSpPr txBox="1"/>
          <p:nvPr>
            <p:ph idx="1" type="body"/>
          </p:nvPr>
        </p:nvSpPr>
        <p:spPr>
          <a:xfrm>
            <a:off x="6294450" y="1152475"/>
            <a:ext cx="2538000" cy="3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E7C"/>
                </a:solidFill>
              </a:rPr>
              <a:t>●  ●●</a:t>
            </a:r>
            <a:endParaRPr sz="1500"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JGA rises and continues trending upward.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3A5B8"/>
                </a:solidFill>
              </a:rPr>
              <a:t>●  ●●</a:t>
            </a:r>
            <a:endParaRPr sz="1500"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Slot precision and slot F1 improve, indicating fewer over-predicted slots.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AE7C"/>
                </a:solidFill>
              </a:rPr>
              <a:t>●  ●●</a:t>
            </a:r>
            <a:endParaRPr sz="1100"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/>
              <a:t>Success is more variable, reflecting higher requirement of the metric.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73A5B8"/>
                </a:solidFill>
              </a:rPr>
              <a:t>●  ●●</a:t>
            </a:r>
            <a:endParaRPr sz="1100"/>
          </a:p>
          <a:p>
            <a:pPr indent="0" lvl="0" marL="0" rtl="0" algn="ctr">
              <a:spcBef>
                <a:spcPts val="500"/>
              </a:spcBef>
              <a:spcAft>
                <a:spcPts val="1200"/>
              </a:spcAft>
              <a:buNone/>
            </a:pPr>
            <a:r>
              <a:rPr lang="en" sz="1100"/>
              <a:t>L1-norm-based connection weights yield the strongest performance.</a:t>
            </a:r>
            <a:endParaRPr sz="1100"/>
          </a:p>
        </p:txBody>
      </p:sp>
      <p:sp>
        <p:nvSpPr>
          <p:cNvPr id="483" name="Google Shape;483;p21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Result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Optimization dynamics: most metrics improve steadily</a:t>
            </a:r>
            <a:endParaRPr b="1" sz="2356"/>
          </a:p>
        </p:txBody>
      </p:sp>
      <p:pic>
        <p:nvPicPr>
          <p:cNvPr id="484" name="Google Shape;484;p21" title="multiwoz_evaluation_metrics_qw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300"/>
            <a:ext cx="5979679" cy="39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Result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τ-bench: GBC improves interactive tool use</a:t>
            </a:r>
            <a:endParaRPr b="1" sz="2356"/>
          </a:p>
        </p:txBody>
      </p:sp>
      <p:pic>
        <p:nvPicPr>
          <p:cNvPr id="490" name="Google Shape;490;p22" title="Chart"/>
          <p:cNvPicPr preferRelativeResize="0"/>
          <p:nvPr/>
        </p:nvPicPr>
        <p:blipFill rotWithShape="1">
          <a:blip r:embed="rId3">
            <a:alphaModFix/>
          </a:blip>
          <a:srcRect b="0" l="8806" r="4433" t="0"/>
          <a:stretch/>
        </p:blipFill>
        <p:spPr>
          <a:xfrm>
            <a:off x="311700" y="1165675"/>
            <a:ext cx="4302225" cy="30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2"/>
          <p:cNvSpPr/>
          <p:nvPr/>
        </p:nvSpPr>
        <p:spPr>
          <a:xfrm>
            <a:off x="2030950" y="2922950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2" name="Google Shape;492;p22"/>
          <p:cNvSpPr/>
          <p:nvPr/>
        </p:nvSpPr>
        <p:spPr>
          <a:xfrm>
            <a:off x="2321600" y="2922950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3" name="Google Shape;493;p22"/>
          <p:cNvSpPr/>
          <p:nvPr/>
        </p:nvSpPr>
        <p:spPr>
          <a:xfrm>
            <a:off x="2612250" y="2922950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4" name="Google Shape;494;p22"/>
          <p:cNvSpPr/>
          <p:nvPr/>
        </p:nvSpPr>
        <p:spPr>
          <a:xfrm>
            <a:off x="2030950" y="3064175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5" name="Google Shape;495;p22"/>
          <p:cNvSpPr/>
          <p:nvPr/>
        </p:nvSpPr>
        <p:spPr>
          <a:xfrm>
            <a:off x="2321600" y="3064175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22"/>
          <p:cNvSpPr/>
          <p:nvPr/>
        </p:nvSpPr>
        <p:spPr>
          <a:xfrm>
            <a:off x="2612250" y="3064175"/>
            <a:ext cx="290656" cy="44775"/>
          </a:xfrm>
          <a:custGeom>
            <a:rect b="b" l="l" r="r" t="t"/>
            <a:pathLst>
              <a:path extrusionOk="0" h="1791" w="10930">
                <a:moveTo>
                  <a:pt x="0" y="924"/>
                </a:moveTo>
                <a:cubicBezTo>
                  <a:pt x="2149" y="3867"/>
                  <a:pt x="8353" y="-1891"/>
                  <a:pt x="10930" y="686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7" name="Google Shape;497;p22"/>
          <p:cNvSpPr txBox="1"/>
          <p:nvPr>
            <p:ph idx="1" type="body"/>
          </p:nvPr>
        </p:nvSpPr>
        <p:spPr>
          <a:xfrm>
            <a:off x="4953000" y="2291275"/>
            <a:ext cx="17109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13.9 → 28.7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Action Reward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Best score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98" name="Google Shape;498;p22"/>
          <p:cNvSpPr txBox="1"/>
          <p:nvPr>
            <p:ph idx="1" type="body"/>
          </p:nvPr>
        </p:nvSpPr>
        <p:spPr>
          <a:xfrm>
            <a:off x="6663900" y="2291275"/>
            <a:ext cx="17109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13.9 → 24.3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Overall </a:t>
            </a:r>
            <a:r>
              <a:rPr lang="en" sz="1342">
                <a:solidFill>
                  <a:schemeClr val="dk1"/>
                </a:solidFill>
              </a:rPr>
              <a:t>Reward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Best score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99" name="Google Shape;499;p22"/>
          <p:cNvSpPr txBox="1"/>
          <p:nvPr>
            <p:ph idx="1" type="body"/>
          </p:nvPr>
        </p:nvSpPr>
        <p:spPr>
          <a:xfrm>
            <a:off x="4613925" y="3544950"/>
            <a:ext cx="42183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3A5B8"/>
                </a:solidFill>
              </a:rPr>
              <a:t>●</a:t>
            </a:r>
            <a:r>
              <a:rPr lang="en" sz="1000"/>
              <a:t>   </a:t>
            </a:r>
            <a:r>
              <a:rPr lang="en" sz="1050"/>
              <a:t>GBC </a:t>
            </a:r>
            <a:r>
              <a:rPr lang="en" sz="1050"/>
              <a:t>enables the Qwen multi-agent system to surpass the strong single-agent baseline.</a:t>
            </a:r>
            <a:endParaRPr sz="1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73A5B8"/>
                </a:solidFill>
              </a:rPr>
              <a:t>●</a:t>
            </a:r>
            <a:r>
              <a:rPr lang="en" sz="1000"/>
              <a:t>   </a:t>
            </a:r>
            <a:r>
              <a:rPr lang="en" sz="1050"/>
              <a:t>The gain mainly comes from improved interactive tool-use capability.</a:t>
            </a:r>
            <a:endParaRPr/>
          </a:p>
        </p:txBody>
      </p:sp>
      <p:sp>
        <p:nvSpPr>
          <p:cNvPr id="500" name="Google Shape;500;p22"/>
          <p:cNvSpPr txBox="1"/>
          <p:nvPr>
            <p:ph idx="1" type="body"/>
          </p:nvPr>
        </p:nvSpPr>
        <p:spPr>
          <a:xfrm>
            <a:off x="5867625" y="1165675"/>
            <a:ext cx="17109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Retail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42">
                <a:solidFill>
                  <a:schemeClr val="dk1"/>
                </a:solidFill>
              </a:rPr>
              <a:t>Task Domain</a:t>
            </a:r>
            <a:endParaRPr sz="134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Availability of training data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1159375" y="4231875"/>
            <a:ext cx="261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*Output Reward shown with axis break.</a:t>
            </a:r>
            <a:endParaRPr sz="7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3"/>
          <p:cNvSpPr txBox="1"/>
          <p:nvPr>
            <p:ph type="title"/>
          </p:nvPr>
        </p:nvSpPr>
        <p:spPr>
          <a:xfrm>
            <a:off x="311700" y="76200"/>
            <a:ext cx="85206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9"/>
              <a:t>Analysis</a:t>
            </a:r>
            <a:endParaRPr sz="168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56"/>
              <a:t>Diagnostics: GBC shows what still fails and why</a:t>
            </a:r>
            <a:endParaRPr b="1" sz="2356"/>
          </a:p>
        </p:txBody>
      </p:sp>
      <p:pic>
        <p:nvPicPr>
          <p:cNvPr id="507" name="Google Shape;507;p23" title="multiwoz_optimizer_error_types_radar_qw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23350"/>
            <a:ext cx="3984799" cy="291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3" title="taubench_optimizer_error_types_radar_qw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23346"/>
            <a:ext cx="3984799" cy="291660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3"/>
          <p:cNvSpPr txBox="1"/>
          <p:nvPr>
            <p:ph idx="1" type="body"/>
          </p:nvPr>
        </p:nvSpPr>
        <p:spPr>
          <a:xfrm>
            <a:off x="891100" y="976650"/>
            <a:ext cx="28260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MultiWOZ 2.4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Cross-domain errors, information omission, and over-prediction dominate.</a:t>
            </a:r>
            <a:endParaRPr sz="1000"/>
          </a:p>
        </p:txBody>
      </p:sp>
      <p:sp>
        <p:nvSpPr>
          <p:cNvPr id="510" name="Google Shape;510;p23"/>
          <p:cNvSpPr txBox="1"/>
          <p:nvPr>
            <p:ph idx="1" type="body"/>
          </p:nvPr>
        </p:nvSpPr>
        <p:spPr>
          <a:xfrm>
            <a:off x="4971850" y="976650"/>
            <a:ext cx="3185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τ-bench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Retrieval and identification failure, tool misuse, and premature escalation or stalling dominate.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4"/>
          <p:cNvSpPr txBox="1"/>
          <p:nvPr>
            <p:ph type="title"/>
          </p:nvPr>
        </p:nvSpPr>
        <p:spPr>
          <a:xfrm>
            <a:off x="319450" y="11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16" name="Google Shape;516;p24"/>
          <p:cNvSpPr txBox="1"/>
          <p:nvPr>
            <p:ph idx="1" type="body"/>
          </p:nvPr>
        </p:nvSpPr>
        <p:spPr>
          <a:xfrm>
            <a:off x="311700" y="1152475"/>
            <a:ext cx="85206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000">
                <a:solidFill>
                  <a:srgbClr val="FFAE7C"/>
                </a:solidFill>
              </a:rPr>
              <a:t>●</a:t>
            </a:r>
            <a:r>
              <a:rPr b="1" lang="en" sz="1000"/>
              <a:t>   GBC makes multi-agent optimization more targeted by assigning credit across agents using gradient signals at token level.</a:t>
            </a:r>
            <a:endParaRPr b="1"/>
          </a:p>
        </p:txBody>
      </p:sp>
      <p:sp>
        <p:nvSpPr>
          <p:cNvPr id="517" name="Google Shape;517;p24"/>
          <p:cNvSpPr txBox="1"/>
          <p:nvPr>
            <p:ph idx="1" type="body"/>
          </p:nvPr>
        </p:nvSpPr>
        <p:spPr>
          <a:xfrm>
            <a:off x="3284550" y="17868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FFAE7C"/>
                </a:solidFill>
              </a:rPr>
              <a:t>●  ●●</a:t>
            </a:r>
            <a:endParaRPr sz="1000">
              <a:solidFill>
                <a:srgbClr val="FFAE7C"/>
              </a:solidFill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000"/>
              <a:t>Use gradient-based connections to construct attribution trajectories.</a:t>
            </a:r>
            <a:endParaRPr sz="1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518" name="Google Shape;518;p24"/>
          <p:cNvSpPr txBox="1"/>
          <p:nvPr>
            <p:ph idx="1" type="body"/>
          </p:nvPr>
        </p:nvSpPr>
        <p:spPr>
          <a:xfrm>
            <a:off x="709650" y="17868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73A5B8"/>
                </a:solidFill>
              </a:rPr>
              <a:t>●  ●●</a:t>
            </a:r>
            <a:endParaRPr sz="1000">
              <a:solidFill>
                <a:srgbClr val="73A5B8"/>
              </a:solidFill>
            </a:endParaRPr>
          </a:p>
          <a:p>
            <a:pPr indent="0" lvl="0" marL="0" rtl="0" algn="ctr">
              <a:spcBef>
                <a:spcPts val="500"/>
              </a:spcBef>
              <a:spcAft>
                <a:spcPts val="1200"/>
              </a:spcAft>
              <a:buSzPts val="358"/>
              <a:buNone/>
            </a:pPr>
            <a:r>
              <a:rPr lang="en" sz="1000"/>
              <a:t>Model the MAS as a computational graph.</a:t>
            </a:r>
            <a:endParaRPr sz="1000"/>
          </a:p>
        </p:txBody>
      </p:sp>
      <p:sp>
        <p:nvSpPr>
          <p:cNvPr id="519" name="Google Shape;519;p24"/>
          <p:cNvSpPr txBox="1"/>
          <p:nvPr>
            <p:ph idx="1" type="body"/>
          </p:nvPr>
        </p:nvSpPr>
        <p:spPr>
          <a:xfrm>
            <a:off x="5859450" y="1786875"/>
            <a:ext cx="25749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73A5B8"/>
                </a:solidFill>
              </a:rPr>
              <a:t>●  ●●</a:t>
            </a:r>
            <a:endParaRPr sz="1000">
              <a:solidFill>
                <a:srgbClr val="73A5B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358"/>
              <a:buNone/>
            </a:pPr>
            <a:r>
              <a:rPr lang="en" sz="1000"/>
              <a:t>Update </a:t>
            </a:r>
            <a:r>
              <a:rPr lang="en" sz="1000"/>
              <a:t>only the prompts implicated by those trajectories.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000"/>
          </a:p>
        </p:txBody>
      </p:sp>
      <p:sp>
        <p:nvSpPr>
          <p:cNvPr id="520" name="Google Shape;520;p24"/>
          <p:cNvSpPr txBox="1"/>
          <p:nvPr>
            <p:ph idx="1" type="body"/>
          </p:nvPr>
        </p:nvSpPr>
        <p:spPr>
          <a:xfrm>
            <a:off x="709650" y="3011175"/>
            <a:ext cx="3862200" cy="13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AE7C"/>
                </a:highlight>
              </a:rPr>
              <a:t>Empirical message</a:t>
            </a:r>
            <a:endParaRPr sz="20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GBC improves MultiWOZ and τ-bench performance, and can enable optimized multi-agent systems to surpass strong single-agent baselines.</a:t>
            </a:r>
            <a:endParaRPr sz="1000"/>
          </a:p>
        </p:txBody>
      </p:sp>
      <p:sp>
        <p:nvSpPr>
          <p:cNvPr id="521" name="Google Shape;521;p24"/>
          <p:cNvSpPr txBox="1"/>
          <p:nvPr>
            <p:ph idx="1" type="body"/>
          </p:nvPr>
        </p:nvSpPr>
        <p:spPr>
          <a:xfrm>
            <a:off x="4571947" y="3011175"/>
            <a:ext cx="3862200" cy="13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73A5B8"/>
                </a:highlight>
              </a:rPr>
              <a:t>Open directions</a:t>
            </a:r>
            <a:endParaRPr sz="2000">
              <a:solidFill>
                <a:schemeClr val="lt1"/>
              </a:solidFill>
              <a:highlight>
                <a:srgbClr val="73A5B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More efficient gradient approximations, improved verbal loss design, reinforcement learning integration, and dynamic agent topologies.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A5B8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700">
                <a:solidFill>
                  <a:schemeClr val="lt1"/>
                </a:solidFill>
                <a:highlight>
                  <a:srgbClr val="FFAE7C"/>
                </a:highlight>
              </a:rPr>
              <a:t>GBC:</a:t>
            </a:r>
            <a:endParaRPr sz="47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700">
              <a:solidFill>
                <a:schemeClr val="lt1"/>
              </a:solidFill>
              <a:highlight>
                <a:srgbClr val="FFAE7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00">
                <a:solidFill>
                  <a:schemeClr val="lt1"/>
                </a:solidFill>
                <a:highlight>
                  <a:srgbClr val="FFAE7C"/>
                </a:highlight>
              </a:rPr>
              <a:t>G</a:t>
            </a:r>
            <a:r>
              <a:rPr lang="en" sz="3900">
                <a:solidFill>
                  <a:schemeClr val="lt1"/>
                </a:solidFill>
              </a:rPr>
              <a:t>radient-</a:t>
            </a:r>
            <a:r>
              <a:rPr lang="en" sz="3900">
                <a:solidFill>
                  <a:schemeClr val="lt1"/>
                </a:solidFill>
                <a:highlight>
                  <a:srgbClr val="FFAE7C"/>
                </a:highlight>
              </a:rPr>
              <a:t>B</a:t>
            </a:r>
            <a:r>
              <a:rPr lang="en" sz="3900">
                <a:solidFill>
                  <a:schemeClr val="lt1"/>
                </a:solidFill>
              </a:rPr>
              <a:t>ased </a:t>
            </a:r>
            <a:r>
              <a:rPr lang="en" sz="3900">
                <a:solidFill>
                  <a:schemeClr val="lt1"/>
                </a:solidFill>
                <a:highlight>
                  <a:srgbClr val="FFAE7C"/>
                </a:highlight>
              </a:rPr>
              <a:t>C</a:t>
            </a:r>
            <a:r>
              <a:rPr lang="en" sz="3900">
                <a:solidFill>
                  <a:schemeClr val="lt1"/>
                </a:solidFill>
              </a:rPr>
              <a:t>onnections for Optimizing Multi-Agent Systems</a:t>
            </a:r>
            <a:endParaRPr sz="3900">
              <a:solidFill>
                <a:schemeClr val="lt1"/>
              </a:solidFill>
            </a:endParaRPr>
          </a:p>
        </p:txBody>
      </p:sp>
      <p:grpSp>
        <p:nvGrpSpPr>
          <p:cNvPr id="527" name="Google Shape;527;p25"/>
          <p:cNvGrpSpPr/>
          <p:nvPr/>
        </p:nvGrpSpPr>
        <p:grpSpPr>
          <a:xfrm>
            <a:off x="3093537" y="4314051"/>
            <a:ext cx="2287200" cy="437097"/>
            <a:chOff x="3093537" y="4314051"/>
            <a:chExt cx="2287200" cy="437097"/>
          </a:xfrm>
        </p:grpSpPr>
        <p:pic>
          <p:nvPicPr>
            <p:cNvPr id="528" name="Google Shape;528;p25"/>
            <p:cNvPicPr preferRelativeResize="0"/>
            <p:nvPr/>
          </p:nvPicPr>
          <p:blipFill rotWithShape="1">
            <a:blip r:embed="rId3">
              <a:alphaModFix/>
            </a:blip>
            <a:srcRect b="7899" l="0" r="0" t="7434"/>
            <a:stretch/>
          </p:blipFill>
          <p:spPr>
            <a:xfrm>
              <a:off x="4864977" y="4314051"/>
              <a:ext cx="515761" cy="437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93537" y="4329926"/>
              <a:ext cx="1617441" cy="4212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" name="Google Shape;530;p25"/>
          <p:cNvSpPr txBox="1"/>
          <p:nvPr/>
        </p:nvSpPr>
        <p:spPr>
          <a:xfrm>
            <a:off x="2690925" y="2571738"/>
            <a:ext cx="154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Code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1" name="Google Shape;53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1212" y="2898413"/>
            <a:ext cx="1305625" cy="13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7414" y="2898413"/>
            <a:ext cx="1305625" cy="13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5"/>
          <p:cNvSpPr txBox="1"/>
          <p:nvPr/>
        </p:nvSpPr>
        <p:spPr>
          <a:xfrm>
            <a:off x="4237125" y="2571738"/>
            <a:ext cx="154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Paper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