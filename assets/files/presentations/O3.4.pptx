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64477" autoAdjust="0"/>
  </p:normalViewPr>
  <p:slideViewPr>
    <p:cSldViewPr snapToGrid="0" snapToObjects="1">
      <p:cViewPr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C1 vs C2  (RSS)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FB6-443F-83E3-276700F6B617}"/>
              </c:ext>
            </c:extLst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FB6-443F-83E3-276700F6B617}"/>
              </c:ext>
            </c:extLst>
          </c:dPt>
          <c:cat>
            <c:strRef>
              <c:f>Sheet1!$A$2:$A$3</c:f>
              <c:strCache>
                <c:ptCount val="2"/>
                <c:pt idx="0">
                  <c:v>C1 vs C2 (RSS)</c:v>
                </c:pt>
                <c:pt idx="1">
                  <c:v>C1 vs C3 (Div-C3)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</c:v>
                </c:pt>
                <c:pt idx="1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B6-443F-83E3-276700F6B6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C1 vs C2  (RSS)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3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0C-4E8E-B529-017892EA4090}"/>
              </c:ext>
            </c:extLst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0C-4E8E-B529-017892EA4090}"/>
              </c:ext>
            </c:extLst>
          </c:dPt>
          <c:cat>
            <c:strRef>
              <c:f>Sheet1!$A$2:$A$3</c:f>
              <c:strCache>
                <c:ptCount val="2"/>
                <c:pt idx="0">
                  <c:v>C1 vs C2 (RSS)</c:v>
                </c:pt>
                <c:pt idx="1">
                  <c:v>C1 vs C3 (Div-C3)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0.75</c:v>
                </c:pt>
                <c:pt idx="1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C-4E8E-B529-017892EA4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Ratio (RSS / Div_C3)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F14-4C36-BECC-926C86C49C66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14-4C36-BECC-926C86C49C66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F14-4C36-BECC-926C86C49C66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F14-4C36-BECC-926C86C49C66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F14-4C36-BECC-926C86C49C66}"/>
              </c:ext>
            </c:extLst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F14-4C36-BECC-926C86C49C66}"/>
              </c:ext>
            </c:extLst>
          </c:dPt>
          <c:dPt>
            <c:idx val="6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F14-4C36-BECC-926C86C49C66}"/>
              </c:ext>
            </c:extLst>
          </c:dPt>
          <c:dPt>
            <c:idx val="7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F14-4C36-BECC-926C86C49C66}"/>
              </c:ext>
            </c:extLst>
          </c:dPt>
          <c:dPt>
            <c:idx val="8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F14-4C36-BECC-926C86C49C66}"/>
              </c:ext>
            </c:extLst>
          </c:dPt>
          <c:dPt>
            <c:idx val="9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F14-4C36-BECC-926C86C49C66}"/>
              </c:ext>
            </c:extLst>
          </c:dPt>
          <c:dPt>
            <c:idx val="10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CF14-4C36-BECC-926C86C49C66}"/>
              </c:ext>
            </c:extLst>
          </c:dPt>
          <c:dPt>
            <c:idx val="1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CF14-4C36-BECC-926C86C49C66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Sheet1!$A$2:$A$13</c:f>
              <c:strCache>
                <c:ptCount val="12"/>
                <c:pt idx="0">
                  <c:v>GPT-4o / ODK</c:v>
                </c:pt>
                <c:pt idx="1">
                  <c:v>GPT-4o-mini / ODK</c:v>
                </c:pt>
                <c:pt idx="2">
                  <c:v>Llama-70B / ODK</c:v>
                </c:pt>
                <c:pt idx="3">
                  <c:v>Llama-8B / ODK</c:v>
                </c:pt>
                <c:pt idx="4">
                  <c:v>Qwen-7B / ODK</c:v>
                </c:pt>
                <c:pt idx="5">
                  <c:v>Qwen-32B / ODK</c:v>
                </c:pt>
                <c:pt idx="6">
                  <c:v>GPT-4o / WoW</c:v>
                </c:pt>
                <c:pt idx="7">
                  <c:v>GPT-4o-mini / WoW</c:v>
                </c:pt>
                <c:pt idx="8">
                  <c:v>Llama-70B / WoW</c:v>
                </c:pt>
                <c:pt idx="9">
                  <c:v>Llama-8B / WoW</c:v>
                </c:pt>
                <c:pt idx="10">
                  <c:v>Qwen-7B / WoW</c:v>
                </c:pt>
                <c:pt idx="11">
                  <c:v>Qwen-32B / WoW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0.88400000000000001</c:v>
                </c:pt>
                <c:pt idx="1">
                  <c:v>0.82699999999999996</c:v>
                </c:pt>
                <c:pt idx="2">
                  <c:v>0.95899999999999996</c:v>
                </c:pt>
                <c:pt idx="3">
                  <c:v>0.82099999999999995</c:v>
                </c:pt>
                <c:pt idx="4">
                  <c:v>0.91500000000000004</c:v>
                </c:pt>
                <c:pt idx="5">
                  <c:v>0.97799999999999998</c:v>
                </c:pt>
                <c:pt idx="6">
                  <c:v>0.874</c:v>
                </c:pt>
                <c:pt idx="7">
                  <c:v>0.82399999999999995</c:v>
                </c:pt>
                <c:pt idx="8">
                  <c:v>0.91700000000000004</c:v>
                </c:pt>
                <c:pt idx="9">
                  <c:v>0.85599999999999998</c:v>
                </c:pt>
                <c:pt idx="10">
                  <c:v>0.93200000000000005</c:v>
                </c:pt>
                <c:pt idx="11">
                  <c:v>0.92200000000000004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CF14-4C36-BECC-926C86C49C6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chemeClr val="tx1">
                <a:lumMod val="95000"/>
                <a:lumOff val="5000"/>
              </a:schemeClr>
            </a:solidFill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5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638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TEASER SLIDE — Between slide 9 (RSS) and slide 10 (Ratio) (~30 sec)
"Before I show you the result — I want to address the obvious question: RSS is computed automatically using text similarity. How do we know it actually captures whether the model used the relation?"
"We ran a human evaluation. 100 turns. Three independent raters. Blind to condition."
"When RSS is near zero — when we say the model ignored the relation — 95% of the time human raters couldn't tell the difference between the valid-KG and corrupted response either. The corruption left no trace."
"That's our validation. The metric is real. Now let's see what it found."
Move to slide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182">
            <a:extLst>
              <a:ext uri="{FF2B5EF4-FFF2-40B4-BE49-F238E27FC236}">
                <a16:creationId xmlns:a16="http://schemas.microsoft.com/office/drawing/2014/main" id="{8F2B2F49-751B-1CF6-98BB-5E2F03DBEA2E}"/>
              </a:ext>
            </a:extLst>
          </p:cNvPr>
          <p:cNvGrpSpPr/>
          <p:nvPr/>
        </p:nvGrpSpPr>
        <p:grpSpPr>
          <a:xfrm>
            <a:off x="73152" y="91440"/>
            <a:ext cx="11997795" cy="6638544"/>
            <a:chOff x="73152" y="91440"/>
            <a:chExt cx="11997795" cy="6638544"/>
          </a:xfrm>
        </p:grpSpPr>
        <p:sp>
          <p:nvSpPr>
            <p:cNvPr id="2" name="Shape 0"/>
            <p:cNvSpPr/>
            <p:nvPr/>
          </p:nvSpPr>
          <p:spPr>
            <a:xfrm>
              <a:off x="73152" y="9144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768096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1463040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2157984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2852928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547872" y="9144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4242816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937760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5632704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6327648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7022592" y="9144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7717536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8412480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9107424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9802368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10497312" y="9144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11192256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11887200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73152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768096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1463040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2157984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2852928" y="86868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3547872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242816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4937760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5632704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6327648" y="86868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7022592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7717536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8412480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1"/>
            <p:cNvSpPr/>
            <p:nvPr/>
          </p:nvSpPr>
          <p:spPr>
            <a:xfrm>
              <a:off x="8331051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9025995" y="86868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9720939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10415883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11110827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36"/>
            <p:cNvSpPr/>
            <p:nvPr/>
          </p:nvSpPr>
          <p:spPr>
            <a:xfrm>
              <a:off x="73152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7"/>
            <p:cNvSpPr/>
            <p:nvPr/>
          </p:nvSpPr>
          <p:spPr>
            <a:xfrm>
              <a:off x="768096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8"/>
            <p:cNvSpPr/>
            <p:nvPr/>
          </p:nvSpPr>
          <p:spPr>
            <a:xfrm>
              <a:off x="1463040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9"/>
            <p:cNvSpPr/>
            <p:nvPr/>
          </p:nvSpPr>
          <p:spPr>
            <a:xfrm>
              <a:off x="2157984" y="164592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0"/>
            <p:cNvSpPr/>
            <p:nvPr/>
          </p:nvSpPr>
          <p:spPr>
            <a:xfrm>
              <a:off x="2852928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41"/>
            <p:cNvSpPr/>
            <p:nvPr/>
          </p:nvSpPr>
          <p:spPr>
            <a:xfrm>
              <a:off x="3547872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4242816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4937760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5632704" y="164592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45"/>
            <p:cNvSpPr/>
            <p:nvPr/>
          </p:nvSpPr>
          <p:spPr>
            <a:xfrm>
              <a:off x="6327648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6"/>
            <p:cNvSpPr/>
            <p:nvPr/>
          </p:nvSpPr>
          <p:spPr>
            <a:xfrm>
              <a:off x="7022592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47"/>
            <p:cNvSpPr/>
            <p:nvPr/>
          </p:nvSpPr>
          <p:spPr>
            <a:xfrm>
              <a:off x="7717536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48"/>
            <p:cNvSpPr/>
            <p:nvPr/>
          </p:nvSpPr>
          <p:spPr>
            <a:xfrm>
              <a:off x="8412480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49"/>
            <p:cNvSpPr/>
            <p:nvPr/>
          </p:nvSpPr>
          <p:spPr>
            <a:xfrm>
              <a:off x="8331051" y="164592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50"/>
            <p:cNvSpPr/>
            <p:nvPr/>
          </p:nvSpPr>
          <p:spPr>
            <a:xfrm>
              <a:off x="9025995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51"/>
            <p:cNvSpPr/>
            <p:nvPr/>
          </p:nvSpPr>
          <p:spPr>
            <a:xfrm>
              <a:off x="9720939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52"/>
            <p:cNvSpPr/>
            <p:nvPr/>
          </p:nvSpPr>
          <p:spPr>
            <a:xfrm>
              <a:off x="10415883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53"/>
            <p:cNvSpPr/>
            <p:nvPr/>
          </p:nvSpPr>
          <p:spPr>
            <a:xfrm>
              <a:off x="11110827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54"/>
            <p:cNvSpPr/>
            <p:nvPr/>
          </p:nvSpPr>
          <p:spPr>
            <a:xfrm>
              <a:off x="73152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55"/>
            <p:cNvSpPr/>
            <p:nvPr/>
          </p:nvSpPr>
          <p:spPr>
            <a:xfrm>
              <a:off x="768096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56"/>
            <p:cNvSpPr/>
            <p:nvPr/>
          </p:nvSpPr>
          <p:spPr>
            <a:xfrm>
              <a:off x="1463040" y="242316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57"/>
            <p:cNvSpPr/>
            <p:nvPr/>
          </p:nvSpPr>
          <p:spPr>
            <a:xfrm>
              <a:off x="2157984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58"/>
            <p:cNvSpPr/>
            <p:nvPr/>
          </p:nvSpPr>
          <p:spPr>
            <a:xfrm>
              <a:off x="2852928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59"/>
            <p:cNvSpPr/>
            <p:nvPr/>
          </p:nvSpPr>
          <p:spPr>
            <a:xfrm>
              <a:off x="3547872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60"/>
            <p:cNvSpPr/>
            <p:nvPr/>
          </p:nvSpPr>
          <p:spPr>
            <a:xfrm>
              <a:off x="4242816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61"/>
            <p:cNvSpPr/>
            <p:nvPr/>
          </p:nvSpPr>
          <p:spPr>
            <a:xfrm>
              <a:off x="4937760" y="242316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2"/>
            <p:cNvSpPr/>
            <p:nvPr/>
          </p:nvSpPr>
          <p:spPr>
            <a:xfrm>
              <a:off x="5632704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63"/>
            <p:cNvSpPr/>
            <p:nvPr/>
          </p:nvSpPr>
          <p:spPr>
            <a:xfrm>
              <a:off x="6327648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64"/>
            <p:cNvSpPr/>
            <p:nvPr/>
          </p:nvSpPr>
          <p:spPr>
            <a:xfrm>
              <a:off x="7022592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65"/>
            <p:cNvSpPr/>
            <p:nvPr/>
          </p:nvSpPr>
          <p:spPr>
            <a:xfrm>
              <a:off x="7717536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66"/>
            <p:cNvSpPr/>
            <p:nvPr/>
          </p:nvSpPr>
          <p:spPr>
            <a:xfrm>
              <a:off x="8412480" y="242316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67"/>
            <p:cNvSpPr/>
            <p:nvPr/>
          </p:nvSpPr>
          <p:spPr>
            <a:xfrm>
              <a:off x="9107424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68"/>
            <p:cNvSpPr/>
            <p:nvPr/>
          </p:nvSpPr>
          <p:spPr>
            <a:xfrm>
              <a:off x="9802368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69"/>
            <p:cNvSpPr/>
            <p:nvPr/>
          </p:nvSpPr>
          <p:spPr>
            <a:xfrm>
              <a:off x="10497312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70"/>
            <p:cNvSpPr/>
            <p:nvPr/>
          </p:nvSpPr>
          <p:spPr>
            <a:xfrm>
              <a:off x="11192256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71"/>
            <p:cNvSpPr/>
            <p:nvPr/>
          </p:nvSpPr>
          <p:spPr>
            <a:xfrm>
              <a:off x="11887200" y="242316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72"/>
            <p:cNvSpPr/>
            <p:nvPr/>
          </p:nvSpPr>
          <p:spPr>
            <a:xfrm>
              <a:off x="73152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73"/>
            <p:cNvSpPr/>
            <p:nvPr/>
          </p:nvSpPr>
          <p:spPr>
            <a:xfrm>
              <a:off x="768096" y="320040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74"/>
            <p:cNvSpPr/>
            <p:nvPr/>
          </p:nvSpPr>
          <p:spPr>
            <a:xfrm>
              <a:off x="1463040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75"/>
            <p:cNvSpPr/>
            <p:nvPr/>
          </p:nvSpPr>
          <p:spPr>
            <a:xfrm>
              <a:off x="2157984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Shape 76"/>
            <p:cNvSpPr/>
            <p:nvPr/>
          </p:nvSpPr>
          <p:spPr>
            <a:xfrm>
              <a:off x="2852928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Shape 77"/>
            <p:cNvSpPr/>
            <p:nvPr/>
          </p:nvSpPr>
          <p:spPr>
            <a:xfrm>
              <a:off x="3547872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Shape 78"/>
            <p:cNvSpPr/>
            <p:nvPr/>
          </p:nvSpPr>
          <p:spPr>
            <a:xfrm>
              <a:off x="4242816" y="320040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Shape 79"/>
            <p:cNvSpPr/>
            <p:nvPr/>
          </p:nvSpPr>
          <p:spPr>
            <a:xfrm>
              <a:off x="4937760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Shape 80"/>
            <p:cNvSpPr/>
            <p:nvPr/>
          </p:nvSpPr>
          <p:spPr>
            <a:xfrm>
              <a:off x="5632704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Shape 81"/>
            <p:cNvSpPr/>
            <p:nvPr/>
          </p:nvSpPr>
          <p:spPr>
            <a:xfrm>
              <a:off x="6327648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Shape 82"/>
            <p:cNvSpPr/>
            <p:nvPr/>
          </p:nvSpPr>
          <p:spPr>
            <a:xfrm>
              <a:off x="7022592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Shape 83"/>
            <p:cNvSpPr/>
            <p:nvPr/>
          </p:nvSpPr>
          <p:spPr>
            <a:xfrm>
              <a:off x="7717536" y="320040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Shape 84"/>
            <p:cNvSpPr/>
            <p:nvPr/>
          </p:nvSpPr>
          <p:spPr>
            <a:xfrm>
              <a:off x="8412480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Shape 85"/>
            <p:cNvSpPr/>
            <p:nvPr/>
          </p:nvSpPr>
          <p:spPr>
            <a:xfrm>
              <a:off x="9107424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Shape 86"/>
            <p:cNvSpPr/>
            <p:nvPr/>
          </p:nvSpPr>
          <p:spPr>
            <a:xfrm>
              <a:off x="9802368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Shape 87"/>
            <p:cNvSpPr/>
            <p:nvPr/>
          </p:nvSpPr>
          <p:spPr>
            <a:xfrm>
              <a:off x="10497312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Shape 88"/>
            <p:cNvSpPr/>
            <p:nvPr/>
          </p:nvSpPr>
          <p:spPr>
            <a:xfrm>
              <a:off x="11192256" y="320040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Shape 89"/>
            <p:cNvSpPr/>
            <p:nvPr/>
          </p:nvSpPr>
          <p:spPr>
            <a:xfrm>
              <a:off x="11887200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Shape 90"/>
            <p:cNvSpPr/>
            <p:nvPr/>
          </p:nvSpPr>
          <p:spPr>
            <a:xfrm>
              <a:off x="73152" y="397764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Shape 91"/>
            <p:cNvSpPr/>
            <p:nvPr/>
          </p:nvSpPr>
          <p:spPr>
            <a:xfrm>
              <a:off x="768096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Shape 92"/>
            <p:cNvSpPr/>
            <p:nvPr/>
          </p:nvSpPr>
          <p:spPr>
            <a:xfrm>
              <a:off x="1463040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Shape 93"/>
            <p:cNvSpPr/>
            <p:nvPr/>
          </p:nvSpPr>
          <p:spPr>
            <a:xfrm>
              <a:off x="2157984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Shape 94"/>
            <p:cNvSpPr/>
            <p:nvPr/>
          </p:nvSpPr>
          <p:spPr>
            <a:xfrm>
              <a:off x="2852928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Shape 95"/>
            <p:cNvSpPr/>
            <p:nvPr/>
          </p:nvSpPr>
          <p:spPr>
            <a:xfrm>
              <a:off x="3547872" y="397764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Shape 96"/>
            <p:cNvSpPr/>
            <p:nvPr/>
          </p:nvSpPr>
          <p:spPr>
            <a:xfrm>
              <a:off x="4242816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Shape 97"/>
            <p:cNvSpPr/>
            <p:nvPr/>
          </p:nvSpPr>
          <p:spPr>
            <a:xfrm>
              <a:off x="4937760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Shape 98"/>
            <p:cNvSpPr/>
            <p:nvPr/>
          </p:nvSpPr>
          <p:spPr>
            <a:xfrm>
              <a:off x="5632704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Shape 99"/>
            <p:cNvSpPr/>
            <p:nvPr/>
          </p:nvSpPr>
          <p:spPr>
            <a:xfrm>
              <a:off x="6327648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Shape 100"/>
            <p:cNvSpPr/>
            <p:nvPr/>
          </p:nvSpPr>
          <p:spPr>
            <a:xfrm>
              <a:off x="7022592" y="397764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Shape 101"/>
            <p:cNvSpPr/>
            <p:nvPr/>
          </p:nvSpPr>
          <p:spPr>
            <a:xfrm>
              <a:off x="7717536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Shape 102"/>
            <p:cNvSpPr/>
            <p:nvPr/>
          </p:nvSpPr>
          <p:spPr>
            <a:xfrm>
              <a:off x="8412480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Shape 103"/>
            <p:cNvSpPr/>
            <p:nvPr/>
          </p:nvSpPr>
          <p:spPr>
            <a:xfrm>
              <a:off x="9107424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Shape 104"/>
            <p:cNvSpPr/>
            <p:nvPr/>
          </p:nvSpPr>
          <p:spPr>
            <a:xfrm>
              <a:off x="9802368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Shape 105"/>
            <p:cNvSpPr/>
            <p:nvPr/>
          </p:nvSpPr>
          <p:spPr>
            <a:xfrm>
              <a:off x="10497312" y="397764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Shape 106"/>
            <p:cNvSpPr/>
            <p:nvPr/>
          </p:nvSpPr>
          <p:spPr>
            <a:xfrm>
              <a:off x="11192256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107"/>
            <p:cNvSpPr/>
            <p:nvPr/>
          </p:nvSpPr>
          <p:spPr>
            <a:xfrm>
              <a:off x="11887200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108"/>
            <p:cNvSpPr/>
            <p:nvPr/>
          </p:nvSpPr>
          <p:spPr>
            <a:xfrm>
              <a:off x="73152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109"/>
            <p:cNvSpPr/>
            <p:nvPr/>
          </p:nvSpPr>
          <p:spPr>
            <a:xfrm>
              <a:off x="768096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110"/>
            <p:cNvSpPr/>
            <p:nvPr/>
          </p:nvSpPr>
          <p:spPr>
            <a:xfrm>
              <a:off x="1463040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111"/>
            <p:cNvSpPr/>
            <p:nvPr/>
          </p:nvSpPr>
          <p:spPr>
            <a:xfrm>
              <a:off x="2157984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Shape 112"/>
            <p:cNvSpPr/>
            <p:nvPr/>
          </p:nvSpPr>
          <p:spPr>
            <a:xfrm>
              <a:off x="2852928" y="475488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Shape 113"/>
            <p:cNvSpPr/>
            <p:nvPr/>
          </p:nvSpPr>
          <p:spPr>
            <a:xfrm>
              <a:off x="3547872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Shape 114"/>
            <p:cNvSpPr/>
            <p:nvPr/>
          </p:nvSpPr>
          <p:spPr>
            <a:xfrm>
              <a:off x="4242816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Shape 115"/>
            <p:cNvSpPr/>
            <p:nvPr/>
          </p:nvSpPr>
          <p:spPr>
            <a:xfrm>
              <a:off x="4937760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Shape 116"/>
            <p:cNvSpPr/>
            <p:nvPr/>
          </p:nvSpPr>
          <p:spPr>
            <a:xfrm>
              <a:off x="5632704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Shape 117"/>
            <p:cNvSpPr/>
            <p:nvPr/>
          </p:nvSpPr>
          <p:spPr>
            <a:xfrm>
              <a:off x="6327648" y="475488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Shape 118"/>
            <p:cNvSpPr/>
            <p:nvPr/>
          </p:nvSpPr>
          <p:spPr>
            <a:xfrm>
              <a:off x="7022592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Shape 119"/>
            <p:cNvSpPr/>
            <p:nvPr/>
          </p:nvSpPr>
          <p:spPr>
            <a:xfrm>
              <a:off x="7717536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Shape 120"/>
            <p:cNvSpPr/>
            <p:nvPr/>
          </p:nvSpPr>
          <p:spPr>
            <a:xfrm>
              <a:off x="8412480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Shape 121"/>
            <p:cNvSpPr/>
            <p:nvPr/>
          </p:nvSpPr>
          <p:spPr>
            <a:xfrm>
              <a:off x="9107424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Shape 122"/>
            <p:cNvSpPr/>
            <p:nvPr/>
          </p:nvSpPr>
          <p:spPr>
            <a:xfrm>
              <a:off x="9802368" y="475488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Shape 123"/>
            <p:cNvSpPr/>
            <p:nvPr/>
          </p:nvSpPr>
          <p:spPr>
            <a:xfrm>
              <a:off x="10497312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Shape 124"/>
            <p:cNvSpPr/>
            <p:nvPr/>
          </p:nvSpPr>
          <p:spPr>
            <a:xfrm>
              <a:off x="11192256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Shape 125"/>
            <p:cNvSpPr/>
            <p:nvPr/>
          </p:nvSpPr>
          <p:spPr>
            <a:xfrm>
              <a:off x="11887200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Shape 126"/>
            <p:cNvSpPr/>
            <p:nvPr/>
          </p:nvSpPr>
          <p:spPr>
            <a:xfrm>
              <a:off x="73152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Shape 127"/>
            <p:cNvSpPr/>
            <p:nvPr/>
          </p:nvSpPr>
          <p:spPr>
            <a:xfrm>
              <a:off x="768096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Shape 128"/>
            <p:cNvSpPr/>
            <p:nvPr/>
          </p:nvSpPr>
          <p:spPr>
            <a:xfrm>
              <a:off x="1463040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Shape 129"/>
            <p:cNvSpPr/>
            <p:nvPr/>
          </p:nvSpPr>
          <p:spPr>
            <a:xfrm>
              <a:off x="2157984" y="553212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Shape 130"/>
            <p:cNvSpPr/>
            <p:nvPr/>
          </p:nvSpPr>
          <p:spPr>
            <a:xfrm>
              <a:off x="2852928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Shape 131"/>
            <p:cNvSpPr/>
            <p:nvPr/>
          </p:nvSpPr>
          <p:spPr>
            <a:xfrm>
              <a:off x="3547872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Shape 132"/>
            <p:cNvSpPr/>
            <p:nvPr/>
          </p:nvSpPr>
          <p:spPr>
            <a:xfrm>
              <a:off x="4242816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Shape 133"/>
            <p:cNvSpPr/>
            <p:nvPr/>
          </p:nvSpPr>
          <p:spPr>
            <a:xfrm>
              <a:off x="4937760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Shape 134"/>
            <p:cNvSpPr/>
            <p:nvPr/>
          </p:nvSpPr>
          <p:spPr>
            <a:xfrm>
              <a:off x="5632704" y="553212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Shape 135"/>
            <p:cNvSpPr/>
            <p:nvPr/>
          </p:nvSpPr>
          <p:spPr>
            <a:xfrm>
              <a:off x="6327648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Shape 136"/>
            <p:cNvSpPr/>
            <p:nvPr/>
          </p:nvSpPr>
          <p:spPr>
            <a:xfrm>
              <a:off x="7022592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Shape 137"/>
            <p:cNvSpPr/>
            <p:nvPr/>
          </p:nvSpPr>
          <p:spPr>
            <a:xfrm>
              <a:off x="7717536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Shape 138"/>
            <p:cNvSpPr/>
            <p:nvPr/>
          </p:nvSpPr>
          <p:spPr>
            <a:xfrm>
              <a:off x="8412480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Shape 139"/>
            <p:cNvSpPr/>
            <p:nvPr/>
          </p:nvSpPr>
          <p:spPr>
            <a:xfrm>
              <a:off x="9107424" y="553212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Shape 140"/>
            <p:cNvSpPr/>
            <p:nvPr/>
          </p:nvSpPr>
          <p:spPr>
            <a:xfrm>
              <a:off x="9802368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Shape 141"/>
            <p:cNvSpPr/>
            <p:nvPr/>
          </p:nvSpPr>
          <p:spPr>
            <a:xfrm>
              <a:off x="10497312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Shape 142"/>
            <p:cNvSpPr/>
            <p:nvPr/>
          </p:nvSpPr>
          <p:spPr>
            <a:xfrm>
              <a:off x="11192256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Shape 143"/>
            <p:cNvSpPr/>
            <p:nvPr/>
          </p:nvSpPr>
          <p:spPr>
            <a:xfrm>
              <a:off x="11887200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Shape 144"/>
            <p:cNvSpPr/>
            <p:nvPr/>
          </p:nvSpPr>
          <p:spPr>
            <a:xfrm>
              <a:off x="73152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Shape 145"/>
            <p:cNvSpPr/>
            <p:nvPr/>
          </p:nvSpPr>
          <p:spPr>
            <a:xfrm>
              <a:off x="768096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Shape 146"/>
            <p:cNvSpPr/>
            <p:nvPr/>
          </p:nvSpPr>
          <p:spPr>
            <a:xfrm>
              <a:off x="1463040" y="630936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Shape 147"/>
            <p:cNvSpPr/>
            <p:nvPr/>
          </p:nvSpPr>
          <p:spPr>
            <a:xfrm>
              <a:off x="2157984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Shape 148"/>
            <p:cNvSpPr/>
            <p:nvPr/>
          </p:nvSpPr>
          <p:spPr>
            <a:xfrm>
              <a:off x="2852928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Shape 149"/>
            <p:cNvSpPr/>
            <p:nvPr/>
          </p:nvSpPr>
          <p:spPr>
            <a:xfrm>
              <a:off x="3547872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Shape 150"/>
            <p:cNvSpPr/>
            <p:nvPr/>
          </p:nvSpPr>
          <p:spPr>
            <a:xfrm>
              <a:off x="4242816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Shape 151"/>
            <p:cNvSpPr/>
            <p:nvPr/>
          </p:nvSpPr>
          <p:spPr>
            <a:xfrm>
              <a:off x="4937760" y="630936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Shape 152"/>
            <p:cNvSpPr/>
            <p:nvPr/>
          </p:nvSpPr>
          <p:spPr>
            <a:xfrm>
              <a:off x="5632704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Shape 153"/>
            <p:cNvSpPr/>
            <p:nvPr/>
          </p:nvSpPr>
          <p:spPr>
            <a:xfrm>
              <a:off x="6327648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Shape 154"/>
            <p:cNvSpPr/>
            <p:nvPr/>
          </p:nvSpPr>
          <p:spPr>
            <a:xfrm>
              <a:off x="7022592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Shape 155"/>
            <p:cNvSpPr/>
            <p:nvPr/>
          </p:nvSpPr>
          <p:spPr>
            <a:xfrm>
              <a:off x="7717536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Shape 156"/>
            <p:cNvSpPr/>
            <p:nvPr/>
          </p:nvSpPr>
          <p:spPr>
            <a:xfrm>
              <a:off x="8412480" y="630936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Shape 157"/>
            <p:cNvSpPr/>
            <p:nvPr/>
          </p:nvSpPr>
          <p:spPr>
            <a:xfrm>
              <a:off x="9107424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Shape 158"/>
            <p:cNvSpPr/>
            <p:nvPr/>
          </p:nvSpPr>
          <p:spPr>
            <a:xfrm>
              <a:off x="9802368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Shape 159"/>
            <p:cNvSpPr/>
            <p:nvPr/>
          </p:nvSpPr>
          <p:spPr>
            <a:xfrm>
              <a:off x="10497312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Shape 160"/>
            <p:cNvSpPr/>
            <p:nvPr/>
          </p:nvSpPr>
          <p:spPr>
            <a:xfrm>
              <a:off x="11192256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Shape 161"/>
            <p:cNvSpPr/>
            <p:nvPr/>
          </p:nvSpPr>
          <p:spPr>
            <a:xfrm>
              <a:off x="11887200" y="6309360"/>
              <a:ext cx="64008" cy="64008"/>
            </a:xfrm>
            <a:prstGeom prst="ellipse">
              <a:avLst/>
            </a:prstGeom>
            <a:solidFill>
              <a:srgbClr val="CBD5E1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Shape 162"/>
            <p:cNvSpPr/>
            <p:nvPr/>
          </p:nvSpPr>
          <p:spPr>
            <a:xfrm>
              <a:off x="7818987" y="731520"/>
              <a:ext cx="960120" cy="960120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Text 163"/>
            <p:cNvSpPr/>
            <p:nvPr/>
          </p:nvSpPr>
          <p:spPr>
            <a:xfrm>
              <a:off x="7818987" y="822960"/>
              <a:ext cx="96012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</a:t>
              </a:r>
              <a:endParaRPr lang="en-US" sz="2400" dirty="0"/>
            </a:p>
          </p:txBody>
        </p:sp>
        <p:sp>
          <p:nvSpPr>
            <p:cNvPr id="166" name="Shape 164"/>
            <p:cNvSpPr/>
            <p:nvPr/>
          </p:nvSpPr>
          <p:spPr>
            <a:xfrm>
              <a:off x="9464907" y="731520"/>
              <a:ext cx="960120" cy="960120"/>
            </a:xfrm>
            <a:prstGeom prst="ellipse">
              <a:avLst/>
            </a:prstGeom>
            <a:solidFill>
              <a:srgbClr val="4C1D95"/>
            </a:solidFill>
            <a:ln w="12700">
              <a:solidFill>
                <a:srgbClr val="4C1D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Text 165"/>
            <p:cNvSpPr/>
            <p:nvPr/>
          </p:nvSpPr>
          <p:spPr>
            <a:xfrm>
              <a:off x="9464907" y="822960"/>
              <a:ext cx="96012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chemeClr val="bg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68" name="Shape 166"/>
            <p:cNvSpPr/>
            <p:nvPr/>
          </p:nvSpPr>
          <p:spPr>
            <a:xfrm>
              <a:off x="11110827" y="731520"/>
              <a:ext cx="960120" cy="960120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Text 167"/>
            <p:cNvSpPr/>
            <p:nvPr/>
          </p:nvSpPr>
          <p:spPr>
            <a:xfrm>
              <a:off x="11110827" y="822960"/>
              <a:ext cx="96012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</a:t>
              </a:r>
              <a:endParaRPr lang="en-US" sz="2400" dirty="0"/>
            </a:p>
          </p:txBody>
        </p:sp>
        <p:sp>
          <p:nvSpPr>
            <p:cNvPr id="170" name="Shape 168"/>
            <p:cNvSpPr/>
            <p:nvPr/>
          </p:nvSpPr>
          <p:spPr>
            <a:xfrm>
              <a:off x="8779107" y="1207008"/>
              <a:ext cx="685800" cy="0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Shape 169"/>
            <p:cNvSpPr/>
            <p:nvPr/>
          </p:nvSpPr>
          <p:spPr>
            <a:xfrm>
              <a:off x="10425027" y="1207008"/>
              <a:ext cx="685800" cy="0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Text 171"/>
            <p:cNvSpPr/>
            <p:nvPr/>
          </p:nvSpPr>
          <p:spPr>
            <a:xfrm>
              <a:off x="502920" y="1188720"/>
              <a:ext cx="7863840" cy="2377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54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Do LLMs actually use</a:t>
              </a:r>
              <a:endParaRPr lang="en-US" sz="5400" dirty="0"/>
            </a:p>
            <a:p>
              <a:pPr marL="0" indent="0">
                <a:lnSpc>
                  <a:spcPct val="108000"/>
                </a:lnSpc>
                <a:buNone/>
              </a:pPr>
              <a:r>
                <a:rPr lang="en-US" sz="54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relations in a KG?</a:t>
              </a:r>
              <a:endParaRPr lang="en-US" sz="5400" dirty="0"/>
            </a:p>
          </p:txBody>
        </p:sp>
        <p:sp>
          <p:nvSpPr>
            <p:cNvPr id="175" name="Text 173"/>
            <p:cNvSpPr/>
            <p:nvPr/>
          </p:nvSpPr>
          <p:spPr>
            <a:xfrm>
              <a:off x="502920" y="3404850"/>
              <a:ext cx="91440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i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Evidence from Entity and Relation Perturbation</a:t>
              </a:r>
              <a:endParaRPr lang="en-US" sz="1700" dirty="0"/>
            </a:p>
          </p:txBody>
        </p:sp>
        <p:sp>
          <p:nvSpPr>
            <p:cNvPr id="176" name="Text 174"/>
            <p:cNvSpPr/>
            <p:nvPr/>
          </p:nvSpPr>
          <p:spPr>
            <a:xfrm>
              <a:off x="502920" y="4080989"/>
              <a:ext cx="82296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Dominic Okonkwo  ·  Ismailcem Budak Arpinar</a:t>
              </a:r>
              <a:endParaRPr lang="en-US" sz="1600" dirty="0"/>
            </a:p>
          </p:txBody>
        </p:sp>
        <p:sp>
          <p:nvSpPr>
            <p:cNvPr id="177" name="Text 175"/>
            <p:cNvSpPr/>
            <p:nvPr/>
          </p:nvSpPr>
          <p:spPr>
            <a:xfrm>
              <a:off x="502920" y="4483322"/>
              <a:ext cx="822960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NeSLab · School of Computing · University of Georgia</a:t>
              </a:r>
              <a:endParaRPr lang="en-US" sz="1300" dirty="0"/>
            </a:p>
          </p:txBody>
        </p:sp>
        <p:pic>
          <p:nvPicPr>
            <p:cNvPr id="180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623861" y="5091662"/>
              <a:ext cx="1503927" cy="636277"/>
            </a:xfrm>
            <a:prstGeom prst="rect">
              <a:avLst/>
            </a:prstGeom>
          </p:spPr>
        </p:pic>
        <p:sp>
          <p:nvSpPr>
            <p:cNvPr id="182" name="Text 179"/>
            <p:cNvSpPr/>
            <p:nvPr/>
          </p:nvSpPr>
          <p:spPr>
            <a:xfrm>
              <a:off x="11384280" y="6528816"/>
              <a:ext cx="6400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 / 18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90B9704-DE2A-2E73-EA88-51E2C954F5EB}"/>
              </a:ext>
            </a:extLst>
          </p:cNvPr>
          <p:cNvGrpSpPr/>
          <p:nvPr/>
        </p:nvGrpSpPr>
        <p:grpSpPr>
          <a:xfrm>
            <a:off x="201168" y="256032"/>
            <a:ext cx="11457432" cy="6483096"/>
            <a:chOff x="201168" y="256032"/>
            <a:chExt cx="11457432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5486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BACKGROUND</a:t>
              </a:r>
              <a:endParaRPr lang="en-US" sz="850" dirty="0"/>
            </a:p>
          </p:txBody>
        </p:sp>
        <p:pic>
          <p:nvPicPr>
            <p:cNvPr id="3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24128" y="6468434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Arpinar · SIGDIAL 2026</a:t>
              </a:r>
              <a:endParaRPr lang="en-US" sz="1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02920" y="457200"/>
              <a:ext cx="1115568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Knowledge Graphs are becoming a</a:t>
              </a:r>
              <a:endParaRPr lang="en-US" sz="3000" dirty="0"/>
            </a:p>
            <a:p>
              <a:pPr marL="0" indent="0">
                <a:lnSpc>
                  <a:spcPct val="108000"/>
                </a:lnSpc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key component of LLM systems.</a:t>
              </a:r>
              <a:endParaRPr lang="en-US" sz="3000" dirty="0"/>
            </a:p>
          </p:txBody>
        </p:sp>
        <p:pic>
          <p:nvPicPr>
            <p:cNvPr id="7" name="Image 1" descr="/home/claude/kg-papers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35239" y="899737"/>
              <a:ext cx="5402894" cy="540289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Text 4"/>
            <p:cNvSpPr/>
            <p:nvPr/>
          </p:nvSpPr>
          <p:spPr>
            <a:xfrm>
              <a:off x="502920" y="5742432"/>
              <a:ext cx="111556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KG-grounded dialogue · KG-LLM integration · Graph reasoning, well-cited, actively growing research area</a:t>
              </a:r>
              <a:endPara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UNTESTED ASSUMPTION</a:t>
            </a:r>
            <a:endParaRPr lang="en-US" sz="850" dirty="0"/>
          </a:p>
        </p:txBody>
      </p:sp>
      <p:pic>
        <p:nvPicPr>
          <p:cNvPr id="3" name="Image 0" descr="/home/claude/sigdial-logo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201168" y="6437376"/>
            <a:ext cx="71323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6447171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Okonkwo &amp; Arpinar · SIGDIAL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438912"/>
            <a:ext cx="11155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KG-dialogue systems assume the LLM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understands and uses the relation.</a:t>
            </a:r>
            <a:endParaRPr lang="en-US" sz="3000" dirty="0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8733B70-F8FF-176D-4E83-160D8563BB67}"/>
              </a:ext>
            </a:extLst>
          </p:cNvPr>
          <p:cNvGrpSpPr/>
          <p:nvPr/>
        </p:nvGrpSpPr>
        <p:grpSpPr>
          <a:xfrm>
            <a:off x="486591" y="5636628"/>
            <a:ext cx="11155680" cy="658368"/>
            <a:chOff x="502920" y="5440680"/>
            <a:chExt cx="11155680" cy="658368"/>
          </a:xfrm>
        </p:grpSpPr>
        <p:sp>
          <p:nvSpPr>
            <p:cNvPr id="33" name="Shape 30"/>
            <p:cNvSpPr/>
            <p:nvPr/>
          </p:nvSpPr>
          <p:spPr>
            <a:xfrm>
              <a:off x="502920" y="5440680"/>
              <a:ext cx="11155680" cy="658368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Text 31"/>
            <p:cNvSpPr/>
            <p:nvPr/>
          </p:nvSpPr>
          <p:spPr>
            <a:xfrm>
              <a:off x="685800" y="5513832"/>
              <a:ext cx="10972800" cy="53035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B4530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gap: </a:t>
              </a:r>
              <a:r>
                <a:rPr lang="en-US" sz="1400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of these systems build relation types into the model, but none test whether the model actually uses the typed label at inference.</a:t>
              </a:r>
              <a:endParaRPr lang="en-US" sz="14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C7E3720-B17D-EB84-6A6D-678344F2636E}"/>
              </a:ext>
            </a:extLst>
          </p:cNvPr>
          <p:cNvGrpSpPr/>
          <p:nvPr/>
        </p:nvGrpSpPr>
        <p:grpSpPr>
          <a:xfrm>
            <a:off x="2673938" y="1559386"/>
            <a:ext cx="6714991" cy="3809164"/>
            <a:chOff x="682477" y="2073608"/>
            <a:chExt cx="5545795" cy="2628848"/>
          </a:xfrm>
        </p:grpSpPr>
        <p:sp>
          <p:nvSpPr>
            <p:cNvPr id="63" name="Shape 4">
              <a:extLst>
                <a:ext uri="{FF2B5EF4-FFF2-40B4-BE49-F238E27FC236}">
                  <a16:creationId xmlns:a16="http://schemas.microsoft.com/office/drawing/2014/main" id="{7CF60219-8602-2B4B-5C32-A48D39975B2D}"/>
                </a:ext>
              </a:extLst>
            </p:cNvPr>
            <p:cNvSpPr/>
            <p:nvPr/>
          </p:nvSpPr>
          <p:spPr>
            <a:xfrm>
              <a:off x="682477" y="2073608"/>
              <a:ext cx="2145894" cy="467054"/>
            </a:xfrm>
            <a:prstGeom prst="roundRect">
              <a:avLst>
                <a:gd name="adj" fmla="val 14286"/>
              </a:avLst>
            </a:prstGeom>
            <a:solidFill>
              <a:schemeClr val="bg1"/>
            </a:solidFill>
            <a:ln w="12700">
              <a:solidFill>
                <a:srgbClr val="94A3B8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" name="Text 5">
              <a:extLst>
                <a:ext uri="{FF2B5EF4-FFF2-40B4-BE49-F238E27FC236}">
                  <a16:creationId xmlns:a16="http://schemas.microsoft.com/office/drawing/2014/main" id="{88C6EB36-693A-FBCC-03CC-1CB767847D28}"/>
                </a:ext>
              </a:extLst>
            </p:cNvPr>
            <p:cNvSpPr/>
            <p:nvPr/>
          </p:nvSpPr>
          <p:spPr>
            <a:xfrm>
              <a:off x="682477" y="2140330"/>
              <a:ext cx="2145894" cy="3336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Dialogue</a:t>
              </a:r>
              <a:endParaRPr lang="en-US" sz="1600" dirty="0"/>
            </a:p>
          </p:txBody>
        </p:sp>
        <p:sp>
          <p:nvSpPr>
            <p:cNvPr id="65" name="Shape 6">
              <a:extLst>
                <a:ext uri="{FF2B5EF4-FFF2-40B4-BE49-F238E27FC236}">
                  <a16:creationId xmlns:a16="http://schemas.microsoft.com/office/drawing/2014/main" id="{6B6F0DDC-1C74-901A-6201-205FE922F3D2}"/>
                </a:ext>
              </a:extLst>
            </p:cNvPr>
            <p:cNvSpPr/>
            <p:nvPr/>
          </p:nvSpPr>
          <p:spPr>
            <a:xfrm>
              <a:off x="1755424" y="2540662"/>
              <a:ext cx="0" cy="253544"/>
            </a:xfrm>
            <a:prstGeom prst="line">
              <a:avLst/>
            </a:prstGeom>
            <a:noFill/>
            <a:ln w="15240">
              <a:solidFill>
                <a:srgbClr val="94A3B8"/>
              </a:solidFill>
              <a:prstDash val="solid"/>
              <a:tailEnd type="arrow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7">
              <a:extLst>
                <a:ext uri="{FF2B5EF4-FFF2-40B4-BE49-F238E27FC236}">
                  <a16:creationId xmlns:a16="http://schemas.microsoft.com/office/drawing/2014/main" id="{FC2D9D94-1936-34C1-5561-F9E37F6F7D86}"/>
                </a:ext>
              </a:extLst>
            </p:cNvPr>
            <p:cNvSpPr/>
            <p:nvPr/>
          </p:nvSpPr>
          <p:spPr>
            <a:xfrm>
              <a:off x="682477" y="2794206"/>
              <a:ext cx="2145894" cy="467054"/>
            </a:xfrm>
            <a:prstGeom prst="roundRect">
              <a:avLst>
                <a:gd name="adj" fmla="val 14286"/>
              </a:avLst>
            </a:prstGeom>
            <a:solidFill>
              <a:srgbClr val="4C1D95"/>
            </a:solidFill>
            <a:ln w="12700">
              <a:solidFill>
                <a:srgbClr val="4C1D95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 8">
              <a:extLst>
                <a:ext uri="{FF2B5EF4-FFF2-40B4-BE49-F238E27FC236}">
                  <a16:creationId xmlns:a16="http://schemas.microsoft.com/office/drawing/2014/main" id="{74E64B95-033C-419D-D2CA-956A01E24DFF}"/>
                </a:ext>
              </a:extLst>
            </p:cNvPr>
            <p:cNvSpPr/>
            <p:nvPr/>
          </p:nvSpPr>
          <p:spPr>
            <a:xfrm>
              <a:off x="682477" y="2860928"/>
              <a:ext cx="2145894" cy="3336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Retrieve KG Facts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68" name="Shape 9">
              <a:extLst>
                <a:ext uri="{FF2B5EF4-FFF2-40B4-BE49-F238E27FC236}">
                  <a16:creationId xmlns:a16="http://schemas.microsoft.com/office/drawing/2014/main" id="{304B3955-5F42-E0CA-D169-4E5598CDBE42}"/>
                </a:ext>
              </a:extLst>
            </p:cNvPr>
            <p:cNvSpPr/>
            <p:nvPr/>
          </p:nvSpPr>
          <p:spPr>
            <a:xfrm>
              <a:off x="1755424" y="3261260"/>
              <a:ext cx="0" cy="253544"/>
            </a:xfrm>
            <a:prstGeom prst="line">
              <a:avLst/>
            </a:prstGeom>
            <a:noFill/>
            <a:ln w="15240">
              <a:solidFill>
                <a:srgbClr val="94A3B8"/>
              </a:solidFill>
              <a:prstDash val="solid"/>
              <a:tailEnd type="arrow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10">
              <a:extLst>
                <a:ext uri="{FF2B5EF4-FFF2-40B4-BE49-F238E27FC236}">
                  <a16:creationId xmlns:a16="http://schemas.microsoft.com/office/drawing/2014/main" id="{E161D15B-BA78-C8B8-C897-157C2D9D29EE}"/>
                </a:ext>
              </a:extLst>
            </p:cNvPr>
            <p:cNvSpPr/>
            <p:nvPr/>
          </p:nvSpPr>
          <p:spPr>
            <a:xfrm>
              <a:off x="682477" y="3514804"/>
              <a:ext cx="2145894" cy="467054"/>
            </a:xfrm>
            <a:prstGeom prst="roundRect">
              <a:avLst>
                <a:gd name="adj" fmla="val 14286"/>
              </a:avLst>
            </a:prstGeom>
            <a:solidFill>
              <a:schemeClr val="bg1"/>
            </a:solidFill>
            <a:ln w="12700">
              <a:solidFill>
                <a:srgbClr val="94A3B8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 11">
              <a:extLst>
                <a:ext uri="{FF2B5EF4-FFF2-40B4-BE49-F238E27FC236}">
                  <a16:creationId xmlns:a16="http://schemas.microsoft.com/office/drawing/2014/main" id="{4CEED453-71BC-7C15-9BEB-03616754EDC3}"/>
                </a:ext>
              </a:extLst>
            </p:cNvPr>
            <p:cNvSpPr/>
            <p:nvPr/>
          </p:nvSpPr>
          <p:spPr>
            <a:xfrm>
              <a:off x="682477" y="3581526"/>
              <a:ext cx="2145894" cy="3336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LLM</a:t>
              </a:r>
              <a:endParaRPr lang="en-US" sz="1600" dirty="0"/>
            </a:p>
          </p:txBody>
        </p:sp>
        <p:sp>
          <p:nvSpPr>
            <p:cNvPr id="71" name="Shape 12">
              <a:extLst>
                <a:ext uri="{FF2B5EF4-FFF2-40B4-BE49-F238E27FC236}">
                  <a16:creationId xmlns:a16="http://schemas.microsoft.com/office/drawing/2014/main" id="{8E165342-3372-75F0-0F2E-F9466E35A729}"/>
                </a:ext>
              </a:extLst>
            </p:cNvPr>
            <p:cNvSpPr/>
            <p:nvPr/>
          </p:nvSpPr>
          <p:spPr>
            <a:xfrm>
              <a:off x="1755424" y="3981858"/>
              <a:ext cx="0" cy="253544"/>
            </a:xfrm>
            <a:prstGeom prst="line">
              <a:avLst/>
            </a:prstGeom>
            <a:noFill/>
            <a:ln w="15240">
              <a:solidFill>
                <a:srgbClr val="94A3B8"/>
              </a:solidFill>
              <a:prstDash val="solid"/>
              <a:tailEnd type="arrow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13">
              <a:extLst>
                <a:ext uri="{FF2B5EF4-FFF2-40B4-BE49-F238E27FC236}">
                  <a16:creationId xmlns:a16="http://schemas.microsoft.com/office/drawing/2014/main" id="{F7AC2048-A0D4-EA75-DB1C-D6733B84E41A}"/>
                </a:ext>
              </a:extLst>
            </p:cNvPr>
            <p:cNvSpPr/>
            <p:nvPr/>
          </p:nvSpPr>
          <p:spPr>
            <a:xfrm>
              <a:off x="682477" y="4235402"/>
              <a:ext cx="2145894" cy="467054"/>
            </a:xfrm>
            <a:prstGeom prst="roundRect">
              <a:avLst>
                <a:gd name="adj" fmla="val 14286"/>
              </a:avLst>
            </a:prstGeom>
            <a:solidFill>
              <a:schemeClr val="bg1"/>
            </a:solidFill>
            <a:ln w="12700">
              <a:solidFill>
                <a:srgbClr val="94A3B8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 14">
              <a:extLst>
                <a:ext uri="{FF2B5EF4-FFF2-40B4-BE49-F238E27FC236}">
                  <a16:creationId xmlns:a16="http://schemas.microsoft.com/office/drawing/2014/main" id="{699F5F78-4376-B825-323B-754657C93792}"/>
                </a:ext>
              </a:extLst>
            </p:cNvPr>
            <p:cNvSpPr/>
            <p:nvPr/>
          </p:nvSpPr>
          <p:spPr>
            <a:xfrm>
              <a:off x="682477" y="4302124"/>
              <a:ext cx="2145894" cy="3336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Response</a:t>
              </a:r>
              <a:endParaRPr lang="en-US" sz="1600" dirty="0"/>
            </a:p>
          </p:txBody>
        </p:sp>
        <p:sp>
          <p:nvSpPr>
            <p:cNvPr id="74" name="Shape 15">
              <a:extLst>
                <a:ext uri="{FF2B5EF4-FFF2-40B4-BE49-F238E27FC236}">
                  <a16:creationId xmlns:a16="http://schemas.microsoft.com/office/drawing/2014/main" id="{769AAA2D-6CF9-D9C6-EF83-F99917888448}"/>
                </a:ext>
              </a:extLst>
            </p:cNvPr>
            <p:cNvSpPr/>
            <p:nvPr/>
          </p:nvSpPr>
          <p:spPr>
            <a:xfrm>
              <a:off x="3063078" y="2900958"/>
              <a:ext cx="3165193" cy="268423"/>
            </a:xfrm>
            <a:prstGeom prst="roundRect">
              <a:avLst>
                <a:gd name="adj" fmla="val 13333"/>
              </a:avLst>
            </a:prstGeom>
            <a:solidFill>
              <a:srgbClr val="F1F5F9"/>
            </a:solidFill>
            <a:ln w="1905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" name="Text 16">
              <a:extLst>
                <a:ext uri="{FF2B5EF4-FFF2-40B4-BE49-F238E27FC236}">
                  <a16:creationId xmlns:a16="http://schemas.microsoft.com/office/drawing/2014/main" id="{1D39A079-71DE-D498-194F-0871FE768E1F}"/>
                </a:ext>
              </a:extLst>
            </p:cNvPr>
            <p:cNvSpPr/>
            <p:nvPr/>
          </p:nvSpPr>
          <p:spPr>
            <a:xfrm>
              <a:off x="3081517" y="2847584"/>
              <a:ext cx="717533" cy="36029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Iron Man</a:t>
              </a:r>
              <a:endParaRPr lang="en-US" sz="1050" dirty="0"/>
            </a:p>
          </p:txBody>
        </p:sp>
        <p:sp>
          <p:nvSpPr>
            <p:cNvPr id="76" name="Text 17">
              <a:extLst>
                <a:ext uri="{FF2B5EF4-FFF2-40B4-BE49-F238E27FC236}">
                  <a16:creationId xmlns:a16="http://schemas.microsoft.com/office/drawing/2014/main" id="{21476B6E-8B55-69E5-57E2-281A3686F33F}"/>
                </a:ext>
              </a:extLst>
            </p:cNvPr>
            <p:cNvSpPr/>
            <p:nvPr/>
          </p:nvSpPr>
          <p:spPr>
            <a:xfrm>
              <a:off x="3645633" y="2847584"/>
              <a:ext cx="1542361" cy="36029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──  starred_actor  ──►</a:t>
              </a:r>
              <a:endParaRPr lang="en-US" sz="1050" dirty="0"/>
            </a:p>
          </p:txBody>
        </p:sp>
        <p:sp>
          <p:nvSpPr>
            <p:cNvPr id="77" name="Text 18">
              <a:extLst>
                <a:ext uri="{FF2B5EF4-FFF2-40B4-BE49-F238E27FC236}">
                  <a16:creationId xmlns:a16="http://schemas.microsoft.com/office/drawing/2014/main" id="{ED096A20-CC67-B75D-50EE-384A76A3C696}"/>
                </a:ext>
              </a:extLst>
            </p:cNvPr>
            <p:cNvSpPr/>
            <p:nvPr/>
          </p:nvSpPr>
          <p:spPr>
            <a:xfrm>
              <a:off x="4916760" y="2847584"/>
              <a:ext cx="1173535" cy="36029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Robert Downey Jr</a:t>
              </a:r>
              <a:endParaRPr lang="en-US" sz="1050" dirty="0"/>
            </a:p>
          </p:txBody>
        </p:sp>
        <p:sp>
          <p:nvSpPr>
            <p:cNvPr id="78" name="Shape 19">
              <a:extLst>
                <a:ext uri="{FF2B5EF4-FFF2-40B4-BE49-F238E27FC236}">
                  <a16:creationId xmlns:a16="http://schemas.microsoft.com/office/drawing/2014/main" id="{DC517CB2-E593-8E6A-28C0-AAA7E5BD7754}"/>
                </a:ext>
              </a:extLst>
            </p:cNvPr>
            <p:cNvSpPr/>
            <p:nvPr/>
          </p:nvSpPr>
          <p:spPr>
            <a:xfrm>
              <a:off x="2828371" y="3027733"/>
              <a:ext cx="234707" cy="0"/>
            </a:xfrm>
            <a:prstGeom prst="line">
              <a:avLst/>
            </a:prstGeom>
            <a:noFill/>
            <a:ln w="127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Shape 20">
              <a:extLst>
                <a:ext uri="{FF2B5EF4-FFF2-40B4-BE49-F238E27FC236}">
                  <a16:creationId xmlns:a16="http://schemas.microsoft.com/office/drawing/2014/main" id="{45124182-8F31-5367-6F32-601EDE10430D}"/>
                </a:ext>
              </a:extLst>
            </p:cNvPr>
            <p:cNvSpPr/>
            <p:nvPr/>
          </p:nvSpPr>
          <p:spPr>
            <a:xfrm>
              <a:off x="3063078" y="3234854"/>
              <a:ext cx="590121" cy="213510"/>
            </a:xfrm>
            <a:prstGeom prst="roundRect">
              <a:avLst>
                <a:gd name="adj" fmla="val 18750"/>
              </a:avLst>
            </a:prstGeom>
            <a:solidFill>
              <a:srgbClr val="EEF2FF"/>
            </a:solidFill>
            <a:ln w="1016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 21">
              <a:extLst>
                <a:ext uri="{FF2B5EF4-FFF2-40B4-BE49-F238E27FC236}">
                  <a16:creationId xmlns:a16="http://schemas.microsoft.com/office/drawing/2014/main" id="{8ECD47EE-8BD9-61E0-10F1-EEFDF00FD4AD}"/>
                </a:ext>
              </a:extLst>
            </p:cNvPr>
            <p:cNvSpPr/>
            <p:nvPr/>
          </p:nvSpPr>
          <p:spPr>
            <a:xfrm>
              <a:off x="3063078" y="3276838"/>
              <a:ext cx="590121" cy="1467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Moon '19</a:t>
              </a:r>
              <a:endParaRPr lang="en-US" sz="800" dirty="0"/>
            </a:p>
          </p:txBody>
        </p:sp>
        <p:sp>
          <p:nvSpPr>
            <p:cNvPr id="81" name="Shape 22">
              <a:extLst>
                <a:ext uri="{FF2B5EF4-FFF2-40B4-BE49-F238E27FC236}">
                  <a16:creationId xmlns:a16="http://schemas.microsoft.com/office/drawing/2014/main" id="{7E8DE912-1B31-7FEB-E11B-73FCD27D4328}"/>
                </a:ext>
              </a:extLst>
            </p:cNvPr>
            <p:cNvSpPr/>
            <p:nvPr/>
          </p:nvSpPr>
          <p:spPr>
            <a:xfrm>
              <a:off x="3706846" y="3234854"/>
              <a:ext cx="590121" cy="213510"/>
            </a:xfrm>
            <a:prstGeom prst="roundRect">
              <a:avLst>
                <a:gd name="adj" fmla="val 18750"/>
              </a:avLst>
            </a:prstGeom>
            <a:solidFill>
              <a:srgbClr val="EEF2FF"/>
            </a:solidFill>
            <a:ln w="1016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23">
              <a:extLst>
                <a:ext uri="{FF2B5EF4-FFF2-40B4-BE49-F238E27FC236}">
                  <a16:creationId xmlns:a16="http://schemas.microsoft.com/office/drawing/2014/main" id="{96FA021D-487A-8467-F10D-73CC9BA7E75D}"/>
                </a:ext>
              </a:extLst>
            </p:cNvPr>
            <p:cNvSpPr/>
            <p:nvPr/>
          </p:nvSpPr>
          <p:spPr>
            <a:xfrm>
              <a:off x="3706846" y="3268215"/>
              <a:ext cx="590121" cy="1467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Kang '23</a:t>
              </a:r>
              <a:endParaRPr lang="en-US" sz="800" dirty="0"/>
            </a:p>
          </p:txBody>
        </p:sp>
        <p:sp>
          <p:nvSpPr>
            <p:cNvPr id="83" name="Shape 24">
              <a:extLst>
                <a:ext uri="{FF2B5EF4-FFF2-40B4-BE49-F238E27FC236}">
                  <a16:creationId xmlns:a16="http://schemas.microsoft.com/office/drawing/2014/main" id="{98345744-EDAB-F5A4-EE9C-E112E4BA3486}"/>
                </a:ext>
              </a:extLst>
            </p:cNvPr>
            <p:cNvSpPr/>
            <p:nvPr/>
          </p:nvSpPr>
          <p:spPr>
            <a:xfrm>
              <a:off x="4350615" y="3234854"/>
              <a:ext cx="590121" cy="213510"/>
            </a:xfrm>
            <a:prstGeom prst="roundRect">
              <a:avLst>
                <a:gd name="adj" fmla="val 18750"/>
              </a:avLst>
            </a:prstGeom>
            <a:solidFill>
              <a:srgbClr val="EEF2FF"/>
            </a:solidFill>
            <a:ln w="1016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 25">
              <a:extLst>
                <a:ext uri="{FF2B5EF4-FFF2-40B4-BE49-F238E27FC236}">
                  <a16:creationId xmlns:a16="http://schemas.microsoft.com/office/drawing/2014/main" id="{B7240766-7B8C-C15C-8616-53D8713395C1}"/>
                </a:ext>
              </a:extLst>
            </p:cNvPr>
            <p:cNvSpPr/>
            <p:nvPr/>
          </p:nvSpPr>
          <p:spPr>
            <a:xfrm>
              <a:off x="4350615" y="3268215"/>
              <a:ext cx="590121" cy="1467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Park '24</a:t>
              </a:r>
              <a:endParaRPr lang="en-US" sz="800" dirty="0"/>
            </a:p>
          </p:txBody>
        </p:sp>
        <p:sp>
          <p:nvSpPr>
            <p:cNvPr id="85" name="Shape 26">
              <a:extLst>
                <a:ext uri="{FF2B5EF4-FFF2-40B4-BE49-F238E27FC236}">
                  <a16:creationId xmlns:a16="http://schemas.microsoft.com/office/drawing/2014/main" id="{AA5695CB-8BD9-DF29-2B71-CCF1671F07E9}"/>
                </a:ext>
              </a:extLst>
            </p:cNvPr>
            <p:cNvSpPr/>
            <p:nvPr/>
          </p:nvSpPr>
          <p:spPr>
            <a:xfrm>
              <a:off x="4994383" y="3234854"/>
              <a:ext cx="590121" cy="213510"/>
            </a:xfrm>
            <a:prstGeom prst="roundRect">
              <a:avLst>
                <a:gd name="adj" fmla="val 18750"/>
              </a:avLst>
            </a:prstGeom>
            <a:solidFill>
              <a:srgbClr val="EEF2FF"/>
            </a:solidFill>
            <a:ln w="1016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 27">
              <a:extLst>
                <a:ext uri="{FF2B5EF4-FFF2-40B4-BE49-F238E27FC236}">
                  <a16:creationId xmlns:a16="http://schemas.microsoft.com/office/drawing/2014/main" id="{CB0BB3DC-1C6B-101C-58B0-2AC82F1B9F61}"/>
                </a:ext>
              </a:extLst>
            </p:cNvPr>
            <p:cNvSpPr/>
            <p:nvPr/>
          </p:nvSpPr>
          <p:spPr>
            <a:xfrm>
              <a:off x="4994383" y="3268215"/>
              <a:ext cx="590121" cy="1467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Wang '22</a:t>
              </a:r>
              <a:endParaRPr lang="en-US" sz="800" dirty="0"/>
            </a:p>
          </p:txBody>
        </p:sp>
        <p:sp>
          <p:nvSpPr>
            <p:cNvPr id="87" name="Shape 28">
              <a:extLst>
                <a:ext uri="{FF2B5EF4-FFF2-40B4-BE49-F238E27FC236}">
                  <a16:creationId xmlns:a16="http://schemas.microsoft.com/office/drawing/2014/main" id="{8723D8A7-1F9C-9D23-C2C6-407379C5C8BE}"/>
                </a:ext>
              </a:extLst>
            </p:cNvPr>
            <p:cNvSpPr/>
            <p:nvPr/>
          </p:nvSpPr>
          <p:spPr>
            <a:xfrm>
              <a:off x="5638151" y="3234854"/>
              <a:ext cx="590121" cy="213510"/>
            </a:xfrm>
            <a:prstGeom prst="roundRect">
              <a:avLst>
                <a:gd name="adj" fmla="val 18750"/>
              </a:avLst>
            </a:prstGeom>
            <a:solidFill>
              <a:srgbClr val="EEF2FF"/>
            </a:solidFill>
            <a:ln w="1016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 29">
              <a:extLst>
                <a:ext uri="{FF2B5EF4-FFF2-40B4-BE49-F238E27FC236}">
                  <a16:creationId xmlns:a16="http://schemas.microsoft.com/office/drawing/2014/main" id="{4FD61C20-176E-2604-5411-AF549B34DEE4}"/>
                </a:ext>
              </a:extLst>
            </p:cNvPr>
            <p:cNvSpPr/>
            <p:nvPr/>
          </p:nvSpPr>
          <p:spPr>
            <a:xfrm>
              <a:off x="5638151" y="3268215"/>
              <a:ext cx="590121" cy="1467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Tuan '22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FC8A37D1-554B-674A-CEBF-F61D97A2A1E8}"/>
              </a:ext>
            </a:extLst>
          </p:cNvPr>
          <p:cNvGrpSpPr/>
          <p:nvPr/>
        </p:nvGrpSpPr>
        <p:grpSpPr>
          <a:xfrm>
            <a:off x="201168" y="256032"/>
            <a:ext cx="11823192" cy="6483096"/>
            <a:chOff x="201168" y="256032"/>
            <a:chExt cx="11823192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5486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 WE ASKED</a:t>
              </a:r>
              <a:endParaRPr lang="en-US" sz="850" dirty="0"/>
            </a:p>
          </p:txBody>
        </p:sp>
        <p:pic>
          <p:nvPicPr>
            <p:cNvPr id="3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06876" y="6459808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Arpinar · SIGDIAL 2026</a:t>
              </a:r>
              <a:endParaRPr lang="en-US" sz="16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11384280" y="6528816"/>
              <a:ext cx="6400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 / 18</a:t>
              </a:r>
              <a:endParaRPr lang="en-US" sz="9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02920" y="402336"/>
              <a:ext cx="11155680" cy="10789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Do models actually use the relation,</a:t>
              </a:r>
              <a:endParaRPr lang="en-US" sz="30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or just the entities?</a:t>
              </a:r>
              <a:endParaRPr lang="en-US" sz="30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502920" y="1645920"/>
              <a:ext cx="53035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8000"/>
                </a:lnSpc>
                <a:buNone/>
              </a:pPr>
              <a:r>
                <a:rPr lang="en-US" sz="16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These systems produced good results.</a:t>
              </a:r>
              <a:endParaRPr lang="en-US" sz="1600" dirty="0"/>
            </a:p>
            <a:p>
              <a:pPr marL="0" indent="0">
                <a:lnSpc>
                  <a:spcPct val="138000"/>
                </a:lnSpc>
                <a:buNone/>
              </a:pPr>
              <a:r>
                <a:rPr lang="en-US" sz="16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Researchers assumed KG grounding helped.</a:t>
              </a:r>
              <a:endParaRPr lang="en-US" sz="16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502920" y="2523744"/>
              <a:ext cx="36576" cy="1371600"/>
            </a:xfrm>
            <a:prstGeom prst="rect">
              <a:avLst/>
            </a:prstGeom>
            <a:solidFill>
              <a:srgbClr val="1B2A5E"/>
            </a:solidFill>
            <a:ln w="12700">
              <a:solidFill>
                <a:srgbClr val="1B2A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685800" y="2523744"/>
              <a:ext cx="5120640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42000"/>
                </a:lnSpc>
                <a:buNone/>
              </a:pPr>
              <a:r>
                <a:rPr lang="en-US" sz="1600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But when a model generates a response, you cannot tell from the output alone whether it used the relation label, or whether it already knew the answer from training.</a:t>
              </a:r>
              <a:endParaRPr lang="en-US" sz="16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502920" y="4069080"/>
              <a:ext cx="5303520" cy="676656"/>
            </a:xfrm>
            <a:prstGeom prst="roundRect">
              <a:avLst>
                <a:gd name="adj" fmla="val 13514"/>
              </a:avLst>
            </a:prstGeom>
            <a:solidFill>
              <a:srgbClr val="F1F5F9"/>
            </a:solidFill>
            <a:ln w="1524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8"/>
            <p:cNvSpPr/>
            <p:nvPr/>
          </p:nvSpPr>
          <p:spPr>
            <a:xfrm>
              <a:off x="502920" y="4069080"/>
              <a:ext cx="54864" cy="676656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704088" y="4123944"/>
              <a:ext cx="5029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If the relation drove the response</a:t>
              </a:r>
              <a:endParaRPr lang="en-US" sz="14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704088" y="4398264"/>
              <a:ext cx="5029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removing or corrupting it should change the output</a:t>
              </a:r>
              <a:endPara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" name="Shape 11"/>
            <p:cNvSpPr/>
            <p:nvPr/>
          </p:nvSpPr>
          <p:spPr>
            <a:xfrm>
              <a:off x="502920" y="4855464"/>
              <a:ext cx="5303520" cy="676656"/>
            </a:xfrm>
            <a:prstGeom prst="roundRect">
              <a:avLst>
                <a:gd name="adj" fmla="val 13514"/>
              </a:avLst>
            </a:prstGeom>
            <a:solidFill>
              <a:srgbClr val="F1F5F9"/>
            </a:solidFill>
            <a:ln w="15240">
              <a:solidFill>
                <a:srgbClr val="BE12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2"/>
            <p:cNvSpPr/>
            <p:nvPr/>
          </p:nvSpPr>
          <p:spPr>
            <a:xfrm>
              <a:off x="502920" y="4855464"/>
              <a:ext cx="54864" cy="676656"/>
            </a:xfrm>
            <a:prstGeom prst="rect">
              <a:avLst/>
            </a:prstGeom>
            <a:solidFill>
              <a:srgbClr val="BE123C"/>
            </a:solidFill>
            <a:ln w="12700">
              <a:solidFill>
                <a:srgbClr val="BE12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/>
            <p:cNvSpPr/>
            <p:nvPr/>
          </p:nvSpPr>
          <p:spPr>
            <a:xfrm>
              <a:off x="704088" y="4910328"/>
              <a:ext cx="5029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BE12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If the entity dominated</a:t>
              </a:r>
              <a:endParaRPr lang="en-US" sz="14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704088" y="5184648"/>
              <a:ext cx="5029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output looks the same regardless of the relation</a:t>
              </a:r>
              <a:endPara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8" name="Text 15"/>
            <p:cNvSpPr/>
            <p:nvPr/>
          </p:nvSpPr>
          <p:spPr>
            <a:xfrm>
              <a:off x="502920" y="5715000"/>
              <a:ext cx="530352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Nobody had directly tested which one it is.</a:t>
              </a:r>
              <a:endParaRPr lang="en-US" sz="1200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728AFF3-666F-46E2-ABEE-0339B649935B}"/>
                </a:ext>
              </a:extLst>
            </p:cNvPr>
            <p:cNvGrpSpPr/>
            <p:nvPr/>
          </p:nvGrpSpPr>
          <p:grpSpPr>
            <a:xfrm>
              <a:off x="6935638" y="1645919"/>
              <a:ext cx="4224873" cy="4223559"/>
              <a:chOff x="6935638" y="1645919"/>
              <a:chExt cx="4224873" cy="4223559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9" name="Shape 16"/>
              <p:cNvSpPr/>
              <p:nvPr/>
            </p:nvSpPr>
            <p:spPr>
              <a:xfrm>
                <a:off x="6935638" y="1645919"/>
                <a:ext cx="4224873" cy="1320783"/>
              </a:xfrm>
              <a:prstGeom prst="roundRect">
                <a:avLst>
                  <a:gd name="adj" fmla="val 8571"/>
                </a:avLst>
              </a:prstGeom>
              <a:solidFill>
                <a:srgbClr val="F1F5F9"/>
              </a:solidFill>
              <a:ln w="1905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 17"/>
              <p:cNvSpPr/>
              <p:nvPr/>
            </p:nvSpPr>
            <p:spPr>
              <a:xfrm>
                <a:off x="7095892" y="1740261"/>
                <a:ext cx="3904365" cy="26415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00" b="1" kern="0" spc="150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Original KG triple</a:t>
                </a:r>
                <a:endParaRPr lang="en-US" sz="1000" dirty="0"/>
              </a:p>
            </p:txBody>
          </p:sp>
          <p:sp>
            <p:nvSpPr>
              <p:cNvPr id="21" name="Text 18"/>
              <p:cNvSpPr/>
              <p:nvPr/>
            </p:nvSpPr>
            <p:spPr>
              <a:xfrm>
                <a:off x="7095892" y="2079890"/>
                <a:ext cx="3904365" cy="6792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rgbClr val="1B2A5E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( Iron Man, starred_actor, Robert Downey Jr. )</a:t>
                </a:r>
                <a:endParaRPr lang="en-US" sz="1600" dirty="0"/>
              </a:p>
            </p:txBody>
          </p:sp>
          <p:sp>
            <p:nvSpPr>
              <p:cNvPr id="22" name="Shape 19"/>
              <p:cNvSpPr/>
              <p:nvPr/>
            </p:nvSpPr>
            <p:spPr>
              <a:xfrm>
                <a:off x="9048075" y="2966702"/>
                <a:ext cx="0" cy="301893"/>
              </a:xfrm>
              <a:prstGeom prst="line">
                <a:avLst/>
              </a:prstGeom>
              <a:noFill/>
              <a:ln w="15240">
                <a:solidFill>
                  <a:srgbClr val="94A3B8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 20"/>
              <p:cNvSpPr/>
              <p:nvPr/>
            </p:nvSpPr>
            <p:spPr>
              <a:xfrm>
                <a:off x="6935638" y="2985570"/>
                <a:ext cx="4224873" cy="2264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50" i="1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LLM generates</a:t>
                </a:r>
                <a:endParaRPr lang="en-US" sz="950" dirty="0"/>
              </a:p>
            </p:txBody>
          </p:sp>
          <p:sp>
            <p:nvSpPr>
              <p:cNvPr id="24" name="Shape 21"/>
              <p:cNvSpPr/>
              <p:nvPr/>
            </p:nvSpPr>
            <p:spPr>
              <a:xfrm>
                <a:off x="6935638" y="3325200"/>
                <a:ext cx="4224873" cy="943416"/>
              </a:xfrm>
              <a:prstGeom prst="roundRect">
                <a:avLst>
                  <a:gd name="adj" fmla="val 10000"/>
                </a:avLst>
              </a:prstGeom>
              <a:solidFill>
                <a:srgbClr val="EEF2FF"/>
              </a:solidFill>
              <a:ln w="10160">
                <a:solidFill>
                  <a:srgbClr val="94A3B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 22"/>
              <p:cNvSpPr/>
              <p:nvPr/>
            </p:nvSpPr>
            <p:spPr>
              <a:xfrm>
                <a:off x="7095892" y="3438410"/>
                <a:ext cx="3904365" cy="7169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i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"Robert Downey Jr. starred in Iron Man, the 2008 Marvel superhero film…"</a:t>
                </a:r>
                <a:endParaRPr lang="en-US" sz="1600" dirty="0"/>
              </a:p>
            </p:txBody>
          </p:sp>
          <p:sp>
            <p:nvSpPr>
              <p:cNvPr id="26" name="Shape 23"/>
              <p:cNvSpPr/>
              <p:nvPr/>
            </p:nvSpPr>
            <p:spPr>
              <a:xfrm>
                <a:off x="6935638" y="4428997"/>
                <a:ext cx="4224873" cy="1440481"/>
              </a:xfrm>
              <a:prstGeom prst="roundRect">
                <a:avLst>
                  <a:gd name="adj" fmla="val 8276"/>
                </a:avLst>
              </a:prstGeom>
              <a:solidFill>
                <a:srgbClr val="0F1A2E"/>
              </a:solidFill>
              <a:ln w="25400">
                <a:solidFill>
                  <a:srgbClr val="4C1D9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 24"/>
              <p:cNvSpPr/>
              <p:nvPr/>
            </p:nvSpPr>
            <p:spPr>
              <a:xfrm>
                <a:off x="7095892" y="4532772"/>
                <a:ext cx="3904365" cy="37736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❓  Did it use starred_actor?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Text 25"/>
              <p:cNvSpPr/>
              <p:nvPr/>
            </p:nvSpPr>
            <p:spPr>
              <a:xfrm>
                <a:off x="7095892" y="4947875"/>
                <a:ext cx="3904365" cy="73586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400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Or did it already know Robert Downey Jr. starred in Iron Man from pretraining ,making the relation label irrelevant?</a:t>
                </a:r>
                <a:endParaRPr lang="en-US" sz="1400" dirty="0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EAD80AF5-D255-B191-5BC0-7CE54CCC7B2A}"/>
              </a:ext>
            </a:extLst>
          </p:cNvPr>
          <p:cNvGrpSpPr/>
          <p:nvPr/>
        </p:nvGrpSpPr>
        <p:grpSpPr>
          <a:xfrm>
            <a:off x="201168" y="256032"/>
            <a:ext cx="11457432" cy="6483096"/>
            <a:chOff x="201168" y="256032"/>
            <a:chExt cx="11457432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5486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METHOD — THREE CONDITIONS</a:t>
              </a:r>
              <a:endParaRPr lang="en-US" sz="850" dirty="0"/>
            </a:p>
          </p:txBody>
        </p:sp>
        <p:pic>
          <p:nvPicPr>
            <p:cNvPr id="3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24128" y="6468434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Arpinar · SIGDIAL 2026</a:t>
              </a:r>
              <a:endParaRPr lang="en-US" sz="1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02920" y="457200"/>
              <a:ext cx="1115568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Our idea: hold everything constant.</a:t>
              </a:r>
              <a:endParaRPr lang="en-US" sz="30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Change only the relation.</a:t>
              </a:r>
              <a:endParaRPr lang="en-US" sz="30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502920" y="1481328"/>
              <a:ext cx="111556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5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Any change in response is caused by the relation, nothing else.</a:t>
              </a:r>
              <a:endParaRPr lang="en-US" sz="1550" dirty="0">
                <a:solidFill>
                  <a:srgbClr val="94A3B8"/>
                </a:solidFill>
              </a:endParaRP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D2DDD05-6BA6-9E01-A8DA-4F87F9840C49}"/>
                </a:ext>
              </a:extLst>
            </p:cNvPr>
            <p:cNvGrpSpPr/>
            <p:nvPr/>
          </p:nvGrpSpPr>
          <p:grpSpPr>
            <a:xfrm>
              <a:off x="548993" y="1938528"/>
              <a:ext cx="8068795" cy="2834640"/>
              <a:chOff x="548994" y="1938528"/>
              <a:chExt cx="7948550" cy="2834640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8" name="Shape 5"/>
              <p:cNvSpPr/>
              <p:nvPr/>
            </p:nvSpPr>
            <p:spPr>
              <a:xfrm>
                <a:off x="548994" y="1938528"/>
                <a:ext cx="2402569" cy="2834640"/>
              </a:xfrm>
              <a:prstGeom prst="roundRect">
                <a:avLst>
                  <a:gd name="adj" fmla="val 4516"/>
                </a:avLst>
              </a:prstGeom>
              <a:solidFill>
                <a:srgbClr val="F1F5F9"/>
              </a:solidFill>
              <a:ln w="1905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Shape 6"/>
              <p:cNvSpPr/>
              <p:nvPr/>
            </p:nvSpPr>
            <p:spPr>
              <a:xfrm>
                <a:off x="631796" y="2103120"/>
                <a:ext cx="400948" cy="347472"/>
              </a:xfrm>
              <a:prstGeom prst="roundRect">
                <a:avLst>
                  <a:gd name="adj" fmla="val 18421"/>
                </a:avLst>
              </a:prstGeom>
              <a:solidFill>
                <a:srgbClr val="059669"/>
              </a:solidFill>
              <a:ln w="1270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 7"/>
              <p:cNvSpPr/>
              <p:nvPr/>
            </p:nvSpPr>
            <p:spPr>
              <a:xfrm>
                <a:off x="594703" y="2112264"/>
                <a:ext cx="463930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C1</a:t>
                </a:r>
                <a:endParaRPr lang="en-US" sz="2000" dirty="0"/>
              </a:p>
            </p:txBody>
          </p:sp>
          <p:sp>
            <p:nvSpPr>
              <p:cNvPr id="11" name="Text 8"/>
              <p:cNvSpPr/>
              <p:nvPr/>
            </p:nvSpPr>
            <p:spPr>
              <a:xfrm>
                <a:off x="1104341" y="2139696"/>
                <a:ext cx="1847223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Intact</a:t>
                </a:r>
                <a:endParaRPr lang="en-US" sz="2000" dirty="0"/>
              </a:p>
            </p:txBody>
          </p:sp>
          <p:sp>
            <p:nvSpPr>
              <p:cNvPr id="12" name="Text 9"/>
              <p:cNvSpPr/>
              <p:nvPr/>
            </p:nvSpPr>
            <p:spPr>
              <a:xfrm>
                <a:off x="660435" y="2633472"/>
                <a:ext cx="2262490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Iron Man</a:t>
                </a:r>
                <a:endParaRPr lang="en-US" sz="1600" dirty="0"/>
              </a:p>
            </p:txBody>
          </p:sp>
          <p:sp>
            <p:nvSpPr>
              <p:cNvPr id="13" name="Shape 10"/>
              <p:cNvSpPr/>
              <p:nvPr/>
            </p:nvSpPr>
            <p:spPr>
              <a:xfrm>
                <a:off x="717713" y="3054096"/>
                <a:ext cx="2147934" cy="0"/>
              </a:xfrm>
              <a:prstGeom prst="line">
                <a:avLst/>
              </a:prstGeom>
              <a:noFill/>
              <a:ln w="1016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 11"/>
              <p:cNvSpPr/>
              <p:nvPr/>
            </p:nvSpPr>
            <p:spPr>
              <a:xfrm>
                <a:off x="660435" y="3090672"/>
                <a:ext cx="2262490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starred_actors</a:t>
                </a:r>
                <a:endParaRPr lang="en-US" sz="1600" dirty="0"/>
              </a:p>
            </p:txBody>
          </p:sp>
          <p:sp>
            <p:nvSpPr>
              <p:cNvPr id="15" name="Shape 12"/>
              <p:cNvSpPr/>
              <p:nvPr/>
            </p:nvSpPr>
            <p:spPr>
              <a:xfrm>
                <a:off x="717713" y="3474720"/>
                <a:ext cx="2147934" cy="0"/>
              </a:xfrm>
              <a:prstGeom prst="line">
                <a:avLst/>
              </a:prstGeom>
              <a:noFill/>
              <a:ln w="1016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 13"/>
              <p:cNvSpPr/>
              <p:nvPr/>
            </p:nvSpPr>
            <p:spPr>
              <a:xfrm>
                <a:off x="660435" y="3529584"/>
                <a:ext cx="2262490" cy="32918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Robert Downey Jr.</a:t>
                </a:r>
                <a:endParaRPr lang="en-US" sz="1600" dirty="0"/>
              </a:p>
            </p:txBody>
          </p:sp>
          <p:sp>
            <p:nvSpPr>
              <p:cNvPr id="17" name="Text 14"/>
              <p:cNvSpPr/>
              <p:nvPr/>
            </p:nvSpPr>
            <p:spPr>
              <a:xfrm>
                <a:off x="660435" y="4041648"/>
                <a:ext cx="2262490" cy="53035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sz="1200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Correct relation · Full KG triple</a:t>
                </a:r>
                <a:endParaRPr lang="en-US" sz="1200" dirty="0"/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D36820CC-F3FF-51C8-F462-E5C94070D788}"/>
                  </a:ext>
                </a:extLst>
              </p:cNvPr>
              <p:cNvGrpSpPr/>
              <p:nvPr/>
            </p:nvGrpSpPr>
            <p:grpSpPr>
              <a:xfrm>
                <a:off x="3323365" y="1938528"/>
                <a:ext cx="2422756" cy="2834640"/>
                <a:chOff x="3478638" y="1938528"/>
                <a:chExt cx="2422756" cy="2834640"/>
              </a:xfrm>
            </p:grpSpPr>
            <p:sp>
              <p:nvSpPr>
                <p:cNvPr id="18" name="Shape 15"/>
                <p:cNvSpPr/>
                <p:nvPr/>
              </p:nvSpPr>
              <p:spPr>
                <a:xfrm>
                  <a:off x="3478638" y="1938528"/>
                  <a:ext cx="2422756" cy="2834640"/>
                </a:xfrm>
                <a:prstGeom prst="roundRect">
                  <a:avLst>
                    <a:gd name="adj" fmla="val 4516"/>
                  </a:avLst>
                </a:prstGeom>
                <a:solidFill>
                  <a:srgbClr val="F1F5F9"/>
                </a:solidFill>
                <a:ln w="19050">
                  <a:solidFill>
                    <a:srgbClr val="B4530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Shape 16"/>
                <p:cNvSpPr/>
                <p:nvPr/>
              </p:nvSpPr>
              <p:spPr>
                <a:xfrm>
                  <a:off x="3581625" y="2103120"/>
                  <a:ext cx="400948" cy="347472"/>
                </a:xfrm>
                <a:prstGeom prst="roundRect">
                  <a:avLst>
                    <a:gd name="adj" fmla="val 18421"/>
                  </a:avLst>
                </a:prstGeom>
                <a:solidFill>
                  <a:srgbClr val="B45309"/>
                </a:solidFill>
                <a:ln w="12700">
                  <a:solidFill>
                    <a:srgbClr val="B4530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Text 17"/>
                <p:cNvSpPr/>
                <p:nvPr/>
              </p:nvSpPr>
              <p:spPr>
                <a:xfrm>
                  <a:off x="3519578" y="2112264"/>
                  <a:ext cx="534592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C2</a:t>
                  </a:r>
                  <a:endParaRPr lang="en-US" sz="2000" dirty="0"/>
                </a:p>
              </p:txBody>
            </p:sp>
            <p:sp>
              <p:nvSpPr>
                <p:cNvPr id="21" name="Text 18"/>
                <p:cNvSpPr/>
                <p:nvPr/>
              </p:nvSpPr>
              <p:spPr>
                <a:xfrm>
                  <a:off x="4054170" y="2139696"/>
                  <a:ext cx="1847223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000" b="1" dirty="0">
                      <a:solidFill>
                        <a:srgbClr val="B45309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Shuffled</a:t>
                  </a:r>
                  <a:endParaRPr lang="en-US" sz="2000" dirty="0"/>
                </a:p>
              </p:txBody>
            </p:sp>
            <p:sp>
              <p:nvSpPr>
                <p:cNvPr id="22" name="Text 19"/>
                <p:cNvSpPr/>
                <p:nvPr/>
              </p:nvSpPr>
              <p:spPr>
                <a:xfrm>
                  <a:off x="3610264" y="2633472"/>
                  <a:ext cx="2262490" cy="34747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b="1" dirty="0">
                      <a:solidFill>
                        <a:srgbClr val="1B2A5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Iron Man</a:t>
                  </a:r>
                  <a:endParaRPr lang="en-US" sz="1600" dirty="0"/>
                </a:p>
              </p:txBody>
            </p:sp>
            <p:sp>
              <p:nvSpPr>
                <p:cNvPr id="23" name="Shape 20"/>
                <p:cNvSpPr/>
                <p:nvPr/>
              </p:nvSpPr>
              <p:spPr>
                <a:xfrm>
                  <a:off x="3667542" y="3054096"/>
                  <a:ext cx="2147934" cy="0"/>
                </a:xfrm>
                <a:prstGeom prst="line">
                  <a:avLst/>
                </a:prstGeom>
                <a:noFill/>
                <a:ln w="10160">
                  <a:solidFill>
                    <a:srgbClr val="B4530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Text 21"/>
                <p:cNvSpPr/>
                <p:nvPr/>
              </p:nvSpPr>
              <p:spPr>
                <a:xfrm>
                  <a:off x="3610264" y="3090672"/>
                  <a:ext cx="2262490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b="1" dirty="0">
                      <a:solidFill>
                        <a:srgbClr val="B45309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written_by</a:t>
                  </a:r>
                  <a:endParaRPr lang="en-US" sz="1600" dirty="0"/>
                </a:p>
              </p:txBody>
            </p:sp>
            <p:sp>
              <p:nvSpPr>
                <p:cNvPr id="25" name="Shape 22"/>
                <p:cNvSpPr/>
                <p:nvPr/>
              </p:nvSpPr>
              <p:spPr>
                <a:xfrm>
                  <a:off x="3667542" y="3474720"/>
                  <a:ext cx="2147934" cy="0"/>
                </a:xfrm>
                <a:prstGeom prst="line">
                  <a:avLst/>
                </a:prstGeom>
                <a:noFill/>
                <a:ln w="10160">
                  <a:solidFill>
                    <a:srgbClr val="B4530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Text 23"/>
                <p:cNvSpPr/>
                <p:nvPr/>
              </p:nvSpPr>
              <p:spPr>
                <a:xfrm>
                  <a:off x="3610264" y="3529584"/>
                  <a:ext cx="2262490" cy="32918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b="1" dirty="0">
                      <a:solidFill>
                        <a:srgbClr val="1B2A5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Robert Downey Jr.</a:t>
                  </a:r>
                  <a:endParaRPr lang="en-US" sz="1600" dirty="0"/>
                </a:p>
              </p:txBody>
            </p:sp>
            <p:sp>
              <p:nvSpPr>
                <p:cNvPr id="27" name="Text 24"/>
                <p:cNvSpPr/>
                <p:nvPr/>
              </p:nvSpPr>
              <p:spPr>
                <a:xfrm>
                  <a:off x="3610264" y="4041648"/>
                  <a:ext cx="2262490" cy="53035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lnSpc>
                      <a:spcPct val="125000"/>
                    </a:lnSpc>
                    <a:buNone/>
                  </a:pPr>
                  <a:r>
                    <a:rPr lang="en-US" sz="1200" dirty="0">
                      <a:solidFill>
                        <a:srgbClr val="94A3B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Same entities · Corrupted relation</a:t>
                  </a:r>
                  <a:endParaRPr lang="en-US" sz="1200" dirty="0"/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DAF1BA63-13E7-7C95-5210-A91029AE429A}"/>
                  </a:ext>
                </a:extLst>
              </p:cNvPr>
              <p:cNvGrpSpPr/>
              <p:nvPr/>
            </p:nvGrpSpPr>
            <p:grpSpPr>
              <a:xfrm>
                <a:off x="6108766" y="1938528"/>
                <a:ext cx="2388778" cy="2834640"/>
                <a:chOff x="6462444" y="1938528"/>
                <a:chExt cx="2388778" cy="2834640"/>
              </a:xfrm>
            </p:grpSpPr>
            <p:sp>
              <p:nvSpPr>
                <p:cNvPr id="28" name="Shape 25"/>
                <p:cNvSpPr/>
                <p:nvPr/>
              </p:nvSpPr>
              <p:spPr>
                <a:xfrm>
                  <a:off x="6462444" y="1938528"/>
                  <a:ext cx="2388778" cy="2834640"/>
                </a:xfrm>
                <a:prstGeom prst="roundRect">
                  <a:avLst>
                    <a:gd name="adj" fmla="val 4516"/>
                  </a:avLst>
                </a:prstGeom>
                <a:solidFill>
                  <a:srgbClr val="F1F5F9"/>
                </a:solidFill>
                <a:ln w="19050">
                  <a:solidFill>
                    <a:srgbClr val="94A3B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Shape 26"/>
                <p:cNvSpPr/>
                <p:nvPr/>
              </p:nvSpPr>
              <p:spPr>
                <a:xfrm>
                  <a:off x="6531454" y="2103120"/>
                  <a:ext cx="400948" cy="347472"/>
                </a:xfrm>
                <a:prstGeom prst="roundRect">
                  <a:avLst>
                    <a:gd name="adj" fmla="val 18421"/>
                  </a:avLst>
                </a:prstGeom>
                <a:solidFill>
                  <a:srgbClr val="94A3B8"/>
                </a:solidFill>
                <a:ln w="12700">
                  <a:solidFill>
                    <a:srgbClr val="94A3B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Text 27"/>
                <p:cNvSpPr/>
                <p:nvPr/>
              </p:nvSpPr>
              <p:spPr>
                <a:xfrm>
                  <a:off x="6496949" y="2112264"/>
                  <a:ext cx="472545" cy="32918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C3</a:t>
                  </a:r>
                  <a:endParaRPr lang="en-US" sz="2000" dirty="0"/>
                </a:p>
              </p:txBody>
            </p:sp>
            <p:sp>
              <p:nvSpPr>
                <p:cNvPr id="31" name="Text 28"/>
                <p:cNvSpPr/>
                <p:nvPr/>
              </p:nvSpPr>
              <p:spPr>
                <a:xfrm>
                  <a:off x="7003999" y="2139696"/>
                  <a:ext cx="1847223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000" b="1" dirty="0">
                      <a:solidFill>
                        <a:srgbClr val="94A3B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Entities Only</a:t>
                  </a:r>
                  <a:endParaRPr lang="en-US" sz="2000" dirty="0"/>
                </a:p>
              </p:txBody>
            </p:sp>
            <p:sp>
              <p:nvSpPr>
                <p:cNvPr id="32" name="Text 29"/>
                <p:cNvSpPr/>
                <p:nvPr/>
              </p:nvSpPr>
              <p:spPr>
                <a:xfrm>
                  <a:off x="6560093" y="2633472"/>
                  <a:ext cx="2262490" cy="34747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b="1" dirty="0">
                      <a:solidFill>
                        <a:srgbClr val="1B2A5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Iron Man</a:t>
                  </a:r>
                  <a:endParaRPr lang="en-US" sz="1600" dirty="0"/>
                </a:p>
              </p:txBody>
            </p:sp>
            <p:sp>
              <p:nvSpPr>
                <p:cNvPr id="33" name="Shape 30"/>
                <p:cNvSpPr/>
                <p:nvPr/>
              </p:nvSpPr>
              <p:spPr>
                <a:xfrm>
                  <a:off x="6617371" y="3054096"/>
                  <a:ext cx="2147934" cy="0"/>
                </a:xfrm>
                <a:prstGeom prst="line">
                  <a:avLst/>
                </a:prstGeom>
                <a:noFill/>
                <a:ln w="10160">
                  <a:solidFill>
                    <a:srgbClr val="47556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" name="Text 31"/>
                <p:cNvSpPr/>
                <p:nvPr/>
              </p:nvSpPr>
              <p:spPr>
                <a:xfrm>
                  <a:off x="6560093" y="3090672"/>
                  <a:ext cx="2262490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b="1" dirty="0">
                      <a:solidFill>
                        <a:srgbClr val="475569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—</a:t>
                  </a:r>
                  <a:endParaRPr lang="en-US" sz="1600" dirty="0"/>
                </a:p>
              </p:txBody>
            </p:sp>
            <p:sp>
              <p:nvSpPr>
                <p:cNvPr id="35" name="Shape 32"/>
                <p:cNvSpPr/>
                <p:nvPr/>
              </p:nvSpPr>
              <p:spPr>
                <a:xfrm>
                  <a:off x="6617371" y="3474720"/>
                  <a:ext cx="2147934" cy="0"/>
                </a:xfrm>
                <a:prstGeom prst="line">
                  <a:avLst/>
                </a:prstGeom>
                <a:noFill/>
                <a:ln w="10160">
                  <a:solidFill>
                    <a:srgbClr val="47556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Text 33"/>
                <p:cNvSpPr/>
                <p:nvPr/>
              </p:nvSpPr>
              <p:spPr>
                <a:xfrm>
                  <a:off x="6560093" y="3529584"/>
                  <a:ext cx="2262490" cy="32918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b="1" dirty="0">
                      <a:solidFill>
                        <a:srgbClr val="1B2A5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Robert Downey Jr.</a:t>
                  </a:r>
                  <a:endParaRPr lang="en-US" sz="1600" dirty="0"/>
                </a:p>
              </p:txBody>
            </p:sp>
            <p:sp>
              <p:nvSpPr>
                <p:cNvPr id="37" name="Text 34"/>
                <p:cNvSpPr/>
                <p:nvPr/>
              </p:nvSpPr>
              <p:spPr>
                <a:xfrm>
                  <a:off x="6560093" y="4041648"/>
                  <a:ext cx="2262490" cy="53035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lnSpc>
                      <a:spcPct val="125000"/>
                    </a:lnSpc>
                    <a:buNone/>
                  </a:pPr>
                  <a:r>
                    <a:rPr lang="en-US" sz="1200" dirty="0">
                      <a:solidFill>
                        <a:srgbClr val="94A3B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No relation · Entity baseline</a:t>
                  </a:r>
                  <a:endParaRPr lang="en-US" sz="1200" dirty="0"/>
                </a:p>
              </p:txBody>
            </p:sp>
          </p:grp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EB36E56-9B71-EE0C-F83A-A3D0C6B53991}"/>
                </a:ext>
              </a:extLst>
            </p:cNvPr>
            <p:cNvGrpSpPr/>
            <p:nvPr/>
          </p:nvGrpSpPr>
          <p:grpSpPr>
            <a:xfrm>
              <a:off x="502920" y="5074400"/>
              <a:ext cx="4534910" cy="1026541"/>
              <a:chOff x="502920" y="4996766"/>
              <a:chExt cx="4534910" cy="1026541"/>
            </a:xfrm>
          </p:grpSpPr>
          <p:sp>
            <p:nvSpPr>
              <p:cNvPr id="38" name="Shape 35"/>
              <p:cNvSpPr/>
              <p:nvPr/>
            </p:nvSpPr>
            <p:spPr>
              <a:xfrm>
                <a:off x="502920" y="4996766"/>
                <a:ext cx="4534910" cy="989965"/>
              </a:xfrm>
              <a:prstGeom prst="roundRect">
                <a:avLst>
                  <a:gd name="adj" fmla="val 9524"/>
                </a:avLst>
              </a:prstGeom>
              <a:solidFill>
                <a:srgbClr val="E2E8F0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 36"/>
              <p:cNvSpPr/>
              <p:nvPr/>
            </p:nvSpPr>
            <p:spPr>
              <a:xfrm>
                <a:off x="567622" y="5047488"/>
                <a:ext cx="4297680" cy="3108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If model uses the relation → C1 and C2 responses diverge.</a:t>
                </a:r>
                <a:endParaRPr lang="en-US" sz="1200" dirty="0"/>
              </a:p>
            </p:txBody>
          </p:sp>
          <p:sp>
            <p:nvSpPr>
              <p:cNvPr id="40" name="Text 37"/>
              <p:cNvSpPr/>
              <p:nvPr/>
            </p:nvSpPr>
            <p:spPr>
              <a:xfrm>
                <a:off x="567622" y="5377708"/>
                <a:ext cx="4470208" cy="28709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chemeClr val="accent2">
                        <a:lumMod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If model ignores the relation → C1 and C2 responses look identical.</a:t>
                </a:r>
                <a:endParaRPr lang="en-US" sz="12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1" name="Text 38"/>
              <p:cNvSpPr/>
              <p:nvPr/>
            </p:nvSpPr>
            <p:spPr>
              <a:xfrm>
                <a:off x="562463" y="5581983"/>
                <a:ext cx="4302839" cy="44132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200" i="1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C3 = ceiling: what "no relation" looks like — maximum disruption.</a:t>
                </a:r>
                <a:endParaRPr lang="en-US" sz="1200" dirty="0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94A15265-B5D5-DC2E-09C9-71F393C801B0}"/>
              </a:ext>
            </a:extLst>
          </p:cNvPr>
          <p:cNvGrpSpPr/>
          <p:nvPr/>
        </p:nvGrpSpPr>
        <p:grpSpPr>
          <a:xfrm>
            <a:off x="201168" y="256032"/>
            <a:ext cx="11457432" cy="6483096"/>
            <a:chOff x="201168" y="256032"/>
            <a:chExt cx="11457432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5486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EVALUATION — TWO KNOWLEDGE GRAPHS</a:t>
              </a:r>
              <a:endParaRPr lang="en-US" sz="850" dirty="0"/>
            </a:p>
          </p:txBody>
        </p:sp>
        <p:pic>
          <p:nvPicPr>
            <p:cNvPr id="3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24128" y="6485686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Arpinar · SIGDIAL 2026</a:t>
              </a:r>
              <a:endParaRPr lang="en-US" sz="1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02920" y="457200"/>
              <a:ext cx="1115568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Evaluation on Two Knowledge Graphs</a:t>
              </a:r>
              <a:endParaRPr lang="en-US" sz="3000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92A07DA-8A2C-F675-008E-D2DF3A384373}"/>
                </a:ext>
              </a:extLst>
            </p:cNvPr>
            <p:cNvGrpSpPr/>
            <p:nvPr/>
          </p:nvGrpSpPr>
          <p:grpSpPr>
            <a:xfrm>
              <a:off x="502920" y="1325880"/>
              <a:ext cx="10661392" cy="3803904"/>
              <a:chOff x="502920" y="1325880"/>
              <a:chExt cx="10661392" cy="3803904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7" name="Shape 4"/>
              <p:cNvSpPr/>
              <p:nvPr/>
            </p:nvSpPr>
            <p:spPr>
              <a:xfrm>
                <a:off x="502920" y="1325880"/>
                <a:ext cx="4897216" cy="3803904"/>
              </a:xfrm>
              <a:prstGeom prst="roundRect">
                <a:avLst>
                  <a:gd name="adj" fmla="val 2652"/>
                </a:avLst>
              </a:prstGeom>
              <a:solidFill>
                <a:srgbClr val="F1F5F9"/>
              </a:solidFill>
              <a:ln w="1905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Shape 5"/>
              <p:cNvSpPr/>
              <p:nvPr/>
            </p:nvSpPr>
            <p:spPr>
              <a:xfrm>
                <a:off x="502920" y="1325880"/>
                <a:ext cx="4897216" cy="475488"/>
              </a:xfrm>
              <a:prstGeom prst="roundRect">
                <a:avLst>
                  <a:gd name="adj" fmla="val 26923"/>
                </a:avLst>
              </a:prstGeom>
              <a:solidFill>
                <a:srgbClr val="059669"/>
              </a:solidFill>
              <a:ln w="1270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 6"/>
              <p:cNvSpPr/>
              <p:nvPr/>
            </p:nvSpPr>
            <p:spPr>
              <a:xfrm>
                <a:off x="685800" y="1389888"/>
                <a:ext cx="502920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bg1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OpenDialKG</a:t>
                </a:r>
                <a:endParaRPr 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Text 7"/>
              <p:cNvSpPr/>
              <p:nvPr/>
            </p:nvSpPr>
            <p:spPr>
              <a:xfrm>
                <a:off x="704088" y="1947672"/>
                <a:ext cx="4992624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Widely used benchmark</a:t>
                </a:r>
                <a:endParaRPr lang="en-US" dirty="0"/>
              </a:p>
            </p:txBody>
          </p:sp>
          <p:sp>
            <p:nvSpPr>
              <p:cNvPr id="11" name="Text 8"/>
              <p:cNvSpPr/>
              <p:nvPr/>
            </p:nvSpPr>
            <p:spPr>
              <a:xfrm>
                <a:off x="704088" y="2471470"/>
                <a:ext cx="4992624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600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Human-human dialogues grounded in Freebase paths.</a:t>
                </a:r>
                <a:endParaRPr lang="en-US" sz="1600" dirty="0"/>
              </a:p>
            </p:txBody>
          </p:sp>
          <p:sp>
            <p:nvSpPr>
              <p:cNvPr id="13" name="Text 10"/>
              <p:cNvSpPr/>
              <p:nvPr/>
            </p:nvSpPr>
            <p:spPr>
              <a:xfrm>
                <a:off x="704088" y="3001482"/>
                <a:ext cx="4992624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6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Freebase · 175 relations · 3,216 test turns</a:t>
                </a:r>
                <a:endParaRPr lang="en-US" sz="1600" dirty="0"/>
              </a:p>
            </p:txBody>
          </p:sp>
          <p:sp>
            <p:nvSpPr>
              <p:cNvPr id="14" name="Text 11"/>
              <p:cNvSpPr/>
              <p:nvPr/>
            </p:nvSpPr>
            <p:spPr>
              <a:xfrm>
                <a:off x="704088" y="3533905"/>
                <a:ext cx="4992624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Relation style: short, close to natural language</a:t>
                </a:r>
                <a:endPara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5" name="Shape 12"/>
              <p:cNvSpPr/>
              <p:nvPr/>
            </p:nvSpPr>
            <p:spPr>
              <a:xfrm>
                <a:off x="704088" y="4124296"/>
                <a:ext cx="4601157" cy="365760"/>
              </a:xfrm>
              <a:prstGeom prst="roundRect">
                <a:avLst>
                  <a:gd name="adj" fmla="val 16129"/>
                </a:avLst>
              </a:prstGeom>
              <a:solidFill>
                <a:srgbClr val="E2E8F0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 13"/>
              <p:cNvSpPr/>
              <p:nvPr/>
            </p:nvSpPr>
            <p:spPr>
              <a:xfrm>
                <a:off x="728589" y="4104626"/>
                <a:ext cx="4736592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059669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starred_actors ·  written_by  · has_genre</a:t>
                </a:r>
                <a:endParaRPr lang="en-US" sz="1400" dirty="0"/>
              </a:p>
            </p:txBody>
          </p:sp>
          <p:sp>
            <p:nvSpPr>
              <p:cNvPr id="17" name="Text 14"/>
              <p:cNvSpPr/>
              <p:nvPr/>
            </p:nvSpPr>
            <p:spPr>
              <a:xfrm>
                <a:off x="704088" y="4637565"/>
                <a:ext cx="4992624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4 domains: movies, books, sports, music</a:t>
                </a:r>
                <a:endParaRPr lang="en-US" sz="1600" dirty="0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623E20F-9E5C-53A0-E683-12A042E57C91}"/>
                  </a:ext>
                </a:extLst>
              </p:cNvPr>
              <p:cNvGrpSpPr/>
              <p:nvPr/>
            </p:nvGrpSpPr>
            <p:grpSpPr>
              <a:xfrm>
                <a:off x="5952232" y="1325880"/>
                <a:ext cx="5212080" cy="3803904"/>
                <a:chOff x="6400800" y="1325880"/>
                <a:chExt cx="5212080" cy="3803904"/>
              </a:xfrm>
            </p:grpSpPr>
            <p:sp>
              <p:nvSpPr>
                <p:cNvPr id="18" name="Shape 15"/>
                <p:cNvSpPr/>
                <p:nvPr/>
              </p:nvSpPr>
              <p:spPr>
                <a:xfrm>
                  <a:off x="6400800" y="1325880"/>
                  <a:ext cx="5212080" cy="3803904"/>
                </a:xfrm>
                <a:prstGeom prst="roundRect">
                  <a:avLst>
                    <a:gd name="adj" fmla="val 2652"/>
                  </a:avLst>
                </a:prstGeom>
                <a:solidFill>
                  <a:srgbClr val="EEF2FF"/>
                </a:solidFill>
                <a:ln w="19050">
                  <a:solidFill>
                    <a:srgbClr val="4C1D95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Shape 16"/>
                <p:cNvSpPr/>
                <p:nvPr/>
              </p:nvSpPr>
              <p:spPr>
                <a:xfrm>
                  <a:off x="6400800" y="1325880"/>
                  <a:ext cx="5212080" cy="475488"/>
                </a:xfrm>
                <a:prstGeom prst="roundRect">
                  <a:avLst>
                    <a:gd name="adj" fmla="val 26923"/>
                  </a:avLst>
                </a:prstGeom>
                <a:solidFill>
                  <a:srgbClr val="4C1D95"/>
                </a:solidFill>
                <a:ln w="12700">
                  <a:solidFill>
                    <a:srgbClr val="4C1D95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Text 17"/>
                <p:cNvSpPr/>
                <p:nvPr/>
              </p:nvSpPr>
              <p:spPr>
                <a:xfrm>
                  <a:off x="6583680" y="1389888"/>
                  <a:ext cx="502920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2400" b="1" dirty="0">
                      <a:solidFill>
                        <a:schemeClr val="bg1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WoW-KG  (ours)</a:t>
                  </a:r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" name="Text 18"/>
                <p:cNvSpPr/>
                <p:nvPr/>
              </p:nvSpPr>
              <p:spPr>
                <a:xfrm>
                  <a:off x="6601968" y="1947672"/>
                  <a:ext cx="4992624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lnSpc>
                      <a:spcPct val="120000"/>
                    </a:lnSpc>
                    <a:buNone/>
                  </a:pPr>
                  <a:r>
                    <a:rPr lang="en-US" b="1" dirty="0">
                      <a:solidFill>
                        <a:srgbClr val="1B2A5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Built from Wikidata,  independent testbed</a:t>
                  </a:r>
                  <a:endParaRPr lang="en-US" dirty="0"/>
                </a:p>
              </p:txBody>
            </p:sp>
            <p:sp>
              <p:nvSpPr>
                <p:cNvPr id="22" name="Text 19"/>
                <p:cNvSpPr/>
                <p:nvPr/>
              </p:nvSpPr>
              <p:spPr>
                <a:xfrm>
                  <a:off x="6601968" y="2497348"/>
                  <a:ext cx="4992624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lnSpc>
                      <a:spcPct val="120000"/>
                    </a:lnSpc>
                    <a:buNone/>
                  </a:pPr>
                  <a:r>
                    <a:rPr lang="en-US" sz="1600" dirty="0">
                      <a:solidFill>
                        <a:srgbClr val="1B2A5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Wizard of Wikipedia augmented with Wikidata triples.</a:t>
                  </a:r>
                  <a:endParaRPr lang="en-US" sz="1600" dirty="0"/>
                </a:p>
              </p:txBody>
            </p:sp>
            <p:sp>
              <p:nvSpPr>
                <p:cNvPr id="24" name="Text 21"/>
                <p:cNvSpPr/>
                <p:nvPr/>
              </p:nvSpPr>
              <p:spPr>
                <a:xfrm>
                  <a:off x="6601968" y="3027359"/>
                  <a:ext cx="4992624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lnSpc>
                      <a:spcPct val="120000"/>
                    </a:lnSpc>
                    <a:buNone/>
                  </a:pPr>
                  <a:r>
                    <a:rPr lang="en-US" sz="1600" b="1" dirty="0">
                      <a:solidFill>
                        <a:srgbClr val="7C3AED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Wikidata · 219 relations · 778 test turns</a:t>
                  </a:r>
                  <a:endParaRPr lang="en-US" sz="1600" dirty="0"/>
                </a:p>
              </p:txBody>
            </p:sp>
            <p:sp>
              <p:nvSpPr>
                <p:cNvPr id="25" name="Text 22"/>
                <p:cNvSpPr/>
                <p:nvPr/>
              </p:nvSpPr>
              <p:spPr>
                <a:xfrm>
                  <a:off x="6576090" y="3559784"/>
                  <a:ext cx="4992624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lnSpc>
                      <a:spcPct val="120000"/>
                    </a:lnSpc>
                    <a:buNone/>
                  </a:pPr>
                  <a:r>
                    <a:rPr lang="en-US" sz="16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Tests whether findings generalise beyond one benchmark</a:t>
                  </a:r>
                  <a:endPara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26" name="Shape 23"/>
                <p:cNvSpPr/>
                <p:nvPr/>
              </p:nvSpPr>
              <p:spPr>
                <a:xfrm>
                  <a:off x="6601968" y="4104626"/>
                  <a:ext cx="4319074" cy="385430"/>
                </a:xfrm>
                <a:prstGeom prst="roundRect">
                  <a:avLst>
                    <a:gd name="adj" fmla="val 16129"/>
                  </a:avLst>
                </a:prstGeom>
                <a:solidFill>
                  <a:srgbClr val="E2E8F0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Text 24"/>
                <p:cNvSpPr/>
                <p:nvPr/>
              </p:nvSpPr>
              <p:spPr>
                <a:xfrm>
                  <a:off x="6729984" y="4087370"/>
                  <a:ext cx="4736592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rgbClr val="7C3AED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instance_of  · occupation  · country</a:t>
                  </a:r>
                  <a:endParaRPr lang="en-US" sz="1400" dirty="0"/>
                </a:p>
              </p:txBody>
            </p:sp>
            <p:sp>
              <p:nvSpPr>
                <p:cNvPr id="28" name="Text 25"/>
                <p:cNvSpPr/>
                <p:nvPr/>
              </p:nvSpPr>
              <p:spPr>
                <a:xfrm>
                  <a:off x="6601968" y="4637567"/>
                  <a:ext cx="4992624" cy="25603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i="1" dirty="0">
                      <a:solidFill>
                        <a:srgbClr val="94A3B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More abstract labels, harder to guess from wording alone</a:t>
                  </a:r>
                  <a:endParaRPr lang="en-US" sz="1600" dirty="0"/>
                </a:p>
              </p:txBody>
            </p: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4EE0BF3B-E08B-C45E-D14C-E64AC7822737}"/>
              </a:ext>
            </a:extLst>
          </p:cNvPr>
          <p:cNvGrpSpPr/>
          <p:nvPr/>
        </p:nvGrpSpPr>
        <p:grpSpPr>
          <a:xfrm>
            <a:off x="201168" y="256032"/>
            <a:ext cx="11457432" cy="6483096"/>
            <a:chOff x="201168" y="256032"/>
            <a:chExt cx="11457432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5486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SETUP — MODELS</a:t>
              </a:r>
              <a:endParaRPr lang="en-US" sz="850" dirty="0"/>
            </a:p>
          </p:txBody>
        </p:sp>
        <p:pic>
          <p:nvPicPr>
            <p:cNvPr id="3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56786" y="6463500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</a:t>
              </a:r>
              <a:r>
                <a:rPr lang="en-US" sz="16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Arpinar</a:t>
              </a: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· SIGDIAL 2026</a:t>
              </a:r>
              <a:endParaRPr lang="en-US" sz="1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02920" y="457200"/>
              <a:ext cx="1115568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6 Models · 3 Families · Same Zero-Shot Prompt</a:t>
              </a:r>
              <a:endParaRPr lang="en-US" sz="30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502920" y="1152144"/>
              <a:ext cx="111556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Large and small variants of each family, to test whether scale changes the finding.</a:t>
              </a:r>
              <a:endParaRPr lang="en-US" sz="1500" dirty="0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E24E5D5-486F-2659-8EF9-28F06FEAE20F}"/>
                </a:ext>
              </a:extLst>
            </p:cNvPr>
            <p:cNvGrpSpPr/>
            <p:nvPr/>
          </p:nvGrpSpPr>
          <p:grpSpPr>
            <a:xfrm>
              <a:off x="502920" y="1664208"/>
              <a:ext cx="11119104" cy="3474720"/>
              <a:chOff x="502920" y="1664208"/>
              <a:chExt cx="11119104" cy="3474720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8" name="Shape 5"/>
              <p:cNvSpPr/>
              <p:nvPr/>
            </p:nvSpPr>
            <p:spPr>
              <a:xfrm>
                <a:off x="502920" y="1664208"/>
                <a:ext cx="3383280" cy="3474720"/>
              </a:xfrm>
              <a:prstGeom prst="roundRect">
                <a:avLst>
                  <a:gd name="adj" fmla="val 3784"/>
                </a:avLst>
              </a:prstGeom>
              <a:solidFill>
                <a:srgbClr val="F1F5F9"/>
              </a:solidFill>
              <a:ln w="1905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Shape 6"/>
              <p:cNvSpPr/>
              <p:nvPr/>
            </p:nvSpPr>
            <p:spPr>
              <a:xfrm>
                <a:off x="502920" y="1664208"/>
                <a:ext cx="3383280" cy="548640"/>
              </a:xfrm>
              <a:prstGeom prst="roundRect">
                <a:avLst>
                  <a:gd name="adj" fmla="val 23333"/>
                </a:avLst>
              </a:prstGeom>
              <a:solidFill>
                <a:srgbClr val="059669"/>
              </a:solidFill>
              <a:ln w="1270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0" name="Image 1" descr="/home/claude/logo_openai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0936" y="1737360"/>
                <a:ext cx="402336" cy="402336"/>
              </a:xfrm>
              <a:prstGeom prst="rect">
                <a:avLst/>
              </a:prstGeom>
            </p:spPr>
          </p:pic>
          <p:sp>
            <p:nvSpPr>
              <p:cNvPr id="11" name="Text 7"/>
              <p:cNvSpPr/>
              <p:nvPr/>
            </p:nvSpPr>
            <p:spPr>
              <a:xfrm>
                <a:off x="1069848" y="1728216"/>
                <a:ext cx="2724912" cy="42062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OpenAI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Shape 8"/>
              <p:cNvSpPr/>
              <p:nvPr/>
            </p:nvSpPr>
            <p:spPr>
              <a:xfrm>
                <a:off x="685800" y="2395728"/>
                <a:ext cx="3017520" cy="749808"/>
              </a:xfrm>
              <a:prstGeom prst="roundRect">
                <a:avLst>
                  <a:gd name="adj" fmla="val 12195"/>
                </a:avLst>
              </a:prstGeom>
              <a:solidFill>
                <a:srgbClr val="E2E8F0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" name="Text 9"/>
              <p:cNvSpPr/>
              <p:nvPr/>
            </p:nvSpPr>
            <p:spPr>
              <a:xfrm>
                <a:off x="822960" y="2532888"/>
                <a:ext cx="2743200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▸ </a:t>
                </a:r>
                <a:r>
                  <a:rPr lang="en-US" sz="20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GPT-4o</a:t>
                </a:r>
                <a:endParaRPr lang="en-US" sz="2000" dirty="0"/>
              </a:p>
            </p:txBody>
          </p:sp>
          <p:sp>
            <p:nvSpPr>
              <p:cNvPr id="14" name="Shape 10"/>
              <p:cNvSpPr/>
              <p:nvPr/>
            </p:nvSpPr>
            <p:spPr>
              <a:xfrm>
                <a:off x="685800" y="3383280"/>
                <a:ext cx="3017520" cy="749808"/>
              </a:xfrm>
              <a:prstGeom prst="roundRect">
                <a:avLst>
                  <a:gd name="adj" fmla="val 12195"/>
                </a:avLst>
              </a:prstGeom>
              <a:solidFill>
                <a:srgbClr val="E2E8F0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 11"/>
              <p:cNvSpPr/>
              <p:nvPr/>
            </p:nvSpPr>
            <p:spPr>
              <a:xfrm>
                <a:off x="822960" y="3520440"/>
                <a:ext cx="2743200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500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▸ </a:t>
                </a:r>
                <a:r>
                  <a:rPr lang="en-US" sz="2000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GPT-4o-mini</a:t>
                </a:r>
                <a:endParaRPr lang="en-US" sz="2000" dirty="0"/>
              </a:p>
            </p:txBody>
          </p:sp>
          <p:sp>
            <p:nvSpPr>
              <p:cNvPr id="17" name="Shape 13"/>
              <p:cNvSpPr/>
              <p:nvPr/>
            </p:nvSpPr>
            <p:spPr>
              <a:xfrm>
                <a:off x="4370832" y="1664208"/>
                <a:ext cx="3383280" cy="3474720"/>
              </a:xfrm>
              <a:prstGeom prst="roundRect">
                <a:avLst>
                  <a:gd name="adj" fmla="val 3784"/>
                </a:avLst>
              </a:prstGeom>
              <a:solidFill>
                <a:srgbClr val="F1F5F9"/>
              </a:solidFill>
              <a:ln w="19050">
                <a:solidFill>
                  <a:srgbClr val="00B0F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Shape 14"/>
              <p:cNvSpPr/>
              <p:nvPr/>
            </p:nvSpPr>
            <p:spPr>
              <a:xfrm>
                <a:off x="4370832" y="1664208"/>
                <a:ext cx="3383280" cy="548640"/>
              </a:xfrm>
              <a:prstGeom prst="roundRect">
                <a:avLst>
                  <a:gd name="adj" fmla="val 23333"/>
                </a:avLst>
              </a:prstGeom>
              <a:solidFill>
                <a:srgbClr val="00B0F0"/>
              </a:solidFill>
              <a:ln w="12700">
                <a:solidFill>
                  <a:srgbClr val="4C1D9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9" name="Image 2" descr="/home/claude/logo_meta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98848" y="1737360"/>
                <a:ext cx="402336" cy="402336"/>
              </a:xfrm>
              <a:prstGeom prst="rect">
                <a:avLst/>
              </a:prstGeom>
            </p:spPr>
          </p:pic>
          <p:sp>
            <p:nvSpPr>
              <p:cNvPr id="20" name="Text 15"/>
              <p:cNvSpPr/>
              <p:nvPr/>
            </p:nvSpPr>
            <p:spPr>
              <a:xfrm>
                <a:off x="4937760" y="1728216"/>
                <a:ext cx="2724912" cy="42062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Meta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Shape 16"/>
              <p:cNvSpPr/>
              <p:nvPr/>
            </p:nvSpPr>
            <p:spPr>
              <a:xfrm>
                <a:off x="4553712" y="2395728"/>
                <a:ext cx="3017520" cy="749808"/>
              </a:xfrm>
              <a:prstGeom prst="roundRect">
                <a:avLst>
                  <a:gd name="adj" fmla="val 12195"/>
                </a:avLst>
              </a:prstGeom>
              <a:solidFill>
                <a:srgbClr val="E2E8F0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 17"/>
              <p:cNvSpPr/>
              <p:nvPr/>
            </p:nvSpPr>
            <p:spPr>
              <a:xfrm>
                <a:off x="4690872" y="2532888"/>
                <a:ext cx="2743200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▸ </a:t>
                </a:r>
                <a:r>
                  <a:rPr lang="en-US" sz="20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Llama-3.1-70B</a:t>
                </a:r>
                <a:endParaRPr lang="en-US" sz="2000" dirty="0"/>
              </a:p>
            </p:txBody>
          </p:sp>
          <p:sp>
            <p:nvSpPr>
              <p:cNvPr id="23" name="Shape 18"/>
              <p:cNvSpPr/>
              <p:nvPr/>
            </p:nvSpPr>
            <p:spPr>
              <a:xfrm>
                <a:off x="4553712" y="3383280"/>
                <a:ext cx="3017520" cy="749808"/>
              </a:xfrm>
              <a:prstGeom prst="roundRect">
                <a:avLst>
                  <a:gd name="adj" fmla="val 12195"/>
                </a:avLst>
              </a:prstGeom>
              <a:solidFill>
                <a:srgbClr val="E2E8F0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 19"/>
              <p:cNvSpPr/>
              <p:nvPr/>
            </p:nvSpPr>
            <p:spPr>
              <a:xfrm>
                <a:off x="4690872" y="3520440"/>
                <a:ext cx="2743200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500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▸ </a:t>
                </a:r>
                <a:r>
                  <a:rPr lang="en-US" sz="2000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Llama-3.1-8B</a:t>
                </a:r>
                <a:endParaRPr lang="en-US" sz="2000" dirty="0"/>
              </a:p>
            </p:txBody>
          </p:sp>
          <p:sp>
            <p:nvSpPr>
              <p:cNvPr id="26" name="Shape 21"/>
              <p:cNvSpPr/>
              <p:nvPr/>
            </p:nvSpPr>
            <p:spPr>
              <a:xfrm>
                <a:off x="8238744" y="1664208"/>
                <a:ext cx="3383280" cy="3474720"/>
              </a:xfrm>
              <a:prstGeom prst="roundRect">
                <a:avLst>
                  <a:gd name="adj" fmla="val 3784"/>
                </a:avLst>
              </a:prstGeom>
              <a:solidFill>
                <a:srgbClr val="F1F5F9"/>
              </a:solidFill>
              <a:ln w="19050">
                <a:solidFill>
                  <a:srgbClr val="7030A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Shape 22"/>
              <p:cNvSpPr/>
              <p:nvPr/>
            </p:nvSpPr>
            <p:spPr>
              <a:xfrm>
                <a:off x="8238744" y="1664208"/>
                <a:ext cx="3383280" cy="548640"/>
              </a:xfrm>
              <a:prstGeom prst="roundRect">
                <a:avLst>
                  <a:gd name="adj" fmla="val 23333"/>
                </a:avLst>
              </a:prstGeom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8" name="Image 3" descr="/home/claude/logo_qwen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66760" y="1737360"/>
                <a:ext cx="402336" cy="402336"/>
              </a:xfrm>
              <a:prstGeom prst="rect">
                <a:avLst/>
              </a:prstGeom>
            </p:spPr>
          </p:pic>
          <p:sp>
            <p:nvSpPr>
              <p:cNvPr id="29" name="Text 23"/>
              <p:cNvSpPr/>
              <p:nvPr/>
            </p:nvSpPr>
            <p:spPr>
              <a:xfrm>
                <a:off x="8805672" y="1728216"/>
                <a:ext cx="2724912" cy="42062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Alibaba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Shape 24"/>
              <p:cNvSpPr/>
              <p:nvPr/>
            </p:nvSpPr>
            <p:spPr>
              <a:xfrm>
                <a:off x="8421624" y="2395728"/>
                <a:ext cx="3017520" cy="749808"/>
              </a:xfrm>
              <a:prstGeom prst="roundRect">
                <a:avLst>
                  <a:gd name="adj" fmla="val 12195"/>
                </a:avLst>
              </a:prstGeom>
              <a:solidFill>
                <a:srgbClr val="E2E8F0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 25"/>
              <p:cNvSpPr/>
              <p:nvPr/>
            </p:nvSpPr>
            <p:spPr>
              <a:xfrm>
                <a:off x="8558784" y="2532888"/>
                <a:ext cx="2743200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▸ </a:t>
                </a:r>
                <a:r>
                  <a:rPr lang="en-US" sz="20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Qwen2.5-32B</a:t>
                </a:r>
                <a:endParaRPr lang="en-US" sz="2000" dirty="0"/>
              </a:p>
            </p:txBody>
          </p:sp>
          <p:sp>
            <p:nvSpPr>
              <p:cNvPr id="32" name="Shape 26"/>
              <p:cNvSpPr/>
              <p:nvPr/>
            </p:nvSpPr>
            <p:spPr>
              <a:xfrm>
                <a:off x="8421624" y="3383280"/>
                <a:ext cx="3017520" cy="749808"/>
              </a:xfrm>
              <a:prstGeom prst="roundRect">
                <a:avLst>
                  <a:gd name="adj" fmla="val 12195"/>
                </a:avLst>
              </a:prstGeom>
              <a:solidFill>
                <a:srgbClr val="E2E8F0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 27"/>
              <p:cNvSpPr/>
              <p:nvPr/>
            </p:nvSpPr>
            <p:spPr>
              <a:xfrm>
                <a:off x="8558784" y="3520440"/>
                <a:ext cx="2743200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500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▸ </a:t>
                </a:r>
                <a:r>
                  <a:rPr lang="en-US" sz="2000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Qwen2.5-7B</a:t>
                </a:r>
                <a:endParaRPr lang="en-US" sz="2000" dirty="0"/>
              </a:p>
            </p:txBody>
          </p:sp>
        </p:grpSp>
        <p:sp>
          <p:nvSpPr>
            <p:cNvPr id="35" name="Shape 29"/>
            <p:cNvSpPr/>
            <p:nvPr/>
          </p:nvSpPr>
          <p:spPr>
            <a:xfrm>
              <a:off x="502920" y="5349240"/>
              <a:ext cx="11155680" cy="749808"/>
            </a:xfrm>
            <a:prstGeom prst="roundRect">
              <a:avLst>
                <a:gd name="adj" fmla="val 14634"/>
              </a:avLst>
            </a:prstGeom>
            <a:solidFill>
              <a:srgbClr val="F1F5F9"/>
            </a:solidFill>
            <a:ln w="19050">
              <a:solidFill>
                <a:srgbClr val="4C1D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0"/>
            <p:cNvSpPr/>
            <p:nvPr/>
          </p:nvSpPr>
          <p:spPr>
            <a:xfrm>
              <a:off x="685800" y="5468112"/>
              <a:ext cx="10972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Zero-shot. </a:t>
              </a:r>
              <a:r>
                <a:rPr lang="en-US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fine-tuning. No few-shot examples. Same prompt template across every model and every condition.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F633FAFA-B1D9-827E-67B8-5DB73957D557}"/>
              </a:ext>
            </a:extLst>
          </p:cNvPr>
          <p:cNvGrpSpPr/>
          <p:nvPr/>
        </p:nvGrpSpPr>
        <p:grpSpPr>
          <a:xfrm>
            <a:off x="201168" y="256032"/>
            <a:ext cx="11823192" cy="6483096"/>
            <a:chOff x="201168" y="256032"/>
            <a:chExt cx="11823192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5486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SETUP — THE PROMPT</a:t>
              </a:r>
              <a:endParaRPr lang="en-US" sz="850" dirty="0"/>
            </a:p>
          </p:txBody>
        </p:sp>
        <p:pic>
          <p:nvPicPr>
            <p:cNvPr id="3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24128" y="6459808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Arpinar · SIGDIAL 2026</a:t>
              </a:r>
              <a:endParaRPr lang="en-US" sz="16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11384280" y="6528816"/>
              <a:ext cx="6400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 / 18</a:t>
              </a:r>
              <a:endParaRPr lang="en-US" sz="9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02920" y="457200"/>
              <a:ext cx="1115568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The Prompt</a:t>
              </a:r>
              <a:endParaRPr lang="en-US" sz="30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502920" y="1133856"/>
              <a:ext cx="111556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Identical across all 6 models and all 3 conditions. Only the {knowledge} field changes.</a:t>
              </a:r>
              <a:endParaRPr lang="en-US" sz="15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502920" y="1627632"/>
              <a:ext cx="7769812" cy="4324594"/>
            </a:xfrm>
            <a:prstGeom prst="roundRect">
              <a:avLst>
                <a:gd name="adj" fmla="val 2667"/>
              </a:avLst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6"/>
            <p:cNvSpPr/>
            <p:nvPr/>
          </p:nvSpPr>
          <p:spPr>
            <a:xfrm>
              <a:off x="777240" y="1883664"/>
              <a:ext cx="868680" cy="292608"/>
            </a:xfrm>
            <a:prstGeom prst="roundRect">
              <a:avLst>
                <a:gd name="adj" fmla="val 18750"/>
              </a:avLst>
            </a:prstGeom>
            <a:solidFill>
              <a:srgbClr val="94A3B8"/>
            </a:solidFill>
            <a:ln w="127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7"/>
            <p:cNvSpPr/>
            <p:nvPr/>
          </p:nvSpPr>
          <p:spPr>
            <a:xfrm>
              <a:off x="777240" y="1911096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SYSTEM</a:t>
              </a:r>
              <a:endParaRPr lang="en-US" sz="11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850392" y="2267712"/>
              <a:ext cx="7226808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B2A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You are a knowledgeable conversational assistant.</a:t>
              </a:r>
              <a:endParaRPr lang="en-US" sz="14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850392" y="2539999"/>
              <a:ext cx="7338568" cy="35609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B2A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Use the knowledge to continue the conversation naturally.</a:t>
              </a:r>
              <a:endParaRPr lang="en-US" sz="14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850392" y="2852928"/>
              <a:ext cx="3790619" cy="29209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B2A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Respond in 1–3 sentences only.</a:t>
              </a:r>
              <a:endParaRPr lang="en-US" sz="14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769122" y="3273552"/>
              <a:ext cx="6586137" cy="0"/>
            </a:xfrm>
            <a:prstGeom prst="line">
              <a:avLst/>
            </a:prstGeom>
            <a:noFill/>
            <a:ln w="7620">
              <a:solidFill>
                <a:srgbClr val="4755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2"/>
            <p:cNvSpPr/>
            <p:nvPr/>
          </p:nvSpPr>
          <p:spPr>
            <a:xfrm>
              <a:off x="777240" y="3401568"/>
              <a:ext cx="685800" cy="292608"/>
            </a:xfrm>
            <a:prstGeom prst="roundRect">
              <a:avLst>
                <a:gd name="adj" fmla="val 18750"/>
              </a:avLst>
            </a:prstGeom>
            <a:solidFill>
              <a:srgbClr val="94A3B8"/>
            </a:solidFill>
            <a:ln w="127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/>
            <p:cNvSpPr/>
            <p:nvPr/>
          </p:nvSpPr>
          <p:spPr>
            <a:xfrm>
              <a:off x="777240" y="3429000"/>
              <a:ext cx="6858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</a:t>
              </a:r>
              <a:endParaRPr lang="en-US" sz="11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859616" y="3765296"/>
              <a:ext cx="5904813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B2A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Topic: {dialogue topic}</a:t>
              </a:r>
              <a:endParaRPr lang="en-US" sz="14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850392" y="4047744"/>
              <a:ext cx="4730726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B2A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Knowledge:</a:t>
              </a:r>
              <a:endParaRPr lang="en-US" sz="14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2291180" y="4370832"/>
              <a:ext cx="56539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05966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Iron Man  --[starred_actor] --&gt;  Robert Downey Jr.</a:t>
              </a:r>
              <a:endParaRPr lang="en-US" sz="14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850392" y="4297680"/>
              <a:ext cx="1261872" cy="329184"/>
            </a:xfrm>
            <a:prstGeom prst="roundRect">
              <a:avLst>
                <a:gd name="adj" fmla="val 16667"/>
              </a:avLst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8"/>
            <p:cNvSpPr/>
            <p:nvPr/>
          </p:nvSpPr>
          <p:spPr>
            <a:xfrm>
              <a:off x="850392" y="4325112"/>
              <a:ext cx="12618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C1</a:t>
              </a:r>
              <a:endParaRPr lang="en-US" sz="16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2282552" y="4700016"/>
              <a:ext cx="5398408" cy="2194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B4530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Iron Man  --[written_by] --&gt;  Robert Downey Jr.</a:t>
              </a:r>
              <a:endParaRPr lang="en-US" sz="140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850392" y="4626864"/>
              <a:ext cx="1261872" cy="329184"/>
            </a:xfrm>
            <a:prstGeom prst="roundRect">
              <a:avLst>
                <a:gd name="adj" fmla="val 16667"/>
              </a:avLst>
            </a:prstGeom>
            <a:solidFill>
              <a:srgbClr val="B45309"/>
            </a:solidFill>
            <a:ln w="12700">
              <a:solidFill>
                <a:srgbClr val="B4530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1"/>
            <p:cNvSpPr/>
            <p:nvPr/>
          </p:nvSpPr>
          <p:spPr>
            <a:xfrm>
              <a:off x="850392" y="4654296"/>
              <a:ext cx="12618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C2</a:t>
              </a:r>
              <a:endParaRPr lang="en-US" sz="16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2282552" y="5029200"/>
              <a:ext cx="5142376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Entities: Iron Man, Robert Downey Jr.</a:t>
              </a:r>
              <a:endParaRPr lang="en-US" sz="1400" dirty="0"/>
            </a:p>
          </p:txBody>
        </p:sp>
        <p:sp>
          <p:nvSpPr>
            <p:cNvPr id="26" name="Shape 23"/>
            <p:cNvSpPr/>
            <p:nvPr/>
          </p:nvSpPr>
          <p:spPr>
            <a:xfrm>
              <a:off x="850392" y="4956048"/>
              <a:ext cx="1261872" cy="329184"/>
            </a:xfrm>
            <a:prstGeom prst="roundRect">
              <a:avLst>
                <a:gd name="adj" fmla="val 16667"/>
              </a:avLst>
            </a:prstGeom>
            <a:solidFill>
              <a:srgbClr val="94A3B8"/>
            </a:solidFill>
            <a:ln w="127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4"/>
            <p:cNvSpPr/>
            <p:nvPr/>
          </p:nvSpPr>
          <p:spPr>
            <a:xfrm>
              <a:off x="850392" y="4983480"/>
              <a:ext cx="12618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C3</a:t>
              </a:r>
              <a:endParaRPr lang="en-US" sz="16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850392" y="5367528"/>
              <a:ext cx="4961128" cy="39785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B2A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Continue the conversation as the Assistant: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DEE84255-5396-540A-CB60-BE57AA38A83C}"/>
              </a:ext>
            </a:extLst>
          </p:cNvPr>
          <p:cNvGrpSpPr/>
          <p:nvPr/>
        </p:nvGrpSpPr>
        <p:grpSpPr>
          <a:xfrm>
            <a:off x="201168" y="256032"/>
            <a:ext cx="11091672" cy="6483096"/>
            <a:chOff x="201168" y="256032"/>
            <a:chExt cx="11091672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5486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METRIC</a:t>
              </a:r>
              <a:endParaRPr lang="en-US" sz="850" dirty="0"/>
            </a:p>
          </p:txBody>
        </p:sp>
        <p:pic>
          <p:nvPicPr>
            <p:cNvPr id="3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24128" y="6468434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Arpinar · SIGDIAL 2026</a:t>
              </a:r>
              <a:endParaRPr lang="en-US" sz="1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777240" y="457200"/>
              <a:ext cx="1051560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How do we measure relation sensitivity?</a:t>
              </a:r>
              <a:endParaRPr lang="en-US" sz="3000" dirty="0"/>
            </a:p>
          </p:txBody>
        </p:sp>
        <p:sp>
          <p:nvSpPr>
            <p:cNvPr id="7" name="Shape 4"/>
            <p:cNvSpPr/>
            <p:nvPr/>
          </p:nvSpPr>
          <p:spPr>
            <a:xfrm>
              <a:off x="777240" y="1243584"/>
              <a:ext cx="10515600" cy="914400"/>
            </a:xfrm>
            <a:prstGeom prst="roundRect">
              <a:avLst>
                <a:gd name="adj" fmla="val 14000"/>
              </a:avLst>
            </a:prstGeom>
            <a:solidFill>
              <a:srgbClr val="EEF2FF"/>
            </a:solidFill>
            <a:ln w="25400">
              <a:solidFill>
                <a:srgbClr val="4C1D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5"/>
            <p:cNvSpPr/>
            <p:nvPr/>
          </p:nvSpPr>
          <p:spPr>
            <a:xfrm>
              <a:off x="978408" y="1316736"/>
              <a:ext cx="10113264" cy="7863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9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If changing only the relation barely changes the response,</a:t>
              </a:r>
              <a:endParaRPr lang="en-US" sz="19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19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the model likely did not use the relation.</a:t>
              </a:r>
              <a:endParaRPr lang="en-US" sz="190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777240" y="2322576"/>
              <a:ext cx="10515600" cy="0"/>
            </a:xfrm>
            <a:prstGeom prst="line">
              <a:avLst/>
            </a:prstGeom>
            <a:noFill/>
            <a:ln w="635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7"/>
            <p:cNvSpPr/>
            <p:nvPr/>
          </p:nvSpPr>
          <p:spPr>
            <a:xfrm>
              <a:off x="777240" y="2377440"/>
              <a:ext cx="64008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Relation Sensitivity Score (RSS)</a:t>
              </a:r>
              <a:endParaRPr lang="en-US" sz="17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777239" y="2816352"/>
              <a:ext cx="8849839" cy="658368"/>
            </a:xfrm>
            <a:prstGeom prst="roundRect">
              <a:avLst>
                <a:gd name="adj" fmla="val 13889"/>
              </a:avLst>
            </a:prstGeom>
            <a:solidFill>
              <a:srgbClr val="EEF2FF"/>
            </a:solidFill>
            <a:ln w="12700">
              <a:solidFill>
                <a:srgbClr val="4C1D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978407" y="2889504"/>
              <a:ext cx="8726309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1B2A5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RSS  =  1  −  ROUGE-L( ResponseOriginal ,  ResponsePerturbed )</a:t>
              </a:r>
              <a:endParaRPr lang="en-US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777240" y="3611880"/>
              <a:ext cx="5120640" cy="749808"/>
            </a:xfrm>
            <a:prstGeom prst="roundRect">
              <a:avLst>
                <a:gd name="adj" fmla="val 12195"/>
              </a:avLst>
            </a:prstGeom>
            <a:solidFill>
              <a:srgbClr val="F1F5F9"/>
            </a:solidFill>
            <a:ln w="19050">
              <a:solidFill>
                <a:srgbClr val="BE12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941832" y="3703320"/>
              <a:ext cx="1280160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BE123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RSS ≈ 0</a:t>
              </a:r>
              <a:endParaRPr lang="en-US" sz="16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2313432" y="3721608"/>
              <a:ext cx="3108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Responses nearly identical</a:t>
              </a:r>
              <a:endParaRPr lang="en-US" sz="16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2313432" y="4032504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BE12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Low relation sensitivity</a:t>
              </a:r>
              <a:endParaRPr lang="en-US" sz="140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6172200" y="3611880"/>
              <a:ext cx="5120640" cy="749808"/>
            </a:xfrm>
            <a:prstGeom prst="roundRect">
              <a:avLst>
                <a:gd name="adj" fmla="val 12195"/>
              </a:avLst>
            </a:prstGeom>
            <a:solidFill>
              <a:srgbClr val="F1F5F9"/>
            </a:solidFill>
            <a:ln w="1905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/>
            <p:cNvSpPr/>
            <p:nvPr/>
          </p:nvSpPr>
          <p:spPr>
            <a:xfrm>
              <a:off x="6336792" y="3703320"/>
              <a:ext cx="1280160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5966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RSS ≈ 1</a:t>
              </a:r>
              <a:endParaRPr lang="en-US" sz="16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7708392" y="3721608"/>
              <a:ext cx="3108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Responses very different</a:t>
              </a:r>
              <a:endParaRPr lang="en-US" sz="16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7708392" y="4032504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High relation sensitivity</a:t>
              </a:r>
              <a:endParaRPr lang="en-US" sz="1400" dirty="0"/>
            </a:p>
          </p:txBody>
        </p:sp>
        <p:sp>
          <p:nvSpPr>
            <p:cNvPr id="21" name="Shape 18"/>
            <p:cNvSpPr/>
            <p:nvPr/>
          </p:nvSpPr>
          <p:spPr>
            <a:xfrm>
              <a:off x="777240" y="4553712"/>
              <a:ext cx="10515600" cy="0"/>
            </a:xfrm>
            <a:prstGeom prst="line">
              <a:avLst/>
            </a:prstGeom>
            <a:noFill/>
            <a:ln w="635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/>
            <p:cNvSpPr/>
            <p:nvPr/>
          </p:nvSpPr>
          <p:spPr>
            <a:xfrm>
              <a:off x="777240" y="4626864"/>
              <a:ext cx="21945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Also computed:</a:t>
              </a:r>
              <a:endParaRPr lang="en-US" sz="120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777240" y="4974336"/>
              <a:ext cx="5120640" cy="1024128"/>
            </a:xfrm>
            <a:prstGeom prst="roundRect">
              <a:avLst>
                <a:gd name="adj" fmla="val 8929"/>
              </a:avLst>
            </a:prstGeom>
            <a:solidFill>
              <a:srgbClr val="F1F5F9"/>
            </a:solidFill>
            <a:ln w="19050">
              <a:solidFill>
                <a:srgbClr val="B4530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1"/>
            <p:cNvSpPr/>
            <p:nvPr/>
          </p:nvSpPr>
          <p:spPr>
            <a:xfrm>
              <a:off x="923544" y="5120640"/>
              <a:ext cx="1097280" cy="365760"/>
            </a:xfrm>
            <a:prstGeom prst="roundRect">
              <a:avLst>
                <a:gd name="adj" fmla="val 17500"/>
              </a:avLst>
            </a:prstGeom>
            <a:solidFill>
              <a:srgbClr val="B45309"/>
            </a:solidFill>
            <a:ln w="12700">
              <a:solidFill>
                <a:srgbClr val="B4530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2"/>
            <p:cNvSpPr/>
            <p:nvPr/>
          </p:nvSpPr>
          <p:spPr>
            <a:xfrm>
              <a:off x="923544" y="5138928"/>
              <a:ext cx="109728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Div-C3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6" name="Text 23"/>
            <p:cNvSpPr/>
            <p:nvPr/>
          </p:nvSpPr>
          <p:spPr>
            <a:xfrm>
              <a:off x="2148840" y="5138928"/>
              <a:ext cx="3602736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600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Divergence when relation is removed entirely (C3 baseline)</a:t>
              </a:r>
              <a:endParaRPr lang="en-US" sz="1600" dirty="0"/>
            </a:p>
          </p:txBody>
        </p:sp>
        <p:sp>
          <p:nvSpPr>
            <p:cNvPr id="27" name="Shape 24"/>
            <p:cNvSpPr/>
            <p:nvPr/>
          </p:nvSpPr>
          <p:spPr>
            <a:xfrm>
              <a:off x="6172200" y="4974336"/>
              <a:ext cx="5120640" cy="1024128"/>
            </a:xfrm>
            <a:prstGeom prst="roundRect">
              <a:avLst>
                <a:gd name="adj" fmla="val 8929"/>
              </a:avLst>
            </a:prstGeom>
            <a:solidFill>
              <a:srgbClr val="F1F5F9"/>
            </a:solidFill>
            <a:ln w="19050">
              <a:solidFill>
                <a:srgbClr val="4C1D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5"/>
            <p:cNvSpPr/>
            <p:nvPr/>
          </p:nvSpPr>
          <p:spPr>
            <a:xfrm>
              <a:off x="6318504" y="5120640"/>
              <a:ext cx="1097280" cy="365760"/>
            </a:xfrm>
            <a:prstGeom prst="roundRect">
              <a:avLst>
                <a:gd name="adj" fmla="val 17500"/>
              </a:avLst>
            </a:prstGeom>
            <a:solidFill>
              <a:srgbClr val="4C1D95"/>
            </a:solidFill>
            <a:ln w="12700">
              <a:solidFill>
                <a:srgbClr val="4C1D95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6318504" y="5138928"/>
              <a:ext cx="109728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Ratio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0" name="Text 27"/>
            <p:cNvSpPr/>
            <p:nvPr/>
          </p:nvSpPr>
          <p:spPr>
            <a:xfrm>
              <a:off x="7543800" y="5138928"/>
              <a:ext cx="3602736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600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= RSS ÷ Div-C3   →   near 1.0 means shuffling ≈ removing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3C96BD3C-798A-A815-50A3-C435F8035EB1}"/>
              </a:ext>
            </a:extLst>
          </p:cNvPr>
          <p:cNvGrpSpPr/>
          <p:nvPr/>
        </p:nvGrpSpPr>
        <p:grpSpPr>
          <a:xfrm>
            <a:off x="201168" y="256032"/>
            <a:ext cx="11457432" cy="6483096"/>
            <a:chOff x="201168" y="256032"/>
            <a:chExt cx="11457432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73152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HUMAN VALIDATION — TEASER</a:t>
              </a:r>
              <a:endParaRPr lang="en-US" sz="85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02920" y="502920"/>
              <a:ext cx="11155680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We also asked Humans</a:t>
              </a:r>
              <a:endParaRPr lang="en-US" sz="30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502920" y="1561386"/>
              <a:ext cx="9253555" cy="658368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713232" y="1652826"/>
              <a:ext cx="8974232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RSS is computed automatically, but we also validated it with blinded human judgments.</a:t>
              </a:r>
              <a:endParaRPr lang="en-US" sz="17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767752" y="2382440"/>
              <a:ext cx="2794959" cy="3035808"/>
            </a:xfrm>
            <a:prstGeom prst="roundRect">
              <a:avLst>
                <a:gd name="adj" fmla="val 4828"/>
              </a:avLst>
            </a:prstGeom>
            <a:solidFill>
              <a:srgbClr val="EEF2FF"/>
            </a:solidFill>
            <a:ln w="22860">
              <a:solidFill>
                <a:srgbClr val="1B2A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1494436" y="2777877"/>
              <a:ext cx="365760" cy="365760"/>
            </a:xfrm>
            <a:prstGeom prst="ellipse">
              <a:avLst/>
            </a:prstGeom>
            <a:solidFill>
              <a:srgbClr val="1B2A5E"/>
            </a:solidFill>
            <a:ln w="12700">
              <a:solidFill>
                <a:srgbClr val="1B2A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549300" y="3180213"/>
              <a:ext cx="256032" cy="365760"/>
            </a:xfrm>
            <a:prstGeom prst="roundRect">
              <a:avLst>
                <a:gd name="adj" fmla="val 28571"/>
              </a:avLst>
            </a:prstGeom>
            <a:solidFill>
              <a:srgbClr val="1B2A5E"/>
            </a:solidFill>
            <a:ln w="12700">
              <a:solidFill>
                <a:srgbClr val="1B2A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1905916" y="2777877"/>
              <a:ext cx="365760" cy="365760"/>
            </a:xfrm>
            <a:prstGeom prst="ellipse">
              <a:avLst/>
            </a:prstGeom>
            <a:solidFill>
              <a:srgbClr val="1B2A5E"/>
            </a:solidFill>
            <a:ln w="12700">
              <a:solidFill>
                <a:srgbClr val="1B2A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1960780" y="3180213"/>
              <a:ext cx="256032" cy="365760"/>
            </a:xfrm>
            <a:prstGeom prst="roundRect">
              <a:avLst>
                <a:gd name="adj" fmla="val 28571"/>
              </a:avLst>
            </a:prstGeom>
            <a:solidFill>
              <a:srgbClr val="1B2A5E"/>
            </a:solidFill>
            <a:ln w="12700">
              <a:solidFill>
                <a:srgbClr val="1B2A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2317396" y="2777877"/>
              <a:ext cx="365760" cy="365760"/>
            </a:xfrm>
            <a:prstGeom prst="ellipse">
              <a:avLst/>
            </a:prstGeom>
            <a:solidFill>
              <a:srgbClr val="1B2A5E"/>
            </a:solidFill>
            <a:ln w="12700">
              <a:solidFill>
                <a:srgbClr val="1B2A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2372260" y="3180213"/>
              <a:ext cx="256032" cy="365760"/>
            </a:xfrm>
            <a:prstGeom prst="roundRect">
              <a:avLst>
                <a:gd name="adj" fmla="val 28571"/>
              </a:avLst>
            </a:prstGeom>
            <a:solidFill>
              <a:srgbClr val="1B2A5E"/>
            </a:solidFill>
            <a:ln w="12700">
              <a:solidFill>
                <a:srgbClr val="1B2A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640080" y="3627060"/>
              <a:ext cx="30175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independent raters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77042" y="3789576"/>
              <a:ext cx="32918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100</a:t>
              </a:r>
              <a:endParaRPr lang="en-US" sz="4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40080" y="4397918"/>
              <a:ext cx="301752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turns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40080" y="4642914"/>
              <a:ext cx="301752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50" i="1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GPT-4o on OpenDialKG</a:t>
              </a:r>
              <a:endParaRPr lang="en-US" sz="115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50" i="1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given to 3 blind raters</a:t>
              </a:r>
              <a:endParaRPr lang="en-US" sz="1150" dirty="0"/>
            </a:p>
          </p:txBody>
        </p:sp>
        <p:pic>
          <p:nvPicPr>
            <p:cNvPr id="27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28" name="Text 25"/>
            <p:cNvSpPr/>
            <p:nvPr/>
          </p:nvSpPr>
          <p:spPr>
            <a:xfrm>
              <a:off x="1024128" y="6468434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</a:t>
              </a:r>
              <a:r>
                <a:rPr lang="en-US" sz="16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Arpinar</a:t>
              </a: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· SIGDIAL 2026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6B17A4B7-D8B5-AD57-8B02-A6422DC43642}"/>
              </a:ext>
            </a:extLst>
          </p:cNvPr>
          <p:cNvGrpSpPr/>
          <p:nvPr/>
        </p:nvGrpSpPr>
        <p:grpSpPr>
          <a:xfrm>
            <a:off x="201168" y="256032"/>
            <a:ext cx="11591141" cy="6483096"/>
            <a:chOff x="201168" y="256032"/>
            <a:chExt cx="11591141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5486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UNDERSTANDING THE RATIO</a:t>
              </a:r>
              <a:endParaRPr lang="en-US" sz="850" dirty="0"/>
            </a:p>
          </p:txBody>
        </p:sp>
        <p:pic>
          <p:nvPicPr>
            <p:cNvPr id="3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24128" y="6457696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Arpinar · SIGDIAL 2026</a:t>
              </a:r>
              <a:endParaRPr lang="en-US" sz="1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02920" y="438912"/>
              <a:ext cx="1115568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Before the result, what should we expect?</a:t>
              </a:r>
              <a:endParaRPr lang="en-US" sz="28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502920" y="1097280"/>
              <a:ext cx="11155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 much did shuffling disrupt, relative to removing the relation entirely?</a:t>
              </a:r>
              <a:endParaRPr lang="en-US" sz="1400" dirty="0">
                <a:solidFill>
                  <a:srgbClr val="94A3B8"/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E718850-D329-5E73-406D-91FA67D10AEA}"/>
                </a:ext>
              </a:extLst>
            </p:cNvPr>
            <p:cNvGrpSpPr/>
            <p:nvPr/>
          </p:nvGrpSpPr>
          <p:grpSpPr>
            <a:xfrm>
              <a:off x="1329328" y="1707338"/>
              <a:ext cx="9255281" cy="2985430"/>
              <a:chOff x="777240" y="1664208"/>
              <a:chExt cx="10607040" cy="3931920"/>
            </a:xfrm>
          </p:grpSpPr>
          <p:sp>
            <p:nvSpPr>
              <p:cNvPr id="8" name="Shape 5"/>
              <p:cNvSpPr/>
              <p:nvPr/>
            </p:nvSpPr>
            <p:spPr>
              <a:xfrm>
                <a:off x="777240" y="1664208"/>
                <a:ext cx="5074920" cy="3931920"/>
              </a:xfrm>
              <a:prstGeom prst="roundRect">
                <a:avLst>
                  <a:gd name="adj" fmla="val 3256"/>
                </a:avLst>
              </a:prstGeom>
              <a:ln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Shape 6"/>
              <p:cNvSpPr/>
              <p:nvPr/>
            </p:nvSpPr>
            <p:spPr>
              <a:xfrm>
                <a:off x="777240" y="1664208"/>
                <a:ext cx="5074920" cy="457200"/>
              </a:xfrm>
              <a:prstGeom prst="roundRect">
                <a:avLst>
                  <a:gd name="adj" fmla="val 28000"/>
                </a:avLst>
              </a:prstGeom>
              <a:solidFill>
                <a:srgbClr val="059669"/>
              </a:solidFill>
              <a:ln w="1270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 7"/>
              <p:cNvSpPr/>
              <p:nvPr/>
            </p:nvSpPr>
            <p:spPr>
              <a:xfrm>
                <a:off x="941832" y="1719072"/>
                <a:ext cx="4745736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If models USE the relation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graphicFrame>
            <p:nvGraphicFramePr>
              <p:cNvPr id="11" name="Chart 0"/>
              <p:cNvGraphicFramePr/>
              <p:nvPr>
                <p:extLst>
                  <p:ext uri="{D42A27DB-BD31-4B8C-83A1-F6EECF244321}">
                    <p14:modId xmlns:p14="http://schemas.microsoft.com/office/powerpoint/2010/main" val="3522872222"/>
                  </p:ext>
                </p:extLst>
              </p:nvPr>
            </p:nvGraphicFramePr>
            <p:xfrm>
              <a:off x="960120" y="2212848"/>
              <a:ext cx="4709160" cy="201168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12" name="Text 8"/>
              <p:cNvSpPr/>
              <p:nvPr/>
            </p:nvSpPr>
            <p:spPr>
              <a:xfrm>
                <a:off x="941832" y="4315968"/>
                <a:ext cx="4745736" cy="5029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sz="120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Shuffling (C2) causes much LESS disruption</a:t>
                </a:r>
                <a:endParaRPr lang="en-US" sz="1200" dirty="0"/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sz="120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than removing (C3).</a:t>
                </a:r>
                <a:endParaRPr lang="en-US" sz="1200" dirty="0"/>
              </a:p>
            </p:txBody>
          </p:sp>
          <p:sp>
            <p:nvSpPr>
              <p:cNvPr id="13" name="Shape 9"/>
              <p:cNvSpPr/>
              <p:nvPr/>
            </p:nvSpPr>
            <p:spPr>
              <a:xfrm>
                <a:off x="941832" y="4882896"/>
                <a:ext cx="4745736" cy="512064"/>
              </a:xfrm>
              <a:prstGeom prst="roundRect">
                <a:avLst>
                  <a:gd name="adj" fmla="val 16071"/>
                </a:avLst>
              </a:prstGeom>
              <a:solidFill>
                <a:srgbClr val="DCFCE7"/>
              </a:solidFill>
              <a:ln w="1524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 10"/>
              <p:cNvSpPr/>
              <p:nvPr/>
            </p:nvSpPr>
            <p:spPr>
              <a:xfrm>
                <a:off x="1051560" y="4937760"/>
                <a:ext cx="4526280" cy="40233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Ratio near 0  →  GOOD: the relation did real work.</a:t>
                </a:r>
                <a:endParaRPr lang="en-US" sz="1400" dirty="0"/>
              </a:p>
            </p:txBody>
          </p:sp>
          <p:sp>
            <p:nvSpPr>
              <p:cNvPr id="15" name="Shape 11"/>
              <p:cNvSpPr/>
              <p:nvPr/>
            </p:nvSpPr>
            <p:spPr>
              <a:xfrm>
                <a:off x="6309360" y="1664208"/>
                <a:ext cx="5074920" cy="3931920"/>
              </a:xfrm>
              <a:prstGeom prst="roundRect">
                <a:avLst>
                  <a:gd name="adj" fmla="val 3256"/>
                </a:avLst>
              </a:prstGeom>
              <a:ln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Shape 12"/>
              <p:cNvSpPr/>
              <p:nvPr/>
            </p:nvSpPr>
            <p:spPr>
              <a:xfrm>
                <a:off x="6309360" y="1664208"/>
                <a:ext cx="5074920" cy="457200"/>
              </a:xfrm>
              <a:prstGeom prst="roundRect">
                <a:avLst>
                  <a:gd name="adj" fmla="val 28000"/>
                </a:avLst>
              </a:prstGeom>
              <a:solidFill>
                <a:srgbClr val="BE123C"/>
              </a:solidFill>
              <a:ln w="12700">
                <a:solidFill>
                  <a:srgbClr val="BE123C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 13"/>
              <p:cNvSpPr/>
              <p:nvPr/>
            </p:nvSpPr>
            <p:spPr>
              <a:xfrm>
                <a:off x="6473952" y="1719072"/>
                <a:ext cx="4745736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If models IGNORE the relation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graphicFrame>
            <p:nvGraphicFramePr>
              <p:cNvPr id="18" name="Chart 1"/>
              <p:cNvGraphicFramePr/>
              <p:nvPr>
                <p:extLst>
                  <p:ext uri="{D42A27DB-BD31-4B8C-83A1-F6EECF244321}">
                    <p14:modId xmlns:p14="http://schemas.microsoft.com/office/powerpoint/2010/main" val="4019433109"/>
                  </p:ext>
                </p:extLst>
              </p:nvPr>
            </p:nvGraphicFramePr>
            <p:xfrm>
              <a:off x="6492240" y="2212848"/>
              <a:ext cx="4709160" cy="201168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19" name="Text 14"/>
              <p:cNvSpPr/>
              <p:nvPr/>
            </p:nvSpPr>
            <p:spPr>
              <a:xfrm>
                <a:off x="6473952" y="4315968"/>
                <a:ext cx="4745736" cy="5029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sz="120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Shuffling (C2) causes SIMILAR disruption</a:t>
                </a:r>
                <a:endParaRPr lang="en-US" sz="1200" dirty="0"/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sz="120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to removing (C3).</a:t>
                </a:r>
                <a:endParaRPr lang="en-US" sz="1200" dirty="0"/>
              </a:p>
            </p:txBody>
          </p:sp>
          <p:sp>
            <p:nvSpPr>
              <p:cNvPr id="20" name="Shape 15"/>
              <p:cNvSpPr/>
              <p:nvPr/>
            </p:nvSpPr>
            <p:spPr>
              <a:xfrm>
                <a:off x="6473952" y="4882896"/>
                <a:ext cx="4745736" cy="512064"/>
              </a:xfrm>
              <a:prstGeom prst="roundRect">
                <a:avLst>
                  <a:gd name="adj" fmla="val 16071"/>
                </a:avLst>
              </a:prstGeom>
              <a:solidFill>
                <a:srgbClr val="FFE4E6"/>
              </a:solidFill>
              <a:ln w="15240">
                <a:solidFill>
                  <a:srgbClr val="BE123C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 16"/>
              <p:cNvSpPr/>
              <p:nvPr/>
            </p:nvSpPr>
            <p:spPr>
              <a:xfrm>
                <a:off x="6492240" y="4937760"/>
                <a:ext cx="4727448" cy="40233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9F123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Ratio near 1  →  BAD: the relation added almost nothing.</a:t>
                </a:r>
                <a:endParaRPr lang="en-US" sz="1400" dirty="0"/>
              </a:p>
            </p:txBody>
          </p:sp>
        </p:grpSp>
        <p:sp>
          <p:nvSpPr>
            <p:cNvPr id="22" name="Shape 17"/>
            <p:cNvSpPr/>
            <p:nvPr/>
          </p:nvSpPr>
          <p:spPr>
            <a:xfrm>
              <a:off x="439947" y="5833872"/>
              <a:ext cx="11352362" cy="438912"/>
            </a:xfrm>
            <a:prstGeom prst="roundRect">
              <a:avLst>
                <a:gd name="adj" fmla="val 20833"/>
              </a:avLst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Text 18"/>
            <p:cNvSpPr/>
            <p:nvPr/>
          </p:nvSpPr>
          <p:spPr>
            <a:xfrm>
              <a:off x="439947" y="5817656"/>
              <a:ext cx="11312105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⚠️  Key direction: </a:t>
              </a:r>
              <a:r>
                <a:rPr lang="en-US" sz="1600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Higher Ratio = worse. Ratio near 1.0 means the correct relation added almost nothing beyond the entities alone.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EE764528-ADEC-3D9F-CF40-3414A7DC99DC}"/>
              </a:ext>
            </a:extLst>
          </p:cNvPr>
          <p:cNvGrpSpPr/>
          <p:nvPr/>
        </p:nvGrpSpPr>
        <p:grpSpPr>
          <a:xfrm>
            <a:off x="201168" y="256032"/>
            <a:ext cx="11625072" cy="6483096"/>
            <a:chOff x="201168" y="256032"/>
            <a:chExt cx="11625072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5486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MAIN RESULT</a:t>
              </a:r>
              <a:endParaRPr lang="en-US" sz="850" dirty="0"/>
            </a:p>
          </p:txBody>
        </p:sp>
        <p:pic>
          <p:nvPicPr>
            <p:cNvPr id="3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24128" y="6457696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</a:t>
              </a:r>
              <a:r>
                <a:rPr lang="en-US" sz="16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Arpinar</a:t>
              </a: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· SIGDIAL 2026</a:t>
              </a:r>
              <a:endParaRPr lang="en-US" sz="1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02920" y="457200"/>
              <a:ext cx="1115568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Shuffling a relation changes the response</a:t>
              </a:r>
              <a:endParaRPr lang="en-US" sz="30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almost as little as removing it entirely.</a:t>
              </a:r>
              <a:endParaRPr lang="en-US" sz="3000" dirty="0"/>
            </a:p>
          </p:txBody>
        </p:sp>
        <p:graphicFrame>
          <p:nvGraphicFramePr>
            <p:cNvPr id="7" name="Chart 0"/>
            <p:cNvGraphicFramePr/>
            <p:nvPr>
              <p:extLst>
                <p:ext uri="{D42A27DB-BD31-4B8C-83A1-F6EECF244321}">
                  <p14:modId xmlns:p14="http://schemas.microsoft.com/office/powerpoint/2010/main" val="2514118602"/>
                </p:ext>
              </p:extLst>
            </p:nvPr>
          </p:nvGraphicFramePr>
          <p:xfrm>
            <a:off x="502920" y="1664208"/>
            <a:ext cx="8072120" cy="463499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2E3D7D4-4662-8074-C784-BC04387C178E}"/>
                </a:ext>
              </a:extLst>
            </p:cNvPr>
            <p:cNvGrpSpPr/>
            <p:nvPr/>
          </p:nvGrpSpPr>
          <p:grpSpPr>
            <a:xfrm>
              <a:off x="9070848" y="1664208"/>
              <a:ext cx="2679192" cy="1408176"/>
              <a:chOff x="9070848" y="1664208"/>
              <a:chExt cx="2679192" cy="2148840"/>
            </a:xfrm>
          </p:grpSpPr>
          <p:sp>
            <p:nvSpPr>
              <p:cNvPr id="8" name="Shape 4"/>
              <p:cNvSpPr/>
              <p:nvPr/>
            </p:nvSpPr>
            <p:spPr>
              <a:xfrm>
                <a:off x="9070848" y="1664208"/>
                <a:ext cx="2679192" cy="2148840"/>
              </a:xfrm>
              <a:prstGeom prst="roundRect">
                <a:avLst>
                  <a:gd name="adj" fmla="val 5957"/>
                </a:avLst>
              </a:prstGeom>
              <a:solidFill>
                <a:srgbClr val="FFF5F5"/>
              </a:solidFill>
              <a:ln w="19050">
                <a:solidFill>
                  <a:srgbClr val="BE123C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 5"/>
              <p:cNvSpPr/>
              <p:nvPr/>
            </p:nvSpPr>
            <p:spPr>
              <a:xfrm>
                <a:off x="9107424" y="1828800"/>
                <a:ext cx="2606040" cy="32918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BE12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Ratio range</a:t>
                </a:r>
                <a:endParaRPr lang="en-US" sz="1200" dirty="0"/>
              </a:p>
            </p:txBody>
          </p:sp>
          <p:sp>
            <p:nvSpPr>
              <p:cNvPr id="10" name="Text 6"/>
              <p:cNvSpPr/>
              <p:nvPr/>
            </p:nvSpPr>
            <p:spPr>
              <a:xfrm>
                <a:off x="9107424" y="2176272"/>
                <a:ext cx="2606040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4000" b="1" dirty="0">
                    <a:solidFill>
                      <a:srgbClr val="1B2A5E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0.82–0.98</a:t>
                </a:r>
                <a:endParaRPr lang="en-US" sz="4000" dirty="0"/>
              </a:p>
            </p:txBody>
          </p:sp>
          <p:sp>
            <p:nvSpPr>
              <p:cNvPr id="11" name="Text 7"/>
              <p:cNvSpPr/>
              <p:nvPr/>
            </p:nvSpPr>
            <p:spPr>
              <a:xfrm>
                <a:off x="9107424" y="2944368"/>
                <a:ext cx="2606040" cy="53035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15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across all 12</a:t>
                </a:r>
                <a:endParaRPr lang="en-US" sz="1150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15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model-dataset pairs</a:t>
                </a:r>
                <a:endParaRPr lang="en-US" sz="1150" dirty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A2A10E0-62EA-C09A-3D54-CCCA346D6FB1}"/>
                </a:ext>
              </a:extLst>
            </p:cNvPr>
            <p:cNvGrpSpPr/>
            <p:nvPr/>
          </p:nvGrpSpPr>
          <p:grpSpPr>
            <a:xfrm>
              <a:off x="9070848" y="3263392"/>
              <a:ext cx="2755392" cy="818373"/>
              <a:chOff x="9070848" y="3913632"/>
              <a:chExt cx="2679192" cy="1051560"/>
            </a:xfrm>
          </p:grpSpPr>
          <p:sp>
            <p:nvSpPr>
              <p:cNvPr id="12" name="Shape 8"/>
              <p:cNvSpPr/>
              <p:nvPr/>
            </p:nvSpPr>
            <p:spPr>
              <a:xfrm>
                <a:off x="9070848" y="3913632"/>
                <a:ext cx="2679192" cy="1051560"/>
              </a:xfrm>
              <a:prstGeom prst="roundRect">
                <a:avLst>
                  <a:gd name="adj" fmla="val 12174"/>
                </a:avLst>
              </a:prstGeom>
              <a:solidFill>
                <a:srgbClr val="EEF2FF"/>
              </a:solidFill>
              <a:ln w="19050">
                <a:solidFill>
                  <a:srgbClr val="4C1D9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 9"/>
              <p:cNvSpPr/>
              <p:nvPr/>
            </p:nvSpPr>
            <p:spPr>
              <a:xfrm>
                <a:off x="9107424" y="4069080"/>
                <a:ext cx="2606040" cy="7498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sz="1400" b="1" dirty="0">
                    <a:solidFill>
                      <a:srgbClr val="7C3AE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Wilcoxon p &lt; 0.001</a:t>
                </a:r>
                <a:endParaRPr lang="en-US" sz="1400" dirty="0"/>
              </a:p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sz="1400" b="1" dirty="0">
                    <a:solidFill>
                      <a:srgbClr val="7C3AE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all 12 pairs</a:t>
                </a:r>
                <a:endParaRPr lang="en-US" sz="1400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2955D9B-6D19-E7A1-D822-613B3C1F94C3}"/>
                </a:ext>
              </a:extLst>
            </p:cNvPr>
            <p:cNvGrpSpPr/>
            <p:nvPr/>
          </p:nvGrpSpPr>
          <p:grpSpPr>
            <a:xfrm>
              <a:off x="9173405" y="4308699"/>
              <a:ext cx="1861312" cy="768512"/>
              <a:chOff x="9070848" y="5166360"/>
              <a:chExt cx="2651760" cy="804672"/>
            </a:xfrm>
          </p:grpSpPr>
          <p:sp>
            <p:nvSpPr>
              <p:cNvPr id="14" name="Shape 10"/>
              <p:cNvSpPr/>
              <p:nvPr/>
            </p:nvSpPr>
            <p:spPr>
              <a:xfrm>
                <a:off x="9070848" y="5166360"/>
                <a:ext cx="201168" cy="201168"/>
              </a:xfrm>
              <a:prstGeom prst="ellipse">
                <a:avLst/>
              </a:prstGeom>
              <a:solidFill>
                <a:srgbClr val="EF4444"/>
              </a:solidFill>
              <a:ln w="12700">
                <a:solidFill>
                  <a:srgbClr val="EF4444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 11"/>
              <p:cNvSpPr/>
              <p:nvPr/>
            </p:nvSpPr>
            <p:spPr>
              <a:xfrm>
                <a:off x="9345168" y="5166360"/>
                <a:ext cx="237744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≥ 0.95 — extreme</a:t>
                </a:r>
                <a:endParaRPr lang="en-US" sz="1100" dirty="0"/>
              </a:p>
            </p:txBody>
          </p:sp>
          <p:sp>
            <p:nvSpPr>
              <p:cNvPr id="16" name="Shape 12"/>
              <p:cNvSpPr/>
              <p:nvPr/>
            </p:nvSpPr>
            <p:spPr>
              <a:xfrm>
                <a:off x="9070848" y="5458968"/>
                <a:ext cx="201168" cy="201168"/>
              </a:xfrm>
              <a:prstGeom prst="ellipse">
                <a:avLst/>
              </a:prstGeom>
              <a:solidFill>
                <a:srgbClr val="F59E0B"/>
              </a:solidFill>
              <a:ln w="12700">
                <a:solidFill>
                  <a:srgbClr val="F59E0B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 13"/>
              <p:cNvSpPr/>
              <p:nvPr/>
            </p:nvSpPr>
            <p:spPr>
              <a:xfrm>
                <a:off x="9345168" y="5458968"/>
                <a:ext cx="237744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0.90–0.95</a:t>
                </a:r>
                <a:endParaRPr lang="en-US" sz="1100" dirty="0"/>
              </a:p>
            </p:txBody>
          </p:sp>
          <p:sp>
            <p:nvSpPr>
              <p:cNvPr id="18" name="Shape 14"/>
              <p:cNvSpPr/>
              <p:nvPr/>
            </p:nvSpPr>
            <p:spPr>
              <a:xfrm>
                <a:off x="9070848" y="5751576"/>
                <a:ext cx="201168" cy="201168"/>
              </a:xfrm>
              <a:prstGeom prst="ellipse">
                <a:avLst/>
              </a:prstGeom>
              <a:solidFill>
                <a:srgbClr val="7C3AED"/>
              </a:solidFill>
              <a:ln w="12700">
                <a:solidFill>
                  <a:srgbClr val="7C3AE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 15"/>
              <p:cNvSpPr/>
              <p:nvPr/>
            </p:nvSpPr>
            <p:spPr>
              <a:xfrm>
                <a:off x="9345168" y="5751576"/>
                <a:ext cx="2377440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&lt; 0.90</a:t>
                </a:r>
                <a:endParaRPr lang="en-US" sz="1100" dirty="0"/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7BD9EAC0-38C5-A937-53F6-B3C1CFAA3749}"/>
              </a:ext>
            </a:extLst>
          </p:cNvPr>
          <p:cNvGrpSpPr/>
          <p:nvPr/>
        </p:nvGrpSpPr>
        <p:grpSpPr>
          <a:xfrm>
            <a:off x="201168" y="256032"/>
            <a:ext cx="11457432" cy="6483096"/>
            <a:chOff x="201168" y="256032"/>
            <a:chExt cx="11457432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5486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STATISTICAL EVIDENCE</a:t>
              </a:r>
              <a:endParaRPr lang="en-US" sz="850" dirty="0"/>
            </a:p>
          </p:txBody>
        </p:sp>
        <p:pic>
          <p:nvPicPr>
            <p:cNvPr id="3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24128" y="6468434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Arpinar · SIGDIAL 2026</a:t>
              </a:r>
              <a:endParaRPr lang="en-US" sz="1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02920" y="475488"/>
              <a:ext cx="1115568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This is not noise.</a:t>
              </a:r>
              <a:endParaRPr lang="en-US" sz="3000" dirty="0"/>
            </a:p>
            <a:p>
              <a:pPr marL="0" indent="0">
                <a:lnSpc>
                  <a:spcPct val="108000"/>
                </a:lnSpc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It holds everywhere.</a:t>
              </a:r>
              <a:endParaRPr lang="en-US" sz="3000" dirty="0"/>
            </a:p>
          </p:txBody>
        </p:sp>
        <p:sp>
          <p:nvSpPr>
            <p:cNvPr id="7" name="Shape 4"/>
            <p:cNvSpPr/>
            <p:nvPr/>
          </p:nvSpPr>
          <p:spPr>
            <a:xfrm>
              <a:off x="502920" y="1627632"/>
              <a:ext cx="11155680" cy="1188720"/>
            </a:xfrm>
            <a:prstGeom prst="roundRect">
              <a:avLst>
                <a:gd name="adj" fmla="val 10769"/>
              </a:avLst>
            </a:prstGeom>
            <a:solidFill>
              <a:srgbClr val="F1F5F9"/>
            </a:solidFill>
            <a:ln w="25400">
              <a:solidFill>
                <a:srgbClr val="4C1D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5"/>
            <p:cNvSpPr/>
            <p:nvPr/>
          </p:nvSpPr>
          <p:spPr>
            <a:xfrm>
              <a:off x="731520" y="1783080"/>
              <a:ext cx="1074420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22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RSS(t) &lt; Div_C3(t) for every single model, on every single dataset.</a:t>
              </a:r>
              <a:endParaRPr lang="en-US" sz="2200" dirty="0"/>
            </a:p>
          </p:txBody>
        </p:sp>
        <p:sp>
          <p:nvSpPr>
            <p:cNvPr id="57" name="Text 54"/>
            <p:cNvSpPr/>
            <p:nvPr/>
          </p:nvSpPr>
          <p:spPr>
            <a:xfrm>
              <a:off x="502920" y="5998125"/>
              <a:ext cx="111556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One-sided Wilcoxon signed-rank test: H₁: RSS(t) &lt; Div_C3(t)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CE1A5A19-484B-CD80-7884-071151B72A2F}"/>
                </a:ext>
              </a:extLst>
            </p:cNvPr>
            <p:cNvGrpSpPr/>
            <p:nvPr/>
          </p:nvGrpSpPr>
          <p:grpSpPr>
            <a:xfrm>
              <a:off x="499921" y="2989439"/>
              <a:ext cx="10975799" cy="2747127"/>
              <a:chOff x="499921" y="2989439"/>
              <a:chExt cx="10975799" cy="2747127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3" name="Shape 10"/>
              <p:cNvSpPr/>
              <p:nvPr/>
            </p:nvSpPr>
            <p:spPr>
              <a:xfrm>
                <a:off x="3339336" y="2999231"/>
                <a:ext cx="2463553" cy="782909"/>
              </a:xfrm>
              <a:prstGeom prst="roundRect">
                <a:avLst>
                  <a:gd name="adj" fmla="val 13846"/>
                </a:avLst>
              </a:prstGeom>
              <a:solidFill>
                <a:srgbClr val="F1F5F9"/>
              </a:solidFill>
              <a:ln w="1270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14" name="Text 11"/>
              <p:cNvSpPr/>
              <p:nvPr/>
            </p:nvSpPr>
            <p:spPr>
              <a:xfrm>
                <a:off x="3472501" y="3071500"/>
                <a:ext cx="2197223" cy="337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GPT-4o-mini</a:t>
                </a:r>
                <a:endParaRPr lang="en-US" sz="1400" dirty="0"/>
              </a:p>
            </p:txBody>
          </p:sp>
          <p:sp>
            <p:nvSpPr>
              <p:cNvPr id="15" name="Text 12"/>
              <p:cNvSpPr/>
              <p:nvPr/>
            </p:nvSpPr>
            <p:spPr>
              <a:xfrm>
                <a:off x="3472501" y="3360574"/>
                <a:ext cx="2197223" cy="24089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200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OpenDialKG</a:t>
                </a:r>
                <a:endParaRPr lang="en-US" sz="1200" dirty="0"/>
              </a:p>
            </p:txBody>
          </p:sp>
          <p:sp>
            <p:nvSpPr>
              <p:cNvPr id="16" name="Text 13"/>
              <p:cNvSpPr/>
              <p:nvPr/>
            </p:nvSpPr>
            <p:spPr>
              <a:xfrm>
                <a:off x="3472501" y="3553290"/>
                <a:ext cx="2197223" cy="16862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 &lt;0.001</a:t>
                </a:r>
                <a:endParaRPr lang="en-US" sz="1400" dirty="0"/>
              </a:p>
            </p:txBody>
          </p:sp>
          <p:sp>
            <p:nvSpPr>
              <p:cNvPr id="17" name="Shape 14"/>
              <p:cNvSpPr/>
              <p:nvPr/>
            </p:nvSpPr>
            <p:spPr>
              <a:xfrm>
                <a:off x="6175751" y="2999231"/>
                <a:ext cx="2463553" cy="782909"/>
              </a:xfrm>
              <a:prstGeom prst="roundRect">
                <a:avLst>
                  <a:gd name="adj" fmla="val 13846"/>
                </a:avLst>
              </a:prstGeom>
              <a:solidFill>
                <a:srgbClr val="F1F5F9"/>
              </a:solidFill>
              <a:ln w="1270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18" name="Text 15"/>
              <p:cNvSpPr/>
              <p:nvPr/>
            </p:nvSpPr>
            <p:spPr>
              <a:xfrm>
                <a:off x="6308916" y="3071500"/>
                <a:ext cx="2197223" cy="337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Llama-3.1-70B</a:t>
                </a:r>
                <a:endParaRPr lang="en-US" sz="1400" dirty="0"/>
              </a:p>
            </p:txBody>
          </p:sp>
          <p:sp>
            <p:nvSpPr>
              <p:cNvPr id="19" name="Text 16"/>
              <p:cNvSpPr/>
              <p:nvPr/>
            </p:nvSpPr>
            <p:spPr>
              <a:xfrm>
                <a:off x="6308916" y="3360574"/>
                <a:ext cx="2197223" cy="24089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OpenDialKG</a:t>
                </a:r>
                <a:endParaRPr lang="en-US" sz="1200" dirty="0"/>
              </a:p>
            </p:txBody>
          </p:sp>
          <p:sp>
            <p:nvSpPr>
              <p:cNvPr id="20" name="Text 17"/>
              <p:cNvSpPr/>
              <p:nvPr/>
            </p:nvSpPr>
            <p:spPr>
              <a:xfrm>
                <a:off x="6308916" y="3553290"/>
                <a:ext cx="2197223" cy="16862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 &lt;0.001</a:t>
                </a:r>
                <a:endParaRPr lang="en-US" sz="1400" dirty="0"/>
              </a:p>
            </p:txBody>
          </p:sp>
          <p:sp>
            <p:nvSpPr>
              <p:cNvPr id="21" name="Shape 18"/>
              <p:cNvSpPr/>
              <p:nvPr/>
            </p:nvSpPr>
            <p:spPr>
              <a:xfrm>
                <a:off x="9012167" y="2999231"/>
                <a:ext cx="2463553" cy="782909"/>
              </a:xfrm>
              <a:prstGeom prst="roundRect">
                <a:avLst>
                  <a:gd name="adj" fmla="val 13846"/>
                </a:avLst>
              </a:prstGeom>
              <a:solidFill>
                <a:srgbClr val="F1F5F9"/>
              </a:solidFill>
              <a:ln w="1270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22" name="Text 19"/>
              <p:cNvSpPr/>
              <p:nvPr/>
            </p:nvSpPr>
            <p:spPr>
              <a:xfrm>
                <a:off x="9145332" y="3071500"/>
                <a:ext cx="2197223" cy="337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Llama-3.1-8B</a:t>
                </a:r>
                <a:endParaRPr lang="en-US" sz="1400" dirty="0"/>
              </a:p>
            </p:txBody>
          </p:sp>
          <p:sp>
            <p:nvSpPr>
              <p:cNvPr id="23" name="Text 20"/>
              <p:cNvSpPr/>
              <p:nvPr/>
            </p:nvSpPr>
            <p:spPr>
              <a:xfrm>
                <a:off x="9145332" y="3360574"/>
                <a:ext cx="2197223" cy="24089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OpenDialKG</a:t>
                </a:r>
                <a:endParaRPr lang="en-US" sz="1200" dirty="0"/>
              </a:p>
            </p:txBody>
          </p:sp>
          <p:sp>
            <p:nvSpPr>
              <p:cNvPr id="24" name="Text 21"/>
              <p:cNvSpPr/>
              <p:nvPr/>
            </p:nvSpPr>
            <p:spPr>
              <a:xfrm>
                <a:off x="9145332" y="3553290"/>
                <a:ext cx="2197223" cy="16862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 &lt;0.001</a:t>
                </a:r>
                <a:endParaRPr lang="en-US" sz="1400" dirty="0"/>
              </a:p>
            </p:txBody>
          </p:sp>
          <p:sp>
            <p:nvSpPr>
              <p:cNvPr id="25" name="Shape 22"/>
              <p:cNvSpPr/>
              <p:nvPr/>
            </p:nvSpPr>
            <p:spPr>
              <a:xfrm>
                <a:off x="504455" y="4953657"/>
                <a:ext cx="2463553" cy="782909"/>
              </a:xfrm>
              <a:prstGeom prst="roundRect">
                <a:avLst>
                  <a:gd name="adj" fmla="val 13846"/>
                </a:avLst>
              </a:prstGeom>
              <a:solidFill>
                <a:srgbClr val="F1F5F9"/>
              </a:solidFill>
              <a:ln w="1270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26" name="Text 23"/>
              <p:cNvSpPr/>
              <p:nvPr/>
            </p:nvSpPr>
            <p:spPr>
              <a:xfrm>
                <a:off x="637620" y="5025925"/>
                <a:ext cx="2197223" cy="337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Qwen2.5-7B</a:t>
                </a:r>
                <a:endParaRPr lang="en-US" sz="1400" dirty="0"/>
              </a:p>
            </p:txBody>
          </p:sp>
          <p:sp>
            <p:nvSpPr>
              <p:cNvPr id="27" name="Text 24"/>
              <p:cNvSpPr/>
              <p:nvPr/>
            </p:nvSpPr>
            <p:spPr>
              <a:xfrm>
                <a:off x="637620" y="5314999"/>
                <a:ext cx="2197223" cy="24089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OpenDialKG</a:t>
                </a:r>
                <a:endParaRPr lang="en-US" sz="1200" dirty="0"/>
              </a:p>
            </p:txBody>
          </p:sp>
          <p:sp>
            <p:nvSpPr>
              <p:cNvPr id="28" name="Text 25"/>
              <p:cNvSpPr/>
              <p:nvPr/>
            </p:nvSpPr>
            <p:spPr>
              <a:xfrm>
                <a:off x="637620" y="5507716"/>
                <a:ext cx="2197223" cy="16862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 &lt;0.001</a:t>
                </a:r>
                <a:endParaRPr lang="en-US" sz="1400" dirty="0"/>
              </a:p>
            </p:txBody>
          </p:sp>
          <p:sp>
            <p:nvSpPr>
              <p:cNvPr id="29" name="Shape 26"/>
              <p:cNvSpPr/>
              <p:nvPr/>
            </p:nvSpPr>
            <p:spPr>
              <a:xfrm>
                <a:off x="3340870" y="4953657"/>
                <a:ext cx="2463553" cy="782909"/>
              </a:xfrm>
              <a:prstGeom prst="roundRect">
                <a:avLst>
                  <a:gd name="adj" fmla="val 13846"/>
                </a:avLst>
              </a:prstGeom>
              <a:solidFill>
                <a:srgbClr val="F1F5F9"/>
              </a:solidFill>
              <a:ln w="1270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30" name="Text 27"/>
              <p:cNvSpPr/>
              <p:nvPr/>
            </p:nvSpPr>
            <p:spPr>
              <a:xfrm>
                <a:off x="3474036" y="5025925"/>
                <a:ext cx="2197223" cy="337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Qwen2.5-32B</a:t>
                </a:r>
                <a:endParaRPr lang="en-US" sz="1400" dirty="0"/>
              </a:p>
            </p:txBody>
          </p:sp>
          <p:sp>
            <p:nvSpPr>
              <p:cNvPr id="31" name="Text 28"/>
              <p:cNvSpPr/>
              <p:nvPr/>
            </p:nvSpPr>
            <p:spPr>
              <a:xfrm>
                <a:off x="3474036" y="5314999"/>
                <a:ext cx="2197223" cy="24089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OpenDialKG</a:t>
                </a:r>
                <a:endParaRPr lang="en-US" sz="1200" dirty="0"/>
              </a:p>
            </p:txBody>
          </p:sp>
          <p:sp>
            <p:nvSpPr>
              <p:cNvPr id="32" name="Text 29"/>
              <p:cNvSpPr/>
              <p:nvPr/>
            </p:nvSpPr>
            <p:spPr>
              <a:xfrm>
                <a:off x="3474036" y="5507716"/>
                <a:ext cx="2197223" cy="16862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 &lt;0.001</a:t>
                </a:r>
                <a:endParaRPr lang="en-US" sz="1400" dirty="0"/>
              </a:p>
            </p:txBody>
          </p:sp>
          <p:sp>
            <p:nvSpPr>
              <p:cNvPr id="33" name="Shape 30"/>
              <p:cNvSpPr/>
              <p:nvPr/>
            </p:nvSpPr>
            <p:spPr>
              <a:xfrm>
                <a:off x="502920" y="4023036"/>
                <a:ext cx="2463553" cy="782909"/>
              </a:xfrm>
              <a:prstGeom prst="roundRect">
                <a:avLst>
                  <a:gd name="adj" fmla="val 13846"/>
                </a:avLst>
              </a:prstGeom>
              <a:solidFill>
                <a:srgbClr val="F1F5F9"/>
              </a:solidFill>
              <a:ln w="12700">
                <a:solidFill>
                  <a:srgbClr val="4C1D95"/>
                </a:solidFill>
                <a:prstDash val="solid"/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34" name="Text 31"/>
              <p:cNvSpPr/>
              <p:nvPr/>
            </p:nvSpPr>
            <p:spPr>
              <a:xfrm>
                <a:off x="636085" y="4095304"/>
                <a:ext cx="2197223" cy="337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GPT-4o</a:t>
                </a:r>
                <a:endParaRPr lang="en-US" sz="1400" dirty="0"/>
              </a:p>
            </p:txBody>
          </p:sp>
          <p:sp>
            <p:nvSpPr>
              <p:cNvPr id="35" name="Text 32"/>
              <p:cNvSpPr/>
              <p:nvPr/>
            </p:nvSpPr>
            <p:spPr>
              <a:xfrm>
                <a:off x="636085" y="4384378"/>
                <a:ext cx="2197223" cy="24089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4C1D9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WoW-KG</a:t>
                </a:r>
                <a:endParaRPr lang="en-US" sz="1200" dirty="0"/>
              </a:p>
            </p:txBody>
          </p:sp>
          <p:sp>
            <p:nvSpPr>
              <p:cNvPr id="36" name="Text 33"/>
              <p:cNvSpPr/>
              <p:nvPr/>
            </p:nvSpPr>
            <p:spPr>
              <a:xfrm>
                <a:off x="636085" y="4577095"/>
                <a:ext cx="2197223" cy="16862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 &lt;0.001</a:t>
                </a:r>
                <a:endParaRPr lang="en-US" sz="1400" dirty="0"/>
              </a:p>
            </p:txBody>
          </p:sp>
          <p:sp>
            <p:nvSpPr>
              <p:cNvPr id="37" name="Shape 34"/>
              <p:cNvSpPr/>
              <p:nvPr/>
            </p:nvSpPr>
            <p:spPr>
              <a:xfrm>
                <a:off x="3339336" y="4023036"/>
                <a:ext cx="2463553" cy="782909"/>
              </a:xfrm>
              <a:prstGeom prst="roundRect">
                <a:avLst>
                  <a:gd name="adj" fmla="val 13846"/>
                </a:avLst>
              </a:prstGeom>
              <a:solidFill>
                <a:srgbClr val="F1F5F9"/>
              </a:solidFill>
              <a:ln w="12700">
                <a:solidFill>
                  <a:srgbClr val="4C1D95"/>
                </a:solidFill>
                <a:prstDash val="solid"/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38" name="Text 35"/>
              <p:cNvSpPr/>
              <p:nvPr/>
            </p:nvSpPr>
            <p:spPr>
              <a:xfrm>
                <a:off x="3472501" y="4095304"/>
                <a:ext cx="2197223" cy="337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GPT-4o-mini</a:t>
                </a:r>
                <a:endParaRPr lang="en-US" sz="1400" dirty="0"/>
              </a:p>
            </p:txBody>
          </p:sp>
          <p:sp>
            <p:nvSpPr>
              <p:cNvPr id="39" name="Text 36"/>
              <p:cNvSpPr/>
              <p:nvPr/>
            </p:nvSpPr>
            <p:spPr>
              <a:xfrm>
                <a:off x="3472501" y="4384378"/>
                <a:ext cx="2197223" cy="24089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4C1D9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WoW-KG</a:t>
                </a:r>
                <a:endParaRPr lang="en-US" sz="1200" dirty="0"/>
              </a:p>
            </p:txBody>
          </p:sp>
          <p:sp>
            <p:nvSpPr>
              <p:cNvPr id="40" name="Text 37"/>
              <p:cNvSpPr/>
              <p:nvPr/>
            </p:nvSpPr>
            <p:spPr>
              <a:xfrm>
                <a:off x="3472501" y="4577095"/>
                <a:ext cx="2197223" cy="16862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 &lt;0.001</a:t>
                </a:r>
                <a:endParaRPr lang="en-US" sz="1400" dirty="0"/>
              </a:p>
            </p:txBody>
          </p:sp>
          <p:sp>
            <p:nvSpPr>
              <p:cNvPr id="41" name="Shape 38"/>
              <p:cNvSpPr/>
              <p:nvPr/>
            </p:nvSpPr>
            <p:spPr>
              <a:xfrm>
                <a:off x="6175751" y="4023036"/>
                <a:ext cx="2463553" cy="782909"/>
              </a:xfrm>
              <a:prstGeom prst="roundRect">
                <a:avLst>
                  <a:gd name="adj" fmla="val 13846"/>
                </a:avLst>
              </a:prstGeom>
              <a:solidFill>
                <a:srgbClr val="F1F5F9"/>
              </a:solidFill>
              <a:ln w="12700">
                <a:solidFill>
                  <a:srgbClr val="4C1D95"/>
                </a:solidFill>
                <a:prstDash val="solid"/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42" name="Text 39"/>
              <p:cNvSpPr/>
              <p:nvPr/>
            </p:nvSpPr>
            <p:spPr>
              <a:xfrm>
                <a:off x="6308916" y="4095304"/>
                <a:ext cx="2197223" cy="337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Llama-3.1-70B</a:t>
                </a:r>
                <a:endParaRPr lang="en-US" sz="1400" dirty="0"/>
              </a:p>
            </p:txBody>
          </p:sp>
          <p:sp>
            <p:nvSpPr>
              <p:cNvPr id="43" name="Text 40"/>
              <p:cNvSpPr/>
              <p:nvPr/>
            </p:nvSpPr>
            <p:spPr>
              <a:xfrm>
                <a:off x="6308916" y="4384378"/>
                <a:ext cx="2197223" cy="24089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4C1D9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WoW-KG</a:t>
                </a:r>
                <a:endParaRPr lang="en-US" sz="1200" dirty="0"/>
              </a:p>
            </p:txBody>
          </p:sp>
          <p:sp>
            <p:nvSpPr>
              <p:cNvPr id="44" name="Text 41"/>
              <p:cNvSpPr/>
              <p:nvPr/>
            </p:nvSpPr>
            <p:spPr>
              <a:xfrm>
                <a:off x="6308916" y="4577095"/>
                <a:ext cx="2197223" cy="16862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 &lt;0.001</a:t>
                </a:r>
                <a:endParaRPr lang="en-US" sz="1400" dirty="0"/>
              </a:p>
            </p:txBody>
          </p:sp>
          <p:sp>
            <p:nvSpPr>
              <p:cNvPr id="45" name="Shape 42"/>
              <p:cNvSpPr/>
              <p:nvPr/>
            </p:nvSpPr>
            <p:spPr>
              <a:xfrm>
                <a:off x="9012167" y="4023036"/>
                <a:ext cx="2463553" cy="782909"/>
              </a:xfrm>
              <a:prstGeom prst="roundRect">
                <a:avLst>
                  <a:gd name="adj" fmla="val 13846"/>
                </a:avLst>
              </a:prstGeom>
              <a:solidFill>
                <a:srgbClr val="F1F5F9"/>
              </a:solidFill>
              <a:ln w="12700">
                <a:solidFill>
                  <a:srgbClr val="4C1D95"/>
                </a:solidFill>
                <a:prstDash val="solid"/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46" name="Text 43"/>
              <p:cNvSpPr/>
              <p:nvPr/>
            </p:nvSpPr>
            <p:spPr>
              <a:xfrm>
                <a:off x="9145332" y="4095304"/>
                <a:ext cx="2197223" cy="337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Llama-3.1-8B</a:t>
                </a:r>
                <a:endParaRPr lang="en-US" sz="1400" dirty="0"/>
              </a:p>
            </p:txBody>
          </p:sp>
          <p:sp>
            <p:nvSpPr>
              <p:cNvPr id="47" name="Text 44"/>
              <p:cNvSpPr/>
              <p:nvPr/>
            </p:nvSpPr>
            <p:spPr>
              <a:xfrm>
                <a:off x="9145332" y="4384378"/>
                <a:ext cx="2197223" cy="24089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4C1D9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WoW-KG</a:t>
                </a:r>
                <a:endParaRPr lang="en-US" sz="1200" dirty="0"/>
              </a:p>
            </p:txBody>
          </p:sp>
          <p:sp>
            <p:nvSpPr>
              <p:cNvPr id="48" name="Text 45"/>
              <p:cNvSpPr/>
              <p:nvPr/>
            </p:nvSpPr>
            <p:spPr>
              <a:xfrm>
                <a:off x="9145332" y="4577095"/>
                <a:ext cx="2197223" cy="16862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 &lt;0.001</a:t>
                </a:r>
                <a:endParaRPr lang="en-US" sz="1400" dirty="0"/>
              </a:p>
            </p:txBody>
          </p:sp>
          <p:sp>
            <p:nvSpPr>
              <p:cNvPr id="49" name="Shape 46"/>
              <p:cNvSpPr/>
              <p:nvPr/>
            </p:nvSpPr>
            <p:spPr>
              <a:xfrm>
                <a:off x="6170236" y="4920707"/>
                <a:ext cx="2463553" cy="782909"/>
              </a:xfrm>
              <a:prstGeom prst="roundRect">
                <a:avLst>
                  <a:gd name="adj" fmla="val 13846"/>
                </a:avLst>
              </a:prstGeom>
              <a:solidFill>
                <a:srgbClr val="F1F5F9"/>
              </a:solidFill>
              <a:ln w="12700">
                <a:solidFill>
                  <a:srgbClr val="4C1D95"/>
                </a:solidFill>
                <a:prstDash val="solid"/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50" name="Text 47"/>
              <p:cNvSpPr/>
              <p:nvPr/>
            </p:nvSpPr>
            <p:spPr>
              <a:xfrm>
                <a:off x="6303401" y="4992976"/>
                <a:ext cx="2197223" cy="337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Qwen2.5-7B</a:t>
                </a:r>
                <a:endParaRPr lang="en-US" sz="1400" dirty="0"/>
              </a:p>
            </p:txBody>
          </p:sp>
          <p:sp>
            <p:nvSpPr>
              <p:cNvPr id="51" name="Text 48"/>
              <p:cNvSpPr/>
              <p:nvPr/>
            </p:nvSpPr>
            <p:spPr>
              <a:xfrm>
                <a:off x="6303401" y="5282050"/>
                <a:ext cx="2197223" cy="24089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4C1D9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WoW-KG</a:t>
                </a:r>
                <a:endParaRPr lang="en-US" sz="1200" dirty="0"/>
              </a:p>
            </p:txBody>
          </p:sp>
          <p:sp>
            <p:nvSpPr>
              <p:cNvPr id="52" name="Text 49"/>
              <p:cNvSpPr/>
              <p:nvPr/>
            </p:nvSpPr>
            <p:spPr>
              <a:xfrm>
                <a:off x="6303401" y="5474766"/>
                <a:ext cx="2197223" cy="16862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 &lt;0.001</a:t>
                </a:r>
                <a:endParaRPr lang="en-US" sz="1400" dirty="0"/>
              </a:p>
            </p:txBody>
          </p:sp>
          <p:sp>
            <p:nvSpPr>
              <p:cNvPr id="53" name="Shape 50"/>
              <p:cNvSpPr/>
              <p:nvPr/>
            </p:nvSpPr>
            <p:spPr>
              <a:xfrm>
                <a:off x="9006652" y="4920707"/>
                <a:ext cx="2463553" cy="782909"/>
              </a:xfrm>
              <a:prstGeom prst="roundRect">
                <a:avLst>
                  <a:gd name="adj" fmla="val 13846"/>
                </a:avLst>
              </a:prstGeom>
              <a:solidFill>
                <a:srgbClr val="F1F5F9"/>
              </a:solidFill>
              <a:ln w="12700">
                <a:solidFill>
                  <a:srgbClr val="4C1D95"/>
                </a:solidFill>
                <a:prstDash val="solid"/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54" name="Text 51"/>
              <p:cNvSpPr/>
              <p:nvPr/>
            </p:nvSpPr>
            <p:spPr>
              <a:xfrm>
                <a:off x="9139817" y="4992976"/>
                <a:ext cx="2197223" cy="33725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B2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Qwen2.5-32B</a:t>
                </a:r>
                <a:endParaRPr lang="en-US" sz="1400" dirty="0"/>
              </a:p>
            </p:txBody>
          </p:sp>
          <p:sp>
            <p:nvSpPr>
              <p:cNvPr id="55" name="Text 52"/>
              <p:cNvSpPr/>
              <p:nvPr/>
            </p:nvSpPr>
            <p:spPr>
              <a:xfrm>
                <a:off x="9139817" y="5282050"/>
                <a:ext cx="2197223" cy="24089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4C1D9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WoW-KG</a:t>
                </a:r>
                <a:endParaRPr lang="en-US" sz="1200" dirty="0"/>
              </a:p>
            </p:txBody>
          </p:sp>
          <p:sp>
            <p:nvSpPr>
              <p:cNvPr id="56" name="Text 53"/>
              <p:cNvSpPr/>
              <p:nvPr/>
            </p:nvSpPr>
            <p:spPr>
              <a:xfrm>
                <a:off x="9139817" y="5474766"/>
                <a:ext cx="2197223" cy="16862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 &lt;0.001</a:t>
                </a:r>
                <a:endParaRPr lang="en-US" sz="1400" dirty="0"/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4FC9D32E-1304-F652-D124-27CEB8E3C05D}"/>
                  </a:ext>
                </a:extLst>
              </p:cNvPr>
              <p:cNvGrpSpPr/>
              <p:nvPr/>
            </p:nvGrpSpPr>
            <p:grpSpPr>
              <a:xfrm>
                <a:off x="499921" y="2989439"/>
                <a:ext cx="2463553" cy="782909"/>
                <a:chOff x="430913" y="2989439"/>
                <a:chExt cx="2463553" cy="782909"/>
              </a:xfrm>
            </p:grpSpPr>
            <p:sp>
              <p:nvSpPr>
                <p:cNvPr id="9" name="Shape 6"/>
                <p:cNvSpPr/>
                <p:nvPr/>
              </p:nvSpPr>
              <p:spPr>
                <a:xfrm>
                  <a:off x="430913" y="2989439"/>
                  <a:ext cx="2463553" cy="782909"/>
                </a:xfrm>
                <a:prstGeom prst="roundRect">
                  <a:avLst>
                    <a:gd name="adj" fmla="val 13846"/>
                  </a:avLst>
                </a:prstGeom>
                <a:solidFill>
                  <a:srgbClr val="F1F5F9"/>
                </a:solidFill>
                <a:ln w="12700">
                  <a:solidFill>
                    <a:srgbClr val="059669"/>
                  </a:solidFill>
                  <a:prstDash val="solid"/>
                </a:ln>
              </p:spPr>
              <p:txBody>
                <a:bodyPr/>
                <a:lstStyle/>
                <a:p>
                  <a:endParaRPr lang="en-US" sz="1400" dirty="0"/>
                </a:p>
              </p:txBody>
            </p:sp>
            <p:sp>
              <p:nvSpPr>
                <p:cNvPr id="10" name="Text 7"/>
                <p:cNvSpPr/>
                <p:nvPr/>
              </p:nvSpPr>
              <p:spPr>
                <a:xfrm>
                  <a:off x="636085" y="3071500"/>
                  <a:ext cx="2197223" cy="337253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b="1" dirty="0">
                      <a:solidFill>
                        <a:srgbClr val="1B2A5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GPT-4o</a:t>
                  </a:r>
                  <a:endParaRPr lang="en-US" sz="1400" dirty="0"/>
                </a:p>
              </p:txBody>
            </p:sp>
            <p:sp>
              <p:nvSpPr>
                <p:cNvPr id="11" name="Text 8"/>
                <p:cNvSpPr/>
                <p:nvPr/>
              </p:nvSpPr>
              <p:spPr>
                <a:xfrm>
                  <a:off x="636085" y="3360574"/>
                  <a:ext cx="2197223" cy="240895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200" dirty="0">
                      <a:solidFill>
                        <a:srgbClr val="059669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OpenDialKG</a:t>
                  </a:r>
                  <a:endParaRPr lang="en-US" sz="1200" dirty="0"/>
                </a:p>
              </p:txBody>
            </p:sp>
            <p:sp>
              <p:nvSpPr>
                <p:cNvPr id="12" name="Text 9"/>
                <p:cNvSpPr/>
                <p:nvPr/>
              </p:nvSpPr>
              <p:spPr>
                <a:xfrm>
                  <a:off x="636085" y="3553290"/>
                  <a:ext cx="2197223" cy="168627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100" b="1" dirty="0">
                      <a:solidFill>
                        <a:srgbClr val="059669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 &lt;0.001</a:t>
                  </a:r>
                  <a:endParaRPr lang="en-US" sz="1100" dirty="0"/>
                </a:p>
              </p:txBody>
            </p:sp>
            <p:pic>
              <p:nvPicPr>
                <p:cNvPr id="58" name="Image 1" descr="/home/claude/logo_openai.png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66978" y="3071500"/>
                  <a:ext cx="319596" cy="289074"/>
                </a:xfrm>
                <a:prstGeom prst="rect">
                  <a:avLst/>
                </a:prstGeom>
              </p:spPr>
            </p:pic>
          </p:grpSp>
          <p:pic>
            <p:nvPicPr>
              <p:cNvPr id="59" name="Image 2" descr="/home/claude/logo_openai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3394" y="3071500"/>
                <a:ext cx="319596" cy="289074"/>
              </a:xfrm>
              <a:prstGeom prst="rect">
                <a:avLst/>
              </a:prstGeom>
            </p:spPr>
          </p:pic>
          <p:pic>
            <p:nvPicPr>
              <p:cNvPr id="60" name="Image 3" descr="/home/claude/logo_meta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39809" y="3071500"/>
                <a:ext cx="319596" cy="289074"/>
              </a:xfrm>
              <a:prstGeom prst="rect">
                <a:avLst/>
              </a:prstGeom>
            </p:spPr>
          </p:pic>
          <p:pic>
            <p:nvPicPr>
              <p:cNvPr id="61" name="Image 4" descr="/home/claude/logo_meta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76225" y="3071500"/>
                <a:ext cx="319596" cy="289074"/>
              </a:xfrm>
              <a:prstGeom prst="rect">
                <a:avLst/>
              </a:prstGeom>
            </p:spPr>
          </p:pic>
          <p:pic>
            <p:nvPicPr>
              <p:cNvPr id="62" name="Image 5" descr="/home/claude/logo_qwen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8513" y="5025925"/>
                <a:ext cx="319596" cy="289074"/>
              </a:xfrm>
              <a:prstGeom prst="rect">
                <a:avLst/>
              </a:prstGeom>
            </p:spPr>
          </p:pic>
          <p:pic>
            <p:nvPicPr>
              <p:cNvPr id="63" name="Image 6" descr="/home/claude/logo_qwen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04929" y="5025925"/>
                <a:ext cx="319596" cy="289074"/>
              </a:xfrm>
              <a:prstGeom prst="rect">
                <a:avLst/>
              </a:prstGeom>
            </p:spPr>
          </p:pic>
          <p:pic>
            <p:nvPicPr>
              <p:cNvPr id="64" name="Image 7" descr="/home/claude/logo_openai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66978" y="4095304"/>
                <a:ext cx="319596" cy="289074"/>
              </a:xfrm>
              <a:prstGeom prst="rect">
                <a:avLst/>
              </a:prstGeom>
            </p:spPr>
          </p:pic>
          <p:pic>
            <p:nvPicPr>
              <p:cNvPr id="65" name="Image 8" descr="/home/claude/logo_openai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3394" y="4095304"/>
                <a:ext cx="319596" cy="289074"/>
              </a:xfrm>
              <a:prstGeom prst="rect">
                <a:avLst/>
              </a:prstGeom>
            </p:spPr>
          </p:pic>
          <p:pic>
            <p:nvPicPr>
              <p:cNvPr id="66" name="Image 9" descr="/home/claude/logo_meta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39809" y="4095304"/>
                <a:ext cx="319596" cy="289074"/>
              </a:xfrm>
              <a:prstGeom prst="rect">
                <a:avLst/>
              </a:prstGeom>
            </p:spPr>
          </p:pic>
          <p:pic>
            <p:nvPicPr>
              <p:cNvPr id="67" name="Image 10" descr="/home/claude/logo_meta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76225" y="4095304"/>
                <a:ext cx="319596" cy="289074"/>
              </a:xfrm>
              <a:prstGeom prst="rect">
                <a:avLst/>
              </a:prstGeom>
            </p:spPr>
          </p:pic>
          <p:pic>
            <p:nvPicPr>
              <p:cNvPr id="68" name="Image 11" descr="/home/claude/logo_qwen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34294" y="4992976"/>
                <a:ext cx="319596" cy="289074"/>
              </a:xfrm>
              <a:prstGeom prst="rect">
                <a:avLst/>
              </a:prstGeom>
            </p:spPr>
          </p:pic>
          <p:pic>
            <p:nvPicPr>
              <p:cNvPr id="69" name="Image 12" descr="/home/claude/logo_qwen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70710" y="4992976"/>
                <a:ext cx="319596" cy="289074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02C3FFB8-7C68-8A26-A353-EDFC44EF0B4C}"/>
              </a:ext>
            </a:extLst>
          </p:cNvPr>
          <p:cNvGrpSpPr/>
          <p:nvPr/>
        </p:nvGrpSpPr>
        <p:grpSpPr>
          <a:xfrm>
            <a:off x="201168" y="256032"/>
            <a:ext cx="11483310" cy="6483096"/>
            <a:chOff x="201168" y="256032"/>
            <a:chExt cx="11483310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5486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FINDING — SCALE</a:t>
              </a:r>
              <a:endParaRPr lang="en-US" sz="850" dirty="0"/>
            </a:p>
          </p:txBody>
        </p:sp>
        <p:pic>
          <p:nvPicPr>
            <p:cNvPr id="3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24128" y="6468434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Arpinar · SIGDIAL 2026</a:t>
              </a:r>
              <a:endParaRPr lang="en-US" sz="1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02920" y="457200"/>
              <a:ext cx="1115568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You might think bigger models fix it.</a:t>
              </a:r>
              <a:endParaRPr lang="en-US" sz="30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They don't. They make it worse.</a:t>
              </a:r>
              <a:endParaRPr lang="en-US" sz="3000" dirty="0"/>
            </a:p>
          </p:txBody>
        </p:sp>
        <p:sp>
          <p:nvSpPr>
            <p:cNvPr id="33" name="Shape 30"/>
            <p:cNvSpPr/>
            <p:nvPr/>
          </p:nvSpPr>
          <p:spPr>
            <a:xfrm>
              <a:off x="528798" y="5152558"/>
              <a:ext cx="11155680" cy="1005840"/>
            </a:xfrm>
            <a:prstGeom prst="roundRect">
              <a:avLst>
                <a:gd name="adj" fmla="val 10909"/>
              </a:avLst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1"/>
            <p:cNvSpPr/>
            <p:nvPr/>
          </p:nvSpPr>
          <p:spPr>
            <a:xfrm>
              <a:off x="757398" y="5252624"/>
              <a:ext cx="10744200" cy="8046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5000"/>
                </a:lnSpc>
                <a:buNone/>
              </a:pPr>
              <a:r>
                <a:rPr lang="en-US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Why? Stronger parametric recall means the model leans even harder on what it already knows about the entity.</a:t>
              </a:r>
              <a:endParaRPr lang="en-US" dirty="0"/>
            </a:p>
            <a:p>
              <a:pPr marL="0" indent="0">
                <a:lnSpc>
                  <a:spcPct val="135000"/>
                </a:lnSpc>
                <a:buNone/>
              </a:pPr>
              <a:r>
                <a:rPr lang="en-US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More world knowledge → more entity salience → relation label becomes even more irrelevant.</a:t>
              </a:r>
              <a:endParaRPr lang="en-US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CEF79B7-3F07-135B-5079-407B2A1B9D4E}"/>
                </a:ext>
              </a:extLst>
            </p:cNvPr>
            <p:cNvGrpSpPr/>
            <p:nvPr/>
          </p:nvGrpSpPr>
          <p:grpSpPr>
            <a:xfrm>
              <a:off x="1374182" y="1948876"/>
              <a:ext cx="8925752" cy="2637264"/>
              <a:chOff x="502920" y="1664208"/>
              <a:chExt cx="11022391" cy="2962150"/>
            </a:xfrm>
          </p:grpSpPr>
          <p:sp>
            <p:nvSpPr>
              <p:cNvPr id="7" name="Text 4"/>
              <p:cNvSpPr/>
              <p:nvPr/>
            </p:nvSpPr>
            <p:spPr>
              <a:xfrm>
                <a:off x="1024128" y="1664208"/>
                <a:ext cx="4553712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1B2A5E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Llama-3.1</a:t>
                </a:r>
                <a:endParaRPr lang="en-US" sz="2400" dirty="0"/>
              </a:p>
            </p:txBody>
          </p:sp>
          <p:sp>
            <p:nvSpPr>
              <p:cNvPr id="8" name="Text 5"/>
              <p:cNvSpPr/>
              <p:nvPr/>
            </p:nvSpPr>
            <p:spPr>
              <a:xfrm>
                <a:off x="1004926" y="2286000"/>
                <a:ext cx="503834" cy="42062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8B</a:t>
                </a:r>
                <a:endParaRPr lang="en-US" sz="1500" dirty="0"/>
              </a:p>
            </p:txBody>
          </p:sp>
          <p:sp>
            <p:nvSpPr>
              <p:cNvPr id="9" name="Shape 6"/>
              <p:cNvSpPr/>
              <p:nvPr/>
            </p:nvSpPr>
            <p:spPr>
              <a:xfrm>
                <a:off x="1581912" y="2322576"/>
                <a:ext cx="3794760" cy="329184"/>
              </a:xfrm>
              <a:prstGeom prst="roundRect">
                <a:avLst>
                  <a:gd name="adj" fmla="val 16667"/>
                </a:avLst>
              </a:prstGeom>
              <a:solidFill>
                <a:srgbClr val="E2E8F0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Shape 7"/>
              <p:cNvSpPr/>
              <p:nvPr/>
            </p:nvSpPr>
            <p:spPr>
              <a:xfrm>
                <a:off x="1581912" y="2322576"/>
                <a:ext cx="1077712" cy="329184"/>
              </a:xfrm>
              <a:prstGeom prst="roundRect">
                <a:avLst>
                  <a:gd name="adj" fmla="val 16667"/>
                </a:avLst>
              </a:prstGeom>
              <a:solidFill>
                <a:srgbClr val="059669"/>
              </a:solidFill>
              <a:ln w="1270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 8"/>
              <p:cNvSpPr/>
              <p:nvPr/>
            </p:nvSpPr>
            <p:spPr>
              <a:xfrm>
                <a:off x="2732776" y="2304288"/>
                <a:ext cx="64008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0.821</a:t>
                </a:r>
                <a:endParaRPr lang="en-US" sz="1300" dirty="0"/>
              </a:p>
            </p:txBody>
          </p:sp>
          <p:sp>
            <p:nvSpPr>
              <p:cNvPr id="12" name="Text 9"/>
              <p:cNvSpPr/>
              <p:nvPr/>
            </p:nvSpPr>
            <p:spPr>
              <a:xfrm>
                <a:off x="502920" y="2761488"/>
                <a:ext cx="507492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Smaller model</a:t>
                </a:r>
                <a:endParaRPr lang="en-US" sz="1050" dirty="0"/>
              </a:p>
            </p:txBody>
          </p:sp>
          <p:sp>
            <p:nvSpPr>
              <p:cNvPr id="20" name="Text 17"/>
              <p:cNvSpPr/>
              <p:nvPr/>
            </p:nvSpPr>
            <p:spPr>
              <a:xfrm>
                <a:off x="6784848" y="1664208"/>
                <a:ext cx="4553712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1B2A5E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Qwen-2.5</a:t>
                </a:r>
                <a:endParaRPr lang="en-US" sz="2400" dirty="0"/>
              </a:p>
            </p:txBody>
          </p:sp>
          <p:sp>
            <p:nvSpPr>
              <p:cNvPr id="21" name="Text 18"/>
              <p:cNvSpPr/>
              <p:nvPr/>
            </p:nvSpPr>
            <p:spPr>
              <a:xfrm>
                <a:off x="6656656" y="2286000"/>
                <a:ext cx="612824" cy="42062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7B</a:t>
                </a:r>
                <a:endParaRPr lang="en-US" sz="1500" dirty="0"/>
              </a:p>
            </p:txBody>
          </p:sp>
          <p:sp>
            <p:nvSpPr>
              <p:cNvPr id="22" name="Shape 19"/>
              <p:cNvSpPr/>
              <p:nvPr/>
            </p:nvSpPr>
            <p:spPr>
              <a:xfrm>
                <a:off x="7342632" y="2322576"/>
                <a:ext cx="3794760" cy="329184"/>
              </a:xfrm>
              <a:prstGeom prst="roundRect">
                <a:avLst>
                  <a:gd name="adj" fmla="val 16667"/>
                </a:avLst>
              </a:prstGeom>
              <a:solidFill>
                <a:srgbClr val="E2E8F0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Shape 20"/>
              <p:cNvSpPr/>
              <p:nvPr/>
            </p:nvSpPr>
            <p:spPr>
              <a:xfrm>
                <a:off x="7342632" y="2322576"/>
                <a:ext cx="2504542" cy="329184"/>
              </a:xfrm>
              <a:prstGeom prst="roundRect">
                <a:avLst>
                  <a:gd name="adj" fmla="val 16667"/>
                </a:avLst>
              </a:prstGeom>
              <a:solidFill>
                <a:srgbClr val="059669"/>
              </a:solidFill>
              <a:ln w="12700">
                <a:solidFill>
                  <a:srgbClr val="059669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 21"/>
              <p:cNvSpPr/>
              <p:nvPr/>
            </p:nvSpPr>
            <p:spPr>
              <a:xfrm>
                <a:off x="9920326" y="2304288"/>
                <a:ext cx="64008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0596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0.915</a:t>
                </a:r>
                <a:endParaRPr lang="en-US" sz="1300" dirty="0"/>
              </a:p>
            </p:txBody>
          </p:sp>
          <p:sp>
            <p:nvSpPr>
              <p:cNvPr id="25" name="Text 22"/>
              <p:cNvSpPr/>
              <p:nvPr/>
            </p:nvSpPr>
            <p:spPr>
              <a:xfrm>
                <a:off x="6263640" y="2761488"/>
                <a:ext cx="507492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Smaller model</a:t>
                </a:r>
                <a:endParaRPr lang="en-US" sz="1050" dirty="0"/>
              </a:p>
            </p:txBody>
          </p:sp>
          <p:pic>
            <p:nvPicPr>
              <p:cNvPr id="35" name="Image 1" descr="/home/claude/logo_meta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7852" y="1709928"/>
                <a:ext cx="384048" cy="384048"/>
              </a:xfrm>
              <a:prstGeom prst="rect">
                <a:avLst/>
              </a:prstGeom>
            </p:spPr>
          </p:pic>
          <p:pic>
            <p:nvPicPr>
              <p:cNvPr id="36" name="Image 2" descr="/home/claude/logo_meta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169" y="2406426"/>
                <a:ext cx="256032" cy="256032"/>
              </a:xfrm>
              <a:prstGeom prst="rect">
                <a:avLst/>
              </a:prstGeom>
            </p:spPr>
          </p:pic>
          <p:pic>
            <p:nvPicPr>
              <p:cNvPr id="38" name="Image 4" descr="/home/claude/logo_qwen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39561" y="1709928"/>
                <a:ext cx="384048" cy="384048"/>
              </a:xfrm>
              <a:prstGeom prst="rect">
                <a:avLst/>
              </a:prstGeom>
            </p:spPr>
          </p:pic>
          <p:pic>
            <p:nvPicPr>
              <p:cNvPr id="39" name="Image 5" descr="/home/claude/logo_qwen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83373" y="2397800"/>
                <a:ext cx="256032" cy="256032"/>
              </a:xfrm>
              <a:prstGeom prst="rect">
                <a:avLst/>
              </a:prstGeom>
            </p:spPr>
          </p:pic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2AE40165-6951-6CD3-4514-59E5B70A866D}"/>
                  </a:ext>
                </a:extLst>
              </p:cNvPr>
              <p:cNvGrpSpPr/>
              <p:nvPr/>
            </p:nvGrpSpPr>
            <p:grpSpPr>
              <a:xfrm>
                <a:off x="511546" y="3215934"/>
                <a:ext cx="11013765" cy="1410424"/>
                <a:chOff x="502920" y="3474720"/>
                <a:chExt cx="11013765" cy="1410424"/>
              </a:xfrm>
            </p:grpSpPr>
            <p:sp>
              <p:nvSpPr>
                <p:cNvPr id="13" name="Text 10"/>
                <p:cNvSpPr/>
                <p:nvPr/>
              </p:nvSpPr>
              <p:spPr>
                <a:xfrm>
                  <a:off x="914400" y="3474720"/>
                  <a:ext cx="594360" cy="42062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500" b="1" dirty="0">
                      <a:solidFill>
                        <a:srgbClr val="BE123C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70B</a:t>
                  </a:r>
                  <a:endParaRPr lang="en-US" sz="1500" dirty="0"/>
                </a:p>
              </p:txBody>
            </p:sp>
            <p:sp>
              <p:nvSpPr>
                <p:cNvPr id="14" name="Shape 11"/>
                <p:cNvSpPr/>
                <p:nvPr/>
              </p:nvSpPr>
              <p:spPr>
                <a:xfrm>
                  <a:off x="1581912" y="3511296"/>
                  <a:ext cx="3794760" cy="32918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8F0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Shape 12"/>
                <p:cNvSpPr/>
                <p:nvPr/>
              </p:nvSpPr>
              <p:spPr>
                <a:xfrm>
                  <a:off x="1581912" y="3511296"/>
                  <a:ext cx="3172419" cy="32918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E123C"/>
                </a:solidFill>
                <a:ln w="12700">
                  <a:solidFill>
                    <a:srgbClr val="BE123C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Text 13"/>
                <p:cNvSpPr/>
                <p:nvPr/>
              </p:nvSpPr>
              <p:spPr>
                <a:xfrm>
                  <a:off x="4827483" y="3493008"/>
                  <a:ext cx="64008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300" b="1" dirty="0">
                      <a:solidFill>
                        <a:srgbClr val="BE123C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0.959</a:t>
                  </a:r>
                  <a:endParaRPr lang="en-US" sz="1300" dirty="0"/>
                </a:p>
              </p:txBody>
            </p:sp>
            <p:sp>
              <p:nvSpPr>
                <p:cNvPr id="17" name="Text 14"/>
                <p:cNvSpPr/>
                <p:nvPr/>
              </p:nvSpPr>
              <p:spPr>
                <a:xfrm>
                  <a:off x="502920" y="3950208"/>
                  <a:ext cx="5074920" cy="25603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050" dirty="0">
                      <a:solidFill>
                        <a:srgbClr val="94A3B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Larger model</a:t>
                  </a:r>
                  <a:endParaRPr lang="en-US" sz="1050" dirty="0"/>
                </a:p>
              </p:txBody>
            </p:sp>
            <p:sp>
              <p:nvSpPr>
                <p:cNvPr id="18" name="Shape 15"/>
                <p:cNvSpPr/>
                <p:nvPr/>
              </p:nvSpPr>
              <p:spPr>
                <a:xfrm>
                  <a:off x="1564660" y="4382224"/>
                  <a:ext cx="3794760" cy="502920"/>
                </a:xfrm>
                <a:prstGeom prst="roundRect">
                  <a:avLst>
                    <a:gd name="adj" fmla="val 18182"/>
                  </a:avLst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2"/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Text 16"/>
                <p:cNvSpPr/>
                <p:nvPr/>
              </p:nvSpPr>
              <p:spPr>
                <a:xfrm>
                  <a:off x="563310" y="4473664"/>
                  <a:ext cx="37947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300" b="1" dirty="0">
                      <a:solidFill>
                        <a:srgbClr val="BE123C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Larger model: +0.063 - 0.138 worse</a:t>
                  </a:r>
                  <a:endParaRPr lang="en-US" sz="1300" dirty="0"/>
                </a:p>
              </p:txBody>
            </p:sp>
            <p:sp>
              <p:nvSpPr>
                <p:cNvPr id="26" name="Text 23"/>
                <p:cNvSpPr/>
                <p:nvPr/>
              </p:nvSpPr>
              <p:spPr>
                <a:xfrm>
                  <a:off x="6629400" y="3474720"/>
                  <a:ext cx="640080" cy="42062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500" b="1" dirty="0">
                      <a:solidFill>
                        <a:srgbClr val="BE123C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32B</a:t>
                  </a:r>
                  <a:endParaRPr lang="en-US" sz="1500" dirty="0"/>
                </a:p>
              </p:txBody>
            </p:sp>
            <p:sp>
              <p:nvSpPr>
                <p:cNvPr id="27" name="Shape 24"/>
                <p:cNvSpPr/>
                <p:nvPr/>
              </p:nvSpPr>
              <p:spPr>
                <a:xfrm>
                  <a:off x="7342632" y="3511296"/>
                  <a:ext cx="3794760" cy="32918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8F0"/>
                </a:solidFill>
                <a:ln w="12700">
                  <a:solidFill>
                    <a:srgbClr val="E2E8F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Shape 25"/>
                <p:cNvSpPr/>
                <p:nvPr/>
              </p:nvSpPr>
              <p:spPr>
                <a:xfrm>
                  <a:off x="7342632" y="3511296"/>
                  <a:ext cx="3460821" cy="32918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E123C"/>
                </a:solidFill>
                <a:ln w="12700">
                  <a:solidFill>
                    <a:srgbClr val="BE123C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Text 26"/>
                <p:cNvSpPr/>
                <p:nvPr/>
              </p:nvSpPr>
              <p:spPr>
                <a:xfrm>
                  <a:off x="10876605" y="3493008"/>
                  <a:ext cx="64008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300" b="1" dirty="0">
                      <a:solidFill>
                        <a:srgbClr val="BE123C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0.978</a:t>
                  </a:r>
                  <a:endParaRPr lang="en-US" sz="1300" dirty="0"/>
                </a:p>
              </p:txBody>
            </p:sp>
            <p:sp>
              <p:nvSpPr>
                <p:cNvPr id="30" name="Text 27"/>
                <p:cNvSpPr/>
                <p:nvPr/>
              </p:nvSpPr>
              <p:spPr>
                <a:xfrm>
                  <a:off x="6263640" y="3950208"/>
                  <a:ext cx="5074920" cy="25603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050" dirty="0">
                      <a:solidFill>
                        <a:srgbClr val="94A3B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Larger model</a:t>
                  </a:r>
                  <a:endParaRPr lang="en-US" sz="1050" dirty="0"/>
                </a:p>
              </p:txBody>
            </p:sp>
            <p:sp>
              <p:nvSpPr>
                <p:cNvPr id="31" name="Shape 28"/>
                <p:cNvSpPr/>
                <p:nvPr/>
              </p:nvSpPr>
              <p:spPr>
                <a:xfrm>
                  <a:off x="7342632" y="4382216"/>
                  <a:ext cx="3794760" cy="502920"/>
                </a:xfrm>
                <a:prstGeom prst="roundRect">
                  <a:avLst>
                    <a:gd name="adj" fmla="val 18182"/>
                  </a:avLst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3"/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  <p:pic>
              <p:nvPicPr>
                <p:cNvPr id="37" name="Image 3" descr="/home/claude/logo_meta.png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3036" y="3586520"/>
                  <a:ext cx="256032" cy="256032"/>
                </a:xfrm>
                <a:prstGeom prst="rect">
                  <a:avLst/>
                </a:prstGeom>
              </p:spPr>
            </p:pic>
            <p:pic>
              <p:nvPicPr>
                <p:cNvPr id="40" name="Image 6" descr="/home/claude/logo_qwe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00624" y="3595146"/>
                  <a:ext cx="256032" cy="256032"/>
                </a:xfrm>
                <a:prstGeom prst="rect">
                  <a:avLst/>
                </a:prstGeom>
              </p:spPr>
            </p:pic>
          </p:grp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FBD2E5F0-05D4-E4A3-F280-F8CF7C39CDED}"/>
              </a:ext>
            </a:extLst>
          </p:cNvPr>
          <p:cNvGrpSpPr/>
          <p:nvPr/>
        </p:nvGrpSpPr>
        <p:grpSpPr>
          <a:xfrm>
            <a:off x="201168" y="256032"/>
            <a:ext cx="11548872" cy="6483096"/>
            <a:chOff x="201168" y="256032"/>
            <a:chExt cx="11548872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5486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EXPLANATION — TWO MECHANISMS</a:t>
              </a:r>
              <a:endParaRPr lang="en-US" sz="850" dirty="0"/>
            </a:p>
          </p:txBody>
        </p:sp>
        <p:pic>
          <p:nvPicPr>
            <p:cNvPr id="3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24128" y="6457696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Arpinar · SIGDIAL 2026</a:t>
              </a:r>
              <a:endParaRPr lang="en-US" sz="1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02920" y="475488"/>
              <a:ext cx="1115568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The Ratio distribution has two explanations.</a:t>
              </a:r>
              <a:endParaRPr lang="en-US" sz="2800" dirty="0"/>
            </a:p>
          </p:txBody>
        </p:sp>
        <p:sp>
          <p:nvSpPr>
            <p:cNvPr id="7" name="Shape 4"/>
            <p:cNvSpPr/>
            <p:nvPr/>
          </p:nvSpPr>
          <p:spPr>
            <a:xfrm>
              <a:off x="502920" y="1261872"/>
              <a:ext cx="5440680" cy="4681728"/>
            </a:xfrm>
            <a:prstGeom prst="roundRect">
              <a:avLst>
                <a:gd name="adj" fmla="val 2641"/>
              </a:avLst>
            </a:prstGeom>
            <a:solidFill>
              <a:srgbClr val="F1F5F9"/>
            </a:solidFill>
            <a:ln w="254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5"/>
            <p:cNvSpPr/>
            <p:nvPr/>
          </p:nvSpPr>
          <p:spPr>
            <a:xfrm>
              <a:off x="685800" y="1444752"/>
              <a:ext cx="658368" cy="658368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685800" y="1463040"/>
              <a:ext cx="658368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22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463040" y="1517904"/>
              <a:ext cx="42976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59669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Entity Salience</a:t>
              </a:r>
              <a:endParaRPr lang="en-US" sz="20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31520" y="2286000"/>
              <a:ext cx="4983480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model already knows enough about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entity from pretraining.</a:t>
              </a:r>
              <a:endParaRPr lang="en-US" sz="1600" dirty="0"/>
            </a:p>
            <a:p>
              <a:pPr marL="0" indent="0">
                <a:buNone/>
              </a:pP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relation becomes irrelevant, the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response is entity-anchored regardless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 which relation it receives.</a:t>
              </a:r>
              <a:endParaRPr lang="en-US" sz="16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704088" y="4142232"/>
              <a:ext cx="5038344" cy="960120"/>
            </a:xfrm>
            <a:prstGeom prst="roundRect">
              <a:avLst>
                <a:gd name="adj" fmla="val 9524"/>
              </a:avLst>
            </a:prstGeom>
            <a:solidFill>
              <a:srgbClr val="EEF2FF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850392" y="4242816"/>
              <a:ext cx="4745736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Spearman ρ = −0.108 (OpenDialKG)</a:t>
              </a:r>
              <a:endParaRPr lang="en-US" sz="14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ρ = −0.071 (WoW-KG)</a:t>
              </a:r>
              <a:endParaRPr lang="en-US" sz="14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 &lt; 0.001 · replicated across all 6 models</a:t>
              </a:r>
              <a:endParaRPr lang="en-US" sz="14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731520" y="5285232"/>
              <a:ext cx="498348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This explains low-RSS turns.</a:t>
              </a:r>
              <a:endParaRPr lang="en-US" sz="12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 ignores the relation whether it's correct or wrong.</a:t>
              </a:r>
              <a:endParaRPr lang="en-US" sz="12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6309360" y="1261872"/>
              <a:ext cx="5440680" cy="4681728"/>
            </a:xfrm>
            <a:prstGeom prst="roundRect">
              <a:avLst>
                <a:gd name="adj" fmla="val 2641"/>
              </a:avLst>
            </a:prstGeom>
            <a:solidFill>
              <a:srgbClr val="F1F5F9"/>
            </a:solidFill>
            <a:ln w="25400">
              <a:solidFill>
                <a:srgbClr val="B4530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3"/>
            <p:cNvSpPr/>
            <p:nvPr/>
          </p:nvSpPr>
          <p:spPr>
            <a:xfrm>
              <a:off x="6492240" y="1444752"/>
              <a:ext cx="658368" cy="658368"/>
            </a:xfrm>
            <a:prstGeom prst="ellipse">
              <a:avLst/>
            </a:prstGeom>
            <a:solidFill>
              <a:srgbClr val="B45309"/>
            </a:solidFill>
            <a:ln w="12700">
              <a:solidFill>
                <a:srgbClr val="B4530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6492240" y="1463040"/>
              <a:ext cx="658368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22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7269480" y="1517904"/>
              <a:ext cx="42976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45309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Surface-Form Confusion</a:t>
              </a:r>
              <a:endParaRPr lang="en-US" sz="20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6537960" y="2286000"/>
              <a:ext cx="498348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shuffled relation's wording carries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 semantic content.</a:t>
              </a:r>
              <a:endParaRPr lang="en-US" sz="1600" dirty="0"/>
            </a:p>
            <a:p>
              <a:pPr marL="0" indent="0">
                <a:buNone/>
              </a:pP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model reads the label as natural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Language, not as a typed ontological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pointer, and follows the wording somewhere wrong.</a:t>
              </a:r>
              <a:endParaRPr lang="en-US" sz="16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6510528" y="4142232"/>
              <a:ext cx="5038344" cy="960120"/>
            </a:xfrm>
            <a:prstGeom prst="roundRect">
              <a:avLst>
                <a:gd name="adj" fmla="val 9524"/>
              </a:avLst>
            </a:prstGeom>
            <a:solidFill>
              <a:srgbClr val="EEF2FF"/>
            </a:solidFill>
            <a:ln w="12700">
              <a:solidFill>
                <a:srgbClr val="B4530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8"/>
            <p:cNvSpPr/>
            <p:nvPr/>
          </p:nvSpPr>
          <p:spPr>
            <a:xfrm>
              <a:off x="6656832" y="4242816"/>
              <a:ext cx="4745736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[sport played] → Robert Duvall</a:t>
              </a:r>
              <a:endParaRPr lang="en-US" sz="14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Model pivots to his real baseball interest</a:t>
              </a:r>
              <a:endParaRPr lang="en-US" sz="14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RSS = 0.771 (factually true, contextually wrong)</a:t>
              </a:r>
              <a:endParaRPr lang="en-US" sz="14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6537960" y="5285232"/>
              <a:ext cx="498348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This explains high-RSS turns.</a:t>
              </a:r>
              <a:endParaRPr lang="en-US" sz="12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But it's the wrong reason, wrong label hijacked the response.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5659DD-9A06-C78C-34C9-CCE24069B5AA}"/>
              </a:ext>
            </a:extLst>
          </p:cNvPr>
          <p:cNvGrpSpPr/>
          <p:nvPr/>
        </p:nvGrpSpPr>
        <p:grpSpPr>
          <a:xfrm>
            <a:off x="201168" y="256032"/>
            <a:ext cx="11457432" cy="6483096"/>
            <a:chOff x="201168" y="256032"/>
            <a:chExt cx="11457432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5486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EXAMPLES — WHAT THIS LOOKS LIKE</a:t>
              </a:r>
              <a:endParaRPr lang="en-US" sz="850" dirty="0"/>
            </a:p>
          </p:txBody>
        </p:sp>
        <p:pic>
          <p:nvPicPr>
            <p:cNvPr id="3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24128" y="6488176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Arpinar · SIGDIAL 2026</a:t>
              </a:r>
              <a:endParaRPr lang="en-US" sz="1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02920" y="475488"/>
              <a:ext cx="111556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Let me show you both in action.</a:t>
              </a:r>
              <a:endParaRPr lang="en-US" sz="2800" dirty="0"/>
            </a:p>
          </p:txBody>
        </p:sp>
        <p:sp>
          <p:nvSpPr>
            <p:cNvPr id="7" name="Shape 4"/>
            <p:cNvSpPr/>
            <p:nvPr/>
          </p:nvSpPr>
          <p:spPr>
            <a:xfrm>
              <a:off x="502920" y="1207008"/>
              <a:ext cx="5413248" cy="4645152"/>
            </a:xfrm>
            <a:prstGeom prst="roundRect">
              <a:avLst>
                <a:gd name="adj" fmla="val 2422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Shape 5"/>
            <p:cNvSpPr/>
            <p:nvPr/>
          </p:nvSpPr>
          <p:spPr>
            <a:xfrm>
              <a:off x="502920" y="1207008"/>
              <a:ext cx="5413248" cy="457200"/>
            </a:xfrm>
            <a:prstGeom prst="roundRect">
              <a:avLst>
                <a:gd name="adj" fmla="val 2800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685800" y="1261872"/>
              <a:ext cx="5047488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RSS ≈ 0  ·  Entity Salience</a:t>
              </a:r>
              <a:endParaRPr lang="en-US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685800" y="1801368"/>
              <a:ext cx="5047488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C1  Blood Promise – [has_genre] → young-adult fiction</a:t>
              </a:r>
              <a:endParaRPr lang="en-US" sz="115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685800" y="2185416"/>
              <a:ext cx="5047488" cy="868680"/>
            </a:xfrm>
            <a:prstGeom prst="roundRect">
              <a:avLst>
                <a:gd name="adj" fmla="val 8421"/>
              </a:avLst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822960" y="2231136"/>
              <a:ext cx="4773168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600" i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"Blood Promise is a young adult fantasy novel, part of the Vampire Academy series by Richelle Mead."</a:t>
              </a:r>
              <a:endParaRPr lang="en-US" sz="16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685800" y="3200400"/>
              <a:ext cx="5047488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B4530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C2  Blood Promise – [starred_actors] → young-adult fiction</a:t>
              </a:r>
              <a:endParaRPr lang="en-US" sz="115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685800" y="3584448"/>
              <a:ext cx="5047488" cy="868680"/>
            </a:xfrm>
            <a:prstGeom prst="roundRect">
              <a:avLst>
                <a:gd name="adj" fmla="val 8421"/>
              </a:avLst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822960" y="3630168"/>
              <a:ext cx="4773168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600" i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"Blood Promise is a young adult fantasy novel, part of the Vampire Academy series by Richelle Mead."</a:t>
              </a:r>
              <a:endParaRPr lang="en-US" sz="16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685800" y="4608576"/>
              <a:ext cx="5047488" cy="457200"/>
            </a:xfrm>
            <a:prstGeom prst="roundRect">
              <a:avLst>
                <a:gd name="adj" fmla="val 16000"/>
              </a:avLst>
            </a:prstGeom>
            <a:solidFill>
              <a:srgbClr val="DCFCE7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822960" y="4681728"/>
              <a:ext cx="477316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Word-for-word identical. Entity salience took over.</a:t>
              </a:r>
              <a:endParaRPr lang="en-US" sz="115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685800" y="5230368"/>
              <a:ext cx="5047488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entity "Blood Promise" is domain-specific enough that relation label could not redirect the response.</a:t>
              </a:r>
              <a:endParaRPr lang="en-US" sz="14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6245352" y="1207008"/>
              <a:ext cx="5413248" cy="4599432"/>
            </a:xfrm>
            <a:prstGeom prst="roundRect">
              <a:avLst>
                <a:gd name="adj" fmla="val 2422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Shape 17"/>
            <p:cNvSpPr/>
            <p:nvPr/>
          </p:nvSpPr>
          <p:spPr>
            <a:xfrm>
              <a:off x="6245352" y="1207008"/>
              <a:ext cx="5413248" cy="457200"/>
            </a:xfrm>
            <a:prstGeom prst="roundRect">
              <a:avLst>
                <a:gd name="adj" fmla="val 28000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rgbClr val="B45309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6428232" y="1261872"/>
              <a:ext cx="5047488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RSS = 0.771  ·  Surface-Form Confusion</a:t>
              </a:r>
              <a:endParaRPr lang="en-US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6428232" y="1801368"/>
              <a:ext cx="5047488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C1  The Apostle – [written_by] → Robert Duvall</a:t>
              </a:r>
              <a:endParaRPr lang="en-US" sz="115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6428232" y="2185416"/>
              <a:ext cx="5047488" cy="868680"/>
            </a:xfrm>
            <a:prstGeom prst="roundRect">
              <a:avLst>
                <a:gd name="adj" fmla="val 8421"/>
              </a:avLst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1"/>
            <p:cNvSpPr/>
            <p:nvPr/>
          </p:nvSpPr>
          <p:spPr>
            <a:xfrm>
              <a:off x="6428232" y="2231136"/>
              <a:ext cx="5077968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600" i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"Robert Duvall both wrote and directed The Apostle, a 1997 drama in which he starred as a Pentecostal preacher."</a:t>
              </a:r>
              <a:endParaRPr lang="en-US" sz="16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6428232" y="3200400"/>
              <a:ext cx="5047488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BE12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C2  The Apostle – [sport played] → Robert Duvall</a:t>
              </a:r>
              <a:endParaRPr lang="en-US" sz="1150" dirty="0"/>
            </a:p>
          </p:txBody>
        </p:sp>
        <p:sp>
          <p:nvSpPr>
            <p:cNvPr id="26" name="Shape 23"/>
            <p:cNvSpPr/>
            <p:nvPr/>
          </p:nvSpPr>
          <p:spPr>
            <a:xfrm>
              <a:off x="6428232" y="3584448"/>
              <a:ext cx="5047488" cy="868680"/>
            </a:xfrm>
            <a:prstGeom prst="roundRect">
              <a:avLst>
                <a:gd name="adj" fmla="val 8421"/>
              </a:avLst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4"/>
            <p:cNvSpPr/>
            <p:nvPr/>
          </p:nvSpPr>
          <p:spPr>
            <a:xfrm>
              <a:off x="6428232" y="3630168"/>
              <a:ext cx="4910328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600" i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"Robert Duvall is known for his versatility as an actor. He has played many roles, including baseball-related ones…"</a:t>
              </a:r>
              <a:endParaRPr lang="en-US" sz="1600" dirty="0"/>
            </a:p>
          </p:txBody>
        </p:sp>
        <p:sp>
          <p:nvSpPr>
            <p:cNvPr id="28" name="Shape 25"/>
            <p:cNvSpPr/>
            <p:nvPr/>
          </p:nvSpPr>
          <p:spPr>
            <a:xfrm>
              <a:off x="6428232" y="4608576"/>
              <a:ext cx="5047488" cy="457200"/>
            </a:xfrm>
            <a:prstGeom prst="roundRect">
              <a:avLst>
                <a:gd name="adj" fmla="val 16000"/>
              </a:avLst>
            </a:prstGeom>
            <a:solidFill>
              <a:srgbClr val="2D1A00"/>
            </a:solidFill>
            <a:ln w="12700">
              <a:solidFill>
                <a:srgbClr val="B4530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6"/>
            <p:cNvSpPr/>
            <p:nvPr/>
          </p:nvSpPr>
          <p:spPr>
            <a:xfrm>
              <a:off x="6565392" y="4681728"/>
              <a:ext cx="477316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B4530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[sport played] sent the model to Duvall's baseball interest.</a:t>
              </a:r>
              <a:endParaRPr lang="en-US" sz="115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6428232" y="5212080"/>
              <a:ext cx="5047488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Factually true. Completely wrong for the context.</a:t>
              </a:r>
              <a:endParaRPr lang="en-US" sz="14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RSS, but for the wrong reason.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CFBFBEE9-BC26-6B62-3EDC-49834906EB30}"/>
              </a:ext>
            </a:extLst>
          </p:cNvPr>
          <p:cNvGrpSpPr/>
          <p:nvPr/>
        </p:nvGrpSpPr>
        <p:grpSpPr>
          <a:xfrm>
            <a:off x="201168" y="256032"/>
            <a:ext cx="11457432" cy="6483096"/>
            <a:chOff x="201168" y="256032"/>
            <a:chExt cx="11457432" cy="6483096"/>
          </a:xfrm>
        </p:grpSpPr>
        <p:sp>
          <p:nvSpPr>
            <p:cNvPr id="2" name="Text 0"/>
            <p:cNvSpPr/>
            <p:nvPr/>
          </p:nvSpPr>
          <p:spPr>
            <a:xfrm>
              <a:off x="502920" y="256032"/>
              <a:ext cx="54864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kern="0" spc="35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HUMAN EVALUATION</a:t>
              </a:r>
              <a:endParaRPr lang="en-US" sz="850" dirty="0"/>
            </a:p>
          </p:txBody>
        </p:sp>
        <p:pic>
          <p:nvPicPr>
            <p:cNvPr id="3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024128" y="6447536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Arpinar · SIGDIAL 2026</a:t>
              </a:r>
              <a:endParaRPr lang="en-US" sz="1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02920" y="475488"/>
              <a:ext cx="111556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We asked humans to verify.</a:t>
              </a:r>
              <a:endParaRPr lang="en-US" sz="30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502920" y="1097280"/>
              <a:ext cx="11155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 turns · GPT-4o · OpenDialKG · 3 raters · blind to condition</a:t>
              </a:r>
              <a:endParaRPr lang="en-US" sz="14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502920" y="1627632"/>
              <a:ext cx="3310128" cy="2639568"/>
            </a:xfrm>
            <a:prstGeom prst="roundRect">
              <a:avLst>
                <a:gd name="adj" fmla="val 4776"/>
              </a:avLst>
            </a:prstGeom>
            <a:solidFill>
              <a:srgbClr val="F1F5F9"/>
            </a:solidFill>
            <a:ln w="254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502920" y="1828800"/>
              <a:ext cx="3310128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600" b="1" dirty="0">
                  <a:solidFill>
                    <a:srgbClr val="059669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53%</a:t>
              </a:r>
              <a:endParaRPr lang="en-US" sz="76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667512" y="3072384"/>
              <a:ext cx="2980944" cy="8046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preferred the</a:t>
              </a:r>
              <a:endParaRPr lang="en-US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valid-KG response</a:t>
              </a:r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67512" y="3822192"/>
              <a:ext cx="2980944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vs only 8% shuffled</a:t>
              </a:r>
              <a:endParaRPr lang="en-US" sz="16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4059936" y="1627632"/>
              <a:ext cx="3310128" cy="2639568"/>
            </a:xfrm>
            <a:prstGeom prst="roundRect">
              <a:avLst>
                <a:gd name="adj" fmla="val 4776"/>
              </a:avLst>
            </a:prstGeom>
            <a:solidFill>
              <a:srgbClr val="F1F5F9"/>
            </a:solidFill>
            <a:ln w="25400">
              <a:solidFill>
                <a:srgbClr val="B4530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4059936" y="1828800"/>
              <a:ext cx="3310128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600" b="1" dirty="0">
                  <a:solidFill>
                    <a:srgbClr val="B45309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58%</a:t>
              </a:r>
              <a:endParaRPr lang="en-US" sz="76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4224528" y="3072384"/>
              <a:ext cx="2980944" cy="8046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couldn't tell which</a:t>
              </a:r>
              <a:endParaRPr lang="en-US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response was corrupted</a:t>
              </a:r>
              <a:endParaRPr lang="en-US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7616952" y="1627632"/>
              <a:ext cx="3310128" cy="2639568"/>
            </a:xfrm>
            <a:prstGeom prst="roundRect">
              <a:avLst>
                <a:gd name="adj" fmla="val 4776"/>
              </a:avLst>
            </a:prstGeom>
            <a:solidFill>
              <a:srgbClr val="F1F5F9"/>
            </a:solidFill>
            <a:ln w="25400">
              <a:solidFill>
                <a:srgbClr val="BE12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/>
            <p:cNvSpPr/>
            <p:nvPr/>
          </p:nvSpPr>
          <p:spPr>
            <a:xfrm>
              <a:off x="7616952" y="1828800"/>
              <a:ext cx="3310128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600" b="1" dirty="0">
                  <a:solidFill>
                    <a:srgbClr val="BE123C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95%</a:t>
              </a:r>
              <a:endParaRPr lang="en-US" sz="76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7781544" y="3072384"/>
              <a:ext cx="2980944" cy="8046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couldn't detect corruption</a:t>
              </a:r>
              <a:endParaRPr lang="en-US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 zero-RSS turns</a:t>
              </a:r>
              <a:endParaRPr lang="en-US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462280" y="4519168"/>
              <a:ext cx="11155680" cy="1664208"/>
            </a:xfrm>
            <a:prstGeom prst="roundRect">
              <a:avLst>
                <a:gd name="adj" fmla="val 7692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Text 16"/>
            <p:cNvSpPr/>
            <p:nvPr/>
          </p:nvSpPr>
          <p:spPr>
            <a:xfrm>
              <a:off x="690880" y="4665472"/>
              <a:ext cx="27432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 we ran it:</a:t>
              </a:r>
              <a:endParaRPr lang="en-US" sz="16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690880" y="4994656"/>
              <a:ext cx="1092708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RSS is automatic text comparison. A skeptic could say the responses just sound different but mean the same thing.</a:t>
              </a:r>
              <a:endParaRPr lang="en-US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690880" y="5342128"/>
              <a:ext cx="1069848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6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When entity salience dominates, the two responses are so similar that 95% of the time a careful human reader sees no difference. The wrong relation left no trace, because it was never used.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roup 184">
            <a:extLst>
              <a:ext uri="{FF2B5EF4-FFF2-40B4-BE49-F238E27FC236}">
                <a16:creationId xmlns:a16="http://schemas.microsoft.com/office/drawing/2014/main" id="{8E5EA79A-2638-E3E3-147C-523B7340ED9A}"/>
              </a:ext>
            </a:extLst>
          </p:cNvPr>
          <p:cNvGrpSpPr/>
          <p:nvPr/>
        </p:nvGrpSpPr>
        <p:grpSpPr>
          <a:xfrm>
            <a:off x="73152" y="91440"/>
            <a:ext cx="11878056" cy="6647688"/>
            <a:chOff x="73152" y="91440"/>
            <a:chExt cx="11878056" cy="6647688"/>
          </a:xfrm>
        </p:grpSpPr>
        <p:sp>
          <p:nvSpPr>
            <p:cNvPr id="2" name="Shape 0"/>
            <p:cNvSpPr/>
            <p:nvPr/>
          </p:nvSpPr>
          <p:spPr>
            <a:xfrm>
              <a:off x="73152" y="914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768096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1463040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2157984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2852928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547872" y="914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4242816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937760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5632704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6327648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7022592" y="914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7717536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8412480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9107424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9802368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10497312" y="914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11192256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11887200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73152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768096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1463040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2157984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2852928" y="86868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3547872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242816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4937760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5632704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6327648" y="86868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7022592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7717536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8412480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1"/>
            <p:cNvSpPr/>
            <p:nvPr/>
          </p:nvSpPr>
          <p:spPr>
            <a:xfrm>
              <a:off x="9107424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9802368" y="86868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10497312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11192256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11887200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36"/>
            <p:cNvSpPr/>
            <p:nvPr/>
          </p:nvSpPr>
          <p:spPr>
            <a:xfrm>
              <a:off x="73152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7"/>
            <p:cNvSpPr/>
            <p:nvPr/>
          </p:nvSpPr>
          <p:spPr>
            <a:xfrm>
              <a:off x="768096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8"/>
            <p:cNvSpPr/>
            <p:nvPr/>
          </p:nvSpPr>
          <p:spPr>
            <a:xfrm>
              <a:off x="1463040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9"/>
            <p:cNvSpPr/>
            <p:nvPr/>
          </p:nvSpPr>
          <p:spPr>
            <a:xfrm>
              <a:off x="2157984" y="164592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0"/>
            <p:cNvSpPr/>
            <p:nvPr/>
          </p:nvSpPr>
          <p:spPr>
            <a:xfrm>
              <a:off x="2852928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41"/>
            <p:cNvSpPr/>
            <p:nvPr/>
          </p:nvSpPr>
          <p:spPr>
            <a:xfrm>
              <a:off x="3547872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4242816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4937760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5632704" y="164592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45"/>
            <p:cNvSpPr/>
            <p:nvPr/>
          </p:nvSpPr>
          <p:spPr>
            <a:xfrm>
              <a:off x="6327648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6"/>
            <p:cNvSpPr/>
            <p:nvPr/>
          </p:nvSpPr>
          <p:spPr>
            <a:xfrm>
              <a:off x="7022592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47"/>
            <p:cNvSpPr/>
            <p:nvPr/>
          </p:nvSpPr>
          <p:spPr>
            <a:xfrm>
              <a:off x="7717536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48"/>
            <p:cNvSpPr/>
            <p:nvPr/>
          </p:nvSpPr>
          <p:spPr>
            <a:xfrm>
              <a:off x="8412480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49"/>
            <p:cNvSpPr/>
            <p:nvPr/>
          </p:nvSpPr>
          <p:spPr>
            <a:xfrm>
              <a:off x="9107424" y="164592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50"/>
            <p:cNvSpPr/>
            <p:nvPr/>
          </p:nvSpPr>
          <p:spPr>
            <a:xfrm>
              <a:off x="9802368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51"/>
            <p:cNvSpPr/>
            <p:nvPr/>
          </p:nvSpPr>
          <p:spPr>
            <a:xfrm>
              <a:off x="10497312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52"/>
            <p:cNvSpPr/>
            <p:nvPr/>
          </p:nvSpPr>
          <p:spPr>
            <a:xfrm>
              <a:off x="11192256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53"/>
            <p:cNvSpPr/>
            <p:nvPr/>
          </p:nvSpPr>
          <p:spPr>
            <a:xfrm>
              <a:off x="11887200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54"/>
            <p:cNvSpPr/>
            <p:nvPr/>
          </p:nvSpPr>
          <p:spPr>
            <a:xfrm>
              <a:off x="73152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55"/>
            <p:cNvSpPr/>
            <p:nvPr/>
          </p:nvSpPr>
          <p:spPr>
            <a:xfrm>
              <a:off x="768096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56"/>
            <p:cNvSpPr/>
            <p:nvPr/>
          </p:nvSpPr>
          <p:spPr>
            <a:xfrm>
              <a:off x="1463040" y="24231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57"/>
            <p:cNvSpPr/>
            <p:nvPr/>
          </p:nvSpPr>
          <p:spPr>
            <a:xfrm>
              <a:off x="2157984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58"/>
            <p:cNvSpPr/>
            <p:nvPr/>
          </p:nvSpPr>
          <p:spPr>
            <a:xfrm>
              <a:off x="2852928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59"/>
            <p:cNvSpPr/>
            <p:nvPr/>
          </p:nvSpPr>
          <p:spPr>
            <a:xfrm>
              <a:off x="3547872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60"/>
            <p:cNvSpPr/>
            <p:nvPr/>
          </p:nvSpPr>
          <p:spPr>
            <a:xfrm>
              <a:off x="4242816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61"/>
            <p:cNvSpPr/>
            <p:nvPr/>
          </p:nvSpPr>
          <p:spPr>
            <a:xfrm>
              <a:off x="4937760" y="24231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2"/>
            <p:cNvSpPr/>
            <p:nvPr/>
          </p:nvSpPr>
          <p:spPr>
            <a:xfrm>
              <a:off x="5632704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63"/>
            <p:cNvSpPr/>
            <p:nvPr/>
          </p:nvSpPr>
          <p:spPr>
            <a:xfrm>
              <a:off x="6327648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64"/>
            <p:cNvSpPr/>
            <p:nvPr/>
          </p:nvSpPr>
          <p:spPr>
            <a:xfrm>
              <a:off x="7022592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65"/>
            <p:cNvSpPr/>
            <p:nvPr/>
          </p:nvSpPr>
          <p:spPr>
            <a:xfrm>
              <a:off x="7717536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66"/>
            <p:cNvSpPr/>
            <p:nvPr/>
          </p:nvSpPr>
          <p:spPr>
            <a:xfrm>
              <a:off x="8412480" y="24231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67"/>
            <p:cNvSpPr/>
            <p:nvPr/>
          </p:nvSpPr>
          <p:spPr>
            <a:xfrm>
              <a:off x="9107424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68"/>
            <p:cNvSpPr/>
            <p:nvPr/>
          </p:nvSpPr>
          <p:spPr>
            <a:xfrm>
              <a:off x="9802368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69"/>
            <p:cNvSpPr/>
            <p:nvPr/>
          </p:nvSpPr>
          <p:spPr>
            <a:xfrm>
              <a:off x="10497312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70"/>
            <p:cNvSpPr/>
            <p:nvPr/>
          </p:nvSpPr>
          <p:spPr>
            <a:xfrm>
              <a:off x="11192256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71"/>
            <p:cNvSpPr/>
            <p:nvPr/>
          </p:nvSpPr>
          <p:spPr>
            <a:xfrm>
              <a:off x="11887200" y="24231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72"/>
            <p:cNvSpPr/>
            <p:nvPr/>
          </p:nvSpPr>
          <p:spPr>
            <a:xfrm>
              <a:off x="73152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73"/>
            <p:cNvSpPr/>
            <p:nvPr/>
          </p:nvSpPr>
          <p:spPr>
            <a:xfrm>
              <a:off x="768096" y="320040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74"/>
            <p:cNvSpPr/>
            <p:nvPr/>
          </p:nvSpPr>
          <p:spPr>
            <a:xfrm>
              <a:off x="1463040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75"/>
            <p:cNvSpPr/>
            <p:nvPr/>
          </p:nvSpPr>
          <p:spPr>
            <a:xfrm>
              <a:off x="2157984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Shape 76"/>
            <p:cNvSpPr/>
            <p:nvPr/>
          </p:nvSpPr>
          <p:spPr>
            <a:xfrm>
              <a:off x="2852928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Shape 77"/>
            <p:cNvSpPr/>
            <p:nvPr/>
          </p:nvSpPr>
          <p:spPr>
            <a:xfrm>
              <a:off x="3547872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Shape 78"/>
            <p:cNvSpPr/>
            <p:nvPr/>
          </p:nvSpPr>
          <p:spPr>
            <a:xfrm>
              <a:off x="4242816" y="320040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Shape 79"/>
            <p:cNvSpPr/>
            <p:nvPr/>
          </p:nvSpPr>
          <p:spPr>
            <a:xfrm>
              <a:off x="4937760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Shape 80"/>
            <p:cNvSpPr/>
            <p:nvPr/>
          </p:nvSpPr>
          <p:spPr>
            <a:xfrm>
              <a:off x="5632704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Shape 81"/>
            <p:cNvSpPr/>
            <p:nvPr/>
          </p:nvSpPr>
          <p:spPr>
            <a:xfrm>
              <a:off x="6327648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Shape 82"/>
            <p:cNvSpPr/>
            <p:nvPr/>
          </p:nvSpPr>
          <p:spPr>
            <a:xfrm>
              <a:off x="7022592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Shape 83"/>
            <p:cNvSpPr/>
            <p:nvPr/>
          </p:nvSpPr>
          <p:spPr>
            <a:xfrm>
              <a:off x="7717536" y="320040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Shape 84"/>
            <p:cNvSpPr/>
            <p:nvPr/>
          </p:nvSpPr>
          <p:spPr>
            <a:xfrm>
              <a:off x="8412480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Shape 85"/>
            <p:cNvSpPr/>
            <p:nvPr/>
          </p:nvSpPr>
          <p:spPr>
            <a:xfrm>
              <a:off x="9107424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Shape 86"/>
            <p:cNvSpPr/>
            <p:nvPr/>
          </p:nvSpPr>
          <p:spPr>
            <a:xfrm>
              <a:off x="9802368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Shape 87"/>
            <p:cNvSpPr/>
            <p:nvPr/>
          </p:nvSpPr>
          <p:spPr>
            <a:xfrm>
              <a:off x="10497312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Shape 88"/>
            <p:cNvSpPr/>
            <p:nvPr/>
          </p:nvSpPr>
          <p:spPr>
            <a:xfrm>
              <a:off x="11192256" y="320040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Shape 89"/>
            <p:cNvSpPr/>
            <p:nvPr/>
          </p:nvSpPr>
          <p:spPr>
            <a:xfrm>
              <a:off x="11887200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Shape 90"/>
            <p:cNvSpPr/>
            <p:nvPr/>
          </p:nvSpPr>
          <p:spPr>
            <a:xfrm>
              <a:off x="73152" y="39776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Shape 91"/>
            <p:cNvSpPr/>
            <p:nvPr/>
          </p:nvSpPr>
          <p:spPr>
            <a:xfrm>
              <a:off x="768096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Shape 92"/>
            <p:cNvSpPr/>
            <p:nvPr/>
          </p:nvSpPr>
          <p:spPr>
            <a:xfrm>
              <a:off x="1463040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Shape 93"/>
            <p:cNvSpPr/>
            <p:nvPr/>
          </p:nvSpPr>
          <p:spPr>
            <a:xfrm>
              <a:off x="2157984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Shape 94"/>
            <p:cNvSpPr/>
            <p:nvPr/>
          </p:nvSpPr>
          <p:spPr>
            <a:xfrm>
              <a:off x="2852928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Shape 95"/>
            <p:cNvSpPr/>
            <p:nvPr/>
          </p:nvSpPr>
          <p:spPr>
            <a:xfrm>
              <a:off x="3547872" y="39776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Shape 96"/>
            <p:cNvSpPr/>
            <p:nvPr/>
          </p:nvSpPr>
          <p:spPr>
            <a:xfrm>
              <a:off x="4242816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Shape 97"/>
            <p:cNvSpPr/>
            <p:nvPr/>
          </p:nvSpPr>
          <p:spPr>
            <a:xfrm>
              <a:off x="4937760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Shape 98"/>
            <p:cNvSpPr/>
            <p:nvPr/>
          </p:nvSpPr>
          <p:spPr>
            <a:xfrm>
              <a:off x="5632704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Shape 99"/>
            <p:cNvSpPr/>
            <p:nvPr/>
          </p:nvSpPr>
          <p:spPr>
            <a:xfrm>
              <a:off x="6327648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Shape 100"/>
            <p:cNvSpPr/>
            <p:nvPr/>
          </p:nvSpPr>
          <p:spPr>
            <a:xfrm>
              <a:off x="7022592" y="39776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Shape 101"/>
            <p:cNvSpPr/>
            <p:nvPr/>
          </p:nvSpPr>
          <p:spPr>
            <a:xfrm>
              <a:off x="7717536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Shape 102"/>
            <p:cNvSpPr/>
            <p:nvPr/>
          </p:nvSpPr>
          <p:spPr>
            <a:xfrm>
              <a:off x="8412480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Shape 103"/>
            <p:cNvSpPr/>
            <p:nvPr/>
          </p:nvSpPr>
          <p:spPr>
            <a:xfrm>
              <a:off x="9107424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Shape 104"/>
            <p:cNvSpPr/>
            <p:nvPr/>
          </p:nvSpPr>
          <p:spPr>
            <a:xfrm>
              <a:off x="9802368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Shape 105"/>
            <p:cNvSpPr/>
            <p:nvPr/>
          </p:nvSpPr>
          <p:spPr>
            <a:xfrm>
              <a:off x="10497312" y="39776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Shape 106"/>
            <p:cNvSpPr/>
            <p:nvPr/>
          </p:nvSpPr>
          <p:spPr>
            <a:xfrm>
              <a:off x="11192256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107"/>
            <p:cNvSpPr/>
            <p:nvPr/>
          </p:nvSpPr>
          <p:spPr>
            <a:xfrm>
              <a:off x="11887200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108"/>
            <p:cNvSpPr/>
            <p:nvPr/>
          </p:nvSpPr>
          <p:spPr>
            <a:xfrm>
              <a:off x="73152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109"/>
            <p:cNvSpPr/>
            <p:nvPr/>
          </p:nvSpPr>
          <p:spPr>
            <a:xfrm>
              <a:off x="768096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110"/>
            <p:cNvSpPr/>
            <p:nvPr/>
          </p:nvSpPr>
          <p:spPr>
            <a:xfrm>
              <a:off x="1463040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111"/>
            <p:cNvSpPr/>
            <p:nvPr/>
          </p:nvSpPr>
          <p:spPr>
            <a:xfrm>
              <a:off x="2157984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Shape 112"/>
            <p:cNvSpPr/>
            <p:nvPr/>
          </p:nvSpPr>
          <p:spPr>
            <a:xfrm>
              <a:off x="2852928" y="475488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Shape 113"/>
            <p:cNvSpPr/>
            <p:nvPr/>
          </p:nvSpPr>
          <p:spPr>
            <a:xfrm>
              <a:off x="3547872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Shape 114"/>
            <p:cNvSpPr/>
            <p:nvPr/>
          </p:nvSpPr>
          <p:spPr>
            <a:xfrm>
              <a:off x="4242816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Shape 115"/>
            <p:cNvSpPr/>
            <p:nvPr/>
          </p:nvSpPr>
          <p:spPr>
            <a:xfrm>
              <a:off x="4937760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Shape 116"/>
            <p:cNvSpPr/>
            <p:nvPr/>
          </p:nvSpPr>
          <p:spPr>
            <a:xfrm>
              <a:off x="5632704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Shape 117"/>
            <p:cNvSpPr/>
            <p:nvPr/>
          </p:nvSpPr>
          <p:spPr>
            <a:xfrm>
              <a:off x="6327648" y="475488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Shape 118"/>
            <p:cNvSpPr/>
            <p:nvPr/>
          </p:nvSpPr>
          <p:spPr>
            <a:xfrm>
              <a:off x="7022592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Shape 119"/>
            <p:cNvSpPr/>
            <p:nvPr/>
          </p:nvSpPr>
          <p:spPr>
            <a:xfrm>
              <a:off x="7717536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Shape 120"/>
            <p:cNvSpPr/>
            <p:nvPr/>
          </p:nvSpPr>
          <p:spPr>
            <a:xfrm>
              <a:off x="8412480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Shape 121"/>
            <p:cNvSpPr/>
            <p:nvPr/>
          </p:nvSpPr>
          <p:spPr>
            <a:xfrm>
              <a:off x="9107424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Shape 122"/>
            <p:cNvSpPr/>
            <p:nvPr/>
          </p:nvSpPr>
          <p:spPr>
            <a:xfrm>
              <a:off x="9802368" y="475488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Shape 123"/>
            <p:cNvSpPr/>
            <p:nvPr/>
          </p:nvSpPr>
          <p:spPr>
            <a:xfrm>
              <a:off x="10497312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Shape 124"/>
            <p:cNvSpPr/>
            <p:nvPr/>
          </p:nvSpPr>
          <p:spPr>
            <a:xfrm>
              <a:off x="11192256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Shape 125"/>
            <p:cNvSpPr/>
            <p:nvPr/>
          </p:nvSpPr>
          <p:spPr>
            <a:xfrm>
              <a:off x="11887200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Shape 126"/>
            <p:cNvSpPr/>
            <p:nvPr/>
          </p:nvSpPr>
          <p:spPr>
            <a:xfrm>
              <a:off x="73152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Shape 127"/>
            <p:cNvSpPr/>
            <p:nvPr/>
          </p:nvSpPr>
          <p:spPr>
            <a:xfrm>
              <a:off x="768096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Shape 128"/>
            <p:cNvSpPr/>
            <p:nvPr/>
          </p:nvSpPr>
          <p:spPr>
            <a:xfrm>
              <a:off x="1463040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Shape 129"/>
            <p:cNvSpPr/>
            <p:nvPr/>
          </p:nvSpPr>
          <p:spPr>
            <a:xfrm>
              <a:off x="2157984" y="553212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Shape 130"/>
            <p:cNvSpPr/>
            <p:nvPr/>
          </p:nvSpPr>
          <p:spPr>
            <a:xfrm>
              <a:off x="2852928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Shape 131"/>
            <p:cNvSpPr/>
            <p:nvPr/>
          </p:nvSpPr>
          <p:spPr>
            <a:xfrm>
              <a:off x="3547872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Shape 132"/>
            <p:cNvSpPr/>
            <p:nvPr/>
          </p:nvSpPr>
          <p:spPr>
            <a:xfrm>
              <a:off x="4242816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Shape 133"/>
            <p:cNvSpPr/>
            <p:nvPr/>
          </p:nvSpPr>
          <p:spPr>
            <a:xfrm>
              <a:off x="4937760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Shape 134"/>
            <p:cNvSpPr/>
            <p:nvPr/>
          </p:nvSpPr>
          <p:spPr>
            <a:xfrm>
              <a:off x="5632704" y="553212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Shape 135"/>
            <p:cNvSpPr/>
            <p:nvPr/>
          </p:nvSpPr>
          <p:spPr>
            <a:xfrm>
              <a:off x="6327648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Shape 136"/>
            <p:cNvSpPr/>
            <p:nvPr/>
          </p:nvSpPr>
          <p:spPr>
            <a:xfrm>
              <a:off x="7022592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Shape 137"/>
            <p:cNvSpPr/>
            <p:nvPr/>
          </p:nvSpPr>
          <p:spPr>
            <a:xfrm>
              <a:off x="7717536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Shape 138"/>
            <p:cNvSpPr/>
            <p:nvPr/>
          </p:nvSpPr>
          <p:spPr>
            <a:xfrm>
              <a:off x="8412480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Shape 139"/>
            <p:cNvSpPr/>
            <p:nvPr/>
          </p:nvSpPr>
          <p:spPr>
            <a:xfrm>
              <a:off x="9107424" y="553212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Shape 140"/>
            <p:cNvSpPr/>
            <p:nvPr/>
          </p:nvSpPr>
          <p:spPr>
            <a:xfrm>
              <a:off x="9802368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Shape 141"/>
            <p:cNvSpPr/>
            <p:nvPr/>
          </p:nvSpPr>
          <p:spPr>
            <a:xfrm>
              <a:off x="10497312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Shape 142"/>
            <p:cNvSpPr/>
            <p:nvPr/>
          </p:nvSpPr>
          <p:spPr>
            <a:xfrm>
              <a:off x="11192256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Shape 143"/>
            <p:cNvSpPr/>
            <p:nvPr/>
          </p:nvSpPr>
          <p:spPr>
            <a:xfrm>
              <a:off x="11887200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Shape 144"/>
            <p:cNvSpPr/>
            <p:nvPr/>
          </p:nvSpPr>
          <p:spPr>
            <a:xfrm>
              <a:off x="73152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Shape 145"/>
            <p:cNvSpPr/>
            <p:nvPr/>
          </p:nvSpPr>
          <p:spPr>
            <a:xfrm>
              <a:off x="768096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Shape 146"/>
            <p:cNvSpPr/>
            <p:nvPr/>
          </p:nvSpPr>
          <p:spPr>
            <a:xfrm>
              <a:off x="1463040" y="63093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Shape 147"/>
            <p:cNvSpPr/>
            <p:nvPr/>
          </p:nvSpPr>
          <p:spPr>
            <a:xfrm>
              <a:off x="2157984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Shape 148"/>
            <p:cNvSpPr/>
            <p:nvPr/>
          </p:nvSpPr>
          <p:spPr>
            <a:xfrm>
              <a:off x="2852928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Shape 149"/>
            <p:cNvSpPr/>
            <p:nvPr/>
          </p:nvSpPr>
          <p:spPr>
            <a:xfrm>
              <a:off x="3547872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Shape 150"/>
            <p:cNvSpPr/>
            <p:nvPr/>
          </p:nvSpPr>
          <p:spPr>
            <a:xfrm>
              <a:off x="4242816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Shape 151"/>
            <p:cNvSpPr/>
            <p:nvPr/>
          </p:nvSpPr>
          <p:spPr>
            <a:xfrm>
              <a:off x="4937760" y="63093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Shape 152"/>
            <p:cNvSpPr/>
            <p:nvPr/>
          </p:nvSpPr>
          <p:spPr>
            <a:xfrm>
              <a:off x="5632704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Shape 153"/>
            <p:cNvSpPr/>
            <p:nvPr/>
          </p:nvSpPr>
          <p:spPr>
            <a:xfrm>
              <a:off x="6327648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Shape 154"/>
            <p:cNvSpPr/>
            <p:nvPr/>
          </p:nvSpPr>
          <p:spPr>
            <a:xfrm>
              <a:off x="7022592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Shape 155"/>
            <p:cNvSpPr/>
            <p:nvPr/>
          </p:nvSpPr>
          <p:spPr>
            <a:xfrm>
              <a:off x="7717536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Shape 156"/>
            <p:cNvSpPr/>
            <p:nvPr/>
          </p:nvSpPr>
          <p:spPr>
            <a:xfrm>
              <a:off x="8412480" y="63093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Shape 157"/>
            <p:cNvSpPr/>
            <p:nvPr/>
          </p:nvSpPr>
          <p:spPr>
            <a:xfrm>
              <a:off x="9107424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Shape 158"/>
            <p:cNvSpPr/>
            <p:nvPr/>
          </p:nvSpPr>
          <p:spPr>
            <a:xfrm>
              <a:off x="9802368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Shape 159"/>
            <p:cNvSpPr/>
            <p:nvPr/>
          </p:nvSpPr>
          <p:spPr>
            <a:xfrm>
              <a:off x="10497312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Shape 160"/>
            <p:cNvSpPr/>
            <p:nvPr/>
          </p:nvSpPr>
          <p:spPr>
            <a:xfrm>
              <a:off x="11192256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Shape 161"/>
            <p:cNvSpPr/>
            <p:nvPr/>
          </p:nvSpPr>
          <p:spPr>
            <a:xfrm>
              <a:off x="11887200" y="63093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Text 162"/>
            <p:cNvSpPr/>
            <p:nvPr/>
          </p:nvSpPr>
          <p:spPr>
            <a:xfrm>
              <a:off x="502920" y="411480"/>
              <a:ext cx="111556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What we showed.</a:t>
              </a:r>
              <a:endParaRPr lang="en-US" sz="3000" dirty="0"/>
            </a:p>
          </p:txBody>
        </p:sp>
        <p:sp>
          <p:nvSpPr>
            <p:cNvPr id="165" name="Shape 163"/>
            <p:cNvSpPr/>
            <p:nvPr/>
          </p:nvSpPr>
          <p:spPr>
            <a:xfrm>
              <a:off x="502920" y="1353312"/>
              <a:ext cx="438912" cy="438912"/>
            </a:xfrm>
            <a:prstGeom prst="ellipse">
              <a:avLst/>
            </a:prstGeom>
            <a:solidFill>
              <a:srgbClr val="1B2A5E"/>
            </a:solidFill>
            <a:ln w="12700">
              <a:solidFill>
                <a:srgbClr val="1B2A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Text 164"/>
            <p:cNvSpPr/>
            <p:nvPr/>
          </p:nvSpPr>
          <p:spPr>
            <a:xfrm>
              <a:off x="502920" y="1362456"/>
              <a:ext cx="438912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600" dirty="0"/>
            </a:p>
          </p:txBody>
        </p:sp>
        <p:sp>
          <p:nvSpPr>
            <p:cNvPr id="167" name="Text 165"/>
            <p:cNvSpPr/>
            <p:nvPr/>
          </p:nvSpPr>
          <p:spPr>
            <a:xfrm>
              <a:off x="1097280" y="1353312"/>
              <a:ext cx="1056132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Relations are systematically underutilized.</a:t>
              </a:r>
              <a:r>
                <a:rPr lang="en-US" sz="20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Ratio 0.82–0.98. p &lt; 0.001. 12 of 12 pairs.</a:t>
              </a:r>
              <a:endPara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68" name="Shape 166"/>
            <p:cNvSpPr/>
            <p:nvPr/>
          </p:nvSpPr>
          <p:spPr>
            <a:xfrm>
              <a:off x="502920" y="2249424"/>
              <a:ext cx="438912" cy="438912"/>
            </a:xfrm>
            <a:prstGeom prst="ellipse">
              <a:avLst/>
            </a:prstGeom>
            <a:solidFill>
              <a:srgbClr val="1B2A5E"/>
            </a:solidFill>
            <a:ln w="12700">
              <a:solidFill>
                <a:srgbClr val="1B2A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Text 167"/>
            <p:cNvSpPr/>
            <p:nvPr/>
          </p:nvSpPr>
          <p:spPr>
            <a:xfrm>
              <a:off x="502920" y="2258568"/>
              <a:ext cx="438912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600" dirty="0"/>
            </a:p>
          </p:txBody>
        </p:sp>
        <p:sp>
          <p:nvSpPr>
            <p:cNvPr id="170" name="Text 168"/>
            <p:cNvSpPr/>
            <p:nvPr/>
          </p:nvSpPr>
          <p:spPr>
            <a:xfrm>
              <a:off x="1097280" y="2249424"/>
              <a:ext cx="1056132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Two mechanisms:</a:t>
              </a:r>
              <a:r>
                <a:rPr lang="en-US" sz="20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entity salience (low RSS) and surface-form confusion (high RSS). Neither is genuine relational reasoning.</a:t>
              </a:r>
              <a:endPara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71" name="Shape 169"/>
            <p:cNvSpPr/>
            <p:nvPr/>
          </p:nvSpPr>
          <p:spPr>
            <a:xfrm>
              <a:off x="502920" y="3145536"/>
              <a:ext cx="438912" cy="438912"/>
            </a:xfrm>
            <a:prstGeom prst="ellipse">
              <a:avLst/>
            </a:prstGeom>
            <a:solidFill>
              <a:srgbClr val="1B2A5E"/>
            </a:solidFill>
            <a:ln w="12700">
              <a:solidFill>
                <a:srgbClr val="1B2A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Text 170"/>
            <p:cNvSpPr/>
            <p:nvPr/>
          </p:nvSpPr>
          <p:spPr>
            <a:xfrm>
              <a:off x="502920" y="3154680"/>
              <a:ext cx="438912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600" dirty="0"/>
            </a:p>
          </p:txBody>
        </p:sp>
        <p:sp>
          <p:nvSpPr>
            <p:cNvPr id="173" name="Text 171"/>
            <p:cNvSpPr/>
            <p:nvPr/>
          </p:nvSpPr>
          <p:spPr>
            <a:xfrm>
              <a:off x="1097280" y="3145536"/>
              <a:ext cx="1056132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Scale amplifies the problem.</a:t>
              </a:r>
              <a:r>
                <a:rPr lang="en-US" sz="20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Larger models lean harder on parametric recall, relation labels matter even less.</a:t>
              </a:r>
              <a:endPara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74" name="Shape 172"/>
            <p:cNvSpPr/>
            <p:nvPr/>
          </p:nvSpPr>
          <p:spPr>
            <a:xfrm>
              <a:off x="502920" y="4041648"/>
              <a:ext cx="438912" cy="438912"/>
            </a:xfrm>
            <a:prstGeom prst="ellipse">
              <a:avLst/>
            </a:prstGeom>
            <a:solidFill>
              <a:srgbClr val="1B2A5E"/>
            </a:solidFill>
            <a:ln w="12700">
              <a:solidFill>
                <a:srgbClr val="1B2A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Text 173"/>
            <p:cNvSpPr/>
            <p:nvPr/>
          </p:nvSpPr>
          <p:spPr>
            <a:xfrm>
              <a:off x="502920" y="4050792"/>
              <a:ext cx="438912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600" dirty="0"/>
            </a:p>
          </p:txBody>
        </p:sp>
        <p:sp>
          <p:nvSpPr>
            <p:cNvPr id="176" name="Text 174"/>
            <p:cNvSpPr/>
            <p:nvPr/>
          </p:nvSpPr>
          <p:spPr>
            <a:xfrm>
              <a:off x="1097280" y="4041648"/>
              <a:ext cx="1056132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Humans confirm it.</a:t>
              </a:r>
              <a:r>
                <a:rPr lang="en-US" sz="20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58% undetectable overall. 95% on zero-RSS turns. The wrong relation left no trace.</a:t>
              </a:r>
              <a:endPara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77" name="Shape 175"/>
            <p:cNvSpPr/>
            <p:nvPr/>
          </p:nvSpPr>
          <p:spPr>
            <a:xfrm>
              <a:off x="502920" y="4937760"/>
              <a:ext cx="438912" cy="438912"/>
            </a:xfrm>
            <a:prstGeom prst="ellipse">
              <a:avLst/>
            </a:prstGeom>
            <a:solidFill>
              <a:srgbClr val="1B2A5E"/>
            </a:solidFill>
            <a:ln w="12700">
              <a:solidFill>
                <a:srgbClr val="1B2A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Text 176"/>
            <p:cNvSpPr/>
            <p:nvPr/>
          </p:nvSpPr>
          <p:spPr>
            <a:xfrm>
              <a:off x="502920" y="4946904"/>
              <a:ext cx="438912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600" dirty="0"/>
            </a:p>
          </p:txBody>
        </p:sp>
        <p:sp>
          <p:nvSpPr>
            <p:cNvPr id="179" name="Text 177"/>
            <p:cNvSpPr/>
            <p:nvPr/>
          </p:nvSpPr>
          <p:spPr>
            <a:xfrm>
              <a:off x="1097280" y="4937760"/>
              <a:ext cx="1056132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B2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tools:</a:t>
              </a:r>
              <a:r>
                <a:rPr lang="en-US" sz="20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WoW-KG (219 relation types, released) and RSS (reusable behavioral metric).</a:t>
              </a:r>
              <a:endPara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81" name="Text 179"/>
            <p:cNvSpPr/>
            <p:nvPr/>
          </p:nvSpPr>
          <p:spPr>
            <a:xfrm>
              <a:off x="73152" y="5760720"/>
              <a:ext cx="11878056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Current LLMs in KG-grounded dialogue mostly use entities, not typed relations.</a:t>
              </a:r>
              <a:endParaRPr lang="en-US" sz="2400" dirty="0"/>
            </a:p>
          </p:txBody>
        </p:sp>
        <p:pic>
          <p:nvPicPr>
            <p:cNvPr id="182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183" name="Text 180"/>
            <p:cNvSpPr/>
            <p:nvPr/>
          </p:nvSpPr>
          <p:spPr>
            <a:xfrm>
              <a:off x="1024128" y="6447536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Arpinar · SIGDIAL 2026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D552A46-DDC1-0D5F-D274-34F6CE91F357}"/>
              </a:ext>
            </a:extLst>
          </p:cNvPr>
          <p:cNvGrpSpPr/>
          <p:nvPr/>
        </p:nvGrpSpPr>
        <p:grpSpPr>
          <a:xfrm>
            <a:off x="73152" y="91440"/>
            <a:ext cx="11878056" cy="6647688"/>
            <a:chOff x="73152" y="91440"/>
            <a:chExt cx="11878056" cy="6647688"/>
          </a:xfrm>
        </p:grpSpPr>
        <p:sp>
          <p:nvSpPr>
            <p:cNvPr id="2" name="Shape 0"/>
            <p:cNvSpPr/>
            <p:nvPr/>
          </p:nvSpPr>
          <p:spPr>
            <a:xfrm>
              <a:off x="73152" y="914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Shape 1"/>
            <p:cNvSpPr/>
            <p:nvPr/>
          </p:nvSpPr>
          <p:spPr>
            <a:xfrm>
              <a:off x="768096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1463040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2157984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2852928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547872" y="914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4242816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937760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5632704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6327648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7022592" y="914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7717536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8412480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9107424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9802368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10497312" y="914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11192256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11887200" y="914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73152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768096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1463040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2157984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2852928" y="86868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3547872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242816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4937760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5632704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6327648" y="86868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7022592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7717536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8412480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1"/>
            <p:cNvSpPr/>
            <p:nvPr/>
          </p:nvSpPr>
          <p:spPr>
            <a:xfrm>
              <a:off x="9107424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9802368" y="86868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10497312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11192256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11887200" y="8686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36"/>
            <p:cNvSpPr/>
            <p:nvPr/>
          </p:nvSpPr>
          <p:spPr>
            <a:xfrm>
              <a:off x="73152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7"/>
            <p:cNvSpPr/>
            <p:nvPr/>
          </p:nvSpPr>
          <p:spPr>
            <a:xfrm>
              <a:off x="768096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8"/>
            <p:cNvSpPr/>
            <p:nvPr/>
          </p:nvSpPr>
          <p:spPr>
            <a:xfrm>
              <a:off x="1463040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9"/>
            <p:cNvSpPr/>
            <p:nvPr/>
          </p:nvSpPr>
          <p:spPr>
            <a:xfrm>
              <a:off x="2157984" y="164592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0"/>
            <p:cNvSpPr/>
            <p:nvPr/>
          </p:nvSpPr>
          <p:spPr>
            <a:xfrm>
              <a:off x="2852928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41"/>
            <p:cNvSpPr/>
            <p:nvPr/>
          </p:nvSpPr>
          <p:spPr>
            <a:xfrm>
              <a:off x="3547872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4242816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4937760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5632704" y="164592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45"/>
            <p:cNvSpPr/>
            <p:nvPr/>
          </p:nvSpPr>
          <p:spPr>
            <a:xfrm>
              <a:off x="6327648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6"/>
            <p:cNvSpPr/>
            <p:nvPr/>
          </p:nvSpPr>
          <p:spPr>
            <a:xfrm>
              <a:off x="7022592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47"/>
            <p:cNvSpPr/>
            <p:nvPr/>
          </p:nvSpPr>
          <p:spPr>
            <a:xfrm>
              <a:off x="7717536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48"/>
            <p:cNvSpPr/>
            <p:nvPr/>
          </p:nvSpPr>
          <p:spPr>
            <a:xfrm>
              <a:off x="8412480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49"/>
            <p:cNvSpPr/>
            <p:nvPr/>
          </p:nvSpPr>
          <p:spPr>
            <a:xfrm>
              <a:off x="9107424" y="164592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50"/>
            <p:cNvSpPr/>
            <p:nvPr/>
          </p:nvSpPr>
          <p:spPr>
            <a:xfrm>
              <a:off x="9802368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51"/>
            <p:cNvSpPr/>
            <p:nvPr/>
          </p:nvSpPr>
          <p:spPr>
            <a:xfrm>
              <a:off x="10497312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52"/>
            <p:cNvSpPr/>
            <p:nvPr/>
          </p:nvSpPr>
          <p:spPr>
            <a:xfrm>
              <a:off x="11192256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53"/>
            <p:cNvSpPr/>
            <p:nvPr/>
          </p:nvSpPr>
          <p:spPr>
            <a:xfrm>
              <a:off x="11887200" y="16459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54"/>
            <p:cNvSpPr/>
            <p:nvPr/>
          </p:nvSpPr>
          <p:spPr>
            <a:xfrm>
              <a:off x="73152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55"/>
            <p:cNvSpPr/>
            <p:nvPr/>
          </p:nvSpPr>
          <p:spPr>
            <a:xfrm>
              <a:off x="768096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56"/>
            <p:cNvSpPr/>
            <p:nvPr/>
          </p:nvSpPr>
          <p:spPr>
            <a:xfrm>
              <a:off x="1463040" y="24231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57"/>
            <p:cNvSpPr/>
            <p:nvPr/>
          </p:nvSpPr>
          <p:spPr>
            <a:xfrm>
              <a:off x="2157984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58"/>
            <p:cNvSpPr/>
            <p:nvPr/>
          </p:nvSpPr>
          <p:spPr>
            <a:xfrm>
              <a:off x="2852928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59"/>
            <p:cNvSpPr/>
            <p:nvPr/>
          </p:nvSpPr>
          <p:spPr>
            <a:xfrm>
              <a:off x="3547872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60"/>
            <p:cNvSpPr/>
            <p:nvPr/>
          </p:nvSpPr>
          <p:spPr>
            <a:xfrm>
              <a:off x="4242816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61"/>
            <p:cNvSpPr/>
            <p:nvPr/>
          </p:nvSpPr>
          <p:spPr>
            <a:xfrm>
              <a:off x="4937760" y="24231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2"/>
            <p:cNvSpPr/>
            <p:nvPr/>
          </p:nvSpPr>
          <p:spPr>
            <a:xfrm>
              <a:off x="5632704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63"/>
            <p:cNvSpPr/>
            <p:nvPr/>
          </p:nvSpPr>
          <p:spPr>
            <a:xfrm>
              <a:off x="6327648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64"/>
            <p:cNvSpPr/>
            <p:nvPr/>
          </p:nvSpPr>
          <p:spPr>
            <a:xfrm>
              <a:off x="7022592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65"/>
            <p:cNvSpPr/>
            <p:nvPr/>
          </p:nvSpPr>
          <p:spPr>
            <a:xfrm>
              <a:off x="7717536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66"/>
            <p:cNvSpPr/>
            <p:nvPr/>
          </p:nvSpPr>
          <p:spPr>
            <a:xfrm>
              <a:off x="8412480" y="24231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67"/>
            <p:cNvSpPr/>
            <p:nvPr/>
          </p:nvSpPr>
          <p:spPr>
            <a:xfrm>
              <a:off x="9107424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68"/>
            <p:cNvSpPr/>
            <p:nvPr/>
          </p:nvSpPr>
          <p:spPr>
            <a:xfrm>
              <a:off x="9802368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69"/>
            <p:cNvSpPr/>
            <p:nvPr/>
          </p:nvSpPr>
          <p:spPr>
            <a:xfrm>
              <a:off x="10497312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70"/>
            <p:cNvSpPr/>
            <p:nvPr/>
          </p:nvSpPr>
          <p:spPr>
            <a:xfrm>
              <a:off x="11192256" y="24231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71"/>
            <p:cNvSpPr/>
            <p:nvPr/>
          </p:nvSpPr>
          <p:spPr>
            <a:xfrm>
              <a:off x="11887200" y="24231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72"/>
            <p:cNvSpPr/>
            <p:nvPr/>
          </p:nvSpPr>
          <p:spPr>
            <a:xfrm>
              <a:off x="73152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73"/>
            <p:cNvSpPr/>
            <p:nvPr/>
          </p:nvSpPr>
          <p:spPr>
            <a:xfrm>
              <a:off x="768096" y="320040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74"/>
            <p:cNvSpPr/>
            <p:nvPr/>
          </p:nvSpPr>
          <p:spPr>
            <a:xfrm>
              <a:off x="1463040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75"/>
            <p:cNvSpPr/>
            <p:nvPr/>
          </p:nvSpPr>
          <p:spPr>
            <a:xfrm>
              <a:off x="2157984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Shape 76"/>
            <p:cNvSpPr/>
            <p:nvPr/>
          </p:nvSpPr>
          <p:spPr>
            <a:xfrm>
              <a:off x="2852928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Shape 77"/>
            <p:cNvSpPr/>
            <p:nvPr/>
          </p:nvSpPr>
          <p:spPr>
            <a:xfrm>
              <a:off x="3547872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Shape 78"/>
            <p:cNvSpPr/>
            <p:nvPr/>
          </p:nvSpPr>
          <p:spPr>
            <a:xfrm>
              <a:off x="4242816" y="320040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Shape 79"/>
            <p:cNvSpPr/>
            <p:nvPr/>
          </p:nvSpPr>
          <p:spPr>
            <a:xfrm>
              <a:off x="4937760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Shape 80"/>
            <p:cNvSpPr/>
            <p:nvPr/>
          </p:nvSpPr>
          <p:spPr>
            <a:xfrm>
              <a:off x="5632704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Shape 81"/>
            <p:cNvSpPr/>
            <p:nvPr/>
          </p:nvSpPr>
          <p:spPr>
            <a:xfrm>
              <a:off x="6327648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Shape 82"/>
            <p:cNvSpPr/>
            <p:nvPr/>
          </p:nvSpPr>
          <p:spPr>
            <a:xfrm>
              <a:off x="7022592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Shape 83"/>
            <p:cNvSpPr/>
            <p:nvPr/>
          </p:nvSpPr>
          <p:spPr>
            <a:xfrm>
              <a:off x="7717536" y="320040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Shape 84"/>
            <p:cNvSpPr/>
            <p:nvPr/>
          </p:nvSpPr>
          <p:spPr>
            <a:xfrm>
              <a:off x="8412480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Shape 85"/>
            <p:cNvSpPr/>
            <p:nvPr/>
          </p:nvSpPr>
          <p:spPr>
            <a:xfrm>
              <a:off x="9107424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Shape 86"/>
            <p:cNvSpPr/>
            <p:nvPr/>
          </p:nvSpPr>
          <p:spPr>
            <a:xfrm>
              <a:off x="9802368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Shape 87"/>
            <p:cNvSpPr/>
            <p:nvPr/>
          </p:nvSpPr>
          <p:spPr>
            <a:xfrm>
              <a:off x="10497312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Shape 88"/>
            <p:cNvSpPr/>
            <p:nvPr/>
          </p:nvSpPr>
          <p:spPr>
            <a:xfrm>
              <a:off x="11192256" y="320040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Shape 89"/>
            <p:cNvSpPr/>
            <p:nvPr/>
          </p:nvSpPr>
          <p:spPr>
            <a:xfrm>
              <a:off x="11887200" y="320040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Shape 90"/>
            <p:cNvSpPr/>
            <p:nvPr/>
          </p:nvSpPr>
          <p:spPr>
            <a:xfrm>
              <a:off x="73152" y="39776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Shape 91"/>
            <p:cNvSpPr/>
            <p:nvPr/>
          </p:nvSpPr>
          <p:spPr>
            <a:xfrm>
              <a:off x="768096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Shape 92"/>
            <p:cNvSpPr/>
            <p:nvPr/>
          </p:nvSpPr>
          <p:spPr>
            <a:xfrm>
              <a:off x="1463040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Shape 93"/>
            <p:cNvSpPr/>
            <p:nvPr/>
          </p:nvSpPr>
          <p:spPr>
            <a:xfrm>
              <a:off x="2157984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Shape 94"/>
            <p:cNvSpPr/>
            <p:nvPr/>
          </p:nvSpPr>
          <p:spPr>
            <a:xfrm>
              <a:off x="2852928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Shape 95"/>
            <p:cNvSpPr/>
            <p:nvPr/>
          </p:nvSpPr>
          <p:spPr>
            <a:xfrm>
              <a:off x="3547872" y="39776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Shape 96"/>
            <p:cNvSpPr/>
            <p:nvPr/>
          </p:nvSpPr>
          <p:spPr>
            <a:xfrm>
              <a:off x="4242816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Shape 97"/>
            <p:cNvSpPr/>
            <p:nvPr/>
          </p:nvSpPr>
          <p:spPr>
            <a:xfrm>
              <a:off x="4937760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Shape 98"/>
            <p:cNvSpPr/>
            <p:nvPr/>
          </p:nvSpPr>
          <p:spPr>
            <a:xfrm>
              <a:off x="5632704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Shape 99"/>
            <p:cNvSpPr/>
            <p:nvPr/>
          </p:nvSpPr>
          <p:spPr>
            <a:xfrm>
              <a:off x="6327648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Shape 100"/>
            <p:cNvSpPr/>
            <p:nvPr/>
          </p:nvSpPr>
          <p:spPr>
            <a:xfrm>
              <a:off x="7022592" y="39776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Shape 101"/>
            <p:cNvSpPr/>
            <p:nvPr/>
          </p:nvSpPr>
          <p:spPr>
            <a:xfrm>
              <a:off x="7717536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Shape 102"/>
            <p:cNvSpPr/>
            <p:nvPr/>
          </p:nvSpPr>
          <p:spPr>
            <a:xfrm>
              <a:off x="8412480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Shape 103"/>
            <p:cNvSpPr/>
            <p:nvPr/>
          </p:nvSpPr>
          <p:spPr>
            <a:xfrm>
              <a:off x="9107424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Shape 104"/>
            <p:cNvSpPr/>
            <p:nvPr/>
          </p:nvSpPr>
          <p:spPr>
            <a:xfrm>
              <a:off x="9802368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Shape 105"/>
            <p:cNvSpPr/>
            <p:nvPr/>
          </p:nvSpPr>
          <p:spPr>
            <a:xfrm>
              <a:off x="10497312" y="397764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Shape 106"/>
            <p:cNvSpPr/>
            <p:nvPr/>
          </p:nvSpPr>
          <p:spPr>
            <a:xfrm>
              <a:off x="11192256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107"/>
            <p:cNvSpPr/>
            <p:nvPr/>
          </p:nvSpPr>
          <p:spPr>
            <a:xfrm>
              <a:off x="11887200" y="397764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108"/>
            <p:cNvSpPr/>
            <p:nvPr/>
          </p:nvSpPr>
          <p:spPr>
            <a:xfrm>
              <a:off x="73152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109"/>
            <p:cNvSpPr/>
            <p:nvPr/>
          </p:nvSpPr>
          <p:spPr>
            <a:xfrm>
              <a:off x="768096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110"/>
            <p:cNvSpPr/>
            <p:nvPr/>
          </p:nvSpPr>
          <p:spPr>
            <a:xfrm>
              <a:off x="1463040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111"/>
            <p:cNvSpPr/>
            <p:nvPr/>
          </p:nvSpPr>
          <p:spPr>
            <a:xfrm>
              <a:off x="2157984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Shape 112"/>
            <p:cNvSpPr/>
            <p:nvPr/>
          </p:nvSpPr>
          <p:spPr>
            <a:xfrm>
              <a:off x="2852928" y="475488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Shape 113"/>
            <p:cNvSpPr/>
            <p:nvPr/>
          </p:nvSpPr>
          <p:spPr>
            <a:xfrm>
              <a:off x="3547872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Shape 114"/>
            <p:cNvSpPr/>
            <p:nvPr/>
          </p:nvSpPr>
          <p:spPr>
            <a:xfrm>
              <a:off x="4242816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Shape 115"/>
            <p:cNvSpPr/>
            <p:nvPr/>
          </p:nvSpPr>
          <p:spPr>
            <a:xfrm>
              <a:off x="4937760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Shape 116"/>
            <p:cNvSpPr/>
            <p:nvPr/>
          </p:nvSpPr>
          <p:spPr>
            <a:xfrm>
              <a:off x="5632704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Shape 117"/>
            <p:cNvSpPr/>
            <p:nvPr/>
          </p:nvSpPr>
          <p:spPr>
            <a:xfrm>
              <a:off x="6327648" y="475488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Shape 118"/>
            <p:cNvSpPr/>
            <p:nvPr/>
          </p:nvSpPr>
          <p:spPr>
            <a:xfrm>
              <a:off x="7022592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Shape 119"/>
            <p:cNvSpPr/>
            <p:nvPr/>
          </p:nvSpPr>
          <p:spPr>
            <a:xfrm>
              <a:off x="7717536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Shape 120"/>
            <p:cNvSpPr/>
            <p:nvPr/>
          </p:nvSpPr>
          <p:spPr>
            <a:xfrm>
              <a:off x="8412480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Shape 121"/>
            <p:cNvSpPr/>
            <p:nvPr/>
          </p:nvSpPr>
          <p:spPr>
            <a:xfrm>
              <a:off x="9107424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Shape 122"/>
            <p:cNvSpPr/>
            <p:nvPr/>
          </p:nvSpPr>
          <p:spPr>
            <a:xfrm>
              <a:off x="9802368" y="475488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Shape 123"/>
            <p:cNvSpPr/>
            <p:nvPr/>
          </p:nvSpPr>
          <p:spPr>
            <a:xfrm>
              <a:off x="10497312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Shape 124"/>
            <p:cNvSpPr/>
            <p:nvPr/>
          </p:nvSpPr>
          <p:spPr>
            <a:xfrm>
              <a:off x="11192256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Shape 125"/>
            <p:cNvSpPr/>
            <p:nvPr/>
          </p:nvSpPr>
          <p:spPr>
            <a:xfrm>
              <a:off x="11887200" y="475488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Shape 126"/>
            <p:cNvSpPr/>
            <p:nvPr/>
          </p:nvSpPr>
          <p:spPr>
            <a:xfrm>
              <a:off x="73152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Shape 127"/>
            <p:cNvSpPr/>
            <p:nvPr/>
          </p:nvSpPr>
          <p:spPr>
            <a:xfrm>
              <a:off x="768096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Shape 128"/>
            <p:cNvSpPr/>
            <p:nvPr/>
          </p:nvSpPr>
          <p:spPr>
            <a:xfrm>
              <a:off x="1463040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Shape 129"/>
            <p:cNvSpPr/>
            <p:nvPr/>
          </p:nvSpPr>
          <p:spPr>
            <a:xfrm>
              <a:off x="2157984" y="553212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Shape 130"/>
            <p:cNvSpPr/>
            <p:nvPr/>
          </p:nvSpPr>
          <p:spPr>
            <a:xfrm>
              <a:off x="2852928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Shape 131"/>
            <p:cNvSpPr/>
            <p:nvPr/>
          </p:nvSpPr>
          <p:spPr>
            <a:xfrm>
              <a:off x="3547872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Shape 132"/>
            <p:cNvSpPr/>
            <p:nvPr/>
          </p:nvSpPr>
          <p:spPr>
            <a:xfrm>
              <a:off x="4242816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Shape 133"/>
            <p:cNvSpPr/>
            <p:nvPr/>
          </p:nvSpPr>
          <p:spPr>
            <a:xfrm>
              <a:off x="4937760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Shape 134"/>
            <p:cNvSpPr/>
            <p:nvPr/>
          </p:nvSpPr>
          <p:spPr>
            <a:xfrm>
              <a:off x="5632704" y="553212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Shape 135"/>
            <p:cNvSpPr/>
            <p:nvPr/>
          </p:nvSpPr>
          <p:spPr>
            <a:xfrm>
              <a:off x="6327648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Shape 136"/>
            <p:cNvSpPr/>
            <p:nvPr/>
          </p:nvSpPr>
          <p:spPr>
            <a:xfrm>
              <a:off x="7022592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Shape 137"/>
            <p:cNvSpPr/>
            <p:nvPr/>
          </p:nvSpPr>
          <p:spPr>
            <a:xfrm>
              <a:off x="7717536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Shape 138"/>
            <p:cNvSpPr/>
            <p:nvPr/>
          </p:nvSpPr>
          <p:spPr>
            <a:xfrm>
              <a:off x="8412480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Shape 139"/>
            <p:cNvSpPr/>
            <p:nvPr/>
          </p:nvSpPr>
          <p:spPr>
            <a:xfrm>
              <a:off x="9107424" y="553212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Shape 140"/>
            <p:cNvSpPr/>
            <p:nvPr/>
          </p:nvSpPr>
          <p:spPr>
            <a:xfrm>
              <a:off x="9802368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Shape 141"/>
            <p:cNvSpPr/>
            <p:nvPr/>
          </p:nvSpPr>
          <p:spPr>
            <a:xfrm>
              <a:off x="10497312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Shape 142"/>
            <p:cNvSpPr/>
            <p:nvPr/>
          </p:nvSpPr>
          <p:spPr>
            <a:xfrm>
              <a:off x="11192256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Shape 143"/>
            <p:cNvSpPr/>
            <p:nvPr/>
          </p:nvSpPr>
          <p:spPr>
            <a:xfrm>
              <a:off x="11887200" y="553212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Shape 144"/>
            <p:cNvSpPr/>
            <p:nvPr/>
          </p:nvSpPr>
          <p:spPr>
            <a:xfrm>
              <a:off x="73152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Shape 145"/>
            <p:cNvSpPr/>
            <p:nvPr/>
          </p:nvSpPr>
          <p:spPr>
            <a:xfrm>
              <a:off x="768096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Shape 146"/>
            <p:cNvSpPr/>
            <p:nvPr/>
          </p:nvSpPr>
          <p:spPr>
            <a:xfrm>
              <a:off x="1463040" y="63093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Shape 147"/>
            <p:cNvSpPr/>
            <p:nvPr/>
          </p:nvSpPr>
          <p:spPr>
            <a:xfrm>
              <a:off x="2157984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Shape 148"/>
            <p:cNvSpPr/>
            <p:nvPr/>
          </p:nvSpPr>
          <p:spPr>
            <a:xfrm>
              <a:off x="2852928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Shape 149"/>
            <p:cNvSpPr/>
            <p:nvPr/>
          </p:nvSpPr>
          <p:spPr>
            <a:xfrm>
              <a:off x="3547872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Shape 150"/>
            <p:cNvSpPr/>
            <p:nvPr/>
          </p:nvSpPr>
          <p:spPr>
            <a:xfrm>
              <a:off x="4242816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Shape 151"/>
            <p:cNvSpPr/>
            <p:nvPr/>
          </p:nvSpPr>
          <p:spPr>
            <a:xfrm>
              <a:off x="4937760" y="63093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Shape 152"/>
            <p:cNvSpPr/>
            <p:nvPr/>
          </p:nvSpPr>
          <p:spPr>
            <a:xfrm>
              <a:off x="5632704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Shape 153"/>
            <p:cNvSpPr/>
            <p:nvPr/>
          </p:nvSpPr>
          <p:spPr>
            <a:xfrm>
              <a:off x="6327648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Shape 154"/>
            <p:cNvSpPr/>
            <p:nvPr/>
          </p:nvSpPr>
          <p:spPr>
            <a:xfrm>
              <a:off x="7022592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Shape 155"/>
            <p:cNvSpPr/>
            <p:nvPr/>
          </p:nvSpPr>
          <p:spPr>
            <a:xfrm>
              <a:off x="7717536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Shape 156"/>
            <p:cNvSpPr/>
            <p:nvPr/>
          </p:nvSpPr>
          <p:spPr>
            <a:xfrm>
              <a:off x="8412480" y="63093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Shape 157"/>
            <p:cNvSpPr/>
            <p:nvPr/>
          </p:nvSpPr>
          <p:spPr>
            <a:xfrm>
              <a:off x="9107424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Shape 158"/>
            <p:cNvSpPr/>
            <p:nvPr/>
          </p:nvSpPr>
          <p:spPr>
            <a:xfrm>
              <a:off x="9802368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Shape 159"/>
            <p:cNvSpPr/>
            <p:nvPr/>
          </p:nvSpPr>
          <p:spPr>
            <a:xfrm>
              <a:off x="10497312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Shape 160"/>
            <p:cNvSpPr/>
            <p:nvPr/>
          </p:nvSpPr>
          <p:spPr>
            <a:xfrm>
              <a:off x="11192256" y="6309360"/>
              <a:ext cx="36576" cy="36576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Shape 161"/>
            <p:cNvSpPr/>
            <p:nvPr/>
          </p:nvSpPr>
          <p:spPr>
            <a:xfrm>
              <a:off x="11887200" y="6309360"/>
              <a:ext cx="64008" cy="64008"/>
            </a:xfrm>
            <a:prstGeom prst="ellipse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Text 162"/>
            <p:cNvSpPr/>
            <p:nvPr/>
          </p:nvSpPr>
          <p:spPr>
            <a:xfrm>
              <a:off x="502920" y="1651000"/>
              <a:ext cx="11155680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600" b="1" dirty="0">
                  <a:solidFill>
                    <a:srgbClr val="1B2A5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Thank you.</a:t>
              </a:r>
              <a:endParaRPr lang="en-US" sz="9600" dirty="0"/>
            </a:p>
          </p:txBody>
        </p:sp>
        <p:sp>
          <p:nvSpPr>
            <p:cNvPr id="167" name="Text 165"/>
            <p:cNvSpPr/>
            <p:nvPr/>
          </p:nvSpPr>
          <p:spPr>
            <a:xfrm>
              <a:off x="502920" y="3007360"/>
              <a:ext cx="111556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Dominic Okonkwo  ·  dominic.okonkwo@uga.edu</a:t>
              </a:r>
              <a:endParaRPr lang="en-US" sz="2000" dirty="0"/>
            </a:p>
          </p:txBody>
        </p:sp>
        <p:sp>
          <p:nvSpPr>
            <p:cNvPr id="168" name="Text 166"/>
            <p:cNvSpPr/>
            <p:nvPr/>
          </p:nvSpPr>
          <p:spPr>
            <a:xfrm>
              <a:off x="502920" y="3479800"/>
              <a:ext cx="1115568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NeSLab · School of Computing · University of Georgia</a:t>
              </a:r>
              <a:endParaRPr lang="en-US" sz="1600" dirty="0"/>
            </a:p>
          </p:txBody>
        </p:sp>
        <p:sp>
          <p:nvSpPr>
            <p:cNvPr id="169" name="Shape 167"/>
            <p:cNvSpPr/>
            <p:nvPr/>
          </p:nvSpPr>
          <p:spPr>
            <a:xfrm>
              <a:off x="3794760" y="4846320"/>
              <a:ext cx="4572000" cy="822960"/>
            </a:xfrm>
            <a:prstGeom prst="roundRect">
              <a:avLst>
                <a:gd name="adj" fmla="val 15556"/>
              </a:avLst>
            </a:prstGeom>
            <a:solidFill>
              <a:srgbClr val="F1F5F9"/>
            </a:solidFill>
            <a:ln w="25400">
              <a:solidFill>
                <a:srgbClr val="4C1D9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Text 168"/>
            <p:cNvSpPr/>
            <p:nvPr/>
          </p:nvSpPr>
          <p:spPr>
            <a:xfrm>
              <a:off x="3794760" y="4864608"/>
              <a:ext cx="4572000" cy="7863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4C1D9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Questions?</a:t>
              </a:r>
              <a:endParaRPr lang="en-US" sz="3000" dirty="0"/>
            </a:p>
          </p:txBody>
        </p:sp>
        <p:pic>
          <p:nvPicPr>
            <p:cNvPr id="171" name="Image 0" descr="/home/claude/sigdial-logo.png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201168" y="6437376"/>
              <a:ext cx="713232" cy="301752"/>
            </a:xfrm>
            <a:prstGeom prst="rect">
              <a:avLst/>
            </a:prstGeom>
          </p:spPr>
        </p:pic>
        <p:sp>
          <p:nvSpPr>
            <p:cNvPr id="172" name="Text 169"/>
            <p:cNvSpPr/>
            <p:nvPr/>
          </p:nvSpPr>
          <p:spPr>
            <a:xfrm>
              <a:off x="1034288" y="6467856"/>
              <a:ext cx="6400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Okonkwo &amp; Arpinar · SIGDIAL 2026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2043</Words>
  <Application>Microsoft Office PowerPoint</Application>
  <PresentationFormat>Widescreen</PresentationFormat>
  <Paragraphs>344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Dominic Okonkwo</cp:lastModifiedBy>
  <cp:revision>78</cp:revision>
  <dcterms:created xsi:type="dcterms:W3CDTF">2026-07-31T16:46:25Z</dcterms:created>
  <dcterms:modified xsi:type="dcterms:W3CDTF">2026-08-01T03:38:38Z</dcterms:modified>
</cp:coreProperties>
</file>