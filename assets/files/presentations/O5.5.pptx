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11" Type="http://schemas.openxmlformats.org/officeDocument/2006/relationships/image" Target="../media/image10.png"/><Relationship Id="rId10" Type="http://schemas.openxmlformats.org/officeDocument/2006/relationships/image" Target="../media/image13.png"/><Relationship Id="rId12" Type="http://schemas.openxmlformats.org/officeDocument/2006/relationships/image" Target="../media/image8.png"/><Relationship Id="rId9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31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11" Type="http://schemas.openxmlformats.org/officeDocument/2006/relationships/image" Target="../media/image27.png"/><Relationship Id="rId10" Type="http://schemas.openxmlformats.org/officeDocument/2006/relationships/image" Target="../media/image30.png"/><Relationship Id="rId12" Type="http://schemas.openxmlformats.org/officeDocument/2006/relationships/image" Target="../media/image26.png"/><Relationship Id="rId9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32.png"/><Relationship Id="rId7" Type="http://schemas.openxmlformats.org/officeDocument/2006/relationships/image" Target="../media/image29.png"/><Relationship Id="rId8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1910953"/>
            <a:ext cx="1158144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CrossOracle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2924323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An Agentic Framework for Real-Time Expert Personas with Parallelized Acoustic Synthesis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670994"/>
            <a:ext cx="110299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Yash Raj Singh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Independent Researcher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550866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SIGDIAL 2026 System Demonstration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072062" y="2169765"/>
            <a:ext cx="20478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The Problem Space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70321" y="2764035"/>
            <a:ext cx="10851356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The Latency Wall in Cascaded Pipelines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619750" y="3907035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062162" y="4421385"/>
            <a:ext cx="806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Addressing the strict 200ms human turn-taking barrier in Hinglish spoken dialogue systems.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62025" y="2533650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Turn-Taking Constraints: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Natural human conversation demands inter-turn gaps of ~200ms. Cascaded pipelines (ASR → LLM → TTS) struggle to meet this due to additive latency.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62025" y="3371850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Hinglish Complexity: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Fluid interleaving of Hindi morphology (SOV) with English loanwords (SVO) breaks standard end-to-end models at scale.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62025" y="4210050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Compute Overhead: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Native E2E multimodal models remain computationally prohibitive, lacking the modularity and deterministic control of cascaded architectures.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5048250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The Goal: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Achieve human-parity latency in a highly modular cascaded system without the "walkie-talkie" delay.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669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4051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2433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0815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Challenges in Real-Time Dialogue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19287"/>
            <a:ext cx="3486150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919287"/>
            <a:ext cx="3486150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919287"/>
            <a:ext cx="3486150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43100" y="22145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803910" y="3167062"/>
            <a:ext cx="30403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Merriweather"/>
                <a:ea typeface="Merriweather"/>
                <a:cs typeface="Merriweather"/>
                <a:sym typeface="Merriweather"/>
              </a:rPr>
              <a:t>Semantic Boundary Detection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76300" y="4186237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language-aware heuristic evaluating the token stream for Hindi morphology and Latin punctuation to trigger synthesis mid-thought.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2145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4575810" y="3167062"/>
            <a:ext cx="30403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Merriweather"/>
                <a:ea typeface="Merriweather"/>
                <a:cs typeface="Merriweather"/>
                <a:sym typeface="Merriweather"/>
              </a:rPr>
              <a:t>Asynchronous TTS Worker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48200" y="4186237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First-In-First-Stream (FIFS) queue that decouples and parallelizes ElevenLabs synthesis with ongoing LLM generation.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86900" y="22145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8347710" y="3167062"/>
            <a:ext cx="30403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Merriweather"/>
                <a:ea typeface="Merriweather"/>
                <a:cs typeface="Merriweather"/>
                <a:sym typeface="Merriweather"/>
              </a:rPr>
              <a:t>Deterministic Barge-in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420100" y="4186237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synchronous hardware-level abort protocol that clears audio buffers instantly, bypassing probabilistic VAD delays.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33600" y="24050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81687" y="24050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77400" y="24050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Architectural Innovations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52600"/>
            <a:ext cx="5324475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52600"/>
            <a:ext cx="5324475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971550" y="2143125"/>
            <a:ext cx="47705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Merriweather"/>
                <a:ea typeface="Merriweather"/>
                <a:cs typeface="Merriweather"/>
                <a:sym typeface="Merriweather"/>
              </a:rPr>
              <a:t>The checkFlush() Logic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71550" y="2676525"/>
            <a:ext cx="45434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Evaluated entirely in the token callback with $\mathcal{O}(1)$ regex operations. Triggers on three classes: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677025" y="2143125"/>
            <a:ext cx="47705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Merriweather"/>
                <a:ea typeface="Merriweather"/>
                <a:cs typeface="Merriweather"/>
                <a:sym typeface="Merriweather"/>
              </a:rPr>
              <a:t>Preserving Prosody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677025" y="2676525"/>
            <a:ext cx="45434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Streaming TTS (like FastSpeech 2) generates partial waveforms, destroying prosody without future context.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677025" y="3781425"/>
            <a:ext cx="45434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CrossOracle bridges this by flushing at clause-level boundaries, delivering complete prosodic units while aggressively reducing Time-to-First-Byte (TTFB).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476375" y="37814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543050" y="3781425"/>
            <a:ext cx="3971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Hindi Morphology: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Devanagari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danda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($।$) or double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danda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($॥$).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476375" y="44862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543050" y="4486275"/>
            <a:ext cx="3971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Latin Punctuation: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Sentence-final marks (?, !) bypassing abbreviation blocklists.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476375" y="51911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543050" y="5191125"/>
            <a:ext cx="3971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Structural Boundaries: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Em-dashes and explicit newlines.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81025" y="495300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Semantic Boundary Detection Heuristic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81025" y="11620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81025" y="3195637"/>
            <a:ext cx="441186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&lt; 1ms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81025" y="4624387"/>
            <a:ext cx="441186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ABORT LATENCY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469135" y="2590800"/>
            <a:ext cx="64489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Merriweather"/>
                <a:ea typeface="Merriweather"/>
                <a:cs typeface="Merriweather"/>
                <a:sym typeface="Merriweather"/>
              </a:rPr>
              <a:t>Eliminating "Ghost Audio"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469135" y="3124200"/>
            <a:ext cx="614183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User interruptions trigger a WebSocket message that invokes a global AbortController.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469135" y="3924300"/>
            <a:ext cx="614183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This synchronously cancels the active LLM streaming Promise, halts in-flight TTS requests, and clears the queue.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469135" y="4724400"/>
            <a:ext cx="614183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finite state machine returns to Idle instantly, preventing the overlapping audio artefact common in cloud-based SDS pipelines.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Deterministic Barge-in Protocol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45618"/>
            <a:ext cx="11029950" cy="82391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581025" y="2359818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Hinglish ASR often hallucinates Latin strings. We filter these pre-inference using a ratio formula:</a:t>
            </a:r>
            <a:endParaRPr/>
          </a:p>
        </p:txBody>
      </p:sp>
      <p:pic>
        <p:nvPicPr>
          <p:cNvPr descr="image.png" id="175" name="Google Shape;1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3245643"/>
            <a:ext cx="10629900" cy="42386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962025" y="4345781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Transcripts with $r &lt; 0.1$ and length &gt; 8 are discarded silently.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962025" y="4879181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Empirical separation in logged turns: Accepted transcripts $r = 0.61$ vs. Hallucinated $r \approx 0.02$.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962025" y="5412581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LLM is primed with an ASR error-tolerance system prompt for contextual repair on residual noise.</a:t>
            </a:r>
            <a:endParaRPr/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37911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91251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445918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ASR Error Tolerance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00250"/>
            <a:ext cx="5324475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00250"/>
            <a:ext cx="5324475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971550" y="2390775"/>
            <a:ext cx="47705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Merriweather"/>
                <a:ea typeface="Merriweather"/>
                <a:cs typeface="Merriweather"/>
                <a:sym typeface="Merriweather"/>
              </a:rPr>
              <a:t>Preset Identities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971550" y="2924175"/>
            <a:ext cx="4543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Supports 11 highly specific expert identities (Doctor, Lawyer, Strategist, etc.).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677025" y="2390775"/>
            <a:ext cx="47705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Merriweather"/>
                <a:ea typeface="Merriweather"/>
                <a:cs typeface="Merriweather"/>
                <a:sym typeface="Merriweather"/>
              </a:rPr>
              <a:t>Custom Persona Forge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677025" y="2924175"/>
            <a:ext cx="45434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An open-ended routing engine for on-the-fly persona creation from natural language descriptions.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476375" y="37242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1543050" y="3724275"/>
            <a:ext cx="3971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Distinct ElevenLabs voice identities.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1476375" y="40290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543050" y="4029075"/>
            <a:ext cx="3971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System prompts enforcing Devanagari script output.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1476375" y="4638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1543050" y="4638675"/>
            <a:ext cx="3971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Edge-cached greetings for zero-latency instantiation (866ms vs 4.9s cold start).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7181850" y="40290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7248525" y="4029075"/>
            <a:ext cx="3971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Extracts name and voice identity from free-text.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181850" y="46386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248525" y="4638675"/>
            <a:ext cx="3971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Live keyword-to-voice-bucket routing.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181850" y="49434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7248525" y="4943475"/>
            <a:ext cx="3971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Enables novel persona construction during live demos.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The Expert Persona Engine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90737"/>
            <a:ext cx="3486150" cy="393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090737"/>
            <a:ext cx="3486150" cy="393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090737"/>
            <a:ext cx="3486150" cy="393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43100" y="23860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1018936" y="3338512"/>
            <a:ext cx="261032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Merriweather"/>
                <a:ea typeface="Merriweather"/>
                <a:cs typeface="Merriweather"/>
                <a:sym typeface="Merriweather"/>
              </a:rPr>
              <a:t>Persona Switching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876300" y="4014787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Observe seamless transitions across 11 preset experts with instantaneous context resets and distinct voice profiles.</a:t>
            </a:r>
            <a:endParaRPr/>
          </a:p>
        </p:txBody>
      </p:sp>
      <p:pic>
        <p:nvPicPr>
          <p:cNvPr descr="image.png" id="220" name="Google Shape;22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3860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4685823" y="3338512"/>
            <a:ext cx="282035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Merriweather"/>
                <a:ea typeface="Merriweather"/>
                <a:cs typeface="Merriweather"/>
                <a:sym typeface="Merriweather"/>
              </a:rPr>
              <a:t>Barge-in Stress Test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648200" y="4014787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Interrupt the system mid-response to experience the &lt; 1ms deterministic buffer flush and elimination of ghost audio.</a:t>
            </a:r>
            <a:endParaRPr/>
          </a:p>
        </p:txBody>
      </p:sp>
      <p:pic>
        <p:nvPicPr>
          <p:cNvPr descr="image.png" id="223" name="Google Shape;22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86900" y="23860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8677751" y="3338512"/>
            <a:ext cx="23802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18CF8"/>
                </a:solidFill>
                <a:latin typeface="Merriweather"/>
                <a:ea typeface="Merriweather"/>
                <a:cs typeface="Merriweather"/>
                <a:sym typeface="Merriweather"/>
              </a:rPr>
              <a:t>Hinglish Parsing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420100" y="4014787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Test dense intra-sentential Hinglish to observe the Devanagari ratio filter and language-aware semantic chunking in action.</a:t>
            </a:r>
            <a:endParaRPr/>
          </a:p>
        </p:txBody>
      </p:sp>
      <p:pic>
        <p:nvPicPr>
          <p:cNvPr descr="image.png" id="226" name="Google Shape;226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85975" y="25765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57875" y="25765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29775" y="257651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Live Demonstration Scenarios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581025" y="12477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5319712" y="1779240"/>
            <a:ext cx="15525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Looking Ahead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2495550" y="2373510"/>
            <a:ext cx="72009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 &amp; Future Work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619750" y="3516510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224087" y="4030860"/>
            <a:ext cx="7743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Proving highly responsive conversational latency is achievable in cascaded Hinglish SDS.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1776412" y="4811910"/>
            <a:ext cx="8639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Future focus: Formal Mean Opinion Score (MOS) evaluations across diverse Hinglish demographics.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4350" y="4035623"/>
            <a:ext cx="35433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305276" y="186972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581025" y="3060352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Thank you for your attention.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4995862" y="4511873"/>
            <a:ext cx="2200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18CF8"/>
                </a:solidFill>
                <a:latin typeface="DM Sans"/>
                <a:ea typeface="DM Sans"/>
                <a:cs typeface="DM Sans"/>
                <a:sym typeface="DM Sans"/>
              </a:rPr>
              <a:t>https://crossoracle.io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