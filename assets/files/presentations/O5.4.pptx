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5175"/>
  <p:notesSz cx="6858000" cy="9144000"/>
  <p:embeddedFontLst>
    <p:embeddedFont>
      <p:font typeface="Merriweather Light"/>
      <p:regular r:id="rId27"/>
      <p:bold r:id="rId28"/>
      <p:italic r:id="rId29"/>
      <p:boldItalic r:id="rId30"/>
    </p:embeddedFont>
    <p:embeddedFont>
      <p:font typeface="Open Sans Light"/>
      <p:regular r:id="rId31"/>
      <p:bold r:id="rId32"/>
      <p:italic r:id="rId33"/>
      <p:boldItalic r:id="rId34"/>
    </p:embeddedFont>
    <p:embeddedFont>
      <p:font typeface="Open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hl00iKmEm47+Cxna8tHnH3hxl0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C4E8F86-5123-4073-946B-92C1E0C31575}">
  <a:tblStyle styleId="{1C4E8F86-5123-4073-946B-92C1E0C3157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FF6E6"/>
          </a:solidFill>
        </a:fill>
      </a:tcStyle>
    </a:wholeTbl>
    <a:band1H>
      <a:tcTxStyle/>
      <a:tcStyle>
        <a:fill>
          <a:solidFill>
            <a:srgbClr val="FFEDCA"/>
          </a:solidFill>
        </a:fill>
      </a:tcStyle>
    </a:band1H>
    <a:band2H>
      <a:tcTxStyle/>
    </a:band2H>
    <a:band1V>
      <a:tcTxStyle/>
      <a:tcStyle>
        <a:fill>
          <a:solidFill>
            <a:srgbClr val="FFEDC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MerriweatherLight-bold.fntdata"/><Relationship Id="rId27" Type="http://schemas.openxmlformats.org/officeDocument/2006/relationships/font" Target="fonts/MerriweatherLigh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erriweatherLight-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Light-regular.fntdata"/><Relationship Id="rId30" Type="http://schemas.openxmlformats.org/officeDocument/2006/relationships/font" Target="fonts/MerriweatherLight-boldItalic.fntdata"/><Relationship Id="rId11" Type="http://schemas.openxmlformats.org/officeDocument/2006/relationships/slide" Target="slides/slide6.xml"/><Relationship Id="rId33" Type="http://schemas.openxmlformats.org/officeDocument/2006/relationships/font" Target="fonts/OpenSansLight-italic.fntdata"/><Relationship Id="rId10" Type="http://schemas.openxmlformats.org/officeDocument/2006/relationships/slide" Target="slides/slide5.xml"/><Relationship Id="rId32" Type="http://schemas.openxmlformats.org/officeDocument/2006/relationships/font" Target="fonts/OpenSansLight-bold.fntdata"/><Relationship Id="rId13" Type="http://schemas.openxmlformats.org/officeDocument/2006/relationships/slide" Target="slides/slide8.xml"/><Relationship Id="rId35" Type="http://schemas.openxmlformats.org/officeDocument/2006/relationships/font" Target="fonts/OpenSans-regular.fntdata"/><Relationship Id="rId12" Type="http://schemas.openxmlformats.org/officeDocument/2006/relationships/slide" Target="slides/slide7.xml"/><Relationship Id="rId34" Type="http://schemas.openxmlformats.org/officeDocument/2006/relationships/font" Target="fonts/OpenSansLight-boldItalic.fntdata"/><Relationship Id="rId15" Type="http://schemas.openxmlformats.org/officeDocument/2006/relationships/slide" Target="slides/slide10.xml"/><Relationship Id="rId37" Type="http://schemas.openxmlformats.org/officeDocument/2006/relationships/font" Target="fonts/OpenSans-italic.fntdata"/><Relationship Id="rId14" Type="http://schemas.openxmlformats.org/officeDocument/2006/relationships/slide" Target="slides/slide9.xml"/><Relationship Id="rId36" Type="http://schemas.openxmlformats.org/officeDocument/2006/relationships/font" Target="fonts/OpenSans-bold.fntdata"/><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font" Target="fonts/OpenSans-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Good morning. I'm Nan Li from Utrecht University; this is joint work with Albert Gatt and Massimo Poesio. The title is the talk in four words: two people can look at the same thing and still mean different things. We show that some vision-language models miss that distinction — show them what the participants can see, and they start assuming the participants agree.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[Cue: pause after the title; do not read the subtitle twice.]</a:t>
            </a:r>
            <a:endParaRPr/>
          </a:p>
        </p:txBody>
      </p:sp>
      <p:sp>
        <p:nvSpPr>
          <p:cNvPr id="103" name="Google Shape;103;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In dialogue, a referring expression does not become common ground just because it was uttered. It becomes common ground once the addressee recognises it and the two confirm it — the incremental grounding process from Clark and colleagues. Until then a referent is only potential common ground. This matters most in asymmetric dialogue, where the participants hold different private information by design and neither can see the other's. A conversation can sound perfectly smooth while the two are talking about different things. And a model reading a transcript is structurally an overhearer: it observes every word, but it cannot ask and it cannot repair. [cut] Schober and Clark showed that human overhearers systematically overestimate their own understanding. Our question is whether the model inherits that illusion.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[Cue: stress the contrast between *could* and *has actually become*.]</a:t>
            </a:r>
            <a:endParaRPr/>
          </a:p>
        </p:txBody>
      </p:sp>
      <p:sp>
        <p:nvSpPr>
          <p:cNvPr id="116" name="Google Shape;11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Our testbed is the HCRC MapTask. A giver guides a follower along a route, but their maps differ by design: landmarks are named differently, missing on one side, or duplicated on one map and not the other. What makes the study possible is </a:t>
            </a:r>
            <a:r>
              <a:rPr lang="en-US"/>
              <a:t>a perspectivist annotation layer that we published at LREC earlier this year. It records</a:t>
            </a:r>
            <a:r>
              <a:rPr lang="en-US" sz="1200"/>
              <a:t>, for every reference expression, the giver's landmark and the follower's landmark separately. That is 13,077 expressions across 128 dialogues. From those paired interpretations we derive a gold state. 72% aligned, 26% pending — not yet grounded — and that thin sliver is the genuinely misunderstood cases, where both sides believe they agree but grounded to different landmarks. 239 instances. Keep that sliver in mind.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[Cue: name the three discrepancy types while pointing at the map, then run your hand along the bar and stop on the purple sliver.]</a:t>
            </a:r>
            <a:endParaRPr/>
          </a:p>
        </p:txBody>
      </p:sp>
      <p:sp>
        <p:nvSpPr>
          <p:cNvPr id="134" name="Google Shape;134;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Here is the task on a real misalignment. The giver says "Go to the parked van." The giver's map has two parked vans; the follower's has one, elsewhere. The follower says "Alright, to the bottom" — and the giver says "No." That repair is what tells us the fluency was not agreement. The annotations tell us the giver grounded the phrase to the upper van, the follower to the lower one. Same words, different entities — which is why one corpus-level gold referent is not enough. So our task, interpretation matching: given the expression, the dialogue, and some map information, do the two participants currently share the same interpretation? Here, No. And note the model's position — it observes, but it cannot ask, and it cannot repair.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[Cue: move left to right; pause on the ≠ sign.]</a:t>
            </a:r>
            <a:endParaRPr/>
          </a:p>
        </p:txBody>
      </p:sp>
      <p:sp>
        <p:nvSpPr>
          <p:cNvPr id="162" name="Google Shape;16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how do we test this systematically? We control two things — what dialogue the model sees, and what map information it gets — fully crossed, all zero-shot. I will report the widest dialogue window unless I say otherwise.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First, dialogue context: the model can see as little as the current exchange or as much as the full dialogue — including later turns that carry confirmation and repair. That tells us whether grounding history helps.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Second, map access: the model gets no map, both authentic maps, or just one side's map. We also deliver the same map content as plain text — landmark names, or explicit discrepancy descriptions. </a:t>
            </a:r>
            <a:r>
              <a:rPr lang="en-US" sz="1200"/>
              <a:t>And two content-free controls: blank grey images, and shuffled maps from an unrelated pair. If the effect were a generic "there is an image" artefact, the controls should reproduce it. Five models. Qwen3-VL-8B runs everything I show. Decoding is one YES or NO token, which gives us clean confidence.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[Cue: the dashed column is what the paper reports — say "all four windows, reporting the widest".]</a:t>
            </a:r>
            <a:endParaRPr/>
          </a:p>
        </p:txBody>
      </p:sp>
      <p:sp>
        <p:nvSpPr>
          <p:cNvPr id="172" name="Google Shape;17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 what happens when the model gets the maps? At first glance, good news: macro-F1 goes </a:t>
            </a:r>
            <a:r>
              <a:rPr lang="en-US"/>
              <a:t>up about eight points</a:t>
            </a:r>
            <a:r>
              <a:rPr lang="en-US" sz="1200"/>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But look at how. Recall on aligned cases jumps by more than 20 points. Recall on not-aligned cases drops. And the yes-rate climbs to match the base rate of aligned expressions.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Let me be precise. The yes-rate roughly matches the gold base rate — so by itself it is not evidence of bias. A classifier can match the base rate and still distribute its errors very differently. The evidence is the direction of the trade-off: in every authentic-map condition, aligned recall goes up and not-aligned recall goes down. Single maps make this more extreme; both maps is the mildest, because cross-map discrepancies give the model something corrective.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 the improvement is real, and it is bought by systematically over-predicting alignment.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[Cue: read the four cards left to right, then say the prevalence caveat out loud — do not skip it.]</a:t>
            </a:r>
            <a:endParaRPr/>
          </a:p>
        </p:txBody>
      </p:sp>
      <p:sp>
        <p:nvSpPr>
          <p:cNvPr id="186" name="Google Shape;186;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Is this a visual artefact — something about feeding images to a VLM? That is what the modality conditions are for.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Take the same map information and deliver it as plain text. The yes-rates land in the mid-sixties to low-seventies — almost the same as real maps at .727. Describing the maps in words reproduces almost the full effect of showing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the controls. Blank grey images and shuffled maps both drop to around .19 — far below the text-only baseline — the opposite direction. When the model gets an image it cannot extract content from, it turns hyper-conservative.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 the conditions split cleanly: task-relevant map content pushes toward yes, as pixels or as words; inputs without it do not. I would not say vision plays no role — the textual conditions omit spatial layout, and real images add a small further shift. But the dominant effect follows content.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[Cue: group the top three bars with your hand, then contrast with the bottom two.]</a:t>
            </a:r>
            <a:endParaRPr/>
          </a:p>
        </p:txBody>
      </p:sp>
      <p:sp>
        <p:nvSpPr>
          <p:cNvPr id="208" name="Google Shape;208;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Is this just a shifted decision threshold? Partly — the yes-rate does move. But calibration shows it is more than that. Because the output is one token, we get confidence for free, and we compute expected calibration error separately by gold label. Lower is better. Text-only is mediocre but symmetric, about .25 on both classes. Add maps and it splits. </a:t>
            </a:r>
            <a:r>
              <a:rPr lang="en-US"/>
              <a:t>On gold-YES the model becomes very well calibrated: .094. On gold-NO it deteriorates to .403 — even worse with a single map. Mean confidence goes up too.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 when the model gets a non-aligned case wrong under map access, it is not hesitating. It is confidently wrong. For anything downstream — a system deciding whether to ask a clarification question — that is the worst kind of error.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[Cue: say "lower is better" once, explicitly. Point at gold-YES first, then gold-NO.]</a:t>
            </a:r>
            <a:endParaRPr/>
          </a:p>
        </p:txBody>
      </p:sp>
      <p:sp>
        <p:nvSpPr>
          <p:cNvPr id="224" name="Google Shape;224;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Where do the gains and losses land? Here we decompose accuracy by gold grounding status. On aligned expressions, maps add 23 points, .590 to .822. On pending expressions, where grounding has not happened yet, accuracy drops 17 points, and that drop is significant under every authentic-map condition. </a:t>
            </a:r>
            <a:r>
              <a:rPr lang="en-US"/>
              <a:t>On the genuinely misunderstood cases, I want to be careful. The both-maps change is not significant — p is .724, on only 239 instances.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The single-map declines are significant; follower-only falls to .255. So the robust harm is on pending cases. Two more things. Landmark names as text, in teal, follow the same profile as real maps. And blank maps look excellent on pending and misunderstood — only because they answer NO to nearly everything. No condition gets better at detecting non-alignment for the right reasons.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[Cue: walk the three chips left to right. Say "not significant" out loud; do not let the printed chip do that work alone.]</a:t>
            </a:r>
            <a:endParaRPr/>
          </a:p>
        </p:txBody>
      </p:sp>
      <p:sp>
        <p:nvSpPr>
          <p:cNvPr id="240" name="Google Shape;240;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 name="Google Shape;25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One more view: how much does dialogue evidence actually buy? More context always helps, including the future turns that carry repair and confirmation. But look at the slopes. Without maps, going from the smallest window to the largest gains .152 in macro-F1. With both maps, the same expansion gains only .078. Once the model has static map cues, it leans on them and benefits much less from the interactional evidence — which is precisely the evidence that says what has actually been grounded.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[Cue: trace the grey line, then the blue one. This is the whole slide; do not add the chain analysis, it is in B4.]</a:t>
            </a:r>
            <a:endParaRPr/>
          </a:p>
        </p:txBody>
      </p:sp>
      <p:sp>
        <p:nvSpPr>
          <p:cNvPr id="256" name="Google Shape;256;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Is this universal? No — and the word "some" in our title is doing real work. Four of the five models shift upward when maps are added. </a:t>
            </a:r>
            <a:r>
              <a:rPr lang="en-US"/>
              <a:t>But only three land anywhere near the base rate. Gemma-3-12B shifts upward but stays extremely conservative — its yes-rate never comes close to the base rate.</a:t>
            </a:r>
            <a:r>
              <a:rPr lang="en-US" sz="1200"/>
              <a:t> And Qwen3-VL-4B moves the opposite way — maps make it more conservative. Scale does not save you either. 2B beats 4B, and Gemma-3-4B beats 12B. Larger is not more discerning. For Gemma we have a plausible contributor: its encoder pools every image to 256 tokens, and in a map-reading check it reads landmark names noticeably worse. A model that cannot read the maps cannot show a content-driven bias. That is a contributor, not a full account.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[Cue: trace the red Qwen3-VL-4B line and say "some" out loud. Do not say "larger models are more confident" — that holds for Qwen but reverses in Gemma.]</a:t>
            </a:r>
            <a:endParaRPr/>
          </a:p>
        </p:txBody>
      </p:sp>
      <p:sp>
        <p:nvSpPr>
          <p:cNvPr id="266" name="Google Shape;266;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model has two sources of evidence. The scene tells it what could be shared: which landmarks are co-present. The dialogue tells it what has been shared: recognition, confirmation, repair. It over-weights the first and under-weights the second, and the result is a confident "aligned" whenever the landmark appears on both maps. That is the computational form of the overhearer's illusion: rich referential context, no access to the process that establishes mutual understanding. The implication is on the bottom line: an evaluation reporting one aggregate number cannot tell these apart. They need to be measured separately.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[Cue: trace the thick red arrow, then the pale one.]</a:t>
            </a:r>
            <a:endParaRPr/>
          </a:p>
        </p:txBody>
      </p:sp>
      <p:sp>
        <p:nvSpPr>
          <p:cNvPr id="282" name="Google Shape;282;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claim is deliberately scoped. What we show: an interpretation-matching evaluation over 13,077 expressions; map content shifting judgements toward yes, as pixels or as words; the cost concentrating on pending cases with confident errors; a pattern that is model-dependent. What we do not claim: this is an overhearer task, not a test of interactive clarification. The full grid is one model. One corpus, with a rare misunderstood class. And greedy binary decoding may hide softer uncertainty.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[Cue: brisk. This slide is what protects the final claim.]</a:t>
            </a:r>
            <a:endParaRPr/>
          </a:p>
        </p:txBody>
      </p:sp>
      <p:sp>
        <p:nvSpPr>
          <p:cNvPr id="302" name="Google Shape;302;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Three things to take away. One: seeing is not sharing. Map access improves F1 by reading potential referential overlap as established common ground. Two: the bias travels with content, not channel — text reproduces it, content-free images reverse it. Three: the cost lands where grounding matters, as confident errors on cases that are still pending. In one sentence: these models can infer what the interlocutors could be talking about, but not what they have actually established. Paper, code, and the dataset are behind those QR codes. Funded by the NWO AiNed Fellowship. Thank you.</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[Cue: finish on the conceptual sentence, then gesture at the QR codes and stop talking so people can scan. Do not read the URLs or the grant number aloud.]</a:t>
            </a:r>
            <a:endParaRPr/>
          </a:p>
        </p:txBody>
      </p:sp>
      <p:sp>
        <p:nvSpPr>
          <p:cNvPr id="315" name="Google Shape;315;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Q1 "isn't the yes-rate just the base rate?" · Q4 "are the models bad at reading maps?"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Point at the two textual rows: .675 and .716 against .727 for real maps. That is</a:t>
            </a:r>
            <a:endParaRPr/>
          </a:p>
          <a:p>
            <a:pPr indent="0" lvl="0" marL="0" rtl="0" algn="l">
              <a:spcBef>
                <a:spcPts val="0"/>
              </a:spcBef>
              <a:spcAft>
                <a:spcPts val="0"/>
              </a:spcAft>
              <a:buNone/>
            </a:pPr>
            <a:r>
              <a:rPr lang="en-US" sz="1200"/>
              <a:t>the answer to "is this a vision artefact" — no vision required, the bias</a:t>
            </a:r>
            <a:endParaRPr/>
          </a:p>
          <a:p>
            <a:pPr indent="0" lvl="0" marL="0" rtl="0" algn="l">
              <a:spcBef>
                <a:spcPts val="0"/>
              </a:spcBef>
              <a:spcAft>
                <a:spcPts val="0"/>
              </a:spcAft>
              <a:buNone/>
            </a:pPr>
            <a:r>
              <a:rPr lang="en-US" sz="1200"/>
              <a:t>reproduces. Then the two control rows, .184 and .193, below the .515 text-only</a:t>
            </a:r>
            <a:endParaRPr/>
          </a:p>
          <a:p>
            <a:pPr indent="0" lvl="0" marL="0" rtl="0" algn="l">
              <a:spcBef>
                <a:spcPts val="0"/>
              </a:spcBef>
              <a:spcAft>
                <a:spcPts val="0"/>
              </a:spcAft>
              <a:buNone/>
            </a:pPr>
            <a:r>
              <a:rPr lang="en-US" sz="1200"/>
              <a:t>baseline.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Gold aligned rate is .721. Say out loud that the yes-rate alone is not the test;</a:t>
            </a:r>
            <a:endParaRPr/>
          </a:p>
          <a:p>
            <a:pPr indent="0" lvl="0" marL="0" rtl="0" algn="l">
              <a:spcBef>
                <a:spcPts val="0"/>
              </a:spcBef>
              <a:spcAft>
                <a:spcPts val="0"/>
              </a:spcAft>
              <a:buNone/>
            </a:pPr>
            <a:r>
              <a:rPr lang="en-US" sz="1200"/>
              <a:t>the recall trade-off is. R-pos = recall on aligned, R-neg = recall on not-aligned.</a:t>
            </a:r>
            <a:endParaRPr/>
          </a:p>
          <a:p>
            <a:pPr indent="0" lvl="0" marL="0" rtl="0" algn="l">
              <a:spcBef>
                <a:spcPts val="0"/>
              </a:spcBef>
              <a:spcAft>
                <a:spcPts val="0"/>
              </a:spcAft>
              <a:buNone/>
            </a:pPr>
            <a:r>
              <a:rPr lang="en-US" sz="1200"/>
              <a:t>n = 13,077 for every row.</a:t>
            </a:r>
            <a:endParaRPr/>
          </a:p>
        </p:txBody>
      </p:sp>
      <p:sp>
        <p:nvSpPr>
          <p:cNvPr id="341" name="Google Shape;341;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Q5 "239 misunderstood cases is very few — can you conclude anything?"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honest answer is on the right. Pending: p &lt; 10 to the minus 6 for every</a:t>
            </a:r>
            <a:endParaRPr/>
          </a:p>
          <a:p>
            <a:pPr indent="0" lvl="0" marL="0" rtl="0" algn="l">
              <a:spcBef>
                <a:spcPts val="0"/>
              </a:spcBef>
              <a:spcAft>
                <a:spcPts val="0"/>
              </a:spcAft>
              <a:buNone/>
            </a:pPr>
            <a:r>
              <a:rPr lang="en-US" sz="1200"/>
              <a:t>authentic-map condition, on n = 3,403 — that is the claim we lean on.</a:t>
            </a:r>
            <a:endParaRPr/>
          </a:p>
          <a:p>
            <a:pPr indent="0" lvl="0" marL="0" rtl="0" algn="l">
              <a:spcBef>
                <a:spcPts val="0"/>
              </a:spcBef>
              <a:spcAft>
                <a:spcPts val="0"/>
              </a:spcAft>
              <a:buNone/>
            </a:pPr>
            <a:r>
              <a:rPr lang="en-US" sz="1200"/>
              <a:t>Misunderstood under both maps: p = .724, not significant, and we say so in the</a:t>
            </a:r>
            <a:endParaRPr/>
          </a:p>
          <a:p>
            <a:pPr indent="0" lvl="0" marL="0" rtl="0" algn="l">
              <a:spcBef>
                <a:spcPts val="0"/>
              </a:spcBef>
              <a:spcAft>
                <a:spcPts val="0"/>
              </a:spcAft>
              <a:buNone/>
            </a:pPr>
            <a:r>
              <a:rPr lang="en-US" sz="1200"/>
              <a:t>paper. Single maps do decline significantly: giver-only p = 8e-3,</a:t>
            </a:r>
            <a:endParaRPr/>
          </a:p>
          <a:p>
            <a:pPr indent="0" lvl="0" marL="0" rtl="0" algn="l">
              <a:spcBef>
                <a:spcPts val="0"/>
              </a:spcBef>
              <a:spcAft>
                <a:spcPts val="0"/>
              </a:spcAft>
              <a:buNone/>
            </a:pPr>
            <a:r>
              <a:rPr lang="en-US" sz="1200"/>
              <a:t>follower-only p = 3e-9, down to .255.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If pushed: we phrase the misunderstood conclusions per condition, never in</a:t>
            </a:r>
            <a:endParaRPr/>
          </a:p>
          <a:p>
            <a:pPr indent="0" lvl="0" marL="0" rtl="0" algn="l">
              <a:spcBef>
                <a:spcPts val="0"/>
              </a:spcBef>
              <a:spcAft>
                <a:spcPts val="0"/>
              </a:spcAft>
              <a:buNone/>
            </a:pPr>
            <a:r>
              <a:rPr lang="en-US" sz="1200"/>
              <a:t>aggregate.</a:t>
            </a:r>
            <a:endParaRPr/>
          </a:p>
        </p:txBody>
      </p:sp>
      <p:sp>
        <p:nvSpPr>
          <p:cNvPr id="353" name="Google Shape;353;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4" name="Google Shape;36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Q1 follow-up "why is this over-prediction rather than a threshold shift?"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This table is the strongest single answer. Text-only is symmetric, .263 against</a:t>
            </a:r>
            <a:endParaRPr/>
          </a:p>
          <a:p>
            <a:pPr indent="0" lvl="0" marL="0" rtl="0" algn="l">
              <a:spcBef>
                <a:spcPts val="0"/>
              </a:spcBef>
              <a:spcAft>
                <a:spcPts val="0"/>
              </a:spcAft>
              <a:buNone/>
            </a:pPr>
            <a:r>
              <a:rPr lang="en-US" sz="1200"/>
              <a:t>.235. Under both maps the classes split: .094 on gold-YES, .403 on gold-NO. The</a:t>
            </a:r>
            <a:endParaRPr/>
          </a:p>
          <a:p>
            <a:pPr indent="0" lvl="0" marL="0" rtl="0" algn="l">
              <a:spcBef>
                <a:spcPts val="0"/>
              </a:spcBef>
              <a:spcAft>
                <a:spcPts val="0"/>
              </a:spcAft>
              <a:buNone/>
            </a:pPr>
            <a:r>
              <a:rPr lang="en-US" sz="1200"/>
              <a:t>gap widens from .028 to .463. A threshold shift would move both classes together.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lower card is for "does scale help?" — 2B has the best ECE because it is the</a:t>
            </a:r>
            <a:endParaRPr/>
          </a:p>
          <a:p>
            <a:pPr indent="0" lvl="0" marL="0" rtl="0" algn="l">
              <a:spcBef>
                <a:spcPts val="0"/>
              </a:spcBef>
              <a:spcAft>
                <a:spcPts val="0"/>
              </a:spcAft>
              <a:buNone/>
            </a:pPr>
            <a:r>
              <a:rPr lang="en-US" sz="1200"/>
              <a:t>least confident; 12B the worst at the second-highest confidence.</a:t>
            </a:r>
            <a:endParaRPr/>
          </a:p>
        </p:txBody>
      </p:sp>
      <p:sp>
        <p:nvSpPr>
          <p:cNvPr id="365" name="Google Shape;36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For a question about repeated mention or temporal grounding.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This is the slide to go to, and it is deliberately not in the main deck: the</a:t>
            </a:r>
            <a:endParaRPr/>
          </a:p>
          <a:p>
            <a:pPr indent="0" lvl="0" marL="0" rtl="0" algn="l">
              <a:spcBef>
                <a:spcPts val="0"/>
              </a:spcBef>
              <a:spcAft>
                <a:spcPts val="0"/>
              </a:spcAft>
              <a:buNone/>
            </a:pPr>
            <a:r>
              <a:rPr lang="en-US" sz="1200"/>
              <a:t>honest version needs the gold prevalence curve next to the yes-rate curve, and</a:t>
            </a:r>
            <a:endParaRPr/>
          </a:p>
          <a:p>
            <a:pPr indent="0" lvl="0" marL="0" rtl="0" algn="l">
              <a:spcBef>
                <a:spcPts val="0"/>
              </a:spcBef>
              <a:spcAft>
                <a:spcPts val="0"/>
              </a:spcAft>
              <a:buNone/>
            </a:pPr>
            <a:r>
              <a:rPr lang="en-US" sz="1200"/>
              <a:t>that does not fit in a talk minute.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dashed navy line is the gold aligned rate within each bucket. It climbs from</a:t>
            </a:r>
            <a:endParaRPr/>
          </a:p>
          <a:p>
            <a:pPr indent="0" lvl="0" marL="0" rtl="0" algn="l">
              <a:spcBef>
                <a:spcPts val="0"/>
              </a:spcBef>
              <a:spcAft>
                <a:spcPts val="0"/>
              </a:spcAft>
              <a:buNone/>
            </a:pPr>
            <a:r>
              <a:rPr lang="en-US" sz="1200"/>
              <a:t>.33 to .87 because post-grounding mentions accumulate. Against that local</a:t>
            </a:r>
            <a:endParaRPr/>
          </a:p>
          <a:p>
            <a:pPr indent="0" lvl="0" marL="0" rtl="0" algn="l">
              <a:spcBef>
                <a:spcPts val="0"/>
              </a:spcBef>
              <a:spcAft>
                <a:spcPts val="0"/>
              </a:spcAft>
              <a:buNone/>
            </a:pPr>
            <a:r>
              <a:rPr lang="en-US" sz="1200"/>
              <a:t>baseline the over-prediction sits at the LEFT end, not the right: at a single</a:t>
            </a:r>
            <a:endParaRPr/>
          </a:p>
          <a:p>
            <a:pPr indent="0" lvl="0" marL="0" rtl="0" algn="l">
              <a:spcBef>
                <a:spcPts val="0"/>
              </a:spcBef>
              <a:spcAft>
                <a:spcPts val="0"/>
              </a:spcAft>
              <a:buNone/>
            </a:pPr>
            <a:r>
              <a:rPr lang="en-US" sz="1200"/>
              <a:t>mention the model says yes .55 of the time where only .33 are aligned.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If someone quotes the global .721 back at you, that is the wrong reference for</a:t>
            </a:r>
            <a:endParaRPr/>
          </a:p>
          <a:p>
            <a:pPr indent="0" lvl="0" marL="0" rtl="0" algn="l">
              <a:spcBef>
                <a:spcPts val="0"/>
              </a:spcBef>
              <a:spcAft>
                <a:spcPts val="0"/>
              </a:spcAft>
              <a:buNone/>
            </a:pPr>
            <a:r>
              <a:rPr lang="en-US" sz="1200"/>
              <a:t>this subset - say so, and point at the dashed line.</a:t>
            </a:r>
            <a:endParaRPr/>
          </a:p>
        </p:txBody>
      </p:sp>
      <p:sp>
        <p:nvSpPr>
          <p:cNvPr id="379" name="Google Shape;379;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2" name="Google Shape;392;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Q3 "why does Qwen3-VL-4B reverse?" · Q4 "could the models just be bad at reading maps?"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Left card answers the mechanism question for Gemma: SigLIP pools every image to</a:t>
            </a:r>
            <a:endParaRPr/>
          </a:p>
          <a:p>
            <a:pPr indent="0" lvl="0" marL="0" rtl="0" algn="l">
              <a:spcBef>
                <a:spcPts val="0"/>
              </a:spcBef>
              <a:spcAft>
                <a:spcPts val="0"/>
              </a:spcAft>
              <a:buNone/>
            </a:pPr>
            <a:r>
              <a:rPr lang="en-US" sz="1200"/>
              <a:t>256 tokens regardless of resolution, and the sanity check shows it: 81-82 F1</a:t>
            </a:r>
            <a:endParaRPr/>
          </a:p>
          <a:p>
            <a:pPr indent="0" lvl="0" marL="0" rtl="0" algn="l">
              <a:spcBef>
                <a:spcPts val="0"/>
              </a:spcBef>
              <a:spcAft>
                <a:spcPts val="0"/>
              </a:spcAft>
              <a:buNone/>
            </a:pPr>
            <a:r>
              <a:rPr lang="en-US" sz="1200"/>
              <a:t>against 88-90 for Qwen.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bottom card is the honest limit. Weak map reading explains Gemma. It does</a:t>
            </a:r>
            <a:endParaRPr/>
          </a:p>
          <a:p>
            <a:pPr indent="0" lvl="0" marL="0" rtl="0" algn="l">
              <a:spcBef>
                <a:spcPts val="0"/>
              </a:spcBef>
              <a:spcAft>
                <a:spcPts val="0"/>
              </a:spcAft>
              <a:buNone/>
            </a:pPr>
            <a:r>
              <a:rPr lang="en-US" sz="1200"/>
              <a:t>not explain Qwen3-VL-4B, which reads maps fine and still reverses. Say that</a:t>
            </a:r>
            <a:endParaRPr/>
          </a:p>
          <a:p>
            <a:pPr indent="0" lvl="0" marL="0" rtl="0" algn="l">
              <a:spcBef>
                <a:spcPts val="0"/>
              </a:spcBef>
              <a:spcAft>
                <a:spcPts val="0"/>
              </a:spcAft>
              <a:buNone/>
            </a:pPr>
            <a:r>
              <a:rPr lang="en-US" sz="1200"/>
              <a:t>plainly — we report the heterogeneity and do not have a mechanistic account.</a:t>
            </a:r>
            <a:endParaRPr/>
          </a:p>
        </p:txBody>
      </p:sp>
      <p:sp>
        <p:nvSpPr>
          <p:cNvPr id="393" name="Google Shape;393;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Q2 "is the text/vision comparison fair?" · Q6 "few-shot / CoT?" · Q7 "human baseline?" · Q8 "vs Wang et al. 2025?"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Four separate answers on one slide; take only the one asked.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Zero-shot and greedy is deliberate: constrained single-token decoding is what</a:t>
            </a:r>
            <a:endParaRPr/>
          </a:p>
          <a:p>
            <a:pPr indent="0" lvl="0" marL="0" rtl="0" algn="l">
              <a:spcBef>
                <a:spcPts val="0"/>
              </a:spcBef>
              <a:spcAft>
                <a:spcPts val="0"/>
              </a:spcAft>
              <a:buNone/>
            </a:pPr>
            <a:r>
              <a:rPr lang="en-US" sz="1200"/>
              <a:t>makes the token probability a clean confidence signal for the calibration</a:t>
            </a:r>
            <a:endParaRPr/>
          </a:p>
          <a:p>
            <a:pPr indent="0" lvl="0" marL="0" rtl="0" algn="l">
              <a:spcBef>
                <a:spcPts val="0"/>
              </a:spcBef>
              <a:spcAft>
                <a:spcPts val="0"/>
              </a:spcAft>
              <a:buNone/>
            </a:pPr>
            <a:r>
              <a:rPr lang="en-US" sz="1200"/>
              <a:t>analysis. The text conditions genuinely omit spatial layout — acknowledged in</a:t>
            </a:r>
            <a:endParaRPr/>
          </a:p>
          <a:p>
            <a:pPr indent="0" lvl="0" marL="0" rtl="0" algn="l">
              <a:spcBef>
                <a:spcPts val="0"/>
              </a:spcBef>
              <a:spcAft>
                <a:spcPts val="0"/>
              </a:spcAft>
              <a:buNone/>
            </a:pPr>
            <a:r>
              <a:rPr lang="en-US" sz="1200"/>
              <a:t>Limitations — but text alone already reproduces the bulk of the bias, which is</a:t>
            </a:r>
            <a:endParaRPr/>
          </a:p>
          <a:p>
            <a:pPr indent="0" lvl="0" marL="0" rtl="0" algn="l">
              <a:spcBef>
                <a:spcPts val="0"/>
              </a:spcBef>
              <a:spcAft>
                <a:spcPts val="0"/>
              </a:spcAft>
              <a:buNone/>
            </a:pPr>
            <a:r>
              <a:rPr lang="en-US" sz="1200"/>
              <a:t>the part the argument needs.</a:t>
            </a:r>
            <a:endParaRPr/>
          </a:p>
        </p:txBody>
      </p:sp>
      <p:sp>
        <p:nvSpPr>
          <p:cNvPr id="408" name="Google Shape;408;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4" name="Google Shape;424;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Q3b "what about giver-only, or the discrepancy-text condition?"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One chart, all eight conditions, grouped so each condition's profile reads</a:t>
            </a:r>
            <a:endParaRPr/>
          </a:p>
          <a:p>
            <a:pPr indent="0" lvl="0" marL="0" rtl="0" algn="l">
              <a:spcBef>
                <a:spcPts val="0"/>
              </a:spcBef>
              <a:spcAft>
                <a:spcPts val="0"/>
              </a:spcAft>
              <a:buNone/>
            </a:pPr>
            <a:r>
              <a:rPr lang="en-US" sz="1200"/>
              <a:t>vertically. The three bands are labelled: authentic maps, map content as text,</a:t>
            </a:r>
            <a:endParaRPr/>
          </a:p>
          <a:p>
            <a:pPr indent="0" lvl="0" marL="0" rtl="0" algn="l">
              <a:spcBef>
                <a:spcPts val="0"/>
              </a:spcBef>
              <a:spcAft>
                <a:spcPts val="0"/>
              </a:spcAft>
              <a:buNone/>
            </a:pPr>
            <a:r>
              <a:rPr lang="en-US" sz="1200"/>
              <a:t>content-free controls.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first two bands share a profile — aligned high, pending and misunderstood</a:t>
            </a:r>
            <a:endParaRPr/>
          </a:p>
          <a:p>
            <a:pPr indent="0" lvl="0" marL="0" rtl="0" algn="l">
              <a:spcBef>
                <a:spcPts val="0"/>
              </a:spcBef>
              <a:spcAft>
                <a:spcPts val="0"/>
              </a:spcAft>
              <a:buNone/>
            </a:pPr>
            <a:r>
              <a:rPr lang="en-US" sz="1200"/>
              <a:t>low. The third band inverts it. That is the two-group story in one picture, and</a:t>
            </a:r>
            <a:endParaRPr/>
          </a:p>
          <a:p>
            <a:pPr indent="0" lvl="0" marL="0" rtl="0" algn="l">
              <a:spcBef>
                <a:spcPts val="0"/>
              </a:spcBef>
              <a:spcAft>
                <a:spcPts val="0"/>
              </a:spcAft>
              <a:buNone/>
            </a:pPr>
            <a:r>
              <a:rPr lang="en-US" sz="1200"/>
              <a:t>it is why we say content rather than channel.</a:t>
            </a:r>
            <a:endParaRPr/>
          </a:p>
        </p:txBody>
      </p:sp>
      <p:sp>
        <p:nvSpPr>
          <p:cNvPr id="425" name="Google Shape;425;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yellow" type="blank">
  <p:cSld name="BLANK">
    <p:bg>
      <p:bgPr>
        <a:solidFill>
          <a:schemeClr val="accent1"/>
        </a:solidFill>
      </p:bgPr>
    </p:bg>
    <p:spTree>
      <p:nvGrpSpPr>
        <p:cNvPr id="10" name="Shape 10"/>
        <p:cNvGrpSpPr/>
        <p:nvPr/>
      </p:nvGrpSpPr>
      <p:grpSpPr>
        <a:xfrm>
          <a:off x="0" y="0"/>
          <a:ext cx="0" cy="0"/>
          <a:chOff x="0" y="0"/>
          <a:chExt cx="0" cy="0"/>
        </a:xfrm>
      </p:grpSpPr>
      <p:pic>
        <p:nvPicPr>
          <p:cNvPr id="11" name="Google Shape;11;p23"/>
          <p:cNvPicPr preferRelativeResize="0"/>
          <p:nvPr/>
        </p:nvPicPr>
        <p:blipFill rotWithShape="1">
          <a:blip r:embed="rId2">
            <a:alphaModFix/>
          </a:blip>
          <a:srcRect b="0" l="0" r="0" t="0"/>
          <a:stretch/>
        </p:blipFill>
        <p:spPr>
          <a:xfrm>
            <a:off x="0" y="0"/>
            <a:ext cx="3226320" cy="1268280"/>
          </a:xfrm>
          <a:prstGeom prst="rect">
            <a:avLst/>
          </a:prstGeom>
          <a:noFill/>
          <a:ln>
            <a:noFill/>
          </a:ln>
        </p:spPr>
      </p:pic>
      <p:sp>
        <p:nvSpPr>
          <p:cNvPr id="12" name="Google Shape;12;p23"/>
          <p:cNvSpPr txBox="1"/>
          <p:nvPr>
            <p:ph idx="10" type="dt"/>
          </p:nvPr>
        </p:nvSpPr>
        <p:spPr>
          <a:xfrm>
            <a:off x="9985320" y="513000"/>
            <a:ext cx="1852920" cy="215640"/>
          </a:xfrm>
          <a:prstGeom prst="rect">
            <a:avLst/>
          </a:prstGeom>
          <a:noFill/>
          <a:ln>
            <a:noFill/>
          </a:ln>
        </p:spPr>
        <p:txBody>
          <a:bodyPr anchorCtr="0" anchor="t" bIns="45000" lIns="90000" spcFirstLastPara="1" rIns="90000" wrap="square" tIns="45000">
            <a:noAutofit/>
          </a:bodyPr>
          <a:lstStyle>
            <a:lvl1pPr lvl="0" marR="0" rtl="0" algn="r">
              <a:lnSpc>
                <a:spcPct val="100000"/>
              </a:lnSpc>
              <a:spcBef>
                <a:spcPts val="0"/>
              </a:spcBef>
              <a:spcAft>
                <a:spcPts val="0"/>
              </a:spcAft>
              <a:buClr>
                <a:schemeClr val="dk1"/>
              </a:buClr>
              <a:buSzPts val="1200"/>
              <a:buFont typeface="Open Sans Light"/>
              <a:buNone/>
              <a:defRPr b="0" sz="1200" u="none">
                <a:solidFill>
                  <a:schemeClr val="dk1"/>
                </a:solidFill>
                <a:latin typeface="Open Sans Light"/>
                <a:ea typeface="Open Sans Light"/>
                <a:cs typeface="Open Sans Light"/>
                <a:sym typeface="Open Sans Light"/>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3"/>
          <p:cNvSpPr txBox="1"/>
          <p:nvPr>
            <p:ph idx="1" type="body"/>
          </p:nvPr>
        </p:nvSpPr>
        <p:spPr>
          <a:xfrm>
            <a:off x="2575800" y="501840"/>
            <a:ext cx="7008120" cy="226800"/>
          </a:xfrm>
          <a:prstGeom prst="rect">
            <a:avLst/>
          </a:prstGeom>
          <a:noFill/>
          <a:ln>
            <a:noFill/>
          </a:ln>
        </p:spPr>
        <p:txBody>
          <a:bodyPr anchorCtr="0" anchor="t" bIns="45000" lIns="90000" spcFirstLastPara="1" rIns="90000" wrap="square" tIns="45000">
            <a:noAutofit/>
          </a:bodyPr>
          <a:lstStyle>
            <a:lvl1pPr indent="-228600" lvl="0" marL="457200" marR="0" rtl="0" algn="ctr">
              <a:lnSpc>
                <a:spcPct val="110000"/>
              </a:lnSpc>
              <a:spcBef>
                <a:spcPts val="0"/>
              </a:spcBef>
              <a:spcAft>
                <a:spcPts val="0"/>
              </a:spcAft>
              <a:buClr>
                <a:schemeClr val="dk1"/>
              </a:buClr>
              <a:buSzPts val="1200"/>
              <a:buFont typeface="Open Sans Light"/>
              <a:buNone/>
              <a:defRPr b="0" i="0" sz="12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4" name="Google Shape;14;p23"/>
          <p:cNvSpPr txBox="1"/>
          <p:nvPr>
            <p:ph idx="2" type="body"/>
          </p:nvPr>
        </p:nvSpPr>
        <p:spPr>
          <a:xfrm>
            <a:off x="3575160" y="5800320"/>
            <a:ext cx="5044320" cy="216720"/>
          </a:xfrm>
          <a:prstGeom prst="rect">
            <a:avLst/>
          </a:prstGeom>
          <a:noFill/>
          <a:ln>
            <a:noFill/>
          </a:ln>
        </p:spPr>
        <p:txBody>
          <a:bodyPr anchorCtr="0" anchor="t" bIns="45000" lIns="90000" spcFirstLastPara="1" rIns="90000" wrap="square" tIns="45000">
            <a:noAutofit/>
          </a:bodyPr>
          <a:lstStyle>
            <a:lvl1pPr indent="-228600" lvl="0" marL="457200" marR="0" rtl="0" algn="ctr">
              <a:lnSpc>
                <a:spcPct val="110000"/>
              </a:lnSpc>
              <a:spcBef>
                <a:spcPts val="0"/>
              </a:spcBef>
              <a:spcAft>
                <a:spcPts val="0"/>
              </a:spcAft>
              <a:buClr>
                <a:schemeClr val="dk1"/>
              </a:buClr>
              <a:buSzPts val="1200"/>
              <a:buFont typeface="Open Sans"/>
              <a:buNone/>
              <a:defRPr b="1" i="0" sz="1200" u="none" cap="none" strike="noStrike">
                <a:solidFill>
                  <a:schemeClr val="dk1"/>
                </a:solidFill>
                <a:latin typeface="Open Sans"/>
                <a:ea typeface="Open Sans"/>
                <a:cs typeface="Open Sans"/>
                <a:sym typeface="Open Sans"/>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5" name="Google Shape;15;p23"/>
          <p:cNvSpPr txBox="1"/>
          <p:nvPr>
            <p:ph idx="3" type="body"/>
          </p:nvPr>
        </p:nvSpPr>
        <p:spPr>
          <a:xfrm>
            <a:off x="3575160" y="6017400"/>
            <a:ext cx="5044320" cy="270360"/>
          </a:xfrm>
          <a:prstGeom prst="rect">
            <a:avLst/>
          </a:prstGeom>
          <a:noFill/>
          <a:ln>
            <a:noFill/>
          </a:ln>
        </p:spPr>
        <p:txBody>
          <a:bodyPr anchorCtr="0" anchor="t" bIns="45000" lIns="90000" spcFirstLastPara="1" rIns="90000" wrap="square" tIns="45000">
            <a:noAutofit/>
          </a:bodyPr>
          <a:lstStyle>
            <a:lvl1pPr indent="-228600" lvl="0" marL="457200" marR="0" rtl="0" algn="ctr">
              <a:lnSpc>
                <a:spcPct val="110000"/>
              </a:lnSpc>
              <a:spcBef>
                <a:spcPts val="0"/>
              </a:spcBef>
              <a:spcAft>
                <a:spcPts val="0"/>
              </a:spcAft>
              <a:buClr>
                <a:schemeClr val="dk1"/>
              </a:buClr>
              <a:buSzPts val="1200"/>
              <a:buFont typeface="Open Sans Light"/>
              <a:buNone/>
              <a:defRPr b="0" i="0" sz="12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6" name="Google Shape;16;p23"/>
          <p:cNvSpPr txBox="1"/>
          <p:nvPr>
            <p:ph type="title"/>
          </p:nvPr>
        </p:nvSpPr>
        <p:spPr>
          <a:xfrm>
            <a:off x="393120" y="1196640"/>
            <a:ext cx="11374200" cy="4603320"/>
          </a:xfrm>
          <a:prstGeom prst="rect">
            <a:avLst/>
          </a:prstGeom>
          <a:noFill/>
          <a:ln>
            <a:noFill/>
          </a:ln>
        </p:spPr>
        <p:txBody>
          <a:bodyPr anchorCtr="0" anchor="ctr" bIns="45000" lIns="90000" spcFirstLastPara="1" rIns="90000" wrap="square" tIns="45000">
            <a:noAutofit/>
          </a:bodyPr>
          <a:lstStyle>
            <a:lvl1pPr lvl="0" marR="0" rtl="0" algn="ctr">
              <a:lnSpc>
                <a:spcPct val="100000"/>
              </a:lnSpc>
              <a:spcBef>
                <a:spcPts val="0"/>
              </a:spcBef>
              <a:spcAft>
                <a:spcPts val="0"/>
              </a:spcAft>
              <a:buClr>
                <a:schemeClr val="dk1"/>
              </a:buClr>
              <a:buSzPts val="4100"/>
              <a:buFont typeface="Merriweather Light"/>
              <a:buNone/>
              <a:defRPr b="0" i="1" sz="4100" u="none" cap="none" strike="noStrike">
                <a:solidFill>
                  <a:schemeClr val="dk1"/>
                </a:solidFill>
                <a:latin typeface="Merriweather Light"/>
                <a:ea typeface="Merriweather Light"/>
                <a:cs typeface="Merriweather Light"/>
                <a:sym typeface="Merriweather Light"/>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g">
  <p:cSld name="Leeg">
    <p:bg>
      <p:bgPr>
        <a:solidFill>
          <a:schemeClr val="lt1"/>
        </a:solidFill>
      </p:bgPr>
    </p:bg>
    <p:spTree>
      <p:nvGrpSpPr>
        <p:cNvPr id="17" name="Shape 17"/>
        <p:cNvGrpSpPr/>
        <p:nvPr/>
      </p:nvGrpSpPr>
      <p:grpSpPr>
        <a:xfrm>
          <a:off x="0" y="0"/>
          <a:ext cx="0" cy="0"/>
          <a:chOff x="0" y="0"/>
          <a:chExt cx="0" cy="0"/>
        </a:xfrm>
      </p:grpSpPr>
      <p:sp>
        <p:nvSpPr>
          <p:cNvPr id="18" name="Google Shape;18;p24"/>
          <p:cNvSpPr txBox="1"/>
          <p:nvPr>
            <p:ph type="title"/>
          </p:nvPr>
        </p:nvSpPr>
        <p:spPr>
          <a:xfrm>
            <a:off x="609480" y="273600"/>
            <a:ext cx="10974960" cy="1144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9" name="Google Shape;19;p24"/>
          <p:cNvSpPr txBox="1"/>
          <p:nvPr>
            <p:ph idx="1" type="body"/>
          </p:nvPr>
        </p:nvSpPr>
        <p:spPr>
          <a:xfrm>
            <a:off x="609480" y="1604520"/>
            <a:ext cx="10974960" cy="3977280"/>
          </a:xfrm>
          <a:prstGeom prst="rect">
            <a:avLst/>
          </a:prstGeom>
          <a:noFill/>
          <a:ln>
            <a:noFill/>
          </a:ln>
        </p:spPr>
        <p:txBody>
          <a:bodyPr anchorCtr="0" anchor="t" bIns="0" lIns="0" spcFirstLastPara="1" rIns="0" wrap="square" tIns="0">
            <a:normAutofit/>
          </a:bodyPr>
          <a:lstStyle>
            <a:lvl1pPr indent="-330200" lvl="0" marL="457200" marR="0" rtl="0" algn="l">
              <a:lnSpc>
                <a:spcPct val="110000"/>
              </a:lnSpc>
              <a:spcBef>
                <a:spcPts val="1417"/>
              </a:spcBef>
              <a:spcAft>
                <a:spcPts val="0"/>
              </a:spcAft>
              <a:buClr>
                <a:schemeClr val="dk1"/>
              </a:buClr>
              <a:buSzPts val="1600"/>
              <a:buFont typeface="Open Sans"/>
              <a:buChar char=""/>
              <a:defRPr b="0" i="0" sz="1600" u="none" cap="none" strike="noStrike">
                <a:solidFill>
                  <a:schemeClr val="dk1"/>
                </a:solidFill>
                <a:latin typeface="Open Sans"/>
                <a:ea typeface="Open Sans"/>
                <a:cs typeface="Open Sans"/>
                <a:sym typeface="Open Sans"/>
              </a:defRPr>
            </a:lvl1pPr>
            <a:lvl2pPr indent="-330200" lvl="1" marL="914400" marR="0" rtl="0" algn="l">
              <a:lnSpc>
                <a:spcPct val="110000"/>
              </a:lnSpc>
              <a:spcBef>
                <a:spcPts val="1134"/>
              </a:spcBef>
              <a:spcAft>
                <a:spcPts val="0"/>
              </a:spcAft>
              <a:buClr>
                <a:schemeClr val="dk1"/>
              </a:buClr>
              <a:buSzPts val="1600"/>
              <a:buFont typeface="Open Sans"/>
              <a:buChar char=""/>
              <a:defRPr b="0" i="0" sz="1600" u="none" cap="none" strike="noStrike">
                <a:solidFill>
                  <a:schemeClr val="dk1"/>
                </a:solidFill>
                <a:latin typeface="Open Sans"/>
                <a:ea typeface="Open Sans"/>
                <a:cs typeface="Open Sans"/>
                <a:sym typeface="Open Sans"/>
              </a:defRPr>
            </a:lvl2pPr>
            <a:lvl3pPr indent="-330200" lvl="2" marL="1371600" marR="0" rtl="0" algn="l">
              <a:lnSpc>
                <a:spcPct val="110000"/>
              </a:lnSpc>
              <a:spcBef>
                <a:spcPts val="850"/>
              </a:spcBef>
              <a:spcAft>
                <a:spcPts val="0"/>
              </a:spcAft>
              <a:buClr>
                <a:schemeClr val="dk1"/>
              </a:buClr>
              <a:buSzPts val="1600"/>
              <a:buFont typeface="Open Sans"/>
              <a:buChar char=""/>
              <a:defRPr b="0" i="0" sz="1600" u="none" cap="none" strike="noStrike">
                <a:solidFill>
                  <a:schemeClr val="dk1"/>
                </a:solidFill>
                <a:latin typeface="Open Sans"/>
                <a:ea typeface="Open Sans"/>
                <a:cs typeface="Open Sans"/>
                <a:sym typeface="Open Sans"/>
              </a:defRPr>
            </a:lvl3pPr>
            <a:lvl4pPr indent="-330200" lvl="3" marL="1828800" marR="0" rtl="0" algn="l">
              <a:lnSpc>
                <a:spcPct val="110000"/>
              </a:lnSpc>
              <a:spcBef>
                <a:spcPts val="567"/>
              </a:spcBef>
              <a:spcAft>
                <a:spcPts val="0"/>
              </a:spcAft>
              <a:buClr>
                <a:schemeClr val="dk1"/>
              </a:buClr>
              <a:buSzPts val="1600"/>
              <a:buFont typeface="Open Sans"/>
              <a:buChar char=""/>
              <a:defRPr b="0" i="0" sz="1600" u="none" cap="none" strike="noStrike">
                <a:solidFill>
                  <a:schemeClr val="dk1"/>
                </a:solidFill>
                <a:latin typeface="Open Sans"/>
                <a:ea typeface="Open Sans"/>
                <a:cs typeface="Open Sans"/>
                <a:sym typeface="Open Sans"/>
              </a:defRPr>
            </a:lvl4pPr>
            <a:lvl5pPr indent="-355600" lvl="4" marL="2286000" marR="0" rtl="0" algn="l">
              <a:lnSpc>
                <a:spcPct val="110000"/>
              </a:lnSpc>
              <a:spcBef>
                <a:spcPts val="283"/>
              </a:spcBef>
              <a:spcAft>
                <a:spcPts val="0"/>
              </a:spcAft>
              <a:buClr>
                <a:schemeClr val="dk1"/>
              </a:buClr>
              <a:buSzPts val="2000"/>
              <a:buFont typeface="Open Sans"/>
              <a:buChar char=""/>
              <a:defRPr b="0" i="0" sz="2000" u="none" cap="none" strike="noStrike">
                <a:solidFill>
                  <a:schemeClr val="dk1"/>
                </a:solidFill>
                <a:latin typeface="Open Sans"/>
                <a:ea typeface="Open Sans"/>
                <a:cs typeface="Open Sans"/>
                <a:sym typeface="Open Sans"/>
              </a:defRPr>
            </a:lvl5pPr>
            <a:lvl6pPr indent="-355600" lvl="5" marL="2743200" marR="0" rtl="0" algn="l">
              <a:lnSpc>
                <a:spcPct val="110000"/>
              </a:lnSpc>
              <a:spcBef>
                <a:spcPts val="283"/>
              </a:spcBef>
              <a:spcAft>
                <a:spcPts val="0"/>
              </a:spcAft>
              <a:buClr>
                <a:schemeClr val="dk1"/>
              </a:buClr>
              <a:buSzPts val="2000"/>
              <a:buFont typeface="Open Sans"/>
              <a:buChar char=""/>
              <a:defRPr b="0" i="0" sz="2000" u="none" cap="none" strike="noStrike">
                <a:solidFill>
                  <a:schemeClr val="dk1"/>
                </a:solidFill>
                <a:latin typeface="Open Sans"/>
                <a:ea typeface="Open Sans"/>
                <a:cs typeface="Open Sans"/>
                <a:sym typeface="Open Sans"/>
              </a:defRPr>
            </a:lvl6pPr>
            <a:lvl7pPr indent="-355600" lvl="6" marL="3200400" marR="0" rtl="0" algn="l">
              <a:lnSpc>
                <a:spcPct val="110000"/>
              </a:lnSpc>
              <a:spcBef>
                <a:spcPts val="283"/>
              </a:spcBef>
              <a:spcAft>
                <a:spcPts val="0"/>
              </a:spcAft>
              <a:buClr>
                <a:schemeClr val="dk1"/>
              </a:buClr>
              <a:buSzPts val="2000"/>
              <a:buFont typeface="Open Sans"/>
              <a:buChar char=""/>
              <a:defRPr b="0" i="0" sz="2000" u="none" cap="none" strike="noStrike">
                <a:solidFill>
                  <a:schemeClr val="dk1"/>
                </a:solidFill>
                <a:latin typeface="Open Sans"/>
                <a:ea typeface="Open Sans"/>
                <a:cs typeface="Open Sans"/>
                <a:sym typeface="Open Sans"/>
              </a:defRPr>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screen image + caption">
  <p:cSld name="Full screen image + caption">
    <p:bg>
      <p:bgPr>
        <a:solidFill>
          <a:schemeClr val="lt1"/>
        </a:solidFill>
      </p:bgPr>
    </p:bg>
    <p:spTree>
      <p:nvGrpSpPr>
        <p:cNvPr id="20" name="Shape 20"/>
        <p:cNvGrpSpPr/>
        <p:nvPr/>
      </p:nvGrpSpPr>
      <p:grpSpPr>
        <a:xfrm>
          <a:off x="0" y="0"/>
          <a:ext cx="0" cy="0"/>
          <a:chOff x="0" y="0"/>
          <a:chExt cx="0" cy="0"/>
        </a:xfrm>
      </p:grpSpPr>
      <p:sp>
        <p:nvSpPr>
          <p:cNvPr id="21" name="Google Shape;21;p25"/>
          <p:cNvSpPr txBox="1"/>
          <p:nvPr>
            <p:ph idx="1" type="body"/>
          </p:nvPr>
        </p:nvSpPr>
        <p:spPr>
          <a:xfrm>
            <a:off x="336600" y="368280"/>
            <a:ext cx="11521800" cy="5579640"/>
          </a:xfrm>
          <a:prstGeom prst="rect">
            <a:avLst/>
          </a:prstGeom>
          <a:solidFill>
            <a:schemeClr val="lt1"/>
          </a:solid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2" name="Google Shape;22;p25"/>
          <p:cNvSpPr txBox="1"/>
          <p:nvPr>
            <p:ph idx="2" type="body"/>
          </p:nvPr>
        </p:nvSpPr>
        <p:spPr>
          <a:xfrm>
            <a:off x="336600" y="5948280"/>
            <a:ext cx="11521800" cy="541080"/>
          </a:xfrm>
          <a:prstGeom prst="rect">
            <a:avLst/>
          </a:prstGeom>
          <a:noFill/>
          <a:ln>
            <a:noFill/>
          </a:ln>
        </p:spPr>
        <p:txBody>
          <a:bodyPr anchorCtr="0" anchor="b" bIns="0" lIns="0" spcFirstLastPara="1" rIns="90000" wrap="square" tIns="45000">
            <a:noAutofit/>
          </a:bodyPr>
          <a:lstStyle>
            <a:lvl1pPr indent="-228600" lvl="0" marL="457200" marR="0" rtl="0" algn="l">
              <a:lnSpc>
                <a:spcPct val="110000"/>
              </a:lnSpc>
              <a:spcBef>
                <a:spcPts val="0"/>
              </a:spcBef>
              <a:spcAft>
                <a:spcPts val="0"/>
              </a:spcAft>
              <a:buClr>
                <a:schemeClr val="dk1"/>
              </a:buClr>
              <a:buSzPts val="1200"/>
              <a:buFont typeface="Open Sans Light"/>
              <a:buNone/>
              <a:defRPr b="0" i="0" sz="12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3" name="Google Shape;23;p25"/>
          <p:cNvSpPr txBox="1"/>
          <p:nvPr>
            <p:ph type="title"/>
          </p:nvPr>
        </p:nvSpPr>
        <p:spPr>
          <a:xfrm>
            <a:off x="609480" y="273600"/>
            <a:ext cx="10974960" cy="1144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 quote">
  <p:cSld name="Chapter / quote">
    <p:bg>
      <p:bgPr>
        <a:solidFill>
          <a:schemeClr val="lt1"/>
        </a:solidFill>
      </p:bgPr>
    </p:bg>
    <p:spTree>
      <p:nvGrpSpPr>
        <p:cNvPr id="24" name="Shape 24"/>
        <p:cNvGrpSpPr/>
        <p:nvPr/>
      </p:nvGrpSpPr>
      <p:grpSpPr>
        <a:xfrm>
          <a:off x="0" y="0"/>
          <a:ext cx="0" cy="0"/>
          <a:chOff x="0" y="0"/>
          <a:chExt cx="0" cy="0"/>
        </a:xfrm>
      </p:grpSpPr>
      <p:sp>
        <p:nvSpPr>
          <p:cNvPr id="25" name="Google Shape;25;p26"/>
          <p:cNvSpPr txBox="1"/>
          <p:nvPr>
            <p:ph type="title"/>
          </p:nvPr>
        </p:nvSpPr>
        <p:spPr>
          <a:xfrm>
            <a:off x="393120" y="1180800"/>
            <a:ext cx="11374200" cy="4726080"/>
          </a:xfrm>
          <a:prstGeom prst="rect">
            <a:avLst/>
          </a:prstGeom>
          <a:noFill/>
          <a:ln>
            <a:noFill/>
          </a:ln>
        </p:spPr>
        <p:txBody>
          <a:bodyPr anchorCtr="0" anchor="ctr" bIns="45000" lIns="90000" spcFirstLastPara="1" rIns="90000" wrap="square" tIns="45000">
            <a:noAutofit/>
          </a:bodyPr>
          <a:lstStyle>
            <a:lvl1pPr lvl="0" marR="0" rtl="0" algn="ctr">
              <a:lnSpc>
                <a:spcPct val="100000"/>
              </a:lnSpc>
              <a:spcBef>
                <a:spcPts val="0"/>
              </a:spcBef>
              <a:spcAft>
                <a:spcPts val="0"/>
              </a:spcAft>
              <a:buClr>
                <a:schemeClr val="dk1"/>
              </a:buClr>
              <a:buSzPts val="4100"/>
              <a:buFont typeface="Merriweather Light"/>
              <a:buNone/>
              <a:defRPr b="0" i="1" sz="4100" u="none" cap="none" strike="noStrike">
                <a:solidFill>
                  <a:schemeClr val="dk1"/>
                </a:solidFill>
                <a:latin typeface="Merriweather Light"/>
                <a:ea typeface="Merriweather Light"/>
                <a:cs typeface="Merriweather Light"/>
                <a:sym typeface="Merriweather Light"/>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6" name="Google Shape;26;p26"/>
          <p:cNvSpPr txBox="1"/>
          <p:nvPr>
            <p:ph idx="1" type="body"/>
          </p:nvPr>
        </p:nvSpPr>
        <p:spPr>
          <a:xfrm>
            <a:off x="3578400" y="5915160"/>
            <a:ext cx="5038200" cy="216720"/>
          </a:xfrm>
          <a:prstGeom prst="rect">
            <a:avLst/>
          </a:prstGeom>
          <a:noFill/>
          <a:ln>
            <a:noFill/>
          </a:ln>
        </p:spPr>
        <p:txBody>
          <a:bodyPr anchorCtr="0" anchor="t" bIns="45000" lIns="90000" spcFirstLastPara="1" rIns="90000" wrap="square" tIns="45000">
            <a:noAutofit/>
          </a:bodyPr>
          <a:lstStyle>
            <a:lvl1pPr indent="-228600" lvl="0" marL="457200" marR="0" rtl="0" algn="ctr">
              <a:lnSpc>
                <a:spcPct val="110000"/>
              </a:lnSpc>
              <a:spcBef>
                <a:spcPts val="0"/>
              </a:spcBef>
              <a:spcAft>
                <a:spcPts val="0"/>
              </a:spcAft>
              <a:buClr>
                <a:schemeClr val="dk1"/>
              </a:buClr>
              <a:buSzPts val="1200"/>
              <a:buFont typeface="Open Sans"/>
              <a:buNone/>
              <a:defRPr b="1" i="0" sz="1200" u="none" cap="none" strike="noStrike">
                <a:solidFill>
                  <a:schemeClr val="dk1"/>
                </a:solidFill>
                <a:latin typeface="Open Sans"/>
                <a:ea typeface="Open Sans"/>
                <a:cs typeface="Open Sans"/>
                <a:sym typeface="Open Sans"/>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 name="Google Shape;27;p26"/>
          <p:cNvSpPr txBox="1"/>
          <p:nvPr>
            <p:ph idx="2" type="body"/>
          </p:nvPr>
        </p:nvSpPr>
        <p:spPr>
          <a:xfrm>
            <a:off x="3578400" y="6140160"/>
            <a:ext cx="5038200" cy="270360"/>
          </a:xfrm>
          <a:prstGeom prst="rect">
            <a:avLst/>
          </a:prstGeom>
          <a:noFill/>
          <a:ln>
            <a:noFill/>
          </a:ln>
        </p:spPr>
        <p:txBody>
          <a:bodyPr anchorCtr="0" anchor="t" bIns="45000" lIns="90000" spcFirstLastPara="1" rIns="90000" wrap="square" tIns="45000">
            <a:noAutofit/>
          </a:bodyPr>
          <a:lstStyle>
            <a:lvl1pPr indent="-228600" lvl="0" marL="457200" marR="0" rtl="0" algn="ctr">
              <a:lnSpc>
                <a:spcPct val="110000"/>
              </a:lnSpc>
              <a:spcBef>
                <a:spcPts val="0"/>
              </a:spcBef>
              <a:spcAft>
                <a:spcPts val="0"/>
              </a:spcAft>
              <a:buClr>
                <a:schemeClr val="dk1"/>
              </a:buClr>
              <a:buSzPts val="1200"/>
              <a:buFont typeface="Open Sans Light"/>
              <a:buNone/>
              <a:defRPr b="0" i="0" sz="12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 quote + image right">
  <p:cSld name="Chapter / quote + image right">
    <p:bg>
      <p:bgPr>
        <a:solidFill>
          <a:schemeClr val="lt1"/>
        </a:solidFill>
      </p:bgPr>
    </p:bg>
    <p:spTree>
      <p:nvGrpSpPr>
        <p:cNvPr id="28" name="Shape 28"/>
        <p:cNvGrpSpPr/>
        <p:nvPr/>
      </p:nvGrpSpPr>
      <p:grpSpPr>
        <a:xfrm>
          <a:off x="0" y="0"/>
          <a:ext cx="0" cy="0"/>
          <a:chOff x="0" y="0"/>
          <a:chExt cx="0" cy="0"/>
        </a:xfrm>
      </p:grpSpPr>
      <p:sp>
        <p:nvSpPr>
          <p:cNvPr id="29" name="Google Shape;29;p27"/>
          <p:cNvSpPr txBox="1"/>
          <p:nvPr>
            <p:ph type="title"/>
          </p:nvPr>
        </p:nvSpPr>
        <p:spPr>
          <a:xfrm>
            <a:off x="338040" y="371520"/>
            <a:ext cx="5579640" cy="4319640"/>
          </a:xfrm>
          <a:prstGeom prst="rect">
            <a:avLst/>
          </a:prstGeom>
          <a:noFill/>
          <a:ln>
            <a:noFill/>
          </a:ln>
        </p:spPr>
        <p:txBody>
          <a:bodyPr anchorCtr="0" anchor="t" bIns="45000" lIns="90000" spcFirstLastPara="1" rIns="90000" wrap="square" tIns="45000">
            <a:noAutofit/>
          </a:bodyPr>
          <a:lstStyle>
            <a:lvl1pPr lvl="0" marR="0" rtl="0" algn="l">
              <a:lnSpc>
                <a:spcPct val="100000"/>
              </a:lnSpc>
              <a:spcBef>
                <a:spcPts val="0"/>
              </a:spcBef>
              <a:spcAft>
                <a:spcPts val="0"/>
              </a:spcAft>
              <a:buClr>
                <a:schemeClr val="dk1"/>
              </a:buClr>
              <a:buSzPts val="4100"/>
              <a:buFont typeface="Merriweather Light"/>
              <a:buNone/>
              <a:defRPr b="0" i="1" sz="4100" u="none" cap="none" strike="noStrike">
                <a:solidFill>
                  <a:schemeClr val="dk1"/>
                </a:solidFill>
                <a:latin typeface="Merriweather Light"/>
                <a:ea typeface="Merriweather Light"/>
                <a:cs typeface="Merriweather Light"/>
                <a:sym typeface="Merriweather Light"/>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0" name="Google Shape;30;p27"/>
          <p:cNvSpPr txBox="1"/>
          <p:nvPr>
            <p:ph idx="1" type="body"/>
          </p:nvPr>
        </p:nvSpPr>
        <p:spPr>
          <a:xfrm>
            <a:off x="6276960" y="368280"/>
            <a:ext cx="5581440" cy="6116400"/>
          </a:xfrm>
          <a:prstGeom prst="rect">
            <a:avLst/>
          </a:prstGeom>
          <a:solidFill>
            <a:schemeClr val="lt1"/>
          </a:solid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1" name="Google Shape;31;p27"/>
          <p:cNvSpPr txBox="1"/>
          <p:nvPr>
            <p:ph idx="2" type="body"/>
          </p:nvPr>
        </p:nvSpPr>
        <p:spPr>
          <a:xfrm>
            <a:off x="338040" y="5997600"/>
            <a:ext cx="5579640" cy="216720"/>
          </a:xfrm>
          <a:prstGeom prst="rect">
            <a:avLst/>
          </a:prstGeom>
          <a:noFill/>
          <a:ln>
            <a:noFill/>
          </a:ln>
        </p:spPr>
        <p:txBody>
          <a:bodyPr anchorCtr="0" anchor="t" bIns="45000" lIns="90000" spcFirstLastPara="1" rIns="90000" wrap="square" tIns="45000">
            <a:noAutofit/>
          </a:bodyPr>
          <a:lstStyle>
            <a:lvl1pPr indent="-228600" lvl="0" marL="457200" marR="0" rtl="0" algn="l">
              <a:lnSpc>
                <a:spcPct val="110000"/>
              </a:lnSpc>
              <a:spcBef>
                <a:spcPts val="0"/>
              </a:spcBef>
              <a:spcAft>
                <a:spcPts val="0"/>
              </a:spcAft>
              <a:buClr>
                <a:schemeClr val="dk1"/>
              </a:buClr>
              <a:buSzPts val="1200"/>
              <a:buFont typeface="Open Sans"/>
              <a:buNone/>
              <a:defRPr b="1" i="0" sz="1200" u="none" cap="none" strike="noStrike">
                <a:solidFill>
                  <a:schemeClr val="dk1"/>
                </a:solidFill>
                <a:latin typeface="Open Sans"/>
                <a:ea typeface="Open Sans"/>
                <a:cs typeface="Open Sans"/>
                <a:sym typeface="Open Sans"/>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2" name="Google Shape;32;p27"/>
          <p:cNvSpPr txBox="1"/>
          <p:nvPr>
            <p:ph idx="3" type="body"/>
          </p:nvPr>
        </p:nvSpPr>
        <p:spPr>
          <a:xfrm>
            <a:off x="338040" y="6214680"/>
            <a:ext cx="5579640" cy="270360"/>
          </a:xfrm>
          <a:prstGeom prst="rect">
            <a:avLst/>
          </a:prstGeom>
          <a:noFill/>
          <a:ln>
            <a:noFill/>
          </a:ln>
        </p:spPr>
        <p:txBody>
          <a:bodyPr anchorCtr="0" anchor="t" bIns="45000" lIns="90000" spcFirstLastPara="1" rIns="90000" wrap="square" tIns="45000">
            <a:noAutofit/>
          </a:bodyPr>
          <a:lstStyle>
            <a:lvl1pPr indent="-228600" lvl="0" marL="457200" marR="0" rtl="0" algn="l">
              <a:lnSpc>
                <a:spcPct val="110000"/>
              </a:lnSpc>
              <a:spcBef>
                <a:spcPts val="0"/>
              </a:spcBef>
              <a:spcAft>
                <a:spcPts val="0"/>
              </a:spcAft>
              <a:buClr>
                <a:schemeClr val="dk1"/>
              </a:buClr>
              <a:buSzPts val="1200"/>
              <a:buFont typeface="Open Sans Light"/>
              <a:buNone/>
              <a:defRPr b="0" i="0" sz="12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 quote + image left">
  <p:cSld name="Chapter / quote + image left">
    <p:bg>
      <p:bgPr>
        <a:solidFill>
          <a:schemeClr val="lt1"/>
        </a:solidFill>
      </p:bgPr>
    </p:bg>
    <p:spTree>
      <p:nvGrpSpPr>
        <p:cNvPr id="33" name="Shape 33"/>
        <p:cNvGrpSpPr/>
        <p:nvPr/>
      </p:nvGrpSpPr>
      <p:grpSpPr>
        <a:xfrm>
          <a:off x="0" y="0"/>
          <a:ext cx="0" cy="0"/>
          <a:chOff x="0" y="0"/>
          <a:chExt cx="0" cy="0"/>
        </a:xfrm>
      </p:grpSpPr>
      <p:sp>
        <p:nvSpPr>
          <p:cNvPr id="34" name="Google Shape;34;p28"/>
          <p:cNvSpPr txBox="1"/>
          <p:nvPr>
            <p:ph type="title"/>
          </p:nvPr>
        </p:nvSpPr>
        <p:spPr>
          <a:xfrm>
            <a:off x="6278400" y="371520"/>
            <a:ext cx="5579640" cy="4319640"/>
          </a:xfrm>
          <a:prstGeom prst="rect">
            <a:avLst/>
          </a:prstGeom>
          <a:noFill/>
          <a:ln>
            <a:noFill/>
          </a:ln>
        </p:spPr>
        <p:txBody>
          <a:bodyPr anchorCtr="0" anchor="t" bIns="45000" lIns="90000" spcFirstLastPara="1" rIns="90000" wrap="square" tIns="45000">
            <a:noAutofit/>
          </a:bodyPr>
          <a:lstStyle>
            <a:lvl1pPr lvl="0" marR="0" rtl="0" algn="l">
              <a:lnSpc>
                <a:spcPct val="100000"/>
              </a:lnSpc>
              <a:spcBef>
                <a:spcPts val="0"/>
              </a:spcBef>
              <a:spcAft>
                <a:spcPts val="0"/>
              </a:spcAft>
              <a:buClr>
                <a:schemeClr val="dk1"/>
              </a:buClr>
              <a:buSzPts val="4100"/>
              <a:buFont typeface="Merriweather Light"/>
              <a:buNone/>
              <a:defRPr b="0" i="1" sz="4100" u="none" cap="none" strike="noStrike">
                <a:solidFill>
                  <a:schemeClr val="dk1"/>
                </a:solidFill>
                <a:latin typeface="Merriweather Light"/>
                <a:ea typeface="Merriweather Light"/>
                <a:cs typeface="Merriweather Light"/>
                <a:sym typeface="Merriweather Light"/>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5" name="Google Shape;35;p28"/>
          <p:cNvSpPr txBox="1"/>
          <p:nvPr>
            <p:ph idx="1" type="body"/>
          </p:nvPr>
        </p:nvSpPr>
        <p:spPr>
          <a:xfrm>
            <a:off x="336600" y="368280"/>
            <a:ext cx="5581440" cy="6088320"/>
          </a:xfrm>
          <a:prstGeom prst="rect">
            <a:avLst/>
          </a:prstGeom>
          <a:solidFill>
            <a:schemeClr val="lt1"/>
          </a:solid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6" name="Google Shape;36;p28"/>
          <p:cNvSpPr txBox="1"/>
          <p:nvPr>
            <p:ph idx="2" type="body"/>
          </p:nvPr>
        </p:nvSpPr>
        <p:spPr>
          <a:xfrm>
            <a:off x="6278400" y="5969160"/>
            <a:ext cx="5579640" cy="216720"/>
          </a:xfrm>
          <a:prstGeom prst="rect">
            <a:avLst/>
          </a:prstGeom>
          <a:noFill/>
          <a:ln>
            <a:noFill/>
          </a:ln>
        </p:spPr>
        <p:txBody>
          <a:bodyPr anchorCtr="0" anchor="t" bIns="45000" lIns="90000" spcFirstLastPara="1" rIns="90000" wrap="square" tIns="45000">
            <a:noAutofit/>
          </a:bodyPr>
          <a:lstStyle>
            <a:lvl1pPr indent="-228600" lvl="0" marL="457200" marR="0" rtl="0" algn="l">
              <a:lnSpc>
                <a:spcPct val="110000"/>
              </a:lnSpc>
              <a:spcBef>
                <a:spcPts val="0"/>
              </a:spcBef>
              <a:spcAft>
                <a:spcPts val="0"/>
              </a:spcAft>
              <a:buClr>
                <a:schemeClr val="dk1"/>
              </a:buClr>
              <a:buSzPts val="1200"/>
              <a:buFont typeface="Open Sans"/>
              <a:buNone/>
              <a:defRPr b="1" i="0" sz="1200" u="none" cap="none" strike="noStrike">
                <a:solidFill>
                  <a:schemeClr val="dk1"/>
                </a:solidFill>
                <a:latin typeface="Open Sans"/>
                <a:ea typeface="Open Sans"/>
                <a:cs typeface="Open Sans"/>
                <a:sym typeface="Open Sans"/>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7" name="Google Shape;37;p28"/>
          <p:cNvSpPr txBox="1"/>
          <p:nvPr>
            <p:ph idx="3" type="body"/>
          </p:nvPr>
        </p:nvSpPr>
        <p:spPr>
          <a:xfrm>
            <a:off x="6278400" y="6186600"/>
            <a:ext cx="5579640" cy="270360"/>
          </a:xfrm>
          <a:prstGeom prst="rect">
            <a:avLst/>
          </a:prstGeom>
          <a:noFill/>
          <a:ln>
            <a:noFill/>
          </a:ln>
        </p:spPr>
        <p:txBody>
          <a:bodyPr anchorCtr="0" anchor="t" bIns="45000" lIns="90000" spcFirstLastPara="1" rIns="90000" wrap="square" tIns="45000">
            <a:noAutofit/>
          </a:bodyPr>
          <a:lstStyle>
            <a:lvl1pPr indent="-228600" lvl="0" marL="457200" marR="0" rtl="0" algn="l">
              <a:lnSpc>
                <a:spcPct val="110000"/>
              </a:lnSpc>
              <a:spcBef>
                <a:spcPts val="0"/>
              </a:spcBef>
              <a:spcAft>
                <a:spcPts val="0"/>
              </a:spcAft>
              <a:buClr>
                <a:schemeClr val="dk1"/>
              </a:buClr>
              <a:buSzPts val="1200"/>
              <a:buFont typeface="Open Sans Light"/>
              <a:buNone/>
              <a:defRPr b="0" i="0" sz="12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laimer">
  <p:cSld name="Disclaimer">
    <p:bg>
      <p:bgPr>
        <a:solidFill>
          <a:schemeClr val="accent1"/>
        </a:solidFill>
      </p:bgPr>
    </p:bg>
    <p:spTree>
      <p:nvGrpSpPr>
        <p:cNvPr id="38" name="Shape 38"/>
        <p:cNvGrpSpPr/>
        <p:nvPr/>
      </p:nvGrpSpPr>
      <p:grpSpPr>
        <a:xfrm>
          <a:off x="0" y="0"/>
          <a:ext cx="0" cy="0"/>
          <a:chOff x="0" y="0"/>
          <a:chExt cx="0" cy="0"/>
        </a:xfrm>
      </p:grpSpPr>
      <p:pic>
        <p:nvPicPr>
          <p:cNvPr id="39" name="Google Shape;39;p29"/>
          <p:cNvPicPr preferRelativeResize="0"/>
          <p:nvPr/>
        </p:nvPicPr>
        <p:blipFill rotWithShape="1">
          <a:blip r:embed="rId2">
            <a:alphaModFix/>
          </a:blip>
          <a:srcRect b="0" l="0" r="0" t="0"/>
          <a:stretch/>
        </p:blipFill>
        <p:spPr>
          <a:xfrm>
            <a:off x="2629800" y="2439360"/>
            <a:ext cx="6935400" cy="1978920"/>
          </a:xfrm>
          <a:prstGeom prst="rect">
            <a:avLst/>
          </a:prstGeom>
          <a:noFill/>
          <a:ln>
            <a:noFill/>
          </a:ln>
        </p:spPr>
      </p:pic>
      <p:sp>
        <p:nvSpPr>
          <p:cNvPr id="40" name="Google Shape;40;p29"/>
          <p:cNvSpPr txBox="1"/>
          <p:nvPr>
            <p:ph type="title"/>
          </p:nvPr>
        </p:nvSpPr>
        <p:spPr>
          <a:xfrm>
            <a:off x="609480" y="273600"/>
            <a:ext cx="10974960" cy="1144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1" name="Google Shape;41;p29"/>
          <p:cNvSpPr txBox="1"/>
          <p:nvPr>
            <p:ph idx="1" type="body"/>
          </p:nvPr>
        </p:nvSpPr>
        <p:spPr>
          <a:xfrm>
            <a:off x="609480" y="1604520"/>
            <a:ext cx="10974960" cy="3977280"/>
          </a:xfrm>
          <a:prstGeom prst="rect">
            <a:avLst/>
          </a:prstGeom>
          <a:noFill/>
          <a:ln>
            <a:noFill/>
          </a:ln>
        </p:spPr>
        <p:txBody>
          <a:bodyPr anchorCtr="0" anchor="t" bIns="0" lIns="0" spcFirstLastPara="1" rIns="0" wrap="square" tIns="0">
            <a:normAutofit/>
          </a:bodyPr>
          <a:lstStyle>
            <a:lvl1pPr indent="-330200" lvl="0" marL="457200" marR="0" rtl="0" algn="l">
              <a:lnSpc>
                <a:spcPct val="110000"/>
              </a:lnSpc>
              <a:spcBef>
                <a:spcPts val="1417"/>
              </a:spcBef>
              <a:spcAft>
                <a:spcPts val="0"/>
              </a:spcAft>
              <a:buClr>
                <a:schemeClr val="dk1"/>
              </a:buClr>
              <a:buSzPts val="1600"/>
              <a:buFont typeface="Open Sans"/>
              <a:buChar char=""/>
              <a:defRPr b="0" i="0" sz="1600" u="none" cap="none" strike="noStrike">
                <a:solidFill>
                  <a:schemeClr val="dk1"/>
                </a:solidFill>
                <a:latin typeface="Open Sans"/>
                <a:ea typeface="Open Sans"/>
                <a:cs typeface="Open Sans"/>
                <a:sym typeface="Open Sans"/>
              </a:defRPr>
            </a:lvl1pPr>
            <a:lvl2pPr indent="-330200" lvl="1" marL="914400" marR="0" rtl="0" algn="l">
              <a:lnSpc>
                <a:spcPct val="110000"/>
              </a:lnSpc>
              <a:spcBef>
                <a:spcPts val="1134"/>
              </a:spcBef>
              <a:spcAft>
                <a:spcPts val="0"/>
              </a:spcAft>
              <a:buClr>
                <a:schemeClr val="dk1"/>
              </a:buClr>
              <a:buSzPts val="1600"/>
              <a:buFont typeface="Open Sans"/>
              <a:buChar char=""/>
              <a:defRPr b="0" i="0" sz="1600" u="none" cap="none" strike="noStrike">
                <a:solidFill>
                  <a:schemeClr val="dk1"/>
                </a:solidFill>
                <a:latin typeface="Open Sans"/>
                <a:ea typeface="Open Sans"/>
                <a:cs typeface="Open Sans"/>
                <a:sym typeface="Open Sans"/>
              </a:defRPr>
            </a:lvl2pPr>
            <a:lvl3pPr indent="-330200" lvl="2" marL="1371600" marR="0" rtl="0" algn="l">
              <a:lnSpc>
                <a:spcPct val="110000"/>
              </a:lnSpc>
              <a:spcBef>
                <a:spcPts val="850"/>
              </a:spcBef>
              <a:spcAft>
                <a:spcPts val="0"/>
              </a:spcAft>
              <a:buClr>
                <a:schemeClr val="dk1"/>
              </a:buClr>
              <a:buSzPts val="1600"/>
              <a:buFont typeface="Open Sans"/>
              <a:buChar char=""/>
              <a:defRPr b="0" i="0" sz="1600" u="none" cap="none" strike="noStrike">
                <a:solidFill>
                  <a:schemeClr val="dk1"/>
                </a:solidFill>
                <a:latin typeface="Open Sans"/>
                <a:ea typeface="Open Sans"/>
                <a:cs typeface="Open Sans"/>
                <a:sym typeface="Open Sans"/>
              </a:defRPr>
            </a:lvl3pPr>
            <a:lvl4pPr indent="-330200" lvl="3" marL="1828800" marR="0" rtl="0" algn="l">
              <a:lnSpc>
                <a:spcPct val="110000"/>
              </a:lnSpc>
              <a:spcBef>
                <a:spcPts val="567"/>
              </a:spcBef>
              <a:spcAft>
                <a:spcPts val="0"/>
              </a:spcAft>
              <a:buClr>
                <a:schemeClr val="dk1"/>
              </a:buClr>
              <a:buSzPts val="1600"/>
              <a:buFont typeface="Open Sans"/>
              <a:buChar char=""/>
              <a:defRPr b="0" i="0" sz="1600" u="none" cap="none" strike="noStrike">
                <a:solidFill>
                  <a:schemeClr val="dk1"/>
                </a:solidFill>
                <a:latin typeface="Open Sans"/>
                <a:ea typeface="Open Sans"/>
                <a:cs typeface="Open Sans"/>
                <a:sym typeface="Open Sans"/>
              </a:defRPr>
            </a:lvl4pPr>
            <a:lvl5pPr indent="-355600" lvl="4" marL="2286000" marR="0" rtl="0" algn="l">
              <a:lnSpc>
                <a:spcPct val="110000"/>
              </a:lnSpc>
              <a:spcBef>
                <a:spcPts val="283"/>
              </a:spcBef>
              <a:spcAft>
                <a:spcPts val="0"/>
              </a:spcAft>
              <a:buClr>
                <a:schemeClr val="dk1"/>
              </a:buClr>
              <a:buSzPts val="2000"/>
              <a:buFont typeface="Open Sans"/>
              <a:buChar char=""/>
              <a:defRPr b="0" i="0" sz="2000" u="none" cap="none" strike="noStrike">
                <a:solidFill>
                  <a:schemeClr val="dk1"/>
                </a:solidFill>
                <a:latin typeface="Open Sans"/>
                <a:ea typeface="Open Sans"/>
                <a:cs typeface="Open Sans"/>
                <a:sym typeface="Open Sans"/>
              </a:defRPr>
            </a:lvl5pPr>
            <a:lvl6pPr indent="-355600" lvl="5" marL="2743200" marR="0" rtl="0" algn="l">
              <a:lnSpc>
                <a:spcPct val="110000"/>
              </a:lnSpc>
              <a:spcBef>
                <a:spcPts val="283"/>
              </a:spcBef>
              <a:spcAft>
                <a:spcPts val="0"/>
              </a:spcAft>
              <a:buClr>
                <a:schemeClr val="dk1"/>
              </a:buClr>
              <a:buSzPts val="2000"/>
              <a:buFont typeface="Open Sans"/>
              <a:buChar char=""/>
              <a:defRPr b="0" i="0" sz="2000" u="none" cap="none" strike="noStrike">
                <a:solidFill>
                  <a:schemeClr val="dk1"/>
                </a:solidFill>
                <a:latin typeface="Open Sans"/>
                <a:ea typeface="Open Sans"/>
                <a:cs typeface="Open Sans"/>
                <a:sym typeface="Open Sans"/>
              </a:defRPr>
            </a:lvl6pPr>
            <a:lvl7pPr indent="-355600" lvl="6" marL="3200400" marR="0" rtl="0" algn="l">
              <a:lnSpc>
                <a:spcPct val="110000"/>
              </a:lnSpc>
              <a:spcBef>
                <a:spcPts val="283"/>
              </a:spcBef>
              <a:spcAft>
                <a:spcPts val="0"/>
              </a:spcAft>
              <a:buClr>
                <a:schemeClr val="dk1"/>
              </a:buClr>
              <a:buSzPts val="2000"/>
              <a:buFont typeface="Open Sans"/>
              <a:buChar char=""/>
              <a:defRPr b="0" i="0" sz="2000" u="none" cap="none" strike="noStrike">
                <a:solidFill>
                  <a:schemeClr val="dk1"/>
                </a:solidFill>
                <a:latin typeface="Open Sans"/>
                <a:ea typeface="Open Sans"/>
                <a:cs typeface="Open Sans"/>
                <a:sym typeface="Open Sans"/>
              </a:defRPr>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claimer + partner logos">
  <p:cSld name="1_Disclaimer + partner logos">
    <p:bg>
      <p:bgPr>
        <a:solidFill>
          <a:schemeClr val="accent1"/>
        </a:solidFill>
      </p:bgPr>
    </p:bg>
    <p:spTree>
      <p:nvGrpSpPr>
        <p:cNvPr id="42" name="Shape 42"/>
        <p:cNvGrpSpPr/>
        <p:nvPr/>
      </p:nvGrpSpPr>
      <p:grpSpPr>
        <a:xfrm>
          <a:off x="0" y="0"/>
          <a:ext cx="0" cy="0"/>
          <a:chOff x="0" y="0"/>
          <a:chExt cx="0" cy="0"/>
        </a:xfrm>
      </p:grpSpPr>
      <p:sp>
        <p:nvSpPr>
          <p:cNvPr id="43" name="Google Shape;43;p30"/>
          <p:cNvSpPr txBox="1"/>
          <p:nvPr>
            <p:ph idx="1" type="body"/>
          </p:nvPr>
        </p:nvSpPr>
        <p:spPr>
          <a:xfrm>
            <a:off x="2337840" y="4117320"/>
            <a:ext cx="2438640" cy="1012320"/>
          </a:xfrm>
          <a:prstGeom prst="rect">
            <a:avLst/>
          </a:prstGeom>
          <a:no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4" name="Google Shape;44;p30"/>
          <p:cNvSpPr txBox="1"/>
          <p:nvPr>
            <p:ph idx="2" type="body"/>
          </p:nvPr>
        </p:nvSpPr>
        <p:spPr>
          <a:xfrm>
            <a:off x="4877280" y="4117320"/>
            <a:ext cx="2438640" cy="1012320"/>
          </a:xfrm>
          <a:prstGeom prst="rect">
            <a:avLst/>
          </a:prstGeom>
          <a:no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5" name="Google Shape;45;p30"/>
          <p:cNvSpPr txBox="1"/>
          <p:nvPr>
            <p:ph idx="3" type="body"/>
          </p:nvPr>
        </p:nvSpPr>
        <p:spPr>
          <a:xfrm>
            <a:off x="7404480" y="4117320"/>
            <a:ext cx="2438640" cy="1012320"/>
          </a:xfrm>
          <a:prstGeom prst="rect">
            <a:avLst/>
          </a:prstGeom>
          <a:no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6" name="Google Shape;46;p30"/>
          <p:cNvSpPr txBox="1"/>
          <p:nvPr>
            <p:ph idx="4" type="body"/>
          </p:nvPr>
        </p:nvSpPr>
        <p:spPr>
          <a:xfrm>
            <a:off x="2317680" y="3740400"/>
            <a:ext cx="7559640" cy="270360"/>
          </a:xfrm>
          <a:prstGeom prst="rect">
            <a:avLst/>
          </a:prstGeom>
          <a:noFill/>
          <a:ln>
            <a:noFill/>
          </a:ln>
        </p:spPr>
        <p:txBody>
          <a:bodyPr anchorCtr="0" anchor="t" bIns="0" lIns="0" spcFirstLastPara="1" rIns="0" wrap="square" tIns="0">
            <a:noAutofit/>
          </a:bodyPr>
          <a:lstStyle>
            <a:lvl1pPr indent="-228600" lvl="0" marL="457200" marR="0" rtl="0" algn="l">
              <a:lnSpc>
                <a:spcPct val="110000"/>
              </a:lnSpc>
              <a:spcBef>
                <a:spcPts val="0"/>
              </a:spcBef>
              <a:spcAft>
                <a:spcPts val="0"/>
              </a:spcAft>
              <a:buClr>
                <a:schemeClr val="dk1"/>
              </a:buClr>
              <a:buSzPts val="1200"/>
              <a:buFont typeface="Open Sans Light"/>
              <a:buNone/>
              <a:defRPr b="0" i="0" sz="12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7" name="Google Shape;47;p30"/>
          <p:cNvSpPr txBox="1"/>
          <p:nvPr>
            <p:ph idx="5" type="body"/>
          </p:nvPr>
        </p:nvSpPr>
        <p:spPr>
          <a:xfrm>
            <a:off x="2348640" y="5244120"/>
            <a:ext cx="2438640" cy="1012320"/>
          </a:xfrm>
          <a:prstGeom prst="rect">
            <a:avLst/>
          </a:prstGeom>
          <a:no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8" name="Google Shape;48;p30"/>
          <p:cNvSpPr txBox="1"/>
          <p:nvPr>
            <p:ph idx="6" type="body"/>
          </p:nvPr>
        </p:nvSpPr>
        <p:spPr>
          <a:xfrm>
            <a:off x="4877280" y="5244120"/>
            <a:ext cx="2438640" cy="1012320"/>
          </a:xfrm>
          <a:prstGeom prst="rect">
            <a:avLst/>
          </a:prstGeom>
          <a:no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9" name="Google Shape;49;p30"/>
          <p:cNvSpPr txBox="1"/>
          <p:nvPr>
            <p:ph idx="7" type="body"/>
          </p:nvPr>
        </p:nvSpPr>
        <p:spPr>
          <a:xfrm>
            <a:off x="7406280" y="5244120"/>
            <a:ext cx="2438640" cy="1012320"/>
          </a:xfrm>
          <a:prstGeom prst="rect">
            <a:avLst/>
          </a:prstGeom>
          <a:no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50" name="Google Shape;50;p30"/>
          <p:cNvCxnSpPr/>
          <p:nvPr/>
        </p:nvCxnSpPr>
        <p:spPr>
          <a:xfrm>
            <a:off x="2317320" y="4010760"/>
            <a:ext cx="7560360" cy="360"/>
          </a:xfrm>
          <a:prstGeom prst="straightConnector1">
            <a:avLst/>
          </a:prstGeom>
          <a:noFill/>
          <a:ln cap="flat" cmpd="sng" w="9525">
            <a:solidFill>
              <a:srgbClr val="000000"/>
            </a:solidFill>
            <a:prstDash val="solid"/>
            <a:round/>
            <a:headEnd len="sm" w="sm" type="none"/>
            <a:tailEnd len="sm" w="sm" type="none"/>
          </a:ln>
        </p:spPr>
      </p:cxnSp>
      <p:pic>
        <p:nvPicPr>
          <p:cNvPr id="51" name="Google Shape;51;p30"/>
          <p:cNvPicPr preferRelativeResize="0"/>
          <p:nvPr/>
        </p:nvPicPr>
        <p:blipFill rotWithShape="1">
          <a:blip r:embed="rId2">
            <a:alphaModFix/>
          </a:blip>
          <a:srcRect b="0" l="0" r="0" t="0"/>
          <a:stretch/>
        </p:blipFill>
        <p:spPr>
          <a:xfrm>
            <a:off x="3271680" y="1816200"/>
            <a:ext cx="5651280" cy="161244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hite">
  <p:cSld name="Cover white">
    <p:bg>
      <p:bgPr>
        <a:solidFill>
          <a:schemeClr val="lt1"/>
        </a:solidFill>
      </p:bgPr>
    </p:bg>
    <p:spTree>
      <p:nvGrpSpPr>
        <p:cNvPr id="52" name="Shape 52"/>
        <p:cNvGrpSpPr/>
        <p:nvPr/>
      </p:nvGrpSpPr>
      <p:grpSpPr>
        <a:xfrm>
          <a:off x="0" y="0"/>
          <a:ext cx="0" cy="0"/>
          <a:chOff x="0" y="0"/>
          <a:chExt cx="0" cy="0"/>
        </a:xfrm>
      </p:grpSpPr>
      <p:pic>
        <p:nvPicPr>
          <p:cNvPr id="53" name="Google Shape;53;p31"/>
          <p:cNvPicPr preferRelativeResize="0"/>
          <p:nvPr/>
        </p:nvPicPr>
        <p:blipFill rotWithShape="1">
          <a:blip r:embed="rId2">
            <a:alphaModFix/>
          </a:blip>
          <a:srcRect b="0" l="0" r="0" t="0"/>
          <a:stretch/>
        </p:blipFill>
        <p:spPr>
          <a:xfrm>
            <a:off x="0" y="0"/>
            <a:ext cx="3240360" cy="1273680"/>
          </a:xfrm>
          <a:prstGeom prst="rect">
            <a:avLst/>
          </a:prstGeom>
          <a:noFill/>
          <a:ln>
            <a:noFill/>
          </a:ln>
        </p:spPr>
      </p:pic>
      <p:sp>
        <p:nvSpPr>
          <p:cNvPr id="54" name="Google Shape;54;p31"/>
          <p:cNvSpPr txBox="1"/>
          <p:nvPr>
            <p:ph idx="10" type="dt"/>
          </p:nvPr>
        </p:nvSpPr>
        <p:spPr>
          <a:xfrm>
            <a:off x="9985320" y="513000"/>
            <a:ext cx="1852920" cy="215640"/>
          </a:xfrm>
          <a:prstGeom prst="rect">
            <a:avLst/>
          </a:prstGeom>
          <a:noFill/>
          <a:ln>
            <a:noFill/>
          </a:ln>
        </p:spPr>
        <p:txBody>
          <a:bodyPr anchorCtr="0" anchor="t" bIns="45000" lIns="90000" spcFirstLastPara="1" rIns="90000" wrap="square" tIns="45000">
            <a:noAutofit/>
          </a:bodyPr>
          <a:lstStyle>
            <a:lvl1pPr lvl="0" marR="0" rtl="0" algn="r">
              <a:lnSpc>
                <a:spcPct val="100000"/>
              </a:lnSpc>
              <a:spcBef>
                <a:spcPts val="0"/>
              </a:spcBef>
              <a:spcAft>
                <a:spcPts val="0"/>
              </a:spcAft>
              <a:buClr>
                <a:schemeClr val="dk1"/>
              </a:buClr>
              <a:buSzPts val="1200"/>
              <a:buFont typeface="Open Sans Light"/>
              <a:buNone/>
              <a:defRPr b="0" sz="1200" u="none">
                <a:solidFill>
                  <a:schemeClr val="dk1"/>
                </a:solidFill>
                <a:latin typeface="Open Sans Light"/>
                <a:ea typeface="Open Sans Light"/>
                <a:cs typeface="Open Sans Light"/>
                <a:sym typeface="Open Sans Light"/>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31"/>
          <p:cNvSpPr txBox="1"/>
          <p:nvPr>
            <p:ph idx="1" type="body"/>
          </p:nvPr>
        </p:nvSpPr>
        <p:spPr>
          <a:xfrm>
            <a:off x="3578040" y="5800320"/>
            <a:ext cx="5038560" cy="199440"/>
          </a:xfrm>
          <a:prstGeom prst="rect">
            <a:avLst/>
          </a:prstGeom>
          <a:noFill/>
          <a:ln>
            <a:noFill/>
          </a:ln>
        </p:spPr>
        <p:txBody>
          <a:bodyPr anchorCtr="0" anchor="t" bIns="45000" lIns="90000" spcFirstLastPara="1" rIns="90000" wrap="square" tIns="45000">
            <a:noAutofit/>
          </a:bodyPr>
          <a:lstStyle>
            <a:lvl1pPr indent="-228600" lvl="0" marL="457200" marR="0" rtl="0" algn="ctr">
              <a:lnSpc>
                <a:spcPct val="110000"/>
              </a:lnSpc>
              <a:spcBef>
                <a:spcPts val="0"/>
              </a:spcBef>
              <a:spcAft>
                <a:spcPts val="0"/>
              </a:spcAft>
              <a:buClr>
                <a:schemeClr val="dk1"/>
              </a:buClr>
              <a:buSzPts val="1200"/>
              <a:buFont typeface="Open Sans"/>
              <a:buNone/>
              <a:defRPr b="1" i="0" sz="1200" u="none" cap="none" strike="noStrike">
                <a:solidFill>
                  <a:schemeClr val="dk1"/>
                </a:solidFill>
                <a:latin typeface="Open Sans"/>
                <a:ea typeface="Open Sans"/>
                <a:cs typeface="Open Sans"/>
                <a:sym typeface="Open Sans"/>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6" name="Google Shape;56;p31"/>
          <p:cNvSpPr txBox="1"/>
          <p:nvPr>
            <p:ph idx="2" type="body"/>
          </p:nvPr>
        </p:nvSpPr>
        <p:spPr>
          <a:xfrm>
            <a:off x="3578400" y="6017400"/>
            <a:ext cx="5038200" cy="270360"/>
          </a:xfrm>
          <a:prstGeom prst="rect">
            <a:avLst/>
          </a:prstGeom>
          <a:noFill/>
          <a:ln>
            <a:noFill/>
          </a:ln>
        </p:spPr>
        <p:txBody>
          <a:bodyPr anchorCtr="0" anchor="t" bIns="45000" lIns="90000" spcFirstLastPara="1" rIns="90000" wrap="square" tIns="45000">
            <a:noAutofit/>
          </a:bodyPr>
          <a:lstStyle>
            <a:lvl1pPr indent="-228600" lvl="0" marL="457200" marR="0" rtl="0" algn="ctr">
              <a:lnSpc>
                <a:spcPct val="110000"/>
              </a:lnSpc>
              <a:spcBef>
                <a:spcPts val="0"/>
              </a:spcBef>
              <a:spcAft>
                <a:spcPts val="0"/>
              </a:spcAft>
              <a:buClr>
                <a:schemeClr val="dk1"/>
              </a:buClr>
              <a:buSzPts val="1200"/>
              <a:buFont typeface="Open Sans Light"/>
              <a:buNone/>
              <a:defRPr b="0" i="0" sz="12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7" name="Google Shape;57;p31"/>
          <p:cNvSpPr txBox="1"/>
          <p:nvPr>
            <p:ph type="title"/>
          </p:nvPr>
        </p:nvSpPr>
        <p:spPr>
          <a:xfrm>
            <a:off x="393120" y="1196640"/>
            <a:ext cx="11374200" cy="4603320"/>
          </a:xfrm>
          <a:prstGeom prst="rect">
            <a:avLst/>
          </a:prstGeom>
          <a:noFill/>
          <a:ln>
            <a:noFill/>
          </a:ln>
        </p:spPr>
        <p:txBody>
          <a:bodyPr anchorCtr="0" anchor="ctr" bIns="45000" lIns="90000" spcFirstLastPara="1" rIns="90000" wrap="square" tIns="45000">
            <a:noAutofit/>
          </a:bodyPr>
          <a:lstStyle>
            <a:lvl1pPr lvl="0" marR="0" rtl="0" algn="ctr">
              <a:lnSpc>
                <a:spcPct val="100000"/>
              </a:lnSpc>
              <a:spcBef>
                <a:spcPts val="0"/>
              </a:spcBef>
              <a:spcAft>
                <a:spcPts val="0"/>
              </a:spcAft>
              <a:buClr>
                <a:schemeClr val="dk1"/>
              </a:buClr>
              <a:buSzPts val="4100"/>
              <a:buFont typeface="Merriweather Light"/>
              <a:buNone/>
              <a:defRPr b="0" i="1" sz="4100" u="none" cap="none" strike="noStrike">
                <a:solidFill>
                  <a:schemeClr val="dk1"/>
                </a:solidFill>
                <a:latin typeface="Merriweather Light"/>
                <a:ea typeface="Merriweather Light"/>
                <a:cs typeface="Merriweather Light"/>
                <a:sym typeface="Merriweather Light"/>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8" name="Google Shape;58;p31"/>
          <p:cNvSpPr txBox="1"/>
          <p:nvPr>
            <p:ph idx="3" type="body"/>
          </p:nvPr>
        </p:nvSpPr>
        <p:spPr>
          <a:xfrm>
            <a:off x="2575800" y="501840"/>
            <a:ext cx="7008120" cy="226800"/>
          </a:xfrm>
          <a:prstGeom prst="rect">
            <a:avLst/>
          </a:prstGeom>
          <a:noFill/>
          <a:ln>
            <a:noFill/>
          </a:ln>
        </p:spPr>
        <p:txBody>
          <a:bodyPr anchorCtr="0" anchor="t" bIns="45000" lIns="90000" spcFirstLastPara="1" rIns="90000" wrap="square" tIns="45000">
            <a:noAutofit/>
          </a:bodyPr>
          <a:lstStyle>
            <a:lvl1pPr indent="-228600" lvl="0" marL="457200" marR="0" rtl="0" algn="ctr">
              <a:lnSpc>
                <a:spcPct val="110000"/>
              </a:lnSpc>
              <a:spcBef>
                <a:spcPts val="0"/>
              </a:spcBef>
              <a:spcAft>
                <a:spcPts val="0"/>
              </a:spcAft>
              <a:buClr>
                <a:schemeClr val="dk2"/>
              </a:buClr>
              <a:buSzPts val="1200"/>
              <a:buFont typeface="Open Sans Light"/>
              <a:buNone/>
              <a:defRPr b="0" i="0" sz="1200" u="none" cap="none" strike="noStrike">
                <a:solidFill>
                  <a:schemeClr val="dk2"/>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hite + image">
  <p:cSld name="Cover white + image">
    <p:bg>
      <p:bgPr>
        <a:solidFill>
          <a:schemeClr val="lt1"/>
        </a:solidFill>
      </p:bgPr>
    </p:bg>
    <p:spTree>
      <p:nvGrpSpPr>
        <p:cNvPr id="59" name="Shape 59"/>
        <p:cNvGrpSpPr/>
        <p:nvPr/>
      </p:nvGrpSpPr>
      <p:grpSpPr>
        <a:xfrm>
          <a:off x="0" y="0"/>
          <a:ext cx="0" cy="0"/>
          <a:chOff x="0" y="0"/>
          <a:chExt cx="0" cy="0"/>
        </a:xfrm>
      </p:grpSpPr>
      <p:sp>
        <p:nvSpPr>
          <p:cNvPr id="60" name="Google Shape;60;p32"/>
          <p:cNvSpPr txBox="1"/>
          <p:nvPr>
            <p:ph idx="10" type="dt"/>
          </p:nvPr>
        </p:nvSpPr>
        <p:spPr>
          <a:xfrm>
            <a:off x="9972000" y="513000"/>
            <a:ext cx="1866600" cy="215640"/>
          </a:xfrm>
          <a:prstGeom prst="rect">
            <a:avLst/>
          </a:prstGeom>
          <a:noFill/>
          <a:ln>
            <a:noFill/>
          </a:ln>
        </p:spPr>
        <p:txBody>
          <a:bodyPr anchorCtr="0" anchor="t" bIns="45000" lIns="90000" spcFirstLastPara="1" rIns="90000" wrap="square" tIns="45000">
            <a:noAutofit/>
          </a:bodyPr>
          <a:lstStyle>
            <a:lvl1pPr lvl="0" marR="0" rtl="0" algn="r">
              <a:lnSpc>
                <a:spcPct val="100000"/>
              </a:lnSpc>
              <a:spcBef>
                <a:spcPts val="0"/>
              </a:spcBef>
              <a:spcAft>
                <a:spcPts val="0"/>
              </a:spcAft>
              <a:buClr>
                <a:schemeClr val="dk1"/>
              </a:buClr>
              <a:buSzPts val="1200"/>
              <a:buFont typeface="Open Sans Light"/>
              <a:buNone/>
              <a:defRPr b="0" sz="1200" u="none">
                <a:solidFill>
                  <a:schemeClr val="dk1"/>
                </a:solidFill>
                <a:latin typeface="Open Sans Light"/>
                <a:ea typeface="Open Sans Light"/>
                <a:cs typeface="Open Sans Light"/>
                <a:sym typeface="Open Sans Light"/>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32"/>
          <p:cNvSpPr txBox="1"/>
          <p:nvPr>
            <p:ph type="title"/>
          </p:nvPr>
        </p:nvSpPr>
        <p:spPr>
          <a:xfrm>
            <a:off x="333720" y="1196640"/>
            <a:ext cx="5583960" cy="4603320"/>
          </a:xfrm>
          <a:prstGeom prst="rect">
            <a:avLst/>
          </a:prstGeom>
          <a:noFill/>
          <a:ln>
            <a:noFill/>
          </a:ln>
        </p:spPr>
        <p:txBody>
          <a:bodyPr anchorCtr="0" anchor="ctr" bIns="45000" lIns="90000" spcFirstLastPara="1" rIns="90000" wrap="square" tIns="45000">
            <a:noAutofit/>
          </a:bodyPr>
          <a:lstStyle>
            <a:lvl1pPr lvl="0" marR="0" rtl="0" algn="ctr">
              <a:lnSpc>
                <a:spcPct val="100000"/>
              </a:lnSpc>
              <a:spcBef>
                <a:spcPts val="0"/>
              </a:spcBef>
              <a:spcAft>
                <a:spcPts val="0"/>
              </a:spcAft>
              <a:buClr>
                <a:schemeClr val="dk1"/>
              </a:buClr>
              <a:buSzPts val="4100"/>
              <a:buFont typeface="Merriweather Light"/>
              <a:buNone/>
              <a:defRPr b="0" i="1" sz="4100" u="none" cap="none" strike="noStrike">
                <a:solidFill>
                  <a:schemeClr val="dk1"/>
                </a:solidFill>
                <a:latin typeface="Merriweather Light"/>
                <a:ea typeface="Merriweather Light"/>
                <a:cs typeface="Merriweather Light"/>
                <a:sym typeface="Merriweather Light"/>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2" name="Google Shape;62;p32"/>
          <p:cNvSpPr txBox="1"/>
          <p:nvPr>
            <p:ph idx="1" type="body"/>
          </p:nvPr>
        </p:nvSpPr>
        <p:spPr>
          <a:xfrm>
            <a:off x="333720" y="6084000"/>
            <a:ext cx="5583960" cy="216720"/>
          </a:xfrm>
          <a:prstGeom prst="rect">
            <a:avLst/>
          </a:prstGeom>
          <a:noFill/>
          <a:ln>
            <a:noFill/>
          </a:ln>
        </p:spPr>
        <p:txBody>
          <a:bodyPr anchorCtr="0" anchor="t" bIns="45000" lIns="90000" spcFirstLastPara="1" rIns="90000" wrap="square" tIns="45000">
            <a:noAutofit/>
          </a:bodyPr>
          <a:lstStyle>
            <a:lvl1pPr indent="-228600" lvl="0" marL="457200" marR="0" rtl="0" algn="ctr">
              <a:lnSpc>
                <a:spcPct val="110000"/>
              </a:lnSpc>
              <a:spcBef>
                <a:spcPts val="0"/>
              </a:spcBef>
              <a:spcAft>
                <a:spcPts val="0"/>
              </a:spcAft>
              <a:buClr>
                <a:schemeClr val="dk1"/>
              </a:buClr>
              <a:buSzPts val="1200"/>
              <a:buFont typeface="Open Sans"/>
              <a:buNone/>
              <a:defRPr b="1" i="0" sz="1200" u="none" cap="none" strike="noStrike">
                <a:solidFill>
                  <a:schemeClr val="dk1"/>
                </a:solidFill>
                <a:latin typeface="Open Sans"/>
                <a:ea typeface="Open Sans"/>
                <a:cs typeface="Open Sans"/>
                <a:sym typeface="Open Sans"/>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63" name="Google Shape;63;p32"/>
          <p:cNvSpPr txBox="1"/>
          <p:nvPr>
            <p:ph idx="2" type="body"/>
          </p:nvPr>
        </p:nvSpPr>
        <p:spPr>
          <a:xfrm>
            <a:off x="336600" y="6309000"/>
            <a:ext cx="5581440" cy="270360"/>
          </a:xfrm>
          <a:prstGeom prst="rect">
            <a:avLst/>
          </a:prstGeom>
          <a:noFill/>
          <a:ln>
            <a:noFill/>
          </a:ln>
        </p:spPr>
        <p:txBody>
          <a:bodyPr anchorCtr="0" anchor="t" bIns="45000" lIns="90000" spcFirstLastPara="1" rIns="90000" wrap="square" tIns="45000">
            <a:noAutofit/>
          </a:bodyPr>
          <a:lstStyle>
            <a:lvl1pPr indent="-228600" lvl="0" marL="457200" marR="0" rtl="0" algn="ctr">
              <a:lnSpc>
                <a:spcPct val="110000"/>
              </a:lnSpc>
              <a:spcBef>
                <a:spcPts val="0"/>
              </a:spcBef>
              <a:spcAft>
                <a:spcPts val="0"/>
              </a:spcAft>
              <a:buClr>
                <a:schemeClr val="dk1"/>
              </a:buClr>
              <a:buSzPts val="1200"/>
              <a:buFont typeface="Open Sans Light"/>
              <a:buNone/>
              <a:defRPr b="0" i="0" sz="12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64" name="Google Shape;64;p32"/>
          <p:cNvSpPr txBox="1"/>
          <p:nvPr>
            <p:ph idx="3" type="body"/>
          </p:nvPr>
        </p:nvSpPr>
        <p:spPr>
          <a:xfrm>
            <a:off x="6276960" y="1196640"/>
            <a:ext cx="5562360" cy="5292720"/>
          </a:xfrm>
          <a:prstGeom prst="rect">
            <a:avLst/>
          </a:prstGeom>
          <a:solidFill>
            <a:schemeClr val="lt1"/>
          </a:solid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65" name="Google Shape;65;p32"/>
          <p:cNvSpPr txBox="1"/>
          <p:nvPr>
            <p:ph idx="4" type="body"/>
          </p:nvPr>
        </p:nvSpPr>
        <p:spPr>
          <a:xfrm>
            <a:off x="2581920" y="501840"/>
            <a:ext cx="6996240" cy="226800"/>
          </a:xfrm>
          <a:prstGeom prst="rect">
            <a:avLst/>
          </a:prstGeom>
          <a:noFill/>
          <a:ln>
            <a:noFill/>
          </a:ln>
        </p:spPr>
        <p:txBody>
          <a:bodyPr anchorCtr="0" anchor="t" bIns="45000" lIns="90000" spcFirstLastPara="1" rIns="90000" wrap="square" tIns="45000">
            <a:noAutofit/>
          </a:bodyPr>
          <a:lstStyle>
            <a:lvl1pPr indent="-228600" lvl="0" marL="457200" marR="0" rtl="0" algn="ctr">
              <a:lnSpc>
                <a:spcPct val="110000"/>
              </a:lnSpc>
              <a:spcBef>
                <a:spcPts val="0"/>
              </a:spcBef>
              <a:spcAft>
                <a:spcPts val="0"/>
              </a:spcAft>
              <a:buClr>
                <a:schemeClr val="dk2"/>
              </a:buClr>
              <a:buSzPts val="1200"/>
              <a:buFont typeface="Open Sans Light"/>
              <a:buNone/>
              <a:defRPr b="0" i="0" sz="1200" u="none" cap="none" strike="noStrike">
                <a:solidFill>
                  <a:schemeClr val="dk2"/>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pic>
        <p:nvPicPr>
          <p:cNvPr id="66" name="Google Shape;66;p32"/>
          <p:cNvPicPr preferRelativeResize="0"/>
          <p:nvPr/>
        </p:nvPicPr>
        <p:blipFill rotWithShape="1">
          <a:blip r:embed="rId2">
            <a:alphaModFix/>
          </a:blip>
          <a:srcRect b="0" l="0" r="0" t="0"/>
          <a:stretch/>
        </p:blipFill>
        <p:spPr>
          <a:xfrm>
            <a:off x="0" y="0"/>
            <a:ext cx="3240360" cy="12736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white + image + partner logos">
  <p:cSld name="1_Cover white + image + partner logos">
    <p:bg>
      <p:bgPr>
        <a:solidFill>
          <a:schemeClr val="lt1"/>
        </a:solidFill>
      </p:bgPr>
    </p:bg>
    <p:spTree>
      <p:nvGrpSpPr>
        <p:cNvPr id="67" name="Shape 67"/>
        <p:cNvGrpSpPr/>
        <p:nvPr/>
      </p:nvGrpSpPr>
      <p:grpSpPr>
        <a:xfrm>
          <a:off x="0" y="0"/>
          <a:ext cx="0" cy="0"/>
          <a:chOff x="0" y="0"/>
          <a:chExt cx="0" cy="0"/>
        </a:xfrm>
      </p:grpSpPr>
      <p:sp>
        <p:nvSpPr>
          <p:cNvPr id="68" name="Google Shape;68;p33"/>
          <p:cNvSpPr txBox="1"/>
          <p:nvPr>
            <p:ph idx="10" type="dt"/>
          </p:nvPr>
        </p:nvSpPr>
        <p:spPr>
          <a:xfrm>
            <a:off x="9972000" y="513000"/>
            <a:ext cx="1866600" cy="215640"/>
          </a:xfrm>
          <a:prstGeom prst="rect">
            <a:avLst/>
          </a:prstGeom>
          <a:noFill/>
          <a:ln>
            <a:noFill/>
          </a:ln>
        </p:spPr>
        <p:txBody>
          <a:bodyPr anchorCtr="0" anchor="t" bIns="45000" lIns="90000" spcFirstLastPara="1" rIns="90000" wrap="square" tIns="45000">
            <a:noAutofit/>
          </a:bodyPr>
          <a:lstStyle>
            <a:lvl1pPr lvl="0" marR="0" rtl="0" algn="r">
              <a:lnSpc>
                <a:spcPct val="100000"/>
              </a:lnSpc>
              <a:spcBef>
                <a:spcPts val="0"/>
              </a:spcBef>
              <a:spcAft>
                <a:spcPts val="0"/>
              </a:spcAft>
              <a:buClr>
                <a:schemeClr val="dk1"/>
              </a:buClr>
              <a:buSzPts val="1200"/>
              <a:buFont typeface="Open Sans Light"/>
              <a:buNone/>
              <a:defRPr b="0" sz="1200" u="none">
                <a:solidFill>
                  <a:schemeClr val="dk1"/>
                </a:solidFill>
                <a:latin typeface="Open Sans Light"/>
                <a:ea typeface="Open Sans Light"/>
                <a:cs typeface="Open Sans Light"/>
                <a:sym typeface="Open Sans Light"/>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33"/>
          <p:cNvSpPr txBox="1"/>
          <p:nvPr>
            <p:ph type="title"/>
          </p:nvPr>
        </p:nvSpPr>
        <p:spPr>
          <a:xfrm>
            <a:off x="333720" y="1196640"/>
            <a:ext cx="6986160" cy="2232000"/>
          </a:xfrm>
          <a:prstGeom prst="rect">
            <a:avLst/>
          </a:prstGeom>
          <a:noFill/>
          <a:ln>
            <a:noFill/>
          </a:ln>
        </p:spPr>
        <p:txBody>
          <a:bodyPr anchorCtr="0" anchor="ctr" bIns="45000" lIns="90000" spcFirstLastPara="1" rIns="90000" wrap="square" tIns="45000">
            <a:noAutofit/>
          </a:bodyPr>
          <a:lstStyle>
            <a:lvl1pPr lvl="0" marR="0" rtl="0" algn="ctr">
              <a:lnSpc>
                <a:spcPct val="100000"/>
              </a:lnSpc>
              <a:spcBef>
                <a:spcPts val="0"/>
              </a:spcBef>
              <a:spcAft>
                <a:spcPts val="0"/>
              </a:spcAft>
              <a:buClr>
                <a:schemeClr val="dk1"/>
              </a:buClr>
              <a:buSzPts val="4100"/>
              <a:buFont typeface="Merriweather Light"/>
              <a:buNone/>
              <a:defRPr b="0" i="1" sz="4100" u="none" cap="none" strike="noStrike">
                <a:solidFill>
                  <a:schemeClr val="dk1"/>
                </a:solidFill>
                <a:latin typeface="Merriweather Light"/>
                <a:ea typeface="Merriweather Light"/>
                <a:cs typeface="Merriweather Light"/>
                <a:sym typeface="Merriweather Light"/>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0" name="Google Shape;70;p33"/>
          <p:cNvSpPr txBox="1"/>
          <p:nvPr>
            <p:ph idx="1" type="body"/>
          </p:nvPr>
        </p:nvSpPr>
        <p:spPr>
          <a:xfrm>
            <a:off x="333720" y="6084000"/>
            <a:ext cx="7012440" cy="216720"/>
          </a:xfrm>
          <a:prstGeom prst="rect">
            <a:avLst/>
          </a:prstGeom>
          <a:noFill/>
          <a:ln>
            <a:noFill/>
          </a:ln>
        </p:spPr>
        <p:txBody>
          <a:bodyPr anchorCtr="0" anchor="t" bIns="45000" lIns="90000" spcFirstLastPara="1" rIns="90000" wrap="square" tIns="45000">
            <a:noAutofit/>
          </a:bodyPr>
          <a:lstStyle>
            <a:lvl1pPr indent="-228600" lvl="0" marL="457200" marR="0" rtl="0" algn="ctr">
              <a:lnSpc>
                <a:spcPct val="110000"/>
              </a:lnSpc>
              <a:spcBef>
                <a:spcPts val="0"/>
              </a:spcBef>
              <a:spcAft>
                <a:spcPts val="0"/>
              </a:spcAft>
              <a:buClr>
                <a:schemeClr val="dk1"/>
              </a:buClr>
              <a:buSzPts val="1200"/>
              <a:buFont typeface="Open Sans"/>
              <a:buNone/>
              <a:defRPr b="1" i="0" sz="1200" u="none" cap="none" strike="noStrike">
                <a:solidFill>
                  <a:schemeClr val="dk1"/>
                </a:solidFill>
                <a:latin typeface="Open Sans"/>
                <a:ea typeface="Open Sans"/>
                <a:cs typeface="Open Sans"/>
                <a:sym typeface="Open Sans"/>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1" name="Google Shape;71;p33"/>
          <p:cNvSpPr txBox="1"/>
          <p:nvPr>
            <p:ph idx="2" type="body"/>
          </p:nvPr>
        </p:nvSpPr>
        <p:spPr>
          <a:xfrm>
            <a:off x="336600" y="6309000"/>
            <a:ext cx="7009560" cy="270360"/>
          </a:xfrm>
          <a:prstGeom prst="rect">
            <a:avLst/>
          </a:prstGeom>
          <a:noFill/>
          <a:ln>
            <a:noFill/>
          </a:ln>
        </p:spPr>
        <p:txBody>
          <a:bodyPr anchorCtr="0" anchor="t" bIns="45000" lIns="90000" spcFirstLastPara="1" rIns="90000" wrap="square" tIns="45000">
            <a:noAutofit/>
          </a:bodyPr>
          <a:lstStyle>
            <a:lvl1pPr indent="-228600" lvl="0" marL="457200" marR="0" rtl="0" algn="ctr">
              <a:lnSpc>
                <a:spcPct val="110000"/>
              </a:lnSpc>
              <a:spcBef>
                <a:spcPts val="0"/>
              </a:spcBef>
              <a:spcAft>
                <a:spcPts val="0"/>
              </a:spcAft>
              <a:buClr>
                <a:schemeClr val="dk1"/>
              </a:buClr>
              <a:buSzPts val="1200"/>
              <a:buFont typeface="Open Sans Light"/>
              <a:buNone/>
              <a:defRPr b="0" i="0" sz="12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2" name="Google Shape;72;p33"/>
          <p:cNvSpPr txBox="1"/>
          <p:nvPr>
            <p:ph idx="3" type="body"/>
          </p:nvPr>
        </p:nvSpPr>
        <p:spPr>
          <a:xfrm>
            <a:off x="7645680" y="1196640"/>
            <a:ext cx="4193640" cy="5292720"/>
          </a:xfrm>
          <a:prstGeom prst="rect">
            <a:avLst/>
          </a:prstGeom>
          <a:solidFill>
            <a:schemeClr val="lt1"/>
          </a:solid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3" name="Google Shape;73;p33"/>
          <p:cNvSpPr txBox="1"/>
          <p:nvPr>
            <p:ph idx="4" type="body"/>
          </p:nvPr>
        </p:nvSpPr>
        <p:spPr>
          <a:xfrm>
            <a:off x="2581920" y="501840"/>
            <a:ext cx="6996240" cy="226800"/>
          </a:xfrm>
          <a:prstGeom prst="rect">
            <a:avLst/>
          </a:prstGeom>
          <a:noFill/>
          <a:ln>
            <a:noFill/>
          </a:ln>
        </p:spPr>
        <p:txBody>
          <a:bodyPr anchorCtr="0" anchor="t" bIns="45000" lIns="90000" spcFirstLastPara="1" rIns="90000" wrap="square" tIns="45000">
            <a:noAutofit/>
          </a:bodyPr>
          <a:lstStyle>
            <a:lvl1pPr indent="-228600" lvl="0" marL="457200" marR="0" rtl="0" algn="ctr">
              <a:lnSpc>
                <a:spcPct val="110000"/>
              </a:lnSpc>
              <a:spcBef>
                <a:spcPts val="0"/>
              </a:spcBef>
              <a:spcAft>
                <a:spcPts val="0"/>
              </a:spcAft>
              <a:buClr>
                <a:schemeClr val="dk2"/>
              </a:buClr>
              <a:buSzPts val="1200"/>
              <a:buFont typeface="Open Sans Light"/>
              <a:buNone/>
              <a:defRPr b="0" i="0" sz="1200" u="none" cap="none" strike="noStrike">
                <a:solidFill>
                  <a:schemeClr val="dk2"/>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4" name="Google Shape;74;p33"/>
          <p:cNvSpPr txBox="1"/>
          <p:nvPr>
            <p:ph idx="5" type="body"/>
          </p:nvPr>
        </p:nvSpPr>
        <p:spPr>
          <a:xfrm>
            <a:off x="360000" y="3979440"/>
            <a:ext cx="1886760" cy="783360"/>
          </a:xfrm>
          <a:prstGeom prst="rect">
            <a:avLst/>
          </a:prstGeom>
          <a:no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5" name="Google Shape;75;p33"/>
          <p:cNvSpPr txBox="1"/>
          <p:nvPr>
            <p:ph idx="6" type="body"/>
          </p:nvPr>
        </p:nvSpPr>
        <p:spPr>
          <a:xfrm>
            <a:off x="2914920" y="3979440"/>
            <a:ext cx="1886760" cy="783360"/>
          </a:xfrm>
          <a:prstGeom prst="rect">
            <a:avLst/>
          </a:prstGeom>
          <a:no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6" name="Google Shape;76;p33"/>
          <p:cNvSpPr txBox="1"/>
          <p:nvPr>
            <p:ph idx="7" type="body"/>
          </p:nvPr>
        </p:nvSpPr>
        <p:spPr>
          <a:xfrm>
            <a:off x="5459400" y="3979440"/>
            <a:ext cx="1886760" cy="783360"/>
          </a:xfrm>
          <a:prstGeom prst="rect">
            <a:avLst/>
          </a:prstGeom>
          <a:no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7" name="Google Shape;77;p33"/>
          <p:cNvSpPr txBox="1"/>
          <p:nvPr>
            <p:ph idx="8" type="body"/>
          </p:nvPr>
        </p:nvSpPr>
        <p:spPr>
          <a:xfrm>
            <a:off x="338040" y="3602520"/>
            <a:ext cx="5579640" cy="270360"/>
          </a:xfrm>
          <a:prstGeom prst="rect">
            <a:avLst/>
          </a:prstGeom>
          <a:noFill/>
          <a:ln>
            <a:noFill/>
          </a:ln>
        </p:spPr>
        <p:txBody>
          <a:bodyPr anchorCtr="0" anchor="t" bIns="0" lIns="0" spcFirstLastPara="1" rIns="0" wrap="square" tIns="0">
            <a:noAutofit/>
          </a:bodyPr>
          <a:lstStyle>
            <a:lvl1pPr indent="-228600" lvl="0" marL="457200" marR="0" rtl="0" algn="l">
              <a:lnSpc>
                <a:spcPct val="110000"/>
              </a:lnSpc>
              <a:spcBef>
                <a:spcPts val="0"/>
              </a:spcBef>
              <a:spcAft>
                <a:spcPts val="0"/>
              </a:spcAft>
              <a:buClr>
                <a:schemeClr val="dk1"/>
              </a:buClr>
              <a:buSzPts val="1200"/>
              <a:buFont typeface="Open Sans Light"/>
              <a:buNone/>
              <a:defRPr b="0" i="0" sz="12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8" name="Google Shape;78;p33"/>
          <p:cNvSpPr txBox="1"/>
          <p:nvPr>
            <p:ph idx="9" type="body"/>
          </p:nvPr>
        </p:nvSpPr>
        <p:spPr>
          <a:xfrm>
            <a:off x="370800" y="4892760"/>
            <a:ext cx="1886760" cy="783360"/>
          </a:xfrm>
          <a:prstGeom prst="rect">
            <a:avLst/>
          </a:prstGeom>
          <a:no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9" name="Google Shape;79;p33"/>
          <p:cNvSpPr txBox="1"/>
          <p:nvPr>
            <p:ph idx="13" type="body"/>
          </p:nvPr>
        </p:nvSpPr>
        <p:spPr>
          <a:xfrm>
            <a:off x="2914920" y="4892760"/>
            <a:ext cx="1886760" cy="783360"/>
          </a:xfrm>
          <a:prstGeom prst="rect">
            <a:avLst/>
          </a:prstGeom>
          <a:no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80" name="Google Shape;80;p33"/>
          <p:cNvSpPr txBox="1"/>
          <p:nvPr>
            <p:ph idx="14" type="body"/>
          </p:nvPr>
        </p:nvSpPr>
        <p:spPr>
          <a:xfrm>
            <a:off x="5460840" y="4892760"/>
            <a:ext cx="1886760" cy="783360"/>
          </a:xfrm>
          <a:prstGeom prst="rect">
            <a:avLst/>
          </a:prstGeom>
          <a:no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cxnSp>
        <p:nvCxnSpPr>
          <p:cNvPr id="81" name="Google Shape;81;p33"/>
          <p:cNvCxnSpPr/>
          <p:nvPr/>
        </p:nvCxnSpPr>
        <p:spPr>
          <a:xfrm>
            <a:off x="360000" y="3872880"/>
            <a:ext cx="6986880" cy="360"/>
          </a:xfrm>
          <a:prstGeom prst="straightConnector1">
            <a:avLst/>
          </a:prstGeom>
          <a:noFill/>
          <a:ln cap="flat" cmpd="sng" w="9525">
            <a:solidFill>
              <a:srgbClr val="D8D8D8"/>
            </a:solidFill>
            <a:prstDash val="solid"/>
            <a:round/>
            <a:headEnd len="sm" w="sm" type="none"/>
            <a:tailEnd len="sm" w="sm" type="none"/>
          </a:ln>
        </p:spPr>
      </p:cxnSp>
      <p:pic>
        <p:nvPicPr>
          <p:cNvPr id="82" name="Google Shape;82;p33"/>
          <p:cNvPicPr preferRelativeResize="0"/>
          <p:nvPr/>
        </p:nvPicPr>
        <p:blipFill rotWithShape="1">
          <a:blip r:embed="rId2">
            <a:alphaModFix/>
          </a:blip>
          <a:srcRect b="0" l="0" r="0" t="0"/>
          <a:stretch/>
        </p:blipFill>
        <p:spPr>
          <a:xfrm>
            <a:off x="0" y="0"/>
            <a:ext cx="3240360" cy="127368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p:cSld name="Text only">
    <p:bg>
      <p:bgPr>
        <a:solidFill>
          <a:schemeClr val="lt1"/>
        </a:solidFill>
      </p:bgPr>
    </p:bg>
    <p:spTree>
      <p:nvGrpSpPr>
        <p:cNvPr id="83" name="Shape 83"/>
        <p:cNvGrpSpPr/>
        <p:nvPr/>
      </p:nvGrpSpPr>
      <p:grpSpPr>
        <a:xfrm>
          <a:off x="0" y="0"/>
          <a:ext cx="0" cy="0"/>
          <a:chOff x="0" y="0"/>
          <a:chExt cx="0" cy="0"/>
        </a:xfrm>
      </p:grpSpPr>
      <p:sp>
        <p:nvSpPr>
          <p:cNvPr id="84" name="Google Shape;84;p34"/>
          <p:cNvSpPr txBox="1"/>
          <p:nvPr>
            <p:ph type="title"/>
          </p:nvPr>
        </p:nvSpPr>
        <p:spPr>
          <a:xfrm>
            <a:off x="2317680" y="1197000"/>
            <a:ext cx="7559280" cy="1253160"/>
          </a:xfrm>
          <a:prstGeom prst="rect">
            <a:avLst/>
          </a:prstGeom>
          <a:noFill/>
          <a:ln>
            <a:noFill/>
          </a:ln>
        </p:spPr>
        <p:txBody>
          <a:bodyPr anchorCtr="0" anchor="t" bIns="45000" lIns="90000" spcFirstLastPara="1" rIns="90000" wrap="square" tIns="45000">
            <a:noAutofit/>
          </a:bodyPr>
          <a:lstStyle>
            <a:lvl1pPr lvl="0" marR="0" rtl="0" algn="l">
              <a:lnSpc>
                <a:spcPct val="100000"/>
              </a:lnSpc>
              <a:spcBef>
                <a:spcPts val="0"/>
              </a:spcBef>
              <a:spcAft>
                <a:spcPts val="0"/>
              </a:spcAft>
              <a:buClr>
                <a:schemeClr val="dk1"/>
              </a:buClr>
              <a:buSzPts val="2300"/>
              <a:buFont typeface="Open Sans"/>
              <a:buNone/>
              <a:defRPr b="1" i="0" sz="2300" u="none" cap="none" strike="noStrike">
                <a:solidFill>
                  <a:schemeClr val="dk1"/>
                </a:solidFill>
                <a:latin typeface="Open Sans"/>
                <a:ea typeface="Open Sans"/>
                <a:cs typeface="Open Sans"/>
                <a:sym typeface="Open Sans"/>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5" name="Google Shape;85;p34"/>
          <p:cNvSpPr txBox="1"/>
          <p:nvPr>
            <p:ph idx="1" type="body"/>
          </p:nvPr>
        </p:nvSpPr>
        <p:spPr>
          <a:xfrm>
            <a:off x="2317680" y="2450520"/>
            <a:ext cx="7559280" cy="3443040"/>
          </a:xfrm>
          <a:prstGeom prst="rect">
            <a:avLst/>
          </a:prstGeom>
          <a:noFill/>
          <a:ln>
            <a:noFill/>
          </a:ln>
        </p:spPr>
        <p:txBody>
          <a:bodyPr anchorCtr="0" anchor="t" bIns="45000" lIns="90000" spcFirstLastPara="1" rIns="90000" wrap="square" tIns="45000">
            <a:noAutofit/>
          </a:bodyPr>
          <a:lstStyle>
            <a:lvl1pPr indent="-228600" lvl="0" marL="457200" marR="0" rtl="0" algn="l">
              <a:lnSpc>
                <a:spcPct val="110000"/>
              </a:lnSpc>
              <a:spcBef>
                <a:spcPts val="0"/>
              </a:spcBef>
              <a:spcAft>
                <a:spcPts val="0"/>
              </a:spcAft>
              <a:buClr>
                <a:schemeClr val="dk1"/>
              </a:buClr>
              <a:buSzPts val="2200"/>
              <a:buFont typeface="Open Sans Light"/>
              <a:buNone/>
              <a:defRPr b="0" i="0" sz="22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p:cSld name="Bullets">
    <p:bg>
      <p:bgPr>
        <a:solidFill>
          <a:schemeClr val="lt1"/>
        </a:solidFill>
      </p:bgPr>
    </p:bg>
    <p:spTree>
      <p:nvGrpSpPr>
        <p:cNvPr id="86" name="Shape 86"/>
        <p:cNvGrpSpPr/>
        <p:nvPr/>
      </p:nvGrpSpPr>
      <p:grpSpPr>
        <a:xfrm>
          <a:off x="0" y="0"/>
          <a:ext cx="0" cy="0"/>
          <a:chOff x="0" y="0"/>
          <a:chExt cx="0" cy="0"/>
        </a:xfrm>
      </p:grpSpPr>
      <p:sp>
        <p:nvSpPr>
          <p:cNvPr id="87" name="Google Shape;87;p35"/>
          <p:cNvSpPr txBox="1"/>
          <p:nvPr>
            <p:ph type="title"/>
          </p:nvPr>
        </p:nvSpPr>
        <p:spPr>
          <a:xfrm>
            <a:off x="2317680" y="1197000"/>
            <a:ext cx="7559280" cy="1253160"/>
          </a:xfrm>
          <a:prstGeom prst="rect">
            <a:avLst/>
          </a:prstGeom>
          <a:noFill/>
          <a:ln>
            <a:noFill/>
          </a:ln>
        </p:spPr>
        <p:txBody>
          <a:bodyPr anchorCtr="0" anchor="t" bIns="45000" lIns="90000" spcFirstLastPara="1" rIns="90000" wrap="square" tIns="45000">
            <a:noAutofit/>
          </a:bodyPr>
          <a:lstStyle>
            <a:lvl1pPr lvl="0" marR="0" rtl="0" algn="l">
              <a:lnSpc>
                <a:spcPct val="100000"/>
              </a:lnSpc>
              <a:spcBef>
                <a:spcPts val="0"/>
              </a:spcBef>
              <a:spcAft>
                <a:spcPts val="0"/>
              </a:spcAft>
              <a:buClr>
                <a:schemeClr val="dk1"/>
              </a:buClr>
              <a:buSzPts val="2300"/>
              <a:buFont typeface="Open Sans"/>
              <a:buNone/>
              <a:defRPr b="1" i="0" sz="2300" u="none" cap="none" strike="noStrike">
                <a:solidFill>
                  <a:schemeClr val="dk1"/>
                </a:solidFill>
                <a:latin typeface="Open Sans"/>
                <a:ea typeface="Open Sans"/>
                <a:cs typeface="Open Sans"/>
                <a:sym typeface="Open Sans"/>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8" name="Google Shape;88;p35"/>
          <p:cNvSpPr txBox="1"/>
          <p:nvPr>
            <p:ph idx="1" type="body"/>
          </p:nvPr>
        </p:nvSpPr>
        <p:spPr>
          <a:xfrm>
            <a:off x="2317680" y="2450520"/>
            <a:ext cx="7559280" cy="3443040"/>
          </a:xfrm>
          <a:prstGeom prst="rect">
            <a:avLst/>
          </a:prstGeom>
          <a:noFill/>
          <a:ln>
            <a:noFill/>
          </a:ln>
        </p:spPr>
        <p:txBody>
          <a:bodyPr anchorCtr="0" anchor="t" bIns="45000" lIns="90000" spcFirstLastPara="1" rIns="90000" wrap="square" tIns="45000">
            <a:noAutofit/>
          </a:bodyPr>
          <a:lstStyle>
            <a:lvl1pPr indent="-368300" lvl="0" marL="457200" marR="0" rtl="0" algn="l">
              <a:lnSpc>
                <a:spcPct val="110000"/>
              </a:lnSpc>
              <a:spcBef>
                <a:spcPts val="0"/>
              </a:spcBef>
              <a:spcAft>
                <a:spcPts val="0"/>
              </a:spcAft>
              <a:buClr>
                <a:schemeClr val="dk1"/>
              </a:buClr>
              <a:buSzPts val="2200"/>
              <a:buFont typeface="Open Sans Light"/>
              <a:buChar char="•"/>
              <a:defRPr b="0" i="0" sz="2200" u="none" cap="none" strike="noStrike">
                <a:solidFill>
                  <a:schemeClr val="dk1"/>
                </a:solidFill>
                <a:latin typeface="Open Sans Light"/>
                <a:ea typeface="Open Sans Light"/>
                <a:cs typeface="Open Sans Light"/>
                <a:sym typeface="Open Sans Light"/>
              </a:defRPr>
            </a:lvl1pPr>
            <a:lvl2pPr indent="-368300" lvl="1" marL="914400" marR="0" rtl="0" algn="l">
              <a:lnSpc>
                <a:spcPct val="110000"/>
              </a:lnSpc>
              <a:spcBef>
                <a:spcPts val="601"/>
              </a:spcBef>
              <a:spcAft>
                <a:spcPts val="0"/>
              </a:spcAft>
              <a:buClr>
                <a:schemeClr val="dk1"/>
              </a:buClr>
              <a:buSzPts val="2200"/>
              <a:buFont typeface="Open Sans Light"/>
              <a:buChar char="•"/>
              <a:defRPr b="0" i="0" sz="2200" u="none" cap="none" strike="noStrike">
                <a:solidFill>
                  <a:schemeClr val="dk1"/>
                </a:solidFill>
                <a:latin typeface="Open Sans Light"/>
                <a:ea typeface="Open Sans Light"/>
                <a:cs typeface="Open Sans Light"/>
                <a:sym typeface="Open Sans Light"/>
              </a:defRPr>
            </a:lvl2pPr>
            <a:lvl3pPr indent="-368300" lvl="2" marL="1371600" marR="0" rtl="0" algn="l">
              <a:lnSpc>
                <a:spcPct val="100000"/>
              </a:lnSpc>
              <a:spcBef>
                <a:spcPts val="601"/>
              </a:spcBef>
              <a:spcAft>
                <a:spcPts val="0"/>
              </a:spcAft>
              <a:buClr>
                <a:schemeClr val="dk1"/>
              </a:buClr>
              <a:buSzPts val="2200"/>
              <a:buFont typeface="Open Sans Light"/>
              <a:buChar char="•"/>
              <a:defRPr b="0" i="0" sz="2200" u="none" cap="none" strike="noStrike">
                <a:solidFill>
                  <a:schemeClr val="dk1"/>
                </a:solidFill>
                <a:latin typeface="Open Sans Light"/>
                <a:ea typeface="Open Sans Light"/>
                <a:cs typeface="Open Sans Light"/>
                <a:sym typeface="Open Sans Light"/>
              </a:defRPr>
            </a:lvl3pPr>
            <a:lvl4pPr indent="-368300" lvl="3" marL="1828800" marR="0" rtl="0" algn="l">
              <a:lnSpc>
                <a:spcPct val="110000"/>
              </a:lnSpc>
              <a:spcBef>
                <a:spcPts val="601"/>
              </a:spcBef>
              <a:spcAft>
                <a:spcPts val="0"/>
              </a:spcAft>
              <a:buClr>
                <a:schemeClr val="dk1"/>
              </a:buClr>
              <a:buSzPts val="2200"/>
              <a:buFont typeface="Open Sans Light"/>
              <a:buChar char="•"/>
              <a:defRPr b="0" i="0" sz="2200" u="none" cap="none" strike="noStrike">
                <a:solidFill>
                  <a:schemeClr val="dk1"/>
                </a:solidFill>
                <a:latin typeface="Open Sans Light"/>
                <a:ea typeface="Open Sans Light"/>
                <a:cs typeface="Open Sans Light"/>
                <a:sym typeface="Open Sans Light"/>
              </a:defRPr>
            </a:lvl4pPr>
            <a:lvl5pPr indent="-368300" lvl="4" marL="2286000" marR="0" rtl="0" algn="l">
              <a:lnSpc>
                <a:spcPct val="110000"/>
              </a:lnSpc>
              <a:spcBef>
                <a:spcPts val="601"/>
              </a:spcBef>
              <a:spcAft>
                <a:spcPts val="0"/>
              </a:spcAft>
              <a:buClr>
                <a:schemeClr val="dk1"/>
              </a:buClr>
              <a:buSzPts val="2200"/>
              <a:buFont typeface="Open Sans Light"/>
              <a:buChar char="•"/>
              <a:defRPr b="0" i="0" sz="2200" u="none" cap="none" strike="noStrike">
                <a:solidFill>
                  <a:schemeClr val="dk1"/>
                </a:solidFill>
                <a:latin typeface="Open Sans Light"/>
                <a:ea typeface="Open Sans Light"/>
                <a:cs typeface="Open Sans Light"/>
                <a:sym typeface="Open Sans Light"/>
              </a:defRPr>
            </a:lvl5pPr>
            <a:lvl6pPr indent="-368300" lvl="5" marL="2743200" marR="0" rtl="0" algn="l">
              <a:lnSpc>
                <a:spcPct val="100000"/>
              </a:lnSpc>
              <a:spcBef>
                <a:spcPts val="601"/>
              </a:spcBef>
              <a:spcAft>
                <a:spcPts val="0"/>
              </a:spcAft>
              <a:buClr>
                <a:schemeClr val="dk1"/>
              </a:buClr>
              <a:buSzPts val="2200"/>
              <a:buFont typeface="Open Sans Light"/>
              <a:buChar char="•"/>
              <a:defRPr b="0" i="0" sz="2200" u="none" cap="none" strike="noStrike">
                <a:solidFill>
                  <a:schemeClr val="dk1"/>
                </a:solidFill>
                <a:latin typeface="Open Sans Light"/>
                <a:ea typeface="Open Sans Light"/>
                <a:cs typeface="Open Sans Light"/>
                <a:sym typeface="Open Sans Light"/>
              </a:defRPr>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left, image right">
  <p:cSld name="Text left, image right">
    <p:bg>
      <p:bgPr>
        <a:solidFill>
          <a:schemeClr val="lt1"/>
        </a:solidFill>
      </p:bgPr>
    </p:bg>
    <p:spTree>
      <p:nvGrpSpPr>
        <p:cNvPr id="89" name="Shape 89"/>
        <p:cNvGrpSpPr/>
        <p:nvPr/>
      </p:nvGrpSpPr>
      <p:grpSpPr>
        <a:xfrm>
          <a:off x="0" y="0"/>
          <a:ext cx="0" cy="0"/>
          <a:chOff x="0" y="0"/>
          <a:chExt cx="0" cy="0"/>
        </a:xfrm>
      </p:grpSpPr>
      <p:sp>
        <p:nvSpPr>
          <p:cNvPr id="90" name="Google Shape;90;p36"/>
          <p:cNvSpPr txBox="1"/>
          <p:nvPr>
            <p:ph idx="1" type="body"/>
          </p:nvPr>
        </p:nvSpPr>
        <p:spPr>
          <a:xfrm>
            <a:off x="4297320" y="368280"/>
            <a:ext cx="7561080" cy="6158880"/>
          </a:xfrm>
          <a:prstGeom prst="rect">
            <a:avLst/>
          </a:prstGeom>
          <a:solidFill>
            <a:schemeClr val="lt1"/>
          </a:solid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91" name="Google Shape;91;p36"/>
          <p:cNvSpPr txBox="1"/>
          <p:nvPr>
            <p:ph type="title"/>
          </p:nvPr>
        </p:nvSpPr>
        <p:spPr>
          <a:xfrm>
            <a:off x="338040" y="371520"/>
            <a:ext cx="3634920" cy="1079640"/>
          </a:xfrm>
          <a:prstGeom prst="rect">
            <a:avLst/>
          </a:prstGeom>
          <a:noFill/>
          <a:ln>
            <a:noFill/>
          </a:ln>
        </p:spPr>
        <p:txBody>
          <a:bodyPr anchorCtr="0" anchor="t" bIns="45000" lIns="90000" spcFirstLastPara="1" rIns="90000" wrap="square" tIns="45000">
            <a:noAutofit/>
          </a:bodyPr>
          <a:lstStyle>
            <a:lvl1pPr lvl="0" marR="0" rtl="0" algn="l">
              <a:lnSpc>
                <a:spcPct val="100000"/>
              </a:lnSpc>
              <a:spcBef>
                <a:spcPts val="0"/>
              </a:spcBef>
              <a:spcAft>
                <a:spcPts val="0"/>
              </a:spcAft>
              <a:buClr>
                <a:schemeClr val="dk1"/>
              </a:buClr>
              <a:buSzPts val="2300"/>
              <a:buFont typeface="Open Sans"/>
              <a:buNone/>
              <a:defRPr b="1" i="0" sz="2300" u="none" cap="none" strike="noStrike">
                <a:solidFill>
                  <a:schemeClr val="dk1"/>
                </a:solidFill>
                <a:latin typeface="Open Sans"/>
                <a:ea typeface="Open Sans"/>
                <a:cs typeface="Open Sans"/>
                <a:sym typeface="Open Sans"/>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2" name="Google Shape;92;p36"/>
          <p:cNvSpPr txBox="1"/>
          <p:nvPr>
            <p:ph idx="2" type="body"/>
          </p:nvPr>
        </p:nvSpPr>
        <p:spPr>
          <a:xfrm>
            <a:off x="337680" y="1664280"/>
            <a:ext cx="3635640" cy="4862880"/>
          </a:xfrm>
          <a:prstGeom prst="rect">
            <a:avLst/>
          </a:prstGeom>
          <a:noFill/>
          <a:ln>
            <a:noFill/>
          </a:ln>
        </p:spPr>
        <p:txBody>
          <a:bodyPr anchorCtr="0" anchor="b" bIns="0" lIns="90000" spcFirstLastPara="1" rIns="90000" wrap="square" tIns="45000">
            <a:noAutofit/>
          </a:bodyPr>
          <a:lstStyle>
            <a:lvl1pPr indent="-228600" lvl="0" marL="457200" marR="0" rtl="0" algn="l">
              <a:lnSpc>
                <a:spcPct val="110000"/>
              </a:lnSpc>
              <a:spcBef>
                <a:spcPts val="0"/>
              </a:spcBef>
              <a:spcAft>
                <a:spcPts val="0"/>
              </a:spcAft>
              <a:buClr>
                <a:schemeClr val="dk1"/>
              </a:buClr>
              <a:buSzPts val="2200"/>
              <a:buFont typeface="Open Sans Light"/>
              <a:buNone/>
              <a:defRPr b="0" i="0" sz="22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left, text right">
  <p:cSld name="Image left, text right">
    <p:bg>
      <p:bgPr>
        <a:solidFill>
          <a:schemeClr val="lt1"/>
        </a:solidFill>
      </p:bgPr>
    </p:bg>
    <p:spTree>
      <p:nvGrpSpPr>
        <p:cNvPr id="93" name="Shape 93"/>
        <p:cNvGrpSpPr/>
        <p:nvPr/>
      </p:nvGrpSpPr>
      <p:grpSpPr>
        <a:xfrm>
          <a:off x="0" y="0"/>
          <a:ext cx="0" cy="0"/>
          <a:chOff x="0" y="0"/>
          <a:chExt cx="0" cy="0"/>
        </a:xfrm>
      </p:grpSpPr>
      <p:sp>
        <p:nvSpPr>
          <p:cNvPr id="94" name="Google Shape;94;p37"/>
          <p:cNvSpPr txBox="1"/>
          <p:nvPr>
            <p:ph idx="1" type="body"/>
          </p:nvPr>
        </p:nvSpPr>
        <p:spPr>
          <a:xfrm>
            <a:off x="336600" y="371520"/>
            <a:ext cx="7561080" cy="6141600"/>
          </a:xfrm>
          <a:prstGeom prst="rect">
            <a:avLst/>
          </a:prstGeom>
          <a:solidFill>
            <a:schemeClr val="lt1"/>
          </a:solid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95" name="Google Shape;95;p37"/>
          <p:cNvSpPr txBox="1"/>
          <p:nvPr>
            <p:ph type="title"/>
          </p:nvPr>
        </p:nvSpPr>
        <p:spPr>
          <a:xfrm>
            <a:off x="8241120" y="371520"/>
            <a:ext cx="3616560" cy="1079640"/>
          </a:xfrm>
          <a:prstGeom prst="rect">
            <a:avLst/>
          </a:prstGeom>
          <a:noFill/>
          <a:ln>
            <a:noFill/>
          </a:ln>
        </p:spPr>
        <p:txBody>
          <a:bodyPr anchorCtr="0" anchor="t" bIns="45000" lIns="90000" spcFirstLastPara="1" rIns="90000" wrap="square" tIns="45000">
            <a:noAutofit/>
          </a:bodyPr>
          <a:lstStyle>
            <a:lvl1pPr lvl="0" marR="0" rtl="0" algn="l">
              <a:lnSpc>
                <a:spcPct val="100000"/>
              </a:lnSpc>
              <a:spcBef>
                <a:spcPts val="0"/>
              </a:spcBef>
              <a:spcAft>
                <a:spcPts val="0"/>
              </a:spcAft>
              <a:buClr>
                <a:schemeClr val="dk1"/>
              </a:buClr>
              <a:buSzPts val="2300"/>
              <a:buFont typeface="Open Sans"/>
              <a:buNone/>
              <a:defRPr b="1" i="0" sz="2300" u="none" cap="none" strike="noStrike">
                <a:solidFill>
                  <a:schemeClr val="dk1"/>
                </a:solidFill>
                <a:latin typeface="Open Sans"/>
                <a:ea typeface="Open Sans"/>
                <a:cs typeface="Open Sans"/>
                <a:sym typeface="Open Sans"/>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6" name="Google Shape;96;p37"/>
          <p:cNvSpPr txBox="1"/>
          <p:nvPr>
            <p:ph idx="2" type="body"/>
          </p:nvPr>
        </p:nvSpPr>
        <p:spPr>
          <a:xfrm>
            <a:off x="8241120" y="1627560"/>
            <a:ext cx="3616920" cy="4885200"/>
          </a:xfrm>
          <a:prstGeom prst="rect">
            <a:avLst/>
          </a:prstGeom>
          <a:noFill/>
          <a:ln>
            <a:noFill/>
          </a:ln>
        </p:spPr>
        <p:txBody>
          <a:bodyPr anchorCtr="0" anchor="b" bIns="0" lIns="90000" spcFirstLastPara="1" rIns="90000" wrap="square" tIns="45000">
            <a:noAutofit/>
          </a:bodyPr>
          <a:lstStyle>
            <a:lvl1pPr indent="-228600" lvl="0" marL="457200" marR="0" rtl="0" algn="l">
              <a:lnSpc>
                <a:spcPct val="110000"/>
              </a:lnSpc>
              <a:spcBef>
                <a:spcPts val="0"/>
              </a:spcBef>
              <a:spcAft>
                <a:spcPts val="0"/>
              </a:spcAft>
              <a:buClr>
                <a:schemeClr val="dk1"/>
              </a:buClr>
              <a:buSzPts val="2200"/>
              <a:buFont typeface="Open Sans Light"/>
              <a:buNone/>
              <a:defRPr b="0" i="0" sz="22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screen image">
  <p:cSld name="Full screen image">
    <p:bg>
      <p:bgPr>
        <a:solidFill>
          <a:schemeClr val="lt1"/>
        </a:solidFill>
      </p:bgPr>
    </p:bg>
    <p:spTree>
      <p:nvGrpSpPr>
        <p:cNvPr id="97" name="Shape 97"/>
        <p:cNvGrpSpPr/>
        <p:nvPr/>
      </p:nvGrpSpPr>
      <p:grpSpPr>
        <a:xfrm>
          <a:off x="0" y="0"/>
          <a:ext cx="0" cy="0"/>
          <a:chOff x="0" y="0"/>
          <a:chExt cx="0" cy="0"/>
        </a:xfrm>
      </p:grpSpPr>
      <p:sp>
        <p:nvSpPr>
          <p:cNvPr id="98" name="Google Shape;98;p38"/>
          <p:cNvSpPr txBox="1"/>
          <p:nvPr>
            <p:ph idx="1" type="body"/>
          </p:nvPr>
        </p:nvSpPr>
        <p:spPr>
          <a:xfrm>
            <a:off x="336600" y="368280"/>
            <a:ext cx="11521800" cy="6121080"/>
          </a:xfrm>
          <a:prstGeom prst="rect">
            <a:avLst/>
          </a:prstGeom>
          <a:solidFill>
            <a:schemeClr val="lt1"/>
          </a:solidFill>
          <a:ln>
            <a:noFill/>
          </a:ln>
        </p:spPr>
        <p:txBody>
          <a:bodyPr anchorCtr="0" anchor="ctr" bIns="45000" lIns="90000" spcFirstLastPara="1" rIns="90000" wrap="square" tIns="45000">
            <a:noAutofit/>
          </a:bodyPr>
          <a:lstStyle>
            <a:lvl1pPr indent="-228600" lvl="0" marL="457200" marR="0" rtl="0" algn="ctr">
              <a:lnSpc>
                <a:spcPct val="100000"/>
              </a:lnSpc>
              <a:spcBef>
                <a:spcPts val="0"/>
              </a:spcBef>
              <a:spcAft>
                <a:spcPts val="0"/>
              </a:spcAft>
              <a:buClr>
                <a:schemeClr val="dk1"/>
              </a:buClr>
              <a:buSzPts val="1800"/>
              <a:buFont typeface="Open Sans Light"/>
              <a:buNone/>
              <a:defRPr b="0" i="0" sz="1800" u="none" cap="none" strike="noStrike">
                <a:solidFill>
                  <a:schemeClr val="dk1"/>
                </a:solidFill>
                <a:latin typeface="Open Sans Light"/>
                <a:ea typeface="Open Sans Light"/>
                <a:cs typeface="Open Sans Light"/>
                <a:sym typeface="Open Sans Light"/>
              </a:defRPr>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99" name="Google Shape;99;p38"/>
          <p:cNvSpPr txBox="1"/>
          <p:nvPr>
            <p:ph type="title"/>
          </p:nvPr>
        </p:nvSpPr>
        <p:spPr>
          <a:xfrm>
            <a:off x="609480" y="273600"/>
            <a:ext cx="10974960" cy="1144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nvSpPr>
        <p:spPr>
          <a:xfrm>
            <a:off x="6035040" y="566928"/>
            <a:ext cx="5589727" cy="310896"/>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400">
                <a:solidFill>
                  <a:srgbClr val="161D41"/>
                </a:solidFill>
                <a:latin typeface="Calibri"/>
                <a:ea typeface="Calibri"/>
                <a:cs typeface="Calibri"/>
                <a:sym typeface="Calibri"/>
              </a:rPr>
              <a:t>SIGDIAL 2026  ·  ORAL PRESENTATION</a:t>
            </a:r>
            <a:endParaRPr/>
          </a:p>
        </p:txBody>
      </p:sp>
      <p:sp>
        <p:nvSpPr>
          <p:cNvPr id="106" name="Google Shape;106;p1"/>
          <p:cNvSpPr/>
          <p:nvPr/>
        </p:nvSpPr>
        <p:spPr>
          <a:xfrm>
            <a:off x="7699248" y="960120"/>
            <a:ext cx="3922776" cy="4937760"/>
          </a:xfrm>
          <a:prstGeom prst="roundRect">
            <a:avLst>
              <a:gd fmla="val 45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map0g.png" id="107" name="Google Shape;107;p1"/>
          <p:cNvPicPr preferRelativeResize="0"/>
          <p:nvPr/>
        </p:nvPicPr>
        <p:blipFill rotWithShape="1">
          <a:blip r:embed="rId3">
            <a:alphaModFix/>
          </a:blip>
          <a:srcRect b="0" l="0" r="0" t="0"/>
          <a:stretch/>
        </p:blipFill>
        <p:spPr>
          <a:xfrm>
            <a:off x="7927848" y="1188720"/>
            <a:ext cx="3462250" cy="4480560"/>
          </a:xfrm>
          <a:prstGeom prst="rect">
            <a:avLst/>
          </a:prstGeom>
          <a:noFill/>
          <a:ln>
            <a:noFill/>
          </a:ln>
        </p:spPr>
      </p:pic>
      <p:sp>
        <p:nvSpPr>
          <p:cNvPr id="108" name="Google Shape;108;p1"/>
          <p:cNvSpPr txBox="1"/>
          <p:nvPr/>
        </p:nvSpPr>
        <p:spPr>
          <a:xfrm>
            <a:off x="566928" y="1691640"/>
            <a:ext cx="6766560" cy="10515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400">
                <a:solidFill>
                  <a:srgbClr val="161D41"/>
                </a:solidFill>
                <a:latin typeface="Calibri"/>
                <a:ea typeface="Calibri"/>
                <a:cs typeface="Calibri"/>
                <a:sym typeface="Calibri"/>
              </a:rPr>
              <a:t>Seeing Is Not Sharing</a:t>
            </a:r>
            <a:endParaRPr/>
          </a:p>
        </p:txBody>
      </p:sp>
      <p:sp>
        <p:nvSpPr>
          <p:cNvPr id="109" name="Google Shape;109;p1"/>
          <p:cNvSpPr txBox="1"/>
          <p:nvPr/>
        </p:nvSpPr>
        <p:spPr>
          <a:xfrm>
            <a:off x="566928" y="2788920"/>
            <a:ext cx="6766560" cy="9144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2200">
                <a:solidFill>
                  <a:srgbClr val="161D41"/>
                </a:solidFill>
                <a:latin typeface="Calibri"/>
                <a:ea typeface="Calibri"/>
                <a:cs typeface="Calibri"/>
                <a:sym typeface="Calibri"/>
              </a:rPr>
              <a:t>Some Vision-Language Models Overestimate</a:t>
            </a:r>
            <a:br>
              <a:rPr b="0" i="0" lang="en-US" sz="2200">
                <a:solidFill>
                  <a:srgbClr val="161D41"/>
                </a:solidFill>
                <a:latin typeface="Calibri"/>
                <a:ea typeface="Calibri"/>
                <a:cs typeface="Calibri"/>
                <a:sym typeface="Calibri"/>
              </a:rPr>
            </a:br>
            <a:r>
              <a:rPr b="0" i="0" lang="en-US" sz="2200">
                <a:solidFill>
                  <a:srgbClr val="161D41"/>
                </a:solidFill>
                <a:latin typeface="Calibri"/>
                <a:ea typeface="Calibri"/>
                <a:cs typeface="Calibri"/>
                <a:sym typeface="Calibri"/>
              </a:rPr>
              <a:t>Common Ground in Asymmetric Dialogue</a:t>
            </a:r>
            <a:endParaRPr/>
          </a:p>
        </p:txBody>
      </p:sp>
      <p:sp>
        <p:nvSpPr>
          <p:cNvPr id="110" name="Google Shape;110;p1"/>
          <p:cNvSpPr/>
          <p:nvPr/>
        </p:nvSpPr>
        <p:spPr>
          <a:xfrm>
            <a:off x="566928" y="4041648"/>
            <a:ext cx="2011680" cy="41148"/>
          </a:xfrm>
          <a:prstGeom prst="rect">
            <a:avLst/>
          </a:prstGeom>
          <a:solidFill>
            <a:srgbClr val="161D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1"/>
          <p:cNvSpPr txBox="1"/>
          <p:nvPr/>
        </p:nvSpPr>
        <p:spPr>
          <a:xfrm>
            <a:off x="566928" y="4297680"/>
            <a:ext cx="6766560" cy="7772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a:solidFill>
                  <a:srgbClr val="161D41"/>
                </a:solidFill>
                <a:latin typeface="Calibri"/>
                <a:ea typeface="Calibri"/>
                <a:cs typeface="Calibri"/>
                <a:sym typeface="Calibri"/>
              </a:rPr>
              <a:t>Nan Li  ·  Albert Gatt  ·  Massimo Poesio</a:t>
            </a:r>
            <a:endParaRPr/>
          </a:p>
          <a:p>
            <a:pPr indent="0" lvl="0" marL="0" marR="0" rtl="0" algn="l">
              <a:spcBef>
                <a:spcPts val="300"/>
              </a:spcBef>
              <a:spcAft>
                <a:spcPts val="0"/>
              </a:spcAft>
              <a:buNone/>
            </a:pPr>
            <a:r>
              <a:rPr b="0" i="0" lang="en-US" sz="1600">
                <a:solidFill>
                  <a:srgbClr val="161D41"/>
                </a:solidFill>
                <a:latin typeface="Calibri"/>
                <a:ea typeface="Calibri"/>
                <a:cs typeface="Calibri"/>
                <a:sym typeface="Calibri"/>
              </a:rPr>
              <a:t>Utrecht University</a:t>
            </a:r>
            <a:endParaRPr/>
          </a:p>
        </p:txBody>
      </p:sp>
      <p:sp>
        <p:nvSpPr>
          <p:cNvPr id="112" name="Google Shape;112;p1"/>
          <p:cNvSpPr txBox="1"/>
          <p:nvPr/>
        </p:nvSpPr>
        <p:spPr>
          <a:xfrm>
            <a:off x="566928" y="5779008"/>
            <a:ext cx="67665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1800">
                <a:solidFill>
                  <a:srgbClr val="161D41"/>
                </a:solidFill>
                <a:latin typeface="Calibri"/>
                <a:ea typeface="Calibri"/>
                <a:cs typeface="Calibri"/>
                <a:sym typeface="Calibri"/>
              </a:rPr>
              <a:t>What could be shared  </a:t>
            </a:r>
            <a:r>
              <a:rPr b="1" i="0" lang="en-US" sz="1800">
                <a:solidFill>
                  <a:srgbClr val="161D41"/>
                </a:solidFill>
                <a:latin typeface="Calibri"/>
                <a:ea typeface="Calibri"/>
                <a:cs typeface="Calibri"/>
                <a:sym typeface="Calibri"/>
              </a:rPr>
              <a:t>≠</a:t>
            </a:r>
            <a:r>
              <a:rPr b="0" i="1" lang="en-US" sz="1800">
                <a:solidFill>
                  <a:srgbClr val="161D41"/>
                </a:solidFill>
                <a:latin typeface="Calibri"/>
                <a:ea typeface="Calibri"/>
                <a:cs typeface="Calibri"/>
                <a:sym typeface="Calibri"/>
              </a:rPr>
              <a:t>  what has been shared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
          <p:cNvSpPr txBox="1"/>
          <p:nvPr/>
        </p:nvSpPr>
        <p:spPr>
          <a:xfrm>
            <a:off x="566928" y="365760"/>
            <a:ext cx="11057839"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MOTIVATION</a:t>
            </a:r>
            <a:endParaRPr/>
          </a:p>
        </p:txBody>
      </p:sp>
      <p:sp>
        <p:nvSpPr>
          <p:cNvPr id="119" name="Google Shape;119;p2"/>
          <p:cNvSpPr txBox="1"/>
          <p:nvPr/>
        </p:nvSpPr>
        <p:spPr>
          <a:xfrm>
            <a:off x="566928" y="694944"/>
            <a:ext cx="11057839"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61D41"/>
                </a:solidFill>
                <a:latin typeface="Calibri"/>
                <a:ea typeface="Calibri"/>
                <a:cs typeface="Calibri"/>
                <a:sym typeface="Calibri"/>
              </a:rPr>
              <a:t>Shared perception is not shared interpretation</a:t>
            </a:r>
            <a:endParaRPr/>
          </a:p>
        </p:txBody>
      </p:sp>
      <p:sp>
        <p:nvSpPr>
          <p:cNvPr id="120" name="Google Shape;120;p2"/>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8A8A8A"/>
                </a:solidFill>
                <a:latin typeface="Calibri"/>
                <a:ea typeface="Calibri"/>
                <a:cs typeface="Calibri"/>
                <a:sym typeface="Calibri"/>
              </a:rPr>
              <a:t>2</a:t>
            </a:r>
            <a:endParaRPr/>
          </a:p>
        </p:txBody>
      </p:sp>
      <p:sp>
        <p:nvSpPr>
          <p:cNvPr id="121" name="Google Shape;121;p2"/>
          <p:cNvSpPr/>
          <p:nvPr/>
        </p:nvSpPr>
        <p:spPr>
          <a:xfrm>
            <a:off x="566928" y="1664208"/>
            <a:ext cx="3401568" cy="2788920"/>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2"/>
          <p:cNvSpPr txBox="1"/>
          <p:nvPr/>
        </p:nvSpPr>
        <p:spPr>
          <a:xfrm>
            <a:off x="804672" y="1865376"/>
            <a:ext cx="2926080" cy="238658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F6ABF"/>
                </a:solidFill>
                <a:latin typeface="Calibri"/>
                <a:ea typeface="Calibri"/>
                <a:cs typeface="Calibri"/>
                <a:sym typeface="Calibri"/>
              </a:rPr>
              <a:t>POTENTIAL COMMON GROUND</a:t>
            </a:r>
            <a:endParaRPr/>
          </a:p>
          <a:p>
            <a:pPr indent="0" lvl="0" marL="0" marR="0" rtl="0" algn="l">
              <a:lnSpc>
                <a:spcPct val="102000"/>
              </a:lnSpc>
              <a:spcBef>
                <a:spcPts val="700"/>
              </a:spcBef>
              <a:spcAft>
                <a:spcPts val="0"/>
              </a:spcAft>
              <a:buNone/>
            </a:pPr>
            <a:r>
              <a:rPr b="0" i="0" lang="en-US" sz="1600">
                <a:solidFill>
                  <a:srgbClr val="161D41"/>
                </a:solidFill>
                <a:latin typeface="Calibri"/>
                <a:ea typeface="Calibri"/>
                <a:cs typeface="Calibri"/>
                <a:sym typeface="Calibri"/>
              </a:rPr>
              <a:t>Both participants could have access to the same kind of landmark.</a:t>
            </a:r>
            <a:endParaRPr/>
          </a:p>
          <a:p>
            <a:pPr indent="0" lvl="0" marL="0" marR="0" rtl="0" algn="l">
              <a:spcBef>
                <a:spcPts val="900"/>
              </a:spcBef>
              <a:spcAft>
                <a:spcPts val="0"/>
              </a:spcAft>
              <a:buNone/>
            </a:pPr>
            <a:r>
              <a:rPr b="0" i="1" lang="en-US" sz="1600">
                <a:solidFill>
                  <a:srgbClr val="5F6070"/>
                </a:solidFill>
                <a:latin typeface="Calibri"/>
                <a:ea typeface="Calibri"/>
                <a:cs typeface="Calibri"/>
                <a:sym typeface="Calibri"/>
              </a:rPr>
              <a:t>Co-presence in the scene.</a:t>
            </a:r>
            <a:endParaRPr/>
          </a:p>
        </p:txBody>
      </p:sp>
      <p:sp>
        <p:nvSpPr>
          <p:cNvPr id="123" name="Google Shape;123;p2"/>
          <p:cNvSpPr txBox="1"/>
          <p:nvPr/>
        </p:nvSpPr>
        <p:spPr>
          <a:xfrm>
            <a:off x="3986783" y="2715768"/>
            <a:ext cx="347472" cy="5486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200">
                <a:solidFill>
                  <a:srgbClr val="C00935"/>
                </a:solidFill>
                <a:latin typeface="Calibri"/>
                <a:ea typeface="Calibri"/>
                <a:cs typeface="Calibri"/>
                <a:sym typeface="Calibri"/>
              </a:rPr>
              <a:t>≠</a:t>
            </a:r>
            <a:endParaRPr/>
          </a:p>
        </p:txBody>
      </p:sp>
      <p:sp>
        <p:nvSpPr>
          <p:cNvPr id="124" name="Google Shape;124;p2"/>
          <p:cNvSpPr/>
          <p:nvPr/>
        </p:nvSpPr>
        <p:spPr>
          <a:xfrm>
            <a:off x="4352544" y="1664208"/>
            <a:ext cx="3401568" cy="2788920"/>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2"/>
          <p:cNvSpPr txBox="1"/>
          <p:nvPr/>
        </p:nvSpPr>
        <p:spPr>
          <a:xfrm>
            <a:off x="4590288" y="1865376"/>
            <a:ext cx="2926080" cy="238658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F7A6B"/>
                </a:solidFill>
                <a:latin typeface="Calibri"/>
                <a:ea typeface="Calibri"/>
                <a:cs typeface="Calibri"/>
                <a:sym typeface="Calibri"/>
              </a:rPr>
              <a:t>ESTABLISHED COMMON GROUND</a:t>
            </a:r>
            <a:endParaRPr/>
          </a:p>
          <a:p>
            <a:pPr indent="0" lvl="0" marL="0" marR="0" rtl="0" algn="l">
              <a:lnSpc>
                <a:spcPct val="102000"/>
              </a:lnSpc>
              <a:spcBef>
                <a:spcPts val="700"/>
              </a:spcBef>
              <a:spcAft>
                <a:spcPts val="0"/>
              </a:spcAft>
              <a:buNone/>
            </a:pPr>
            <a:r>
              <a:rPr b="0" i="0" lang="en-US" sz="1600">
                <a:solidFill>
                  <a:srgbClr val="161D41"/>
                </a:solidFill>
                <a:latin typeface="Calibri"/>
                <a:ea typeface="Calibri"/>
                <a:cs typeface="Calibri"/>
                <a:sym typeface="Calibri"/>
              </a:rPr>
              <a:t>Built incrementally: the speaker refers, the addressee recognises or accommodates, both confirm or repair.</a:t>
            </a:r>
            <a:endParaRPr/>
          </a:p>
          <a:p>
            <a:pPr indent="0" lvl="0" marL="0" marR="0" rtl="0" algn="l">
              <a:spcBef>
                <a:spcPts val="900"/>
              </a:spcBef>
              <a:spcAft>
                <a:spcPts val="0"/>
              </a:spcAft>
              <a:buNone/>
            </a:pPr>
            <a:r>
              <a:rPr b="0" i="1" lang="en-US" sz="1400">
                <a:solidFill>
                  <a:srgbClr val="5F6070"/>
                </a:solidFill>
                <a:latin typeface="Calibri"/>
                <a:ea typeface="Calibri"/>
                <a:cs typeface="Calibri"/>
                <a:sym typeface="Calibri"/>
              </a:rPr>
              <a:t>Clark &amp; Wilkes-Gibbs 1986; Clark &amp; Brennan 1991</a:t>
            </a:r>
            <a:endParaRPr/>
          </a:p>
        </p:txBody>
      </p:sp>
      <p:sp>
        <p:nvSpPr>
          <p:cNvPr id="126" name="Google Shape;126;p2"/>
          <p:cNvSpPr/>
          <p:nvPr/>
        </p:nvSpPr>
        <p:spPr>
          <a:xfrm>
            <a:off x="8138160" y="1664208"/>
            <a:ext cx="3486607" cy="2788920"/>
          </a:xfrm>
          <a:prstGeom prst="roundRect">
            <a:avLst>
              <a:gd fmla="val 7000" name="adj"/>
            </a:avLst>
          </a:prstGeom>
          <a:solidFill>
            <a:srgbClr val="FBEE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2"/>
          <p:cNvSpPr txBox="1"/>
          <p:nvPr/>
        </p:nvSpPr>
        <p:spPr>
          <a:xfrm>
            <a:off x="8375904" y="1865376"/>
            <a:ext cx="3011119" cy="238658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A MODEL IS AN OVERHEARER</a:t>
            </a:r>
            <a:endParaRPr/>
          </a:p>
          <a:p>
            <a:pPr indent="0" lvl="0" marL="0" marR="0" rtl="0" algn="l">
              <a:lnSpc>
                <a:spcPct val="102000"/>
              </a:lnSpc>
              <a:spcBef>
                <a:spcPts val="700"/>
              </a:spcBef>
              <a:spcAft>
                <a:spcPts val="0"/>
              </a:spcAft>
              <a:buNone/>
            </a:pPr>
            <a:r>
              <a:rPr b="0" i="0" lang="en-US" sz="1600">
                <a:solidFill>
                  <a:srgbClr val="161D41"/>
                </a:solidFill>
                <a:latin typeface="Calibri"/>
                <a:ea typeface="Calibri"/>
                <a:cs typeface="Calibri"/>
                <a:sym typeface="Calibri"/>
              </a:rPr>
              <a:t>It sees the words, and sometimes the maps. It cannot ask a clarification question and it cannot repair.</a:t>
            </a:r>
            <a:endParaRPr/>
          </a:p>
          <a:p>
            <a:pPr indent="0" lvl="0" marL="0" marR="0" rtl="0" algn="l">
              <a:spcBef>
                <a:spcPts val="900"/>
              </a:spcBef>
              <a:spcAft>
                <a:spcPts val="0"/>
              </a:spcAft>
              <a:buNone/>
            </a:pPr>
            <a:r>
              <a:rPr b="0" i="1" lang="en-US" sz="1400">
                <a:solidFill>
                  <a:srgbClr val="5F6070"/>
                </a:solidFill>
                <a:latin typeface="Calibri"/>
                <a:ea typeface="Calibri"/>
                <a:cs typeface="Calibri"/>
                <a:sym typeface="Calibri"/>
              </a:rPr>
              <a:t>Overhearers overestimate their own understanding (Schober &amp; Clark 1989).</a:t>
            </a:r>
            <a:endParaRPr/>
          </a:p>
        </p:txBody>
      </p:sp>
      <p:sp>
        <p:nvSpPr>
          <p:cNvPr id="128" name="Google Shape;128;p2"/>
          <p:cNvSpPr/>
          <p:nvPr/>
        </p:nvSpPr>
        <p:spPr>
          <a:xfrm>
            <a:off x="566928" y="4828032"/>
            <a:ext cx="11057839" cy="841248"/>
          </a:xfrm>
          <a:prstGeom prst="roundRect">
            <a:avLst>
              <a:gd fmla="val 7000" name="adj"/>
            </a:avLst>
          </a:prstGeom>
          <a:solidFill>
            <a:srgbClr val="FFF6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2"/>
          <p:cNvSpPr txBox="1"/>
          <p:nvPr/>
        </p:nvSpPr>
        <p:spPr>
          <a:xfrm>
            <a:off x="859536" y="4956048"/>
            <a:ext cx="10472623" cy="60350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a:solidFill>
                  <a:srgbClr val="161D41"/>
                </a:solidFill>
                <a:latin typeface="Calibri"/>
                <a:ea typeface="Calibri"/>
                <a:cs typeface="Calibri"/>
                <a:sym typeface="Calibri"/>
              </a:rPr>
              <a:t>Can a vision-language model tell what could be shared from what has actually become shared?</a:t>
            </a:r>
            <a:endParaRPr/>
          </a:p>
        </p:txBody>
      </p:sp>
      <p:sp>
        <p:nvSpPr>
          <p:cNvPr id="130" name="Google Shape;130;p2"/>
          <p:cNvSpPr txBox="1"/>
          <p:nvPr/>
        </p:nvSpPr>
        <p:spPr>
          <a:xfrm>
            <a:off x="566928" y="5897880"/>
            <a:ext cx="10234879" cy="731519"/>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400">
                <a:solidFill>
                  <a:srgbClr val="5F6070"/>
                </a:solidFill>
                <a:latin typeface="Calibri"/>
                <a:ea typeface="Calibri"/>
                <a:cs typeface="Calibri"/>
                <a:sym typeface="Calibri"/>
              </a:rPr>
              <a:t>This is the question the paper operationalises — and asymmetric dialogue is where the two come apart most cleanly.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
          <p:cNvSpPr txBox="1"/>
          <p:nvPr/>
        </p:nvSpPr>
        <p:spPr>
          <a:xfrm>
            <a:off x="566928" y="365760"/>
            <a:ext cx="11057839"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TESTBED</a:t>
            </a:r>
            <a:endParaRPr/>
          </a:p>
        </p:txBody>
      </p:sp>
      <p:sp>
        <p:nvSpPr>
          <p:cNvPr id="137" name="Google Shape;137;p3"/>
          <p:cNvSpPr txBox="1"/>
          <p:nvPr/>
        </p:nvSpPr>
        <p:spPr>
          <a:xfrm>
            <a:off x="566928" y="694944"/>
            <a:ext cx="11057839"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61D41"/>
                </a:solidFill>
                <a:latin typeface="Calibri"/>
                <a:ea typeface="Calibri"/>
                <a:cs typeface="Calibri"/>
                <a:sym typeface="Calibri"/>
              </a:rPr>
              <a:t>MapTask: two private maps that differ by design</a:t>
            </a:r>
            <a:endParaRPr/>
          </a:p>
        </p:txBody>
      </p:sp>
      <p:sp>
        <p:nvSpPr>
          <p:cNvPr id="138" name="Google Shape;138;p3"/>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8A8A8A"/>
                </a:solidFill>
                <a:latin typeface="Calibri"/>
                <a:ea typeface="Calibri"/>
                <a:cs typeface="Calibri"/>
                <a:sym typeface="Calibri"/>
              </a:rPr>
              <a:t>3</a:t>
            </a:r>
            <a:endParaRPr/>
          </a:p>
        </p:txBody>
      </p:sp>
      <p:pic>
        <p:nvPicPr>
          <p:cNvPr descr="map0g.png" id="139" name="Google Shape;139;p3"/>
          <p:cNvPicPr preferRelativeResize="0"/>
          <p:nvPr/>
        </p:nvPicPr>
        <p:blipFill rotWithShape="1">
          <a:blip r:embed="rId3">
            <a:alphaModFix/>
          </a:blip>
          <a:srcRect b="0" l="0" r="0" t="0"/>
          <a:stretch/>
        </p:blipFill>
        <p:spPr>
          <a:xfrm>
            <a:off x="566928" y="1664208"/>
            <a:ext cx="3123091" cy="4041648"/>
          </a:xfrm>
          <a:prstGeom prst="rect">
            <a:avLst/>
          </a:prstGeom>
          <a:noFill/>
          <a:ln>
            <a:noFill/>
          </a:ln>
        </p:spPr>
      </p:pic>
      <p:sp>
        <p:nvSpPr>
          <p:cNvPr id="140" name="Google Shape;140;p3"/>
          <p:cNvSpPr/>
          <p:nvPr/>
        </p:nvSpPr>
        <p:spPr>
          <a:xfrm>
            <a:off x="4165507" y="1719072"/>
            <a:ext cx="146304" cy="146304"/>
          </a:xfrm>
          <a:prstGeom prst="rect">
            <a:avLst/>
          </a:prstGeom>
          <a:solidFill>
            <a:srgbClr val="FFCD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3"/>
          <p:cNvSpPr txBox="1"/>
          <p:nvPr/>
        </p:nvSpPr>
        <p:spPr>
          <a:xfrm>
            <a:off x="4476403" y="1627632"/>
            <a:ext cx="7148363" cy="566928"/>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1700">
                <a:solidFill>
                  <a:srgbClr val="161D41"/>
                </a:solidFill>
                <a:latin typeface="Calibri"/>
                <a:ea typeface="Calibri"/>
                <a:cs typeface="Calibri"/>
                <a:sym typeface="Calibri"/>
              </a:rPr>
              <a:t>Lexical variant — </a:t>
            </a:r>
            <a:r>
              <a:rPr b="0" i="0" lang="en-US" sz="1700">
                <a:solidFill>
                  <a:srgbClr val="161D41"/>
                </a:solidFill>
                <a:latin typeface="Calibri"/>
                <a:ea typeface="Calibri"/>
                <a:cs typeface="Calibri"/>
                <a:sym typeface="Calibri"/>
              </a:rPr>
              <a:t>the same landmark is named differently — “white water” vs. “rapids”</a:t>
            </a:r>
            <a:endParaRPr/>
          </a:p>
        </p:txBody>
      </p:sp>
      <p:sp>
        <p:nvSpPr>
          <p:cNvPr id="142" name="Google Shape;142;p3"/>
          <p:cNvSpPr/>
          <p:nvPr/>
        </p:nvSpPr>
        <p:spPr>
          <a:xfrm>
            <a:off x="4165507" y="2322576"/>
            <a:ext cx="146304" cy="146304"/>
          </a:xfrm>
          <a:prstGeom prst="rect">
            <a:avLst/>
          </a:prstGeom>
          <a:solidFill>
            <a:srgbClr val="FFCD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3"/>
          <p:cNvSpPr txBox="1"/>
          <p:nvPr/>
        </p:nvSpPr>
        <p:spPr>
          <a:xfrm>
            <a:off x="4476403" y="2231136"/>
            <a:ext cx="7148363" cy="566928"/>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1700">
                <a:solidFill>
                  <a:srgbClr val="161D41"/>
                </a:solidFill>
                <a:latin typeface="Calibri"/>
                <a:ea typeface="Calibri"/>
                <a:cs typeface="Calibri"/>
                <a:sym typeface="Calibri"/>
              </a:rPr>
              <a:t>Existence — </a:t>
            </a:r>
            <a:r>
              <a:rPr b="0" i="0" lang="en-US" sz="1700">
                <a:solidFill>
                  <a:srgbClr val="161D41"/>
                </a:solidFill>
                <a:latin typeface="Calibri"/>
                <a:ea typeface="Calibri"/>
                <a:cs typeface="Calibri"/>
                <a:sym typeface="Calibri"/>
              </a:rPr>
              <a:t>a landmark is on one participant's map only</a:t>
            </a:r>
            <a:endParaRPr/>
          </a:p>
        </p:txBody>
      </p:sp>
      <p:sp>
        <p:nvSpPr>
          <p:cNvPr id="144" name="Google Shape;144;p3"/>
          <p:cNvSpPr/>
          <p:nvPr/>
        </p:nvSpPr>
        <p:spPr>
          <a:xfrm>
            <a:off x="4165507" y="2926080"/>
            <a:ext cx="146304" cy="146304"/>
          </a:xfrm>
          <a:prstGeom prst="rect">
            <a:avLst/>
          </a:prstGeom>
          <a:solidFill>
            <a:srgbClr val="FFCD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3"/>
          <p:cNvSpPr txBox="1"/>
          <p:nvPr/>
        </p:nvSpPr>
        <p:spPr>
          <a:xfrm>
            <a:off x="4476403" y="2834640"/>
            <a:ext cx="7148363" cy="566928"/>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1700">
                <a:solidFill>
                  <a:srgbClr val="161D41"/>
                </a:solidFill>
                <a:latin typeface="Calibri"/>
                <a:ea typeface="Calibri"/>
                <a:cs typeface="Calibri"/>
                <a:sym typeface="Calibri"/>
              </a:rPr>
              <a:t>Multiplicity — </a:t>
            </a:r>
            <a:r>
              <a:rPr b="0" i="0" lang="en-US" sz="1700">
                <a:solidFill>
                  <a:srgbClr val="161D41"/>
                </a:solidFill>
                <a:latin typeface="Calibri"/>
                <a:ea typeface="Calibri"/>
                <a:cs typeface="Calibri"/>
                <a:sym typeface="Calibri"/>
              </a:rPr>
              <a:t>two parked vans on one map, one on the other</a:t>
            </a:r>
            <a:endParaRPr/>
          </a:p>
        </p:txBody>
      </p:sp>
      <p:sp>
        <p:nvSpPr>
          <p:cNvPr id="146" name="Google Shape;146;p3"/>
          <p:cNvSpPr/>
          <p:nvPr/>
        </p:nvSpPr>
        <p:spPr>
          <a:xfrm>
            <a:off x="4165507" y="3584448"/>
            <a:ext cx="7459259" cy="1170432"/>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3"/>
          <p:cNvSpPr txBox="1"/>
          <p:nvPr/>
        </p:nvSpPr>
        <p:spPr>
          <a:xfrm>
            <a:off x="4403251" y="3730752"/>
            <a:ext cx="6983771" cy="914400"/>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1" i="0" lang="en-US" sz="1700">
                <a:solidFill>
                  <a:srgbClr val="1F7A6B"/>
                </a:solidFill>
                <a:latin typeface="Calibri"/>
                <a:ea typeface="Calibri"/>
                <a:cs typeface="Calibri"/>
                <a:sym typeface="Calibri"/>
              </a:rPr>
              <a:t>Perspectivist annotation (Li et al., LREC 2026): </a:t>
            </a:r>
            <a:r>
              <a:rPr b="0" i="0" lang="en-US" sz="1700">
                <a:solidFill>
                  <a:srgbClr val="161D41"/>
                </a:solidFill>
                <a:latin typeface="Calibri"/>
                <a:ea typeface="Calibri"/>
                <a:cs typeface="Calibri"/>
                <a:sym typeface="Calibri"/>
              </a:rPr>
              <a:t>for every reference expression we know the giver's landmark and the follower's landmark, separately.</a:t>
            </a:r>
            <a:endParaRPr/>
          </a:p>
        </p:txBody>
      </p:sp>
      <p:sp>
        <p:nvSpPr>
          <p:cNvPr id="148" name="Google Shape;148;p3"/>
          <p:cNvSpPr txBox="1"/>
          <p:nvPr/>
        </p:nvSpPr>
        <p:spPr>
          <a:xfrm>
            <a:off x="4165507" y="4846320"/>
            <a:ext cx="7459259"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5F6070"/>
                </a:solidFill>
                <a:latin typeface="Calibri"/>
                <a:ea typeface="Calibri"/>
                <a:cs typeface="Calibri"/>
                <a:sym typeface="Calibri"/>
              </a:rPr>
              <a:t>GOLD UNDERSTANDING STATE</a:t>
            </a:r>
            <a:endParaRPr/>
          </a:p>
        </p:txBody>
      </p:sp>
      <p:sp>
        <p:nvSpPr>
          <p:cNvPr id="149" name="Google Shape;149;p3"/>
          <p:cNvSpPr/>
          <p:nvPr/>
        </p:nvSpPr>
        <p:spPr>
          <a:xfrm>
            <a:off x="4165507" y="5138928"/>
            <a:ext cx="5381824" cy="457200"/>
          </a:xfrm>
          <a:prstGeom prst="rect">
            <a:avLst/>
          </a:prstGeom>
          <a:solidFill>
            <a:srgbClr val="1F6A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3"/>
          <p:cNvSpPr/>
          <p:nvPr/>
        </p:nvSpPr>
        <p:spPr>
          <a:xfrm>
            <a:off x="9547331" y="5138928"/>
            <a:ext cx="1941107" cy="457200"/>
          </a:xfrm>
          <a:prstGeom prst="rect">
            <a:avLst/>
          </a:prstGeom>
          <a:solidFill>
            <a:srgbClr val="C009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3"/>
          <p:cNvSpPr/>
          <p:nvPr/>
        </p:nvSpPr>
        <p:spPr>
          <a:xfrm>
            <a:off x="11488439" y="5138928"/>
            <a:ext cx="136328" cy="457200"/>
          </a:xfrm>
          <a:prstGeom prst="rect">
            <a:avLst/>
          </a:prstGeom>
          <a:solidFill>
            <a:srgbClr val="7B52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3"/>
          <p:cNvSpPr/>
          <p:nvPr/>
        </p:nvSpPr>
        <p:spPr>
          <a:xfrm>
            <a:off x="4165507" y="5779008"/>
            <a:ext cx="155448" cy="155448"/>
          </a:xfrm>
          <a:prstGeom prst="rect">
            <a:avLst/>
          </a:prstGeom>
          <a:solidFill>
            <a:srgbClr val="1F6A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3"/>
          <p:cNvSpPr txBox="1"/>
          <p:nvPr/>
        </p:nvSpPr>
        <p:spPr>
          <a:xfrm>
            <a:off x="4439827" y="5724144"/>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1F6ABF"/>
                </a:solidFill>
                <a:latin typeface="Calibri"/>
                <a:ea typeface="Calibri"/>
                <a:cs typeface="Calibri"/>
                <a:sym typeface="Calibri"/>
              </a:rPr>
              <a:t>Aligned  </a:t>
            </a:r>
            <a:r>
              <a:rPr b="1" i="0" lang="en-US" sz="1500">
                <a:solidFill>
                  <a:srgbClr val="161D41"/>
                </a:solidFill>
                <a:latin typeface="Calibri"/>
                <a:ea typeface="Calibri"/>
                <a:cs typeface="Calibri"/>
                <a:sym typeface="Calibri"/>
              </a:rPr>
              <a:t>72.1%</a:t>
            </a:r>
            <a:r>
              <a:rPr b="0" i="0" lang="en-US" sz="1350">
                <a:solidFill>
                  <a:srgbClr val="5F6070"/>
                </a:solidFill>
                <a:latin typeface="Calibri"/>
                <a:ea typeface="Calibri"/>
                <a:cs typeface="Calibri"/>
                <a:sym typeface="Calibri"/>
              </a:rPr>
              <a:t>   n = 9,435</a:t>
            </a:r>
            <a:endParaRPr/>
          </a:p>
        </p:txBody>
      </p:sp>
      <p:sp>
        <p:nvSpPr>
          <p:cNvPr id="154" name="Google Shape;154;p3"/>
          <p:cNvSpPr/>
          <p:nvPr/>
        </p:nvSpPr>
        <p:spPr>
          <a:xfrm>
            <a:off x="6651927" y="5779008"/>
            <a:ext cx="155448" cy="155448"/>
          </a:xfrm>
          <a:prstGeom prst="rect">
            <a:avLst/>
          </a:prstGeom>
          <a:solidFill>
            <a:srgbClr val="C009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3"/>
          <p:cNvSpPr txBox="1"/>
          <p:nvPr/>
        </p:nvSpPr>
        <p:spPr>
          <a:xfrm>
            <a:off x="6926247" y="5724144"/>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C00935"/>
                </a:solidFill>
                <a:latin typeface="Calibri"/>
                <a:ea typeface="Calibri"/>
                <a:cs typeface="Calibri"/>
                <a:sym typeface="Calibri"/>
              </a:rPr>
              <a:t>Pending  </a:t>
            </a:r>
            <a:r>
              <a:rPr b="1" i="0" lang="en-US" sz="1500">
                <a:solidFill>
                  <a:srgbClr val="161D41"/>
                </a:solidFill>
                <a:latin typeface="Calibri"/>
                <a:ea typeface="Calibri"/>
                <a:cs typeface="Calibri"/>
                <a:sym typeface="Calibri"/>
              </a:rPr>
              <a:t>26.0%</a:t>
            </a:r>
            <a:r>
              <a:rPr b="0" i="0" lang="en-US" sz="1350">
                <a:solidFill>
                  <a:srgbClr val="5F6070"/>
                </a:solidFill>
                <a:latin typeface="Calibri"/>
                <a:ea typeface="Calibri"/>
                <a:cs typeface="Calibri"/>
                <a:sym typeface="Calibri"/>
              </a:rPr>
              <a:t>   n = 3,403</a:t>
            </a:r>
            <a:endParaRPr/>
          </a:p>
        </p:txBody>
      </p:sp>
      <p:sp>
        <p:nvSpPr>
          <p:cNvPr id="156" name="Google Shape;156;p3"/>
          <p:cNvSpPr/>
          <p:nvPr/>
        </p:nvSpPr>
        <p:spPr>
          <a:xfrm>
            <a:off x="9138347" y="5779008"/>
            <a:ext cx="155448" cy="155448"/>
          </a:xfrm>
          <a:prstGeom prst="rect">
            <a:avLst/>
          </a:prstGeom>
          <a:solidFill>
            <a:srgbClr val="7B52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3"/>
          <p:cNvSpPr txBox="1"/>
          <p:nvPr/>
        </p:nvSpPr>
        <p:spPr>
          <a:xfrm>
            <a:off x="9412667" y="5724144"/>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7B52C7"/>
                </a:solidFill>
                <a:latin typeface="Calibri"/>
                <a:ea typeface="Calibri"/>
                <a:cs typeface="Calibri"/>
                <a:sym typeface="Calibri"/>
              </a:rPr>
              <a:t>Misunderstood  </a:t>
            </a:r>
            <a:r>
              <a:rPr b="1" i="0" lang="en-US" sz="1500">
                <a:solidFill>
                  <a:srgbClr val="161D41"/>
                </a:solidFill>
                <a:latin typeface="Calibri"/>
                <a:ea typeface="Calibri"/>
                <a:cs typeface="Calibri"/>
                <a:sym typeface="Calibri"/>
              </a:rPr>
              <a:t>1.8%</a:t>
            </a:r>
            <a:r>
              <a:rPr b="0" i="0" lang="en-US" sz="1350">
                <a:solidFill>
                  <a:srgbClr val="5F6070"/>
                </a:solidFill>
                <a:latin typeface="Calibri"/>
                <a:ea typeface="Calibri"/>
                <a:cs typeface="Calibri"/>
                <a:sym typeface="Calibri"/>
              </a:rPr>
              <a:t>   n = 239</a:t>
            </a:r>
            <a:endParaRPr/>
          </a:p>
        </p:txBody>
      </p:sp>
      <p:sp>
        <p:nvSpPr>
          <p:cNvPr id="158" name="Google Shape;158;p3"/>
          <p:cNvSpPr txBox="1"/>
          <p:nvPr/>
        </p:nvSpPr>
        <p:spPr>
          <a:xfrm>
            <a:off x="566928" y="6199632"/>
            <a:ext cx="10234879" cy="429767"/>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400">
                <a:solidFill>
                  <a:srgbClr val="5F6070"/>
                </a:solidFill>
                <a:latin typeface="Calibri"/>
                <a:ea typeface="Calibri"/>
                <a:cs typeface="Calibri"/>
                <a:sym typeface="Calibri"/>
              </a:rPr>
              <a:t>13,077 reference expressions · 128 dialogues · 16 map pairs. HCRC MapTask (Anderson et al., 1991); GMMT annotation, Li et al., LREC 2026.</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4"/>
          <p:cNvSpPr txBox="1"/>
          <p:nvPr/>
        </p:nvSpPr>
        <p:spPr>
          <a:xfrm>
            <a:off x="566928" y="365760"/>
            <a:ext cx="11057839"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THE TASK</a:t>
            </a:r>
            <a:endParaRPr/>
          </a:p>
        </p:txBody>
      </p:sp>
      <p:sp>
        <p:nvSpPr>
          <p:cNvPr id="165" name="Google Shape;165;p4"/>
          <p:cNvSpPr txBox="1"/>
          <p:nvPr/>
        </p:nvSpPr>
        <p:spPr>
          <a:xfrm>
            <a:off x="566928" y="694944"/>
            <a:ext cx="11057839"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700">
                <a:solidFill>
                  <a:srgbClr val="161D41"/>
                </a:solidFill>
                <a:latin typeface="Calibri"/>
                <a:ea typeface="Calibri"/>
                <a:cs typeface="Calibri"/>
                <a:sym typeface="Calibri"/>
              </a:rPr>
              <a:t>Interpretation matching: do both participants mean the same landmark?</a:t>
            </a:r>
            <a:endParaRPr/>
          </a:p>
        </p:txBody>
      </p:sp>
      <p:sp>
        <p:nvSpPr>
          <p:cNvPr id="166" name="Google Shape;166;p4"/>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8A8A8A"/>
                </a:solidFill>
                <a:latin typeface="Calibri"/>
                <a:ea typeface="Calibri"/>
                <a:cs typeface="Calibri"/>
                <a:sym typeface="Calibri"/>
              </a:rPr>
              <a:t>4</a:t>
            </a:r>
            <a:endParaRPr/>
          </a:p>
        </p:txBody>
      </p:sp>
      <p:pic>
        <p:nvPicPr>
          <p:cNvPr descr="task_demo-1.png" id="167" name="Google Shape;167;p4"/>
          <p:cNvPicPr preferRelativeResize="0"/>
          <p:nvPr/>
        </p:nvPicPr>
        <p:blipFill rotWithShape="1">
          <a:blip r:embed="rId3">
            <a:alphaModFix/>
          </a:blip>
          <a:srcRect b="0" l="0" r="0" t="0"/>
          <a:stretch/>
        </p:blipFill>
        <p:spPr>
          <a:xfrm>
            <a:off x="563727" y="1572768"/>
            <a:ext cx="11064240" cy="4356430"/>
          </a:xfrm>
          <a:prstGeom prst="rect">
            <a:avLst/>
          </a:prstGeom>
          <a:noFill/>
          <a:ln>
            <a:noFill/>
          </a:ln>
        </p:spPr>
      </p:pic>
      <p:sp>
        <p:nvSpPr>
          <p:cNvPr id="168" name="Google Shape;168;p4"/>
          <p:cNvSpPr txBox="1"/>
          <p:nvPr/>
        </p:nvSpPr>
        <p:spPr>
          <a:xfrm>
            <a:off x="566928" y="6053328"/>
            <a:ext cx="10234879" cy="576071"/>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400">
                <a:solidFill>
                  <a:srgbClr val="5F6070"/>
                </a:solidFill>
                <a:latin typeface="Calibri"/>
                <a:ea typeface="Calibri"/>
                <a:cs typeface="Calibri"/>
                <a:sym typeface="Calibri"/>
              </a:rPr>
              <a:t>The model is an overhearer: it observes the evidence but cannot ask or repair. Gold label here is NO — and NO covers two cases: grounding is still pending, or it happened but to different landmarks.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5"/>
          <p:cNvSpPr txBox="1"/>
          <p:nvPr/>
        </p:nvSpPr>
        <p:spPr>
          <a:xfrm>
            <a:off x="566928" y="365760"/>
            <a:ext cx="11057839"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DESIGN</a:t>
            </a:r>
            <a:endParaRPr/>
          </a:p>
        </p:txBody>
      </p:sp>
      <p:sp>
        <p:nvSpPr>
          <p:cNvPr id="175" name="Google Shape;175;p5"/>
          <p:cNvSpPr txBox="1"/>
          <p:nvPr/>
        </p:nvSpPr>
        <p:spPr>
          <a:xfrm>
            <a:off x="566928" y="694944"/>
            <a:ext cx="11057839"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61D41"/>
                </a:solidFill>
                <a:latin typeface="Calibri"/>
                <a:ea typeface="Calibri"/>
                <a:cs typeface="Calibri"/>
                <a:sym typeface="Calibri"/>
              </a:rPr>
              <a:t>Two independent variables, fully crossed, zero-shot</a:t>
            </a:r>
            <a:endParaRPr/>
          </a:p>
        </p:txBody>
      </p:sp>
      <p:sp>
        <p:nvSpPr>
          <p:cNvPr id="176" name="Google Shape;176;p5"/>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8A8A8A"/>
                </a:solidFill>
                <a:latin typeface="Calibri"/>
                <a:ea typeface="Calibri"/>
                <a:cs typeface="Calibri"/>
                <a:sym typeface="Calibri"/>
              </a:rPr>
              <a:t>5</a:t>
            </a:r>
            <a:endParaRPr/>
          </a:p>
        </p:txBody>
      </p:sp>
      <p:sp>
        <p:nvSpPr>
          <p:cNvPr id="177" name="Google Shape;177;p5"/>
          <p:cNvSpPr/>
          <p:nvPr/>
        </p:nvSpPr>
        <p:spPr>
          <a:xfrm>
            <a:off x="566928" y="1664208"/>
            <a:ext cx="4736592" cy="1783080"/>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5"/>
          <p:cNvSpPr txBox="1"/>
          <p:nvPr/>
        </p:nvSpPr>
        <p:spPr>
          <a:xfrm>
            <a:off x="804672" y="1865376"/>
            <a:ext cx="4261104" cy="13807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F6ABF"/>
                </a:solidFill>
                <a:latin typeface="Calibri"/>
                <a:ea typeface="Calibri"/>
                <a:cs typeface="Calibri"/>
                <a:sym typeface="Calibri"/>
              </a:rPr>
              <a:t>1 · DIALOGUE CONTEXT</a:t>
            </a:r>
            <a:endParaRPr/>
          </a:p>
          <a:p>
            <a:pPr indent="0" lvl="0" marL="0" marR="0" rtl="0" algn="l">
              <a:lnSpc>
                <a:spcPct val="102000"/>
              </a:lnSpc>
              <a:spcBef>
                <a:spcPts val="700"/>
              </a:spcBef>
              <a:spcAft>
                <a:spcPts val="0"/>
              </a:spcAft>
              <a:buNone/>
            </a:pPr>
            <a:r>
              <a:rPr b="0" i="0" lang="en-US" sz="1600">
                <a:solidFill>
                  <a:srgbClr val="161D41"/>
                </a:solidFill>
                <a:latin typeface="Calibri"/>
                <a:ea typeface="Calibri"/>
                <a:cs typeface="Calibri"/>
                <a:sym typeface="Calibri"/>
              </a:rPr>
              <a:t>Four windows, from the current transaction up to the target line (curL) to the whole dialogue through the end of that transaction (startT).</a:t>
            </a:r>
            <a:endParaRPr/>
          </a:p>
          <a:p>
            <a:pPr indent="0" lvl="0" marL="0" marR="0" rtl="0" algn="l">
              <a:spcBef>
                <a:spcPts val="800"/>
              </a:spcBef>
              <a:spcAft>
                <a:spcPts val="0"/>
              </a:spcAft>
              <a:buNone/>
            </a:pPr>
            <a:r>
              <a:rPr b="0" i="1" lang="en-US" sz="1500">
                <a:solidFill>
                  <a:srgbClr val="5F6070"/>
                </a:solidFill>
                <a:latin typeface="Calibri"/>
                <a:ea typeface="Calibri"/>
                <a:cs typeface="Calibri"/>
                <a:sym typeface="Calibri"/>
              </a:rPr>
              <a:t>Later turns carry confirmation and repair.</a:t>
            </a:r>
            <a:endParaRPr/>
          </a:p>
        </p:txBody>
      </p:sp>
      <p:sp>
        <p:nvSpPr>
          <p:cNvPr id="179" name="Google Shape;179;p5"/>
          <p:cNvSpPr/>
          <p:nvPr/>
        </p:nvSpPr>
        <p:spPr>
          <a:xfrm>
            <a:off x="566928" y="3602736"/>
            <a:ext cx="4736592" cy="2212848"/>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5"/>
          <p:cNvSpPr txBox="1"/>
          <p:nvPr/>
        </p:nvSpPr>
        <p:spPr>
          <a:xfrm>
            <a:off x="804672" y="3803904"/>
            <a:ext cx="4261104" cy="181051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F7A6B"/>
                </a:solidFill>
                <a:latin typeface="Calibri"/>
                <a:ea typeface="Calibri"/>
                <a:cs typeface="Calibri"/>
                <a:sym typeface="Calibri"/>
              </a:rPr>
              <a:t>2 · MAP INFORMATION</a:t>
            </a:r>
            <a:endParaRPr/>
          </a:p>
          <a:p>
            <a:pPr indent="0" lvl="0" marL="0" marR="0" rtl="0" algn="l">
              <a:lnSpc>
                <a:spcPct val="102000"/>
              </a:lnSpc>
              <a:spcBef>
                <a:spcPts val="700"/>
              </a:spcBef>
              <a:spcAft>
                <a:spcPts val="0"/>
              </a:spcAft>
              <a:buNone/>
            </a:pPr>
            <a:r>
              <a:rPr b="0" i="0" lang="en-US" sz="1600">
                <a:solidFill>
                  <a:srgbClr val="161D41"/>
                </a:solidFill>
                <a:latin typeface="Calibri"/>
                <a:ea typeface="Calibri"/>
                <a:cs typeface="Calibri"/>
                <a:sym typeface="Calibri"/>
              </a:rPr>
              <a:t>Authentic maps (both / giver / follower); the same content delivered as text (landmark names, discrepancy descriptions); two content-free visual controls (blank grey, shuffled maps).</a:t>
            </a:r>
            <a:endParaRPr/>
          </a:p>
          <a:p>
            <a:pPr indent="0" lvl="0" marL="0" marR="0" rtl="0" algn="l">
              <a:spcBef>
                <a:spcPts val="800"/>
              </a:spcBef>
              <a:spcAft>
                <a:spcPts val="0"/>
              </a:spcAft>
              <a:buNone/>
            </a:pPr>
            <a:r>
              <a:rPr b="0" i="1" lang="en-US" sz="1500">
                <a:solidFill>
                  <a:srgbClr val="5F6070"/>
                </a:solidFill>
                <a:latin typeface="Calibri"/>
                <a:ea typeface="Calibri"/>
                <a:cs typeface="Calibri"/>
                <a:sym typeface="Calibri"/>
              </a:rPr>
              <a:t>The controls are what separate content from channel.</a:t>
            </a:r>
            <a:endParaRPr/>
          </a:p>
        </p:txBody>
      </p:sp>
      <p:pic>
        <p:nvPicPr>
          <p:cNvPr descr="chart_design_grid.png" id="181" name="Google Shape;181;p5"/>
          <p:cNvPicPr preferRelativeResize="0"/>
          <p:nvPr/>
        </p:nvPicPr>
        <p:blipFill rotWithShape="1">
          <a:blip r:embed="rId3">
            <a:alphaModFix/>
          </a:blip>
          <a:srcRect b="0" l="0" r="0" t="0"/>
          <a:stretch/>
        </p:blipFill>
        <p:spPr>
          <a:xfrm>
            <a:off x="5687568" y="1792224"/>
            <a:ext cx="5937199" cy="3358373"/>
          </a:xfrm>
          <a:prstGeom prst="rect">
            <a:avLst/>
          </a:prstGeom>
          <a:noFill/>
          <a:ln>
            <a:noFill/>
          </a:ln>
        </p:spPr>
      </p:pic>
      <p:sp>
        <p:nvSpPr>
          <p:cNvPr id="182" name="Google Shape;182;p5"/>
          <p:cNvSpPr txBox="1"/>
          <p:nvPr/>
        </p:nvSpPr>
        <p:spPr>
          <a:xfrm>
            <a:off x="566928" y="5897880"/>
            <a:ext cx="10234879" cy="731519"/>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400">
                <a:solidFill>
                  <a:srgbClr val="5F6070"/>
                </a:solidFill>
                <a:latin typeface="Calibri"/>
                <a:ea typeface="Calibri"/>
                <a:cs typeface="Calibri"/>
                <a:sym typeface="Calibri"/>
              </a:rPr>
              <a:t>Five open VLMs: Qwen3-VL 2B / 4B / 8B and Gemma-3 4B / 12B. Qwen3-VL-8B runs the full grid; the other four run the four baseline map conditions, also across all four windows.</a:t>
            </a:r>
            <a:endParaRPr/>
          </a:p>
          <a:p>
            <a:pPr indent="0" lvl="0" marL="0" marR="0" rtl="0" algn="l">
              <a:lnSpc>
                <a:spcPct val="105000"/>
              </a:lnSpc>
              <a:spcBef>
                <a:spcPts val="300"/>
              </a:spcBef>
              <a:spcAft>
                <a:spcPts val="0"/>
              </a:spcAft>
              <a:buNone/>
            </a:pPr>
            <a:r>
              <a:rPr b="0" i="0" lang="en-US" sz="1400">
                <a:solidFill>
                  <a:srgbClr val="5F6070"/>
                </a:solidFill>
                <a:latin typeface="Calibri"/>
                <a:ea typeface="Calibri"/>
                <a:cs typeface="Calibri"/>
                <a:sym typeface="Calibri"/>
              </a:rPr>
              <a:t>Decoding is constrained to a single YES / NO token — so the token probability is directly the model's confidence.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6"/>
          <p:cNvSpPr txBox="1"/>
          <p:nvPr/>
        </p:nvSpPr>
        <p:spPr>
          <a:xfrm>
            <a:off x="566928" y="365760"/>
            <a:ext cx="11057839"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FINDING 1</a:t>
            </a:r>
            <a:endParaRPr/>
          </a:p>
        </p:txBody>
      </p:sp>
      <p:sp>
        <p:nvSpPr>
          <p:cNvPr id="189" name="Google Shape;189;p6"/>
          <p:cNvSpPr txBox="1"/>
          <p:nvPr/>
        </p:nvSpPr>
        <p:spPr>
          <a:xfrm>
            <a:off x="566928" y="694944"/>
            <a:ext cx="11057839"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61D41"/>
                </a:solidFill>
                <a:latin typeface="Calibri"/>
                <a:ea typeface="Calibri"/>
                <a:cs typeface="Calibri"/>
                <a:sym typeface="Calibri"/>
              </a:rPr>
              <a:t>Maps help — by pushing the model toward YES</a:t>
            </a:r>
            <a:endParaRPr/>
          </a:p>
        </p:txBody>
      </p:sp>
      <p:sp>
        <p:nvSpPr>
          <p:cNvPr id="190" name="Google Shape;190;p6"/>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8A8A8A"/>
                </a:solidFill>
                <a:latin typeface="Calibri"/>
                <a:ea typeface="Calibri"/>
                <a:cs typeface="Calibri"/>
                <a:sym typeface="Calibri"/>
              </a:rPr>
              <a:t>6</a:t>
            </a:r>
            <a:endParaRPr/>
          </a:p>
        </p:txBody>
      </p:sp>
      <p:sp>
        <p:nvSpPr>
          <p:cNvPr id="191" name="Google Shape;191;p6"/>
          <p:cNvSpPr/>
          <p:nvPr/>
        </p:nvSpPr>
        <p:spPr>
          <a:xfrm>
            <a:off x="566928" y="1627632"/>
            <a:ext cx="2615184" cy="1225296"/>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6"/>
          <p:cNvSpPr txBox="1"/>
          <p:nvPr/>
        </p:nvSpPr>
        <p:spPr>
          <a:xfrm>
            <a:off x="749808" y="1792224"/>
            <a:ext cx="2249424"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5F6070"/>
                </a:solidFill>
                <a:latin typeface="Calibri"/>
                <a:ea typeface="Calibri"/>
                <a:cs typeface="Calibri"/>
                <a:sym typeface="Calibri"/>
              </a:rPr>
              <a:t>MACRO-F1</a:t>
            </a:r>
            <a:endParaRPr/>
          </a:p>
        </p:txBody>
      </p:sp>
      <p:sp>
        <p:nvSpPr>
          <p:cNvPr id="193" name="Google Shape;193;p6"/>
          <p:cNvSpPr txBox="1"/>
          <p:nvPr/>
        </p:nvSpPr>
        <p:spPr>
          <a:xfrm>
            <a:off x="749808" y="2139696"/>
            <a:ext cx="2249424" cy="56692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a:solidFill>
                  <a:srgbClr val="8A8A8A"/>
                </a:solidFill>
                <a:latin typeface="Calibri"/>
                <a:ea typeface="Calibri"/>
                <a:cs typeface="Calibri"/>
                <a:sym typeface="Calibri"/>
              </a:rPr>
              <a:t>.591</a:t>
            </a:r>
            <a:r>
              <a:rPr b="1" i="0" lang="en-US" sz="2200">
                <a:solidFill>
                  <a:srgbClr val="5F6070"/>
                </a:solidFill>
                <a:latin typeface="Calibri"/>
                <a:ea typeface="Calibri"/>
                <a:cs typeface="Calibri"/>
                <a:sym typeface="Calibri"/>
              </a:rPr>
              <a:t>  →  </a:t>
            </a:r>
            <a:r>
              <a:rPr b="1" i="0" lang="en-US" sz="3200">
                <a:solidFill>
                  <a:srgbClr val="1F6ABF"/>
                </a:solidFill>
                <a:latin typeface="Calibri"/>
                <a:ea typeface="Calibri"/>
                <a:cs typeface="Calibri"/>
                <a:sym typeface="Calibri"/>
              </a:rPr>
              <a:t>.671</a:t>
            </a:r>
            <a:endParaRPr/>
          </a:p>
        </p:txBody>
      </p:sp>
      <p:sp>
        <p:nvSpPr>
          <p:cNvPr id="194" name="Google Shape;194;p6"/>
          <p:cNvSpPr/>
          <p:nvPr/>
        </p:nvSpPr>
        <p:spPr>
          <a:xfrm>
            <a:off x="3364992" y="1627632"/>
            <a:ext cx="2615184" cy="1225296"/>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6"/>
          <p:cNvSpPr txBox="1"/>
          <p:nvPr/>
        </p:nvSpPr>
        <p:spPr>
          <a:xfrm>
            <a:off x="3547872" y="1792224"/>
            <a:ext cx="2249424"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5F6070"/>
                </a:solidFill>
                <a:latin typeface="Calibri"/>
                <a:ea typeface="Calibri"/>
                <a:cs typeface="Calibri"/>
                <a:sym typeface="Calibri"/>
              </a:rPr>
              <a:t>RECALL · ALIGNED</a:t>
            </a:r>
            <a:endParaRPr/>
          </a:p>
        </p:txBody>
      </p:sp>
      <p:sp>
        <p:nvSpPr>
          <p:cNvPr id="196" name="Google Shape;196;p6"/>
          <p:cNvSpPr txBox="1"/>
          <p:nvPr/>
        </p:nvSpPr>
        <p:spPr>
          <a:xfrm>
            <a:off x="3547872" y="2139696"/>
            <a:ext cx="2249424" cy="56692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a:solidFill>
                  <a:srgbClr val="8A8A8A"/>
                </a:solidFill>
                <a:latin typeface="Calibri"/>
                <a:ea typeface="Calibri"/>
                <a:cs typeface="Calibri"/>
                <a:sym typeface="Calibri"/>
              </a:rPr>
              <a:t>.590</a:t>
            </a:r>
            <a:r>
              <a:rPr b="1" i="0" lang="en-US" sz="2200">
                <a:solidFill>
                  <a:srgbClr val="5F6070"/>
                </a:solidFill>
                <a:latin typeface="Calibri"/>
                <a:ea typeface="Calibri"/>
                <a:cs typeface="Calibri"/>
                <a:sym typeface="Calibri"/>
              </a:rPr>
              <a:t>  →  </a:t>
            </a:r>
            <a:r>
              <a:rPr b="1" i="0" lang="en-US" sz="3200">
                <a:solidFill>
                  <a:srgbClr val="1F6ABF"/>
                </a:solidFill>
                <a:latin typeface="Calibri"/>
                <a:ea typeface="Calibri"/>
                <a:cs typeface="Calibri"/>
                <a:sym typeface="Calibri"/>
              </a:rPr>
              <a:t>.822</a:t>
            </a:r>
            <a:endParaRPr/>
          </a:p>
        </p:txBody>
      </p:sp>
      <p:sp>
        <p:nvSpPr>
          <p:cNvPr id="197" name="Google Shape;197;p6"/>
          <p:cNvSpPr/>
          <p:nvPr/>
        </p:nvSpPr>
        <p:spPr>
          <a:xfrm>
            <a:off x="6163056" y="1627632"/>
            <a:ext cx="2615184" cy="1225296"/>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6"/>
          <p:cNvSpPr txBox="1"/>
          <p:nvPr/>
        </p:nvSpPr>
        <p:spPr>
          <a:xfrm>
            <a:off x="6345936" y="1792224"/>
            <a:ext cx="2249424"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5F6070"/>
                </a:solidFill>
                <a:latin typeface="Calibri"/>
                <a:ea typeface="Calibri"/>
                <a:cs typeface="Calibri"/>
                <a:sym typeface="Calibri"/>
              </a:rPr>
              <a:t>RECALL · NOT ALIGNED</a:t>
            </a:r>
            <a:endParaRPr/>
          </a:p>
        </p:txBody>
      </p:sp>
      <p:sp>
        <p:nvSpPr>
          <p:cNvPr id="199" name="Google Shape;199;p6"/>
          <p:cNvSpPr txBox="1"/>
          <p:nvPr/>
        </p:nvSpPr>
        <p:spPr>
          <a:xfrm>
            <a:off x="6345936" y="2139696"/>
            <a:ext cx="2249424" cy="56692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a:solidFill>
                  <a:srgbClr val="8A8A8A"/>
                </a:solidFill>
                <a:latin typeface="Calibri"/>
                <a:ea typeface="Calibri"/>
                <a:cs typeface="Calibri"/>
                <a:sym typeface="Calibri"/>
              </a:rPr>
              <a:t>.677</a:t>
            </a:r>
            <a:r>
              <a:rPr b="1" i="0" lang="en-US" sz="2200">
                <a:solidFill>
                  <a:srgbClr val="5F6070"/>
                </a:solidFill>
                <a:latin typeface="Calibri"/>
                <a:ea typeface="Calibri"/>
                <a:cs typeface="Calibri"/>
                <a:sym typeface="Calibri"/>
              </a:rPr>
              <a:t>  →  </a:t>
            </a:r>
            <a:r>
              <a:rPr b="1" i="0" lang="en-US" sz="3200">
                <a:solidFill>
                  <a:srgbClr val="C00935"/>
                </a:solidFill>
                <a:latin typeface="Calibri"/>
                <a:ea typeface="Calibri"/>
                <a:cs typeface="Calibri"/>
                <a:sym typeface="Calibri"/>
              </a:rPr>
              <a:t>.518</a:t>
            </a:r>
            <a:endParaRPr/>
          </a:p>
        </p:txBody>
      </p:sp>
      <p:sp>
        <p:nvSpPr>
          <p:cNvPr id="200" name="Google Shape;200;p6"/>
          <p:cNvSpPr/>
          <p:nvPr/>
        </p:nvSpPr>
        <p:spPr>
          <a:xfrm>
            <a:off x="8961119" y="1627632"/>
            <a:ext cx="2615184" cy="1225296"/>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6"/>
          <p:cNvSpPr txBox="1"/>
          <p:nvPr/>
        </p:nvSpPr>
        <p:spPr>
          <a:xfrm>
            <a:off x="9143999" y="1792224"/>
            <a:ext cx="2249424"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5F6070"/>
                </a:solidFill>
                <a:latin typeface="Calibri"/>
                <a:ea typeface="Calibri"/>
                <a:cs typeface="Calibri"/>
                <a:sym typeface="Calibri"/>
              </a:rPr>
              <a:t>YES-RATE</a:t>
            </a:r>
            <a:endParaRPr/>
          </a:p>
        </p:txBody>
      </p:sp>
      <p:sp>
        <p:nvSpPr>
          <p:cNvPr id="202" name="Google Shape;202;p6"/>
          <p:cNvSpPr txBox="1"/>
          <p:nvPr/>
        </p:nvSpPr>
        <p:spPr>
          <a:xfrm>
            <a:off x="9143999" y="2139696"/>
            <a:ext cx="2249424" cy="56692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a:solidFill>
                  <a:srgbClr val="8A8A8A"/>
                </a:solidFill>
                <a:latin typeface="Calibri"/>
                <a:ea typeface="Calibri"/>
                <a:cs typeface="Calibri"/>
                <a:sym typeface="Calibri"/>
              </a:rPr>
              <a:t>.515</a:t>
            </a:r>
            <a:r>
              <a:rPr b="1" i="0" lang="en-US" sz="2200">
                <a:solidFill>
                  <a:srgbClr val="5F6070"/>
                </a:solidFill>
                <a:latin typeface="Calibri"/>
                <a:ea typeface="Calibri"/>
                <a:cs typeface="Calibri"/>
                <a:sym typeface="Calibri"/>
              </a:rPr>
              <a:t>  →  </a:t>
            </a:r>
            <a:r>
              <a:rPr b="1" i="0" lang="en-US" sz="3200">
                <a:solidFill>
                  <a:srgbClr val="C00935"/>
                </a:solidFill>
                <a:latin typeface="Calibri"/>
                <a:ea typeface="Calibri"/>
                <a:cs typeface="Calibri"/>
                <a:sym typeface="Calibri"/>
              </a:rPr>
              <a:t>.727</a:t>
            </a:r>
            <a:endParaRPr/>
          </a:p>
        </p:txBody>
      </p:sp>
      <p:pic>
        <p:nvPicPr>
          <p:cNvPr descr="chart_recall_tradeoff.png" id="203" name="Google Shape;203;p6"/>
          <p:cNvPicPr preferRelativeResize="0"/>
          <p:nvPr/>
        </p:nvPicPr>
        <p:blipFill rotWithShape="1">
          <a:blip r:embed="rId3">
            <a:alphaModFix/>
          </a:blip>
          <a:srcRect b="0" l="0" r="0" t="0"/>
          <a:stretch/>
        </p:blipFill>
        <p:spPr>
          <a:xfrm>
            <a:off x="975207" y="2962656"/>
            <a:ext cx="10241280" cy="2990436"/>
          </a:xfrm>
          <a:prstGeom prst="rect">
            <a:avLst/>
          </a:prstGeom>
          <a:noFill/>
          <a:ln>
            <a:noFill/>
          </a:ln>
        </p:spPr>
      </p:pic>
      <p:sp>
        <p:nvSpPr>
          <p:cNvPr id="204" name="Google Shape;204;p6"/>
          <p:cNvSpPr txBox="1"/>
          <p:nvPr/>
        </p:nvSpPr>
        <p:spPr>
          <a:xfrm>
            <a:off x="566928" y="6035040"/>
            <a:ext cx="10234879" cy="59436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400">
                <a:solidFill>
                  <a:srgbClr val="5F6070"/>
                </a:solidFill>
                <a:latin typeface="Calibri"/>
                <a:ea typeface="Calibri"/>
                <a:cs typeface="Calibri"/>
                <a:sym typeface="Calibri"/>
              </a:rPr>
              <a:t>Qwen3-VL-8B at startT. The gold aligned rate is .721 — the yes-rate alone is not the test; the direction of the recall trade-off is.</a:t>
            </a:r>
            <a:endParaRPr/>
          </a:p>
          <a:p>
            <a:pPr indent="0" lvl="0" marL="0" marR="0" rtl="0" algn="l">
              <a:lnSpc>
                <a:spcPct val="105000"/>
              </a:lnSpc>
              <a:spcBef>
                <a:spcPts val="300"/>
              </a:spcBef>
              <a:spcAft>
                <a:spcPts val="0"/>
              </a:spcAft>
              <a:buNone/>
            </a:pPr>
            <a:r>
              <a:rPr b="0" i="0" lang="en-US" sz="1400">
                <a:solidFill>
                  <a:srgbClr val="5F6070"/>
                </a:solidFill>
                <a:latin typeface="Calibri"/>
                <a:ea typeface="Calibri"/>
                <a:cs typeface="Calibri"/>
                <a:sym typeface="Calibri"/>
              </a:rPr>
              <a:t>Either single map triggers it more strongly; both maps moderate it, via cross-map discrepancy evidence.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7"/>
          <p:cNvSpPr txBox="1"/>
          <p:nvPr/>
        </p:nvSpPr>
        <p:spPr>
          <a:xfrm>
            <a:off x="566928" y="365760"/>
            <a:ext cx="11057839"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FINDING 2</a:t>
            </a:r>
            <a:endParaRPr/>
          </a:p>
        </p:txBody>
      </p:sp>
      <p:sp>
        <p:nvSpPr>
          <p:cNvPr id="211" name="Google Shape;211;p7"/>
          <p:cNvSpPr txBox="1"/>
          <p:nvPr/>
        </p:nvSpPr>
        <p:spPr>
          <a:xfrm>
            <a:off x="566928" y="694944"/>
            <a:ext cx="11057839"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61D41"/>
                </a:solidFill>
                <a:latin typeface="Calibri"/>
                <a:ea typeface="Calibri"/>
                <a:cs typeface="Calibri"/>
                <a:sym typeface="Calibri"/>
              </a:rPr>
              <a:t>The bias travels with content, not with the channel</a:t>
            </a:r>
            <a:endParaRPr/>
          </a:p>
        </p:txBody>
      </p:sp>
      <p:sp>
        <p:nvSpPr>
          <p:cNvPr id="212" name="Google Shape;212;p7"/>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8A8A8A"/>
                </a:solidFill>
                <a:latin typeface="Calibri"/>
                <a:ea typeface="Calibri"/>
                <a:cs typeface="Calibri"/>
                <a:sym typeface="Calibri"/>
              </a:rPr>
              <a:t>7</a:t>
            </a:r>
            <a:endParaRPr/>
          </a:p>
        </p:txBody>
      </p:sp>
      <p:pic>
        <p:nvPicPr>
          <p:cNvPr descr="chart_modality.png" id="213" name="Google Shape;213;p7"/>
          <p:cNvPicPr preferRelativeResize="0"/>
          <p:nvPr/>
        </p:nvPicPr>
        <p:blipFill rotWithShape="1">
          <a:blip r:embed="rId3">
            <a:alphaModFix/>
          </a:blip>
          <a:srcRect b="0" l="0" r="0" t="0"/>
          <a:stretch/>
        </p:blipFill>
        <p:spPr>
          <a:xfrm>
            <a:off x="566928" y="2103120"/>
            <a:ext cx="6784848" cy="3055918"/>
          </a:xfrm>
          <a:prstGeom prst="rect">
            <a:avLst/>
          </a:prstGeom>
          <a:noFill/>
          <a:ln>
            <a:noFill/>
          </a:ln>
        </p:spPr>
      </p:pic>
      <p:sp>
        <p:nvSpPr>
          <p:cNvPr id="214" name="Google Shape;214;p7"/>
          <p:cNvSpPr/>
          <p:nvPr/>
        </p:nvSpPr>
        <p:spPr>
          <a:xfrm>
            <a:off x="7754111" y="1664208"/>
            <a:ext cx="3870655" cy="1298448"/>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7"/>
          <p:cNvSpPr txBox="1"/>
          <p:nvPr/>
        </p:nvSpPr>
        <p:spPr>
          <a:xfrm>
            <a:off x="7991855" y="1865376"/>
            <a:ext cx="3395167" cy="89611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F7A6B"/>
                </a:solidFill>
                <a:latin typeface="Calibri"/>
                <a:ea typeface="Calibri"/>
                <a:cs typeface="Calibri"/>
                <a:sym typeface="Calibri"/>
              </a:rPr>
              <a:t>SAME CONTENT, NO IMAGE</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Landmark names .675 and discrepancy text .716, against .727 for real maps.</a:t>
            </a:r>
            <a:endParaRPr/>
          </a:p>
        </p:txBody>
      </p:sp>
      <p:sp>
        <p:nvSpPr>
          <p:cNvPr id="216" name="Google Shape;216;p7"/>
          <p:cNvSpPr/>
          <p:nvPr/>
        </p:nvSpPr>
        <p:spPr>
          <a:xfrm>
            <a:off x="7754111" y="3108960"/>
            <a:ext cx="3870655" cy="1444752"/>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7"/>
          <p:cNvSpPr txBox="1"/>
          <p:nvPr/>
        </p:nvSpPr>
        <p:spPr>
          <a:xfrm>
            <a:off x="7991855" y="3310128"/>
            <a:ext cx="3395167" cy="10424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7B52C7"/>
                </a:solidFill>
                <a:latin typeface="Calibri"/>
                <a:ea typeface="Calibri"/>
                <a:cs typeface="Calibri"/>
                <a:sym typeface="Calibri"/>
              </a:rPr>
              <a:t>IMAGES WITHOUT CONTENT</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Blank .184, shuffled .193 — below even text-only (.515). The model turns hyper-conservative.</a:t>
            </a:r>
            <a:endParaRPr/>
          </a:p>
        </p:txBody>
      </p:sp>
      <p:sp>
        <p:nvSpPr>
          <p:cNvPr id="218" name="Google Shape;218;p7"/>
          <p:cNvSpPr/>
          <p:nvPr/>
        </p:nvSpPr>
        <p:spPr>
          <a:xfrm>
            <a:off x="7754111" y="4700016"/>
            <a:ext cx="3870655" cy="1115568"/>
          </a:xfrm>
          <a:prstGeom prst="roundRect">
            <a:avLst>
              <a:gd fmla="val 7000" name="adj"/>
            </a:avLst>
          </a:prstGeom>
          <a:solidFill>
            <a:srgbClr val="FBEE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7"/>
          <p:cNvSpPr txBox="1"/>
          <p:nvPr/>
        </p:nvSpPr>
        <p:spPr>
          <a:xfrm>
            <a:off x="7991855" y="4901183"/>
            <a:ext cx="3395167" cy="71323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SO THE CUE IS MAP CONTENT</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in pixels or in words.</a:t>
            </a:r>
            <a:endParaRPr/>
          </a:p>
        </p:txBody>
      </p:sp>
      <p:sp>
        <p:nvSpPr>
          <p:cNvPr id="220" name="Google Shape;220;p7"/>
          <p:cNvSpPr txBox="1"/>
          <p:nvPr/>
        </p:nvSpPr>
        <p:spPr>
          <a:xfrm>
            <a:off x="566928" y="5897880"/>
            <a:ext cx="10234879" cy="731519"/>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400">
                <a:solidFill>
                  <a:srgbClr val="5F6070"/>
                </a:solidFill>
                <a:latin typeface="Calibri"/>
                <a:ea typeface="Calibri"/>
                <a:cs typeface="Calibri"/>
                <a:sym typeface="Calibri"/>
              </a:rPr>
              <a:t>All conditions: Qwen3-VL-8B at startT. Caveat: the textual conditions do not reconstruct the full spatial layout, and authentic images add a small further shift — so this bounds, but does not eliminate, a role for vision.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8"/>
          <p:cNvSpPr txBox="1"/>
          <p:nvPr/>
        </p:nvSpPr>
        <p:spPr>
          <a:xfrm>
            <a:off x="566928" y="365760"/>
            <a:ext cx="11057839"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MECHANISM</a:t>
            </a:r>
            <a:endParaRPr/>
          </a:p>
        </p:txBody>
      </p:sp>
      <p:sp>
        <p:nvSpPr>
          <p:cNvPr id="227" name="Google Shape;227;p8"/>
          <p:cNvSpPr txBox="1"/>
          <p:nvPr/>
        </p:nvSpPr>
        <p:spPr>
          <a:xfrm>
            <a:off x="566928" y="694944"/>
            <a:ext cx="11057839"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700">
                <a:solidFill>
                  <a:srgbClr val="161D41"/>
                </a:solidFill>
                <a:latin typeface="Calibri"/>
                <a:ea typeface="Calibri"/>
                <a:cs typeface="Calibri"/>
                <a:sym typeface="Calibri"/>
              </a:rPr>
              <a:t>On non-aligned cases, map access produces confident errors</a:t>
            </a:r>
            <a:endParaRPr/>
          </a:p>
        </p:txBody>
      </p:sp>
      <p:sp>
        <p:nvSpPr>
          <p:cNvPr id="228" name="Google Shape;228;p8"/>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8A8A8A"/>
                </a:solidFill>
                <a:latin typeface="Calibri"/>
                <a:ea typeface="Calibri"/>
                <a:cs typeface="Calibri"/>
                <a:sym typeface="Calibri"/>
              </a:rPr>
              <a:t>8</a:t>
            </a:r>
            <a:endParaRPr/>
          </a:p>
        </p:txBody>
      </p:sp>
      <p:pic>
        <p:nvPicPr>
          <p:cNvPr descr="chart_calibration.png" id="229" name="Google Shape;229;p8"/>
          <p:cNvPicPr preferRelativeResize="0"/>
          <p:nvPr/>
        </p:nvPicPr>
        <p:blipFill rotWithShape="1">
          <a:blip r:embed="rId3">
            <a:alphaModFix/>
          </a:blip>
          <a:srcRect b="0" l="0" r="0" t="0"/>
          <a:stretch/>
        </p:blipFill>
        <p:spPr>
          <a:xfrm>
            <a:off x="566928" y="1883664"/>
            <a:ext cx="6455664" cy="3680100"/>
          </a:xfrm>
          <a:prstGeom prst="rect">
            <a:avLst/>
          </a:prstGeom>
          <a:noFill/>
          <a:ln>
            <a:noFill/>
          </a:ln>
        </p:spPr>
      </p:pic>
      <p:sp>
        <p:nvSpPr>
          <p:cNvPr id="230" name="Google Shape;230;p8"/>
          <p:cNvSpPr/>
          <p:nvPr/>
        </p:nvSpPr>
        <p:spPr>
          <a:xfrm>
            <a:off x="7424927" y="1664208"/>
            <a:ext cx="4199839" cy="1298448"/>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8"/>
          <p:cNvSpPr txBox="1"/>
          <p:nvPr/>
        </p:nvSpPr>
        <p:spPr>
          <a:xfrm>
            <a:off x="7662671" y="1865376"/>
            <a:ext cx="3724351" cy="89611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F6ABF"/>
                </a:solidFill>
                <a:latin typeface="Calibri"/>
                <a:ea typeface="Calibri"/>
                <a:cs typeface="Calibri"/>
                <a:sym typeface="Calibri"/>
              </a:rPr>
              <a:t>CONFIDENT AND RIGHT ON GOLD YES</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ECE .263 → .094 with both maps.</a:t>
            </a:r>
            <a:endParaRPr/>
          </a:p>
        </p:txBody>
      </p:sp>
      <p:sp>
        <p:nvSpPr>
          <p:cNvPr id="232" name="Google Shape;232;p8"/>
          <p:cNvSpPr/>
          <p:nvPr/>
        </p:nvSpPr>
        <p:spPr>
          <a:xfrm>
            <a:off x="7424927" y="3108960"/>
            <a:ext cx="4199839" cy="1444752"/>
          </a:xfrm>
          <a:prstGeom prst="roundRect">
            <a:avLst>
              <a:gd fmla="val 7000" name="adj"/>
            </a:avLst>
          </a:prstGeom>
          <a:solidFill>
            <a:srgbClr val="FBEE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8"/>
          <p:cNvSpPr txBox="1"/>
          <p:nvPr/>
        </p:nvSpPr>
        <p:spPr>
          <a:xfrm>
            <a:off x="7662671" y="3310128"/>
            <a:ext cx="3724351" cy="10424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CONFIDENT AND WRONG ON GOLD NO</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ECE .235 → .403, and .524 with the follower's map alone.</a:t>
            </a:r>
            <a:endParaRPr/>
          </a:p>
        </p:txBody>
      </p:sp>
      <p:sp>
        <p:nvSpPr>
          <p:cNvPr id="234" name="Google Shape;234;p8"/>
          <p:cNvSpPr/>
          <p:nvPr/>
        </p:nvSpPr>
        <p:spPr>
          <a:xfrm>
            <a:off x="7424927" y="4700016"/>
            <a:ext cx="4199839" cy="1115568"/>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8"/>
          <p:cNvSpPr txBox="1"/>
          <p:nvPr/>
        </p:nvSpPr>
        <p:spPr>
          <a:xfrm>
            <a:off x="7662671" y="4901183"/>
            <a:ext cx="3724351" cy="71323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61D41"/>
                </a:solidFill>
                <a:latin typeface="Calibri"/>
                <a:ea typeface="Calibri"/>
                <a:cs typeface="Calibri"/>
                <a:sym typeface="Calibri"/>
              </a:rPr>
              <a:t>MORE THAN A THRESHOLD SHIFT</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The gap between classes widens from .028 to .463.</a:t>
            </a:r>
            <a:endParaRPr/>
          </a:p>
        </p:txBody>
      </p:sp>
      <p:sp>
        <p:nvSpPr>
          <p:cNvPr id="236" name="Google Shape;236;p8"/>
          <p:cNvSpPr txBox="1"/>
          <p:nvPr/>
        </p:nvSpPr>
        <p:spPr>
          <a:xfrm>
            <a:off x="566928" y="5897880"/>
            <a:ext cx="10234879" cy="731519"/>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400">
                <a:solidFill>
                  <a:srgbClr val="5F6070"/>
                </a:solidFill>
                <a:latin typeface="Calibri"/>
                <a:ea typeface="Calibri"/>
                <a:cs typeface="Calibri"/>
                <a:sym typeface="Calibri"/>
              </a:rPr>
              <a:t>Constrained single-token decoding, so confidence = exp(logprob). n = 13,077, Qwen3-VL-8B at startT. Lower ECE is better.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9"/>
          <p:cNvSpPr txBox="1"/>
          <p:nvPr/>
        </p:nvSpPr>
        <p:spPr>
          <a:xfrm>
            <a:off x="566928" y="365760"/>
            <a:ext cx="11057839"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WHERE IT COSTS</a:t>
            </a:r>
            <a:endParaRPr/>
          </a:p>
        </p:txBody>
      </p:sp>
      <p:sp>
        <p:nvSpPr>
          <p:cNvPr id="243" name="Google Shape;243;p9"/>
          <p:cNvSpPr txBox="1"/>
          <p:nvPr/>
        </p:nvSpPr>
        <p:spPr>
          <a:xfrm>
            <a:off x="566928" y="694944"/>
            <a:ext cx="11057839"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61D41"/>
                </a:solidFill>
                <a:latin typeface="Calibri"/>
                <a:ea typeface="Calibri"/>
                <a:cs typeface="Calibri"/>
                <a:sym typeface="Calibri"/>
              </a:rPr>
              <a:t>The aggregate gain is paid for by pending cases</a:t>
            </a:r>
            <a:endParaRPr/>
          </a:p>
        </p:txBody>
      </p:sp>
      <p:sp>
        <p:nvSpPr>
          <p:cNvPr id="244" name="Google Shape;244;p9"/>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8A8A8A"/>
                </a:solidFill>
                <a:latin typeface="Calibri"/>
                <a:ea typeface="Calibri"/>
                <a:cs typeface="Calibri"/>
                <a:sym typeface="Calibri"/>
              </a:rPr>
              <a:t>9</a:t>
            </a:r>
            <a:endParaRPr/>
          </a:p>
        </p:txBody>
      </p:sp>
      <p:pic>
        <p:nvPicPr>
          <p:cNvPr descr="chart_status.png" id="245" name="Google Shape;245;p9"/>
          <p:cNvPicPr preferRelativeResize="0"/>
          <p:nvPr/>
        </p:nvPicPr>
        <p:blipFill rotWithShape="1">
          <a:blip r:embed="rId3">
            <a:alphaModFix/>
          </a:blip>
          <a:srcRect b="0" l="0" r="0" t="0"/>
          <a:stretch/>
        </p:blipFill>
        <p:spPr>
          <a:xfrm>
            <a:off x="655167" y="1554480"/>
            <a:ext cx="10881360" cy="3756077"/>
          </a:xfrm>
          <a:prstGeom prst="rect">
            <a:avLst/>
          </a:prstGeom>
          <a:noFill/>
          <a:ln>
            <a:noFill/>
          </a:ln>
        </p:spPr>
      </p:pic>
      <p:sp>
        <p:nvSpPr>
          <p:cNvPr id="246" name="Google Shape;246;p9"/>
          <p:cNvSpPr/>
          <p:nvPr/>
        </p:nvSpPr>
        <p:spPr>
          <a:xfrm>
            <a:off x="1609344" y="5596128"/>
            <a:ext cx="3017520" cy="658368"/>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9"/>
          <p:cNvSpPr txBox="1"/>
          <p:nvPr/>
        </p:nvSpPr>
        <p:spPr>
          <a:xfrm>
            <a:off x="1810512" y="5696712"/>
            <a:ext cx="2615184"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rgbClr val="5F6070"/>
                </a:solidFill>
                <a:latin typeface="Calibri"/>
                <a:ea typeface="Calibri"/>
                <a:cs typeface="Calibri"/>
                <a:sym typeface="Calibri"/>
              </a:rPr>
              <a:t>n = 9,435</a:t>
            </a:r>
            <a:endParaRPr/>
          </a:p>
          <a:p>
            <a:pPr indent="0" lvl="0" marL="0" marR="0" rtl="0" algn="l">
              <a:spcBef>
                <a:spcPts val="200"/>
              </a:spcBef>
              <a:spcAft>
                <a:spcPts val="0"/>
              </a:spcAft>
              <a:buNone/>
            </a:pPr>
            <a:r>
              <a:rPr b="1" i="0" lang="en-US" sz="2100">
                <a:solidFill>
                  <a:srgbClr val="1F6ABF"/>
                </a:solidFill>
                <a:latin typeface="Calibri"/>
                <a:ea typeface="Calibri"/>
                <a:cs typeface="Calibri"/>
                <a:sym typeface="Calibri"/>
              </a:rPr>
              <a:t>+23.2 pp</a:t>
            </a:r>
            <a:r>
              <a:rPr b="0" i="0" lang="en-US" sz="1400">
                <a:solidFill>
                  <a:srgbClr val="161D41"/>
                </a:solidFill>
                <a:latin typeface="Calibri"/>
                <a:ea typeface="Calibri"/>
                <a:cs typeface="Calibri"/>
                <a:sym typeface="Calibri"/>
              </a:rPr>
              <a:t>   .590 → .822</a:t>
            </a:r>
            <a:endParaRPr/>
          </a:p>
        </p:txBody>
      </p:sp>
      <p:sp>
        <p:nvSpPr>
          <p:cNvPr id="248" name="Google Shape;248;p9"/>
          <p:cNvSpPr/>
          <p:nvPr/>
        </p:nvSpPr>
        <p:spPr>
          <a:xfrm>
            <a:off x="4892040" y="5596128"/>
            <a:ext cx="3017520" cy="658368"/>
          </a:xfrm>
          <a:prstGeom prst="roundRect">
            <a:avLst>
              <a:gd fmla="val 7000" name="adj"/>
            </a:avLst>
          </a:prstGeom>
          <a:solidFill>
            <a:srgbClr val="FBEE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9"/>
          <p:cNvSpPr txBox="1"/>
          <p:nvPr/>
        </p:nvSpPr>
        <p:spPr>
          <a:xfrm>
            <a:off x="5093207" y="5696712"/>
            <a:ext cx="2615184"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rgbClr val="5F6070"/>
                </a:solidFill>
                <a:latin typeface="Calibri"/>
                <a:ea typeface="Calibri"/>
                <a:cs typeface="Calibri"/>
                <a:sym typeface="Calibri"/>
              </a:rPr>
              <a:t>n = 3,403</a:t>
            </a:r>
            <a:endParaRPr/>
          </a:p>
          <a:p>
            <a:pPr indent="0" lvl="0" marL="0" marR="0" rtl="0" algn="l">
              <a:spcBef>
                <a:spcPts val="200"/>
              </a:spcBef>
              <a:spcAft>
                <a:spcPts val="0"/>
              </a:spcAft>
              <a:buNone/>
            </a:pPr>
            <a:r>
              <a:rPr b="1" i="0" lang="en-US" sz="2100">
                <a:solidFill>
                  <a:srgbClr val="C00935"/>
                </a:solidFill>
                <a:latin typeface="Calibri"/>
                <a:ea typeface="Calibri"/>
                <a:cs typeface="Calibri"/>
                <a:sym typeface="Calibri"/>
              </a:rPr>
              <a:t>−16.8 pp</a:t>
            </a:r>
            <a:r>
              <a:rPr b="0" i="0" lang="en-US" sz="1400">
                <a:solidFill>
                  <a:srgbClr val="161D41"/>
                </a:solidFill>
                <a:latin typeface="Calibri"/>
                <a:ea typeface="Calibri"/>
                <a:cs typeface="Calibri"/>
                <a:sym typeface="Calibri"/>
              </a:rPr>
              <a:t>   p &lt; 10⁻⁶</a:t>
            </a:r>
            <a:endParaRPr/>
          </a:p>
        </p:txBody>
      </p:sp>
      <p:sp>
        <p:nvSpPr>
          <p:cNvPr id="250" name="Google Shape;250;p9"/>
          <p:cNvSpPr/>
          <p:nvPr/>
        </p:nvSpPr>
        <p:spPr>
          <a:xfrm>
            <a:off x="8174736" y="5596128"/>
            <a:ext cx="3017520" cy="658368"/>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9"/>
          <p:cNvSpPr txBox="1"/>
          <p:nvPr/>
        </p:nvSpPr>
        <p:spPr>
          <a:xfrm>
            <a:off x="8375904" y="5696712"/>
            <a:ext cx="2615184"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rgbClr val="5F6070"/>
                </a:solidFill>
                <a:latin typeface="Calibri"/>
                <a:ea typeface="Calibri"/>
                <a:cs typeface="Calibri"/>
                <a:sym typeface="Calibri"/>
              </a:rPr>
              <a:t>n = 239</a:t>
            </a:r>
            <a:endParaRPr/>
          </a:p>
          <a:p>
            <a:pPr indent="0" lvl="0" marL="0" marR="0" rtl="0" algn="l">
              <a:spcBef>
                <a:spcPts val="200"/>
              </a:spcBef>
              <a:spcAft>
                <a:spcPts val="0"/>
              </a:spcAft>
              <a:buNone/>
            </a:pPr>
            <a:r>
              <a:rPr b="1" i="0" lang="en-US" sz="2100">
                <a:solidFill>
                  <a:srgbClr val="5F6070"/>
                </a:solidFill>
                <a:latin typeface="Calibri"/>
                <a:ea typeface="Calibri"/>
                <a:cs typeface="Calibri"/>
                <a:sym typeface="Calibri"/>
              </a:rPr>
              <a:t>−1.7 pp</a:t>
            </a:r>
            <a:r>
              <a:rPr b="0" i="0" lang="en-US" sz="1400">
                <a:solidFill>
                  <a:srgbClr val="161D41"/>
                </a:solidFill>
                <a:latin typeface="Calibri"/>
                <a:ea typeface="Calibri"/>
                <a:cs typeface="Calibri"/>
                <a:sym typeface="Calibri"/>
              </a:rPr>
              <a:t>   n.s.   p = .724</a:t>
            </a:r>
            <a:endParaRPr/>
          </a:p>
        </p:txBody>
      </p:sp>
      <p:sp>
        <p:nvSpPr>
          <p:cNvPr id="252" name="Google Shape;252;p9"/>
          <p:cNvSpPr txBox="1"/>
          <p:nvPr/>
        </p:nvSpPr>
        <p:spPr>
          <a:xfrm>
            <a:off x="566928" y="6364224"/>
            <a:ext cx="10234879" cy="265176"/>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350">
                <a:solidFill>
                  <a:srgbClr val="5F6070"/>
                </a:solidFill>
                <a:latin typeface="Calibri"/>
                <a:ea typeface="Calibri"/>
                <a:cs typeface="Calibri"/>
                <a:sym typeface="Calibri"/>
              </a:rPr>
              <a:t>Text-only → both maps. Blank maps look strong on pending and misunderstood only because they answer NO to almost everything.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0"/>
          <p:cNvSpPr txBox="1"/>
          <p:nvPr/>
        </p:nvSpPr>
        <p:spPr>
          <a:xfrm>
            <a:off x="566928" y="365760"/>
            <a:ext cx="11057839"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DYNAMICS</a:t>
            </a:r>
            <a:endParaRPr/>
          </a:p>
        </p:txBody>
      </p:sp>
      <p:sp>
        <p:nvSpPr>
          <p:cNvPr id="259" name="Google Shape;259;p10"/>
          <p:cNvSpPr txBox="1"/>
          <p:nvPr/>
        </p:nvSpPr>
        <p:spPr>
          <a:xfrm>
            <a:off x="566928" y="694944"/>
            <a:ext cx="11057839"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61D41"/>
                </a:solidFill>
                <a:latin typeface="Calibri"/>
                <a:ea typeface="Calibri"/>
                <a:cs typeface="Calibri"/>
                <a:sym typeface="Calibri"/>
              </a:rPr>
              <a:t>Dialogue evidence carries less weight once maps are in</a:t>
            </a:r>
            <a:endParaRPr/>
          </a:p>
        </p:txBody>
      </p:sp>
      <p:sp>
        <p:nvSpPr>
          <p:cNvPr id="260" name="Google Shape;260;p10"/>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8A8A8A"/>
                </a:solidFill>
                <a:latin typeface="Calibri"/>
                <a:ea typeface="Calibri"/>
                <a:cs typeface="Calibri"/>
                <a:sym typeface="Calibri"/>
              </a:rPr>
              <a:t>10</a:t>
            </a:r>
            <a:endParaRPr/>
          </a:p>
        </p:txBody>
      </p:sp>
      <p:pic>
        <p:nvPicPr>
          <p:cNvPr descr="chart_context_window.png" id="261" name="Google Shape;261;p10"/>
          <p:cNvPicPr preferRelativeResize="0"/>
          <p:nvPr/>
        </p:nvPicPr>
        <p:blipFill rotWithShape="1">
          <a:blip r:embed="rId3">
            <a:alphaModFix/>
          </a:blip>
          <a:srcRect b="0" l="0" r="0" t="0"/>
          <a:stretch/>
        </p:blipFill>
        <p:spPr>
          <a:xfrm>
            <a:off x="1523847" y="1645920"/>
            <a:ext cx="9144000" cy="4117730"/>
          </a:xfrm>
          <a:prstGeom prst="rect">
            <a:avLst/>
          </a:prstGeom>
          <a:noFill/>
          <a:ln>
            <a:noFill/>
          </a:ln>
        </p:spPr>
      </p:pic>
      <p:sp>
        <p:nvSpPr>
          <p:cNvPr id="262" name="Google Shape;262;p10"/>
          <p:cNvSpPr txBox="1"/>
          <p:nvPr/>
        </p:nvSpPr>
        <p:spPr>
          <a:xfrm>
            <a:off x="566928" y="5907024"/>
            <a:ext cx="10234879" cy="722376"/>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400">
                <a:solidFill>
                  <a:srgbClr val="5F6070"/>
                </a:solidFill>
                <a:latin typeface="Calibri"/>
                <a:ea typeface="Calibri"/>
                <a:cs typeface="Calibri"/>
                <a:sym typeface="Calibri"/>
              </a:rPr>
              <a:t>Qwen3-VL-8B macro-F1 across the four context windows. Later turns always help — they carry repair and confirmation — but the gain halves once maps are available.</a:t>
            </a:r>
            <a:endParaRPr/>
          </a:p>
          <a:p>
            <a:pPr indent="0" lvl="0" marL="0" marR="0" rtl="0" algn="l">
              <a:lnSpc>
                <a:spcPct val="105000"/>
              </a:lnSpc>
              <a:spcBef>
                <a:spcPts val="300"/>
              </a:spcBef>
              <a:spcAft>
                <a:spcPts val="0"/>
              </a:spcAft>
              <a:buNone/>
            </a:pPr>
            <a:r>
              <a:rPr b="0" i="0" lang="en-US" sz="1400">
                <a:solidFill>
                  <a:srgbClr val="5F6070"/>
                </a:solidFill>
                <a:latin typeface="Calibri"/>
                <a:ea typeface="Calibri"/>
                <a:cs typeface="Calibri"/>
                <a:sym typeface="Calibri"/>
              </a:rPr>
              <a:t>The reference-chain analysis is on backup slide B4, where the per-bucket gold aligned rate can be shown alongside it.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1"/>
          <p:cNvSpPr txBox="1"/>
          <p:nvPr/>
        </p:nvSpPr>
        <p:spPr>
          <a:xfrm>
            <a:off x="566928" y="365760"/>
            <a:ext cx="11057839"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GENERALITY</a:t>
            </a:r>
            <a:endParaRPr/>
          </a:p>
        </p:txBody>
      </p:sp>
      <p:sp>
        <p:nvSpPr>
          <p:cNvPr id="269" name="Google Shape;269;p11"/>
          <p:cNvSpPr txBox="1"/>
          <p:nvPr/>
        </p:nvSpPr>
        <p:spPr>
          <a:xfrm>
            <a:off x="566928" y="694944"/>
            <a:ext cx="11057839"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61D41"/>
                </a:solidFill>
                <a:latin typeface="Calibri"/>
                <a:ea typeface="Calibri"/>
                <a:cs typeface="Calibri"/>
                <a:sym typeface="Calibri"/>
              </a:rPr>
              <a:t>Model-dependent — and scale does not fix it</a:t>
            </a:r>
            <a:endParaRPr/>
          </a:p>
        </p:txBody>
      </p:sp>
      <p:sp>
        <p:nvSpPr>
          <p:cNvPr id="270" name="Google Shape;270;p11"/>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8A8A8A"/>
                </a:solidFill>
                <a:latin typeface="Calibri"/>
                <a:ea typeface="Calibri"/>
                <a:cs typeface="Calibri"/>
                <a:sym typeface="Calibri"/>
              </a:rPr>
              <a:t>11</a:t>
            </a:r>
            <a:endParaRPr/>
          </a:p>
        </p:txBody>
      </p:sp>
      <p:pic>
        <p:nvPicPr>
          <p:cNvPr descr="chart_models_slope.png" id="271" name="Google Shape;271;p11"/>
          <p:cNvPicPr preferRelativeResize="0"/>
          <p:nvPr/>
        </p:nvPicPr>
        <p:blipFill rotWithShape="1">
          <a:blip r:embed="rId3">
            <a:alphaModFix/>
          </a:blip>
          <a:srcRect b="0" l="0" r="0" t="0"/>
          <a:stretch/>
        </p:blipFill>
        <p:spPr>
          <a:xfrm>
            <a:off x="566928" y="1883664"/>
            <a:ext cx="6053328" cy="3617543"/>
          </a:xfrm>
          <a:prstGeom prst="rect">
            <a:avLst/>
          </a:prstGeom>
          <a:noFill/>
          <a:ln>
            <a:noFill/>
          </a:ln>
        </p:spPr>
      </p:pic>
      <p:sp>
        <p:nvSpPr>
          <p:cNvPr id="272" name="Google Shape;272;p11"/>
          <p:cNvSpPr/>
          <p:nvPr/>
        </p:nvSpPr>
        <p:spPr>
          <a:xfrm>
            <a:off x="7022592" y="1664208"/>
            <a:ext cx="4602175" cy="1572768"/>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11"/>
          <p:cNvSpPr txBox="1"/>
          <p:nvPr/>
        </p:nvSpPr>
        <p:spPr>
          <a:xfrm>
            <a:off x="7260336" y="1865376"/>
            <a:ext cx="4126687" cy="11704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F6ABF"/>
                </a:solidFill>
                <a:latin typeface="Calibri"/>
                <a:ea typeface="Calibri"/>
                <a:cs typeface="Calibri"/>
                <a:sym typeface="Calibri"/>
              </a:rPr>
              <a:t>“SOME” IS DOING REAL WORK</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Four of five shift upward, but only three land near the base rate. Gemma-3-12B stays extremely conservative; Qwen3-VL-4B reverses.</a:t>
            </a:r>
            <a:endParaRPr/>
          </a:p>
        </p:txBody>
      </p:sp>
      <p:sp>
        <p:nvSpPr>
          <p:cNvPr id="274" name="Google Shape;274;p11"/>
          <p:cNvSpPr/>
          <p:nvPr/>
        </p:nvSpPr>
        <p:spPr>
          <a:xfrm>
            <a:off x="7022592" y="3383280"/>
            <a:ext cx="4602175" cy="1207008"/>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1"/>
          <p:cNvSpPr txBox="1"/>
          <p:nvPr/>
        </p:nvSpPr>
        <p:spPr>
          <a:xfrm>
            <a:off x="7260336" y="3584448"/>
            <a:ext cx="4126687" cy="80467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LARGER ≠ MORE DISCERNING</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2B beats 4B (F1 .566 vs .411); Gemma-3-4B beats 12B (.510 vs .416).</a:t>
            </a:r>
            <a:endParaRPr/>
          </a:p>
        </p:txBody>
      </p:sp>
      <p:sp>
        <p:nvSpPr>
          <p:cNvPr id="276" name="Google Shape;276;p11"/>
          <p:cNvSpPr/>
          <p:nvPr/>
        </p:nvSpPr>
        <p:spPr>
          <a:xfrm>
            <a:off x="7022592" y="4736592"/>
            <a:ext cx="4602175" cy="1078992"/>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1"/>
          <p:cNvSpPr txBox="1"/>
          <p:nvPr/>
        </p:nvSpPr>
        <p:spPr>
          <a:xfrm>
            <a:off x="7260336" y="4937759"/>
            <a:ext cx="4126687" cy="6766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F7A6B"/>
                </a:solidFill>
                <a:latin typeface="Calibri"/>
                <a:ea typeface="Calibri"/>
                <a:cs typeface="Calibri"/>
                <a:sym typeface="Calibri"/>
              </a:rPr>
              <a:t>ONE LIKELY CONTRIBUTOR</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A model that cannot read the maps cannot show a content-driven bias.</a:t>
            </a:r>
            <a:endParaRPr/>
          </a:p>
        </p:txBody>
      </p:sp>
      <p:sp>
        <p:nvSpPr>
          <p:cNvPr id="278" name="Google Shape;278;p11"/>
          <p:cNvSpPr txBox="1"/>
          <p:nvPr/>
        </p:nvSpPr>
        <p:spPr>
          <a:xfrm>
            <a:off x="566928" y="5897880"/>
            <a:ext cx="10234879" cy="731519"/>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400">
                <a:solidFill>
                  <a:srgbClr val="5F6070"/>
                </a:solidFill>
                <a:latin typeface="Calibri"/>
                <a:ea typeface="Calibri"/>
                <a:cs typeface="Calibri"/>
                <a:sym typeface="Calibri"/>
              </a:rPr>
              <a:t>Baseline grid at startT, n = 13,077. Gemma's SigLIP encoder pools every image to 256 tokens; in a map-reading check Gemma scored 81–82 F1 on landmark names against 88–90 for Qwen3-VL.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2"/>
          <p:cNvSpPr txBox="1"/>
          <p:nvPr/>
        </p:nvSpPr>
        <p:spPr>
          <a:xfrm>
            <a:off x="566928" y="365760"/>
            <a:ext cx="11057839"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INTERPRETATION</a:t>
            </a:r>
            <a:endParaRPr/>
          </a:p>
        </p:txBody>
      </p:sp>
      <p:sp>
        <p:nvSpPr>
          <p:cNvPr id="285" name="Google Shape;285;p12"/>
          <p:cNvSpPr txBox="1"/>
          <p:nvPr/>
        </p:nvSpPr>
        <p:spPr>
          <a:xfrm>
            <a:off x="566928" y="694944"/>
            <a:ext cx="11057839"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61D41"/>
                </a:solidFill>
                <a:latin typeface="Calibri"/>
                <a:ea typeface="Calibri"/>
                <a:cs typeface="Calibri"/>
                <a:sym typeface="Calibri"/>
              </a:rPr>
              <a:t>What the failure tells us about VLM grounding</a:t>
            </a:r>
            <a:endParaRPr/>
          </a:p>
        </p:txBody>
      </p:sp>
      <p:sp>
        <p:nvSpPr>
          <p:cNvPr id="286" name="Google Shape;286;p12"/>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8A8A8A"/>
                </a:solidFill>
                <a:latin typeface="Calibri"/>
                <a:ea typeface="Calibri"/>
                <a:cs typeface="Calibri"/>
                <a:sym typeface="Calibri"/>
              </a:rPr>
              <a:t>12</a:t>
            </a:r>
            <a:endParaRPr/>
          </a:p>
        </p:txBody>
      </p:sp>
      <p:sp>
        <p:nvSpPr>
          <p:cNvPr id="287" name="Google Shape;287;p12"/>
          <p:cNvSpPr/>
          <p:nvPr/>
        </p:nvSpPr>
        <p:spPr>
          <a:xfrm>
            <a:off x="566928" y="1755648"/>
            <a:ext cx="3703320" cy="1700784"/>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12"/>
          <p:cNvSpPr txBox="1"/>
          <p:nvPr/>
        </p:nvSpPr>
        <p:spPr>
          <a:xfrm>
            <a:off x="804672" y="1956815"/>
            <a:ext cx="3227832" cy="12984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F6ABF"/>
                </a:solidFill>
                <a:latin typeface="Calibri"/>
                <a:ea typeface="Calibri"/>
                <a:cs typeface="Calibri"/>
                <a:sym typeface="Calibri"/>
              </a:rPr>
              <a:t>SCENE EVIDENCE</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what COULD be shared — landmarks co-present on both maps</a:t>
            </a:r>
            <a:endParaRPr/>
          </a:p>
        </p:txBody>
      </p:sp>
      <p:sp>
        <p:nvSpPr>
          <p:cNvPr id="289" name="Google Shape;289;p12"/>
          <p:cNvSpPr/>
          <p:nvPr/>
        </p:nvSpPr>
        <p:spPr>
          <a:xfrm>
            <a:off x="566928" y="3858768"/>
            <a:ext cx="3703320" cy="1700784"/>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12"/>
          <p:cNvSpPr txBox="1"/>
          <p:nvPr/>
        </p:nvSpPr>
        <p:spPr>
          <a:xfrm>
            <a:off x="804672" y="4059935"/>
            <a:ext cx="3227832" cy="12984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F7A6B"/>
                </a:solidFill>
                <a:latin typeface="Calibri"/>
                <a:ea typeface="Calibri"/>
                <a:cs typeface="Calibri"/>
                <a:sym typeface="Calibri"/>
              </a:rPr>
              <a:t>DIALOGUE EVIDENCE</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what HAS been grounded — recognition, confirmation, repair</a:t>
            </a:r>
            <a:endParaRPr/>
          </a:p>
        </p:txBody>
      </p:sp>
      <p:sp>
        <p:nvSpPr>
          <p:cNvPr id="291" name="Google Shape;291;p12"/>
          <p:cNvSpPr/>
          <p:nvPr/>
        </p:nvSpPr>
        <p:spPr>
          <a:xfrm>
            <a:off x="4498848" y="2331720"/>
            <a:ext cx="2103120" cy="548640"/>
          </a:xfrm>
          <a:prstGeom prst="rightArrow">
            <a:avLst>
              <a:gd fmla="val 55000" name="adj1"/>
              <a:gd fmla="val 42000" name="adj2"/>
            </a:avLst>
          </a:prstGeom>
          <a:solidFill>
            <a:srgbClr val="C009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2"/>
          <p:cNvSpPr txBox="1"/>
          <p:nvPr/>
        </p:nvSpPr>
        <p:spPr>
          <a:xfrm>
            <a:off x="4498848" y="1956816"/>
            <a:ext cx="2103120" cy="32918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00">
                <a:solidFill>
                  <a:srgbClr val="C00935"/>
                </a:solidFill>
                <a:latin typeface="Calibri"/>
                <a:ea typeface="Calibri"/>
                <a:cs typeface="Calibri"/>
                <a:sym typeface="Calibri"/>
              </a:rPr>
              <a:t>co-presence ⇒ alignment</a:t>
            </a:r>
            <a:endParaRPr/>
          </a:p>
        </p:txBody>
      </p:sp>
      <p:sp>
        <p:nvSpPr>
          <p:cNvPr id="293" name="Google Shape;293;p12"/>
          <p:cNvSpPr/>
          <p:nvPr/>
        </p:nvSpPr>
        <p:spPr>
          <a:xfrm>
            <a:off x="4498848" y="4590288"/>
            <a:ext cx="2103120" cy="237744"/>
          </a:xfrm>
          <a:prstGeom prst="rightArrow">
            <a:avLst>
              <a:gd fmla="val 55000" name="adj1"/>
              <a:gd fmla="val 42000" name="adj2"/>
            </a:avLst>
          </a:prstGeom>
          <a:solidFill>
            <a:srgbClr val="C9CC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12"/>
          <p:cNvSpPr txBox="1"/>
          <p:nvPr/>
        </p:nvSpPr>
        <p:spPr>
          <a:xfrm>
            <a:off x="4498848" y="4901184"/>
            <a:ext cx="2103120" cy="32918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00">
                <a:solidFill>
                  <a:srgbClr val="5F6070"/>
                </a:solidFill>
                <a:latin typeface="Calibri"/>
                <a:ea typeface="Calibri"/>
                <a:cs typeface="Calibri"/>
                <a:sym typeface="Calibri"/>
              </a:rPr>
              <a:t>under-weighted</a:t>
            </a:r>
            <a:endParaRPr/>
          </a:p>
        </p:txBody>
      </p:sp>
      <p:sp>
        <p:nvSpPr>
          <p:cNvPr id="295" name="Google Shape;295;p12"/>
          <p:cNvSpPr/>
          <p:nvPr/>
        </p:nvSpPr>
        <p:spPr>
          <a:xfrm>
            <a:off x="6876288" y="2395728"/>
            <a:ext cx="4748479" cy="2523744"/>
          </a:xfrm>
          <a:prstGeom prst="roundRect">
            <a:avLst>
              <a:gd fmla="val 7000" name="adj"/>
            </a:avLst>
          </a:prstGeom>
          <a:solidFill>
            <a:srgbClr val="FBEE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12"/>
          <p:cNvSpPr txBox="1"/>
          <p:nvPr/>
        </p:nvSpPr>
        <p:spPr>
          <a:xfrm>
            <a:off x="7114031" y="2596896"/>
            <a:ext cx="4272991" cy="21214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THE MODEL'S JUDGEMENT</a:t>
            </a:r>
            <a:endParaRPr/>
          </a:p>
          <a:p>
            <a:pPr indent="0" lvl="0" marL="0" marR="0" rtl="0" algn="l">
              <a:spcBef>
                <a:spcPts val="700"/>
              </a:spcBef>
              <a:spcAft>
                <a:spcPts val="0"/>
              </a:spcAft>
              <a:buNone/>
            </a:pPr>
            <a:r>
              <a:rPr b="1" i="0" lang="en-US" sz="1900">
                <a:solidFill>
                  <a:srgbClr val="161D41"/>
                </a:solidFill>
                <a:latin typeface="Calibri"/>
                <a:ea typeface="Calibri"/>
                <a:cs typeface="Calibri"/>
                <a:sym typeface="Calibri"/>
              </a:rPr>
              <a:t>“ALIGNED” — because the landmark is on both maps.</a:t>
            </a:r>
            <a:endParaRPr/>
          </a:p>
          <a:p>
            <a:pPr indent="0" lvl="0" marL="0" marR="0" rtl="0" algn="l">
              <a:spcBef>
                <a:spcPts val="800"/>
              </a:spcBef>
              <a:spcAft>
                <a:spcPts val="0"/>
              </a:spcAft>
              <a:buNone/>
            </a:pPr>
            <a:r>
              <a:rPr b="0" i="0" lang="en-US" sz="1600">
                <a:solidFill>
                  <a:srgbClr val="161D41"/>
                </a:solidFill>
                <a:latin typeface="Calibri"/>
                <a:ea typeface="Calibri"/>
                <a:cs typeface="Calibri"/>
                <a:sym typeface="Calibri"/>
              </a:rPr>
              <a:t>Potential common ground is read as established common ground: the computational form of the overhearer's illusion.</a:t>
            </a:r>
            <a:endParaRPr/>
          </a:p>
        </p:txBody>
      </p:sp>
      <p:sp>
        <p:nvSpPr>
          <p:cNvPr id="297" name="Google Shape;297;p12"/>
          <p:cNvSpPr/>
          <p:nvPr/>
        </p:nvSpPr>
        <p:spPr>
          <a:xfrm>
            <a:off x="566928" y="5687568"/>
            <a:ext cx="11057700" cy="731400"/>
          </a:xfrm>
          <a:prstGeom prst="roundRect">
            <a:avLst>
              <a:gd fmla="val 7000" name="adj"/>
            </a:avLst>
          </a:prstGeom>
          <a:solidFill>
            <a:srgbClr val="FFF6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2"/>
          <p:cNvSpPr txBox="1"/>
          <p:nvPr/>
        </p:nvSpPr>
        <p:spPr>
          <a:xfrm>
            <a:off x="859500" y="5914678"/>
            <a:ext cx="104727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a:solidFill>
                  <a:srgbClr val="161D41"/>
                </a:solidFill>
                <a:latin typeface="Calibri"/>
                <a:ea typeface="Calibri"/>
                <a:cs typeface="Calibri"/>
                <a:sym typeface="Calibri"/>
              </a:rPr>
              <a:t>Evaluation should separate visual reference recognition from interactional common-ground tracking.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3"/>
          <p:cNvSpPr txBox="1"/>
          <p:nvPr/>
        </p:nvSpPr>
        <p:spPr>
          <a:xfrm>
            <a:off x="566928" y="365760"/>
            <a:ext cx="11057839"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SCOPE</a:t>
            </a:r>
            <a:endParaRPr/>
          </a:p>
        </p:txBody>
      </p:sp>
      <p:sp>
        <p:nvSpPr>
          <p:cNvPr id="305" name="Google Shape;305;p13"/>
          <p:cNvSpPr txBox="1"/>
          <p:nvPr/>
        </p:nvSpPr>
        <p:spPr>
          <a:xfrm>
            <a:off x="566928" y="694944"/>
            <a:ext cx="11057839"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61D41"/>
                </a:solidFill>
                <a:latin typeface="Calibri"/>
                <a:ea typeface="Calibri"/>
                <a:cs typeface="Calibri"/>
                <a:sym typeface="Calibri"/>
              </a:rPr>
              <a:t>What this establishes — and what it does not</a:t>
            </a:r>
            <a:endParaRPr/>
          </a:p>
        </p:txBody>
      </p:sp>
      <p:sp>
        <p:nvSpPr>
          <p:cNvPr id="306" name="Google Shape;306;p13"/>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8A8A8A"/>
                </a:solidFill>
                <a:latin typeface="Calibri"/>
                <a:ea typeface="Calibri"/>
                <a:cs typeface="Calibri"/>
                <a:sym typeface="Calibri"/>
              </a:rPr>
              <a:t>13</a:t>
            </a:r>
            <a:endParaRPr/>
          </a:p>
        </p:txBody>
      </p:sp>
      <p:sp>
        <p:nvSpPr>
          <p:cNvPr id="307" name="Google Shape;307;p13"/>
          <p:cNvSpPr/>
          <p:nvPr/>
        </p:nvSpPr>
        <p:spPr>
          <a:xfrm>
            <a:off x="566928" y="1664208"/>
            <a:ext cx="5327751" cy="3822191"/>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13"/>
          <p:cNvSpPr txBox="1"/>
          <p:nvPr/>
        </p:nvSpPr>
        <p:spPr>
          <a:xfrm>
            <a:off x="804672" y="1865376"/>
            <a:ext cx="4852263" cy="341985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F6ABF"/>
                </a:solidFill>
                <a:latin typeface="Calibri"/>
                <a:ea typeface="Calibri"/>
                <a:cs typeface="Calibri"/>
                <a:sym typeface="Calibri"/>
              </a:rPr>
              <a:t>WHAT WE SHOW</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 An interpretation-matching evaluation built on perspectivist annotations, over 13,077 reference expressions.</a:t>
            </a:r>
            <a:endParaRPr/>
          </a:p>
          <a:p>
            <a:pPr indent="0" lvl="0" marL="0" marR="0" rtl="0" algn="l">
              <a:spcBef>
                <a:spcPts val="800"/>
              </a:spcBef>
              <a:spcAft>
                <a:spcPts val="0"/>
              </a:spcAft>
              <a:buNone/>
            </a:pPr>
            <a:r>
              <a:rPr b="0" i="0" lang="en-US" sz="1600">
                <a:solidFill>
                  <a:srgbClr val="161D41"/>
                </a:solidFill>
                <a:latin typeface="Calibri"/>
                <a:ea typeface="Calibri"/>
                <a:cs typeface="Calibri"/>
                <a:sym typeface="Calibri"/>
              </a:rPr>
              <a:t>· Task-relevant map content shifts judgements toward YES — as pixels or as words.</a:t>
            </a:r>
            <a:endParaRPr/>
          </a:p>
          <a:p>
            <a:pPr indent="0" lvl="0" marL="0" marR="0" rtl="0" algn="l">
              <a:spcBef>
                <a:spcPts val="800"/>
              </a:spcBef>
              <a:spcAft>
                <a:spcPts val="0"/>
              </a:spcAft>
              <a:buNone/>
            </a:pPr>
            <a:r>
              <a:rPr b="0" i="0" lang="en-US" sz="1600">
                <a:solidFill>
                  <a:srgbClr val="161D41"/>
                </a:solidFill>
                <a:latin typeface="Calibri"/>
                <a:ea typeface="Calibri"/>
                <a:cs typeface="Calibri"/>
                <a:sym typeface="Calibri"/>
              </a:rPr>
              <a:t>· The cost concentrates on pending cases, and the errors there are confident.</a:t>
            </a:r>
            <a:endParaRPr/>
          </a:p>
          <a:p>
            <a:pPr indent="0" lvl="0" marL="0" marR="0" rtl="0" algn="l">
              <a:spcBef>
                <a:spcPts val="800"/>
              </a:spcBef>
              <a:spcAft>
                <a:spcPts val="0"/>
              </a:spcAft>
              <a:buNone/>
            </a:pPr>
            <a:r>
              <a:rPr b="0" i="0" lang="en-US" sz="1600">
                <a:solidFill>
                  <a:srgbClr val="161D41"/>
                </a:solidFill>
                <a:latin typeface="Calibri"/>
                <a:ea typeface="Calibri"/>
                <a:cs typeface="Calibri"/>
                <a:sym typeface="Calibri"/>
              </a:rPr>
              <a:t>· The pattern is model-dependent, and scale does not remove it.</a:t>
            </a:r>
            <a:endParaRPr/>
          </a:p>
        </p:txBody>
      </p:sp>
      <p:sp>
        <p:nvSpPr>
          <p:cNvPr id="309" name="Google Shape;309;p13"/>
          <p:cNvSpPr/>
          <p:nvPr/>
        </p:nvSpPr>
        <p:spPr>
          <a:xfrm>
            <a:off x="6297015" y="1664208"/>
            <a:ext cx="5327751" cy="3822191"/>
          </a:xfrm>
          <a:prstGeom prst="roundRect">
            <a:avLst>
              <a:gd fmla="val 7000" name="adj"/>
            </a:avLst>
          </a:prstGeom>
          <a:solidFill>
            <a:srgbClr val="FBEE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13"/>
          <p:cNvSpPr txBox="1"/>
          <p:nvPr/>
        </p:nvSpPr>
        <p:spPr>
          <a:xfrm>
            <a:off x="6534759" y="1865376"/>
            <a:ext cx="4852263" cy="341985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WHAT WE DO NOT CLAIM</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 Not an interactive test — the model can never ask or repair.</a:t>
            </a:r>
            <a:endParaRPr/>
          </a:p>
          <a:p>
            <a:pPr indent="0" lvl="0" marL="0" marR="0" rtl="0" algn="l">
              <a:spcBef>
                <a:spcPts val="800"/>
              </a:spcBef>
              <a:spcAft>
                <a:spcPts val="0"/>
              </a:spcAft>
              <a:buNone/>
            </a:pPr>
            <a:r>
              <a:rPr b="0" i="0" lang="en-US" sz="1600">
                <a:solidFill>
                  <a:srgbClr val="161D41"/>
                </a:solidFill>
                <a:latin typeface="Calibri"/>
                <a:ea typeface="Calibri"/>
                <a:cs typeface="Calibri"/>
                <a:sym typeface="Calibri"/>
              </a:rPr>
              <a:t>· The full condition grid is one model; the other four get the baseline comparison only.</a:t>
            </a:r>
            <a:endParaRPr/>
          </a:p>
          <a:p>
            <a:pPr indent="0" lvl="0" marL="0" marR="0" rtl="0" algn="l">
              <a:spcBef>
                <a:spcPts val="800"/>
              </a:spcBef>
              <a:spcAft>
                <a:spcPts val="0"/>
              </a:spcAft>
              <a:buNone/>
            </a:pPr>
            <a:r>
              <a:rPr b="0" i="0" lang="en-US" sz="1600">
                <a:solidFill>
                  <a:srgbClr val="161D41"/>
                </a:solidFill>
                <a:latin typeface="Calibri"/>
                <a:ea typeface="Calibri"/>
                <a:cs typeface="Calibri"/>
                <a:sym typeface="Calibri"/>
              </a:rPr>
              <a:t>· One corpus, MapTask-specific discrepancies, strong imbalance, and a rare misunderstood class (n = 239).</a:t>
            </a:r>
            <a:endParaRPr/>
          </a:p>
          <a:p>
            <a:pPr indent="0" lvl="0" marL="0" marR="0" rtl="0" algn="l">
              <a:spcBef>
                <a:spcPts val="800"/>
              </a:spcBef>
              <a:spcAft>
                <a:spcPts val="0"/>
              </a:spcAft>
              <a:buNone/>
            </a:pPr>
            <a:r>
              <a:rPr b="0" i="0" lang="en-US" sz="1600">
                <a:solidFill>
                  <a:srgbClr val="161D41"/>
                </a:solidFill>
                <a:latin typeface="Calibri"/>
                <a:ea typeface="Calibri"/>
                <a:cs typeface="Calibri"/>
                <a:sym typeface="Calibri"/>
              </a:rPr>
              <a:t>· Textual conditions omit full spatial layout; greedy binary decoding may mask softer uncertainty.</a:t>
            </a:r>
            <a:endParaRPr/>
          </a:p>
        </p:txBody>
      </p:sp>
      <p:sp>
        <p:nvSpPr>
          <p:cNvPr id="311" name="Google Shape;311;p13"/>
          <p:cNvSpPr txBox="1"/>
          <p:nvPr/>
        </p:nvSpPr>
        <p:spPr>
          <a:xfrm>
            <a:off x="566928" y="5897880"/>
            <a:ext cx="10234879" cy="731519"/>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400">
                <a:solidFill>
                  <a:srgbClr val="5F6070"/>
                </a:solidFill>
                <a:latin typeface="Calibri"/>
                <a:ea typeface="Calibri"/>
                <a:cs typeface="Calibri"/>
                <a:sym typeface="Calibri"/>
              </a:rPr>
              <a:t>Next: interactive evaluation, further perspectivist corpora, and protocols that let a model express uncertainty and revise its judgement as the dialogue unfolds.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4"/>
          <p:cNvSpPr txBox="1"/>
          <p:nvPr/>
        </p:nvSpPr>
        <p:spPr>
          <a:xfrm>
            <a:off x="6035040" y="566928"/>
            <a:ext cx="5589727" cy="310896"/>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400">
                <a:solidFill>
                  <a:srgbClr val="161D41"/>
                </a:solidFill>
                <a:latin typeface="Calibri"/>
                <a:ea typeface="Calibri"/>
                <a:cs typeface="Calibri"/>
                <a:sym typeface="Calibri"/>
              </a:rPr>
              <a:t>CONCLUSION</a:t>
            </a:r>
            <a:endParaRPr/>
          </a:p>
        </p:txBody>
      </p:sp>
      <p:sp>
        <p:nvSpPr>
          <p:cNvPr id="318" name="Google Shape;318;p14"/>
          <p:cNvSpPr txBox="1"/>
          <p:nvPr/>
        </p:nvSpPr>
        <p:spPr>
          <a:xfrm>
            <a:off x="566928" y="1389888"/>
            <a:ext cx="10881360"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a:solidFill>
                  <a:srgbClr val="161D41"/>
                </a:solidFill>
                <a:latin typeface="Calibri"/>
                <a:ea typeface="Calibri"/>
                <a:cs typeface="Calibri"/>
                <a:sym typeface="Calibri"/>
              </a:rPr>
              <a:t>Seeing is not sharing</a:t>
            </a:r>
            <a:endParaRPr/>
          </a:p>
        </p:txBody>
      </p:sp>
      <p:sp>
        <p:nvSpPr>
          <p:cNvPr id="319" name="Google Shape;319;p14"/>
          <p:cNvSpPr txBox="1"/>
          <p:nvPr/>
        </p:nvSpPr>
        <p:spPr>
          <a:xfrm>
            <a:off x="566928" y="2212848"/>
            <a:ext cx="4572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a:solidFill>
                  <a:srgbClr val="C00935"/>
                </a:solidFill>
                <a:latin typeface="Calibri"/>
                <a:ea typeface="Calibri"/>
                <a:cs typeface="Calibri"/>
                <a:sym typeface="Calibri"/>
              </a:rPr>
              <a:t>1</a:t>
            </a:r>
            <a:endParaRPr/>
          </a:p>
        </p:txBody>
      </p:sp>
      <p:sp>
        <p:nvSpPr>
          <p:cNvPr id="320" name="Google Shape;320;p14"/>
          <p:cNvSpPr txBox="1"/>
          <p:nvPr/>
        </p:nvSpPr>
        <p:spPr>
          <a:xfrm>
            <a:off x="1133856" y="2267712"/>
            <a:ext cx="10058400" cy="73152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900">
                <a:solidFill>
                  <a:srgbClr val="161D41"/>
                </a:solidFill>
                <a:latin typeface="Calibri"/>
                <a:ea typeface="Calibri"/>
                <a:cs typeface="Calibri"/>
                <a:sym typeface="Calibri"/>
              </a:rPr>
              <a:t>Maps improve macro-F1 by reading potential referential overlap as established common ground.</a:t>
            </a:r>
            <a:endParaRPr/>
          </a:p>
        </p:txBody>
      </p:sp>
      <p:sp>
        <p:nvSpPr>
          <p:cNvPr id="321" name="Google Shape;321;p14"/>
          <p:cNvSpPr txBox="1"/>
          <p:nvPr/>
        </p:nvSpPr>
        <p:spPr>
          <a:xfrm>
            <a:off x="566928" y="3108960"/>
            <a:ext cx="4572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a:solidFill>
                  <a:srgbClr val="C00935"/>
                </a:solidFill>
                <a:latin typeface="Calibri"/>
                <a:ea typeface="Calibri"/>
                <a:cs typeface="Calibri"/>
                <a:sym typeface="Calibri"/>
              </a:rPr>
              <a:t>2</a:t>
            </a:r>
            <a:endParaRPr/>
          </a:p>
        </p:txBody>
      </p:sp>
      <p:sp>
        <p:nvSpPr>
          <p:cNvPr id="322" name="Google Shape;322;p14"/>
          <p:cNvSpPr txBox="1"/>
          <p:nvPr/>
        </p:nvSpPr>
        <p:spPr>
          <a:xfrm>
            <a:off x="1133856" y="3163824"/>
            <a:ext cx="10058400" cy="73152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900">
                <a:solidFill>
                  <a:srgbClr val="161D41"/>
                </a:solidFill>
                <a:latin typeface="Calibri"/>
                <a:ea typeface="Calibri"/>
                <a:cs typeface="Calibri"/>
                <a:sym typeface="Calibri"/>
              </a:rPr>
              <a:t>The bias travels with content, not channel — text reproduces it, content-free images reverse it.</a:t>
            </a:r>
            <a:endParaRPr/>
          </a:p>
        </p:txBody>
      </p:sp>
      <p:sp>
        <p:nvSpPr>
          <p:cNvPr id="323" name="Google Shape;323;p14"/>
          <p:cNvSpPr txBox="1"/>
          <p:nvPr/>
        </p:nvSpPr>
        <p:spPr>
          <a:xfrm>
            <a:off x="566928" y="4005072"/>
            <a:ext cx="4572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a:solidFill>
                  <a:srgbClr val="C00935"/>
                </a:solidFill>
                <a:latin typeface="Calibri"/>
                <a:ea typeface="Calibri"/>
                <a:cs typeface="Calibri"/>
                <a:sym typeface="Calibri"/>
              </a:rPr>
              <a:t>3</a:t>
            </a:r>
            <a:endParaRPr/>
          </a:p>
        </p:txBody>
      </p:sp>
      <p:sp>
        <p:nvSpPr>
          <p:cNvPr id="324" name="Google Shape;324;p14"/>
          <p:cNvSpPr txBox="1"/>
          <p:nvPr/>
        </p:nvSpPr>
        <p:spPr>
          <a:xfrm>
            <a:off x="1133856" y="4059935"/>
            <a:ext cx="10058400" cy="73152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900">
                <a:solidFill>
                  <a:srgbClr val="161D41"/>
                </a:solidFill>
                <a:latin typeface="Calibri"/>
                <a:ea typeface="Calibri"/>
                <a:cs typeface="Calibri"/>
                <a:sym typeface="Calibri"/>
              </a:rPr>
              <a:t>The cost lands where grounding matters — confident errors on pending cases.</a:t>
            </a:r>
            <a:endParaRPr/>
          </a:p>
        </p:txBody>
      </p:sp>
      <p:sp>
        <p:nvSpPr>
          <p:cNvPr id="325" name="Google Shape;325;p14"/>
          <p:cNvSpPr txBox="1"/>
          <p:nvPr/>
        </p:nvSpPr>
        <p:spPr>
          <a:xfrm>
            <a:off x="566928" y="4901184"/>
            <a:ext cx="1088136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1800">
                <a:solidFill>
                  <a:srgbClr val="161D41"/>
                </a:solidFill>
                <a:latin typeface="Calibri"/>
                <a:ea typeface="Calibri"/>
                <a:cs typeface="Calibri"/>
                <a:sym typeface="Calibri"/>
              </a:rPr>
              <a:t>These models infer what the interlocutors could be talking about — not what they have established together.</a:t>
            </a:r>
            <a:endParaRPr/>
          </a:p>
        </p:txBody>
      </p:sp>
      <p:sp>
        <p:nvSpPr>
          <p:cNvPr id="326" name="Google Shape;326;p14"/>
          <p:cNvSpPr/>
          <p:nvPr/>
        </p:nvSpPr>
        <p:spPr>
          <a:xfrm>
            <a:off x="566928" y="5394960"/>
            <a:ext cx="10881360" cy="27432"/>
          </a:xfrm>
          <a:prstGeom prst="rect">
            <a:avLst/>
          </a:prstGeom>
          <a:solidFill>
            <a:srgbClr val="161D4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14"/>
          <p:cNvSpPr/>
          <p:nvPr/>
        </p:nvSpPr>
        <p:spPr>
          <a:xfrm>
            <a:off x="566928" y="5577840"/>
            <a:ext cx="804672" cy="804672"/>
          </a:xfrm>
          <a:prstGeom prst="roundRect">
            <a:avLst>
              <a:gd fmla="val 5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qr_paper.png" id="328" name="Google Shape;328;p14"/>
          <p:cNvPicPr preferRelativeResize="0"/>
          <p:nvPr/>
        </p:nvPicPr>
        <p:blipFill rotWithShape="1">
          <a:blip r:embed="rId3">
            <a:alphaModFix/>
          </a:blip>
          <a:srcRect b="0" l="0" r="0" t="0"/>
          <a:stretch/>
        </p:blipFill>
        <p:spPr>
          <a:xfrm>
            <a:off x="630936" y="5641848"/>
            <a:ext cx="676656" cy="676656"/>
          </a:xfrm>
          <a:prstGeom prst="rect">
            <a:avLst/>
          </a:prstGeom>
          <a:noFill/>
          <a:ln>
            <a:noFill/>
          </a:ln>
        </p:spPr>
      </p:pic>
      <p:sp>
        <p:nvSpPr>
          <p:cNvPr id="329" name="Google Shape;329;p14"/>
          <p:cNvSpPr txBox="1"/>
          <p:nvPr/>
        </p:nvSpPr>
        <p:spPr>
          <a:xfrm>
            <a:off x="1499616" y="5705856"/>
            <a:ext cx="2606040" cy="6583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161D41"/>
                </a:solidFill>
                <a:latin typeface="Calibri"/>
                <a:ea typeface="Calibri"/>
                <a:cs typeface="Calibri"/>
                <a:sym typeface="Calibri"/>
              </a:rPr>
              <a:t>Paper</a:t>
            </a:r>
            <a:endParaRPr/>
          </a:p>
          <a:p>
            <a:pPr indent="0" lvl="0" marL="0" marR="0" rtl="0" algn="l">
              <a:spcBef>
                <a:spcPts val="200"/>
              </a:spcBef>
              <a:spcAft>
                <a:spcPts val="0"/>
              </a:spcAft>
              <a:buNone/>
            </a:pPr>
            <a:r>
              <a:rPr b="0" i="0" lang="en-US" sz="1250">
                <a:solidFill>
                  <a:srgbClr val="161D41"/>
                </a:solidFill>
                <a:latin typeface="Calibri"/>
                <a:ea typeface="Calibri"/>
                <a:cs typeface="Calibri"/>
                <a:sym typeface="Calibri"/>
              </a:rPr>
              <a:t>aclanthology.org/2026.sigdial-1.49</a:t>
            </a:r>
            <a:endParaRPr/>
          </a:p>
        </p:txBody>
      </p:sp>
      <p:sp>
        <p:nvSpPr>
          <p:cNvPr id="330" name="Google Shape;330;p14"/>
          <p:cNvSpPr/>
          <p:nvPr/>
        </p:nvSpPr>
        <p:spPr>
          <a:xfrm>
            <a:off x="4206240" y="5577840"/>
            <a:ext cx="804672" cy="804672"/>
          </a:xfrm>
          <a:prstGeom prst="roundRect">
            <a:avLst>
              <a:gd fmla="val 5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qr_code.png" id="331" name="Google Shape;331;p14"/>
          <p:cNvPicPr preferRelativeResize="0"/>
          <p:nvPr/>
        </p:nvPicPr>
        <p:blipFill rotWithShape="1">
          <a:blip r:embed="rId4">
            <a:alphaModFix/>
          </a:blip>
          <a:srcRect b="0" l="0" r="0" t="0"/>
          <a:stretch/>
        </p:blipFill>
        <p:spPr>
          <a:xfrm>
            <a:off x="4270248" y="5641848"/>
            <a:ext cx="676656" cy="676656"/>
          </a:xfrm>
          <a:prstGeom prst="rect">
            <a:avLst/>
          </a:prstGeom>
          <a:noFill/>
          <a:ln>
            <a:noFill/>
          </a:ln>
        </p:spPr>
      </p:pic>
      <p:sp>
        <p:nvSpPr>
          <p:cNvPr id="332" name="Google Shape;332;p14"/>
          <p:cNvSpPr txBox="1"/>
          <p:nvPr/>
        </p:nvSpPr>
        <p:spPr>
          <a:xfrm>
            <a:off x="5138927" y="5705856"/>
            <a:ext cx="2606040" cy="6583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161D41"/>
                </a:solidFill>
                <a:latin typeface="Calibri"/>
                <a:ea typeface="Calibri"/>
                <a:cs typeface="Calibri"/>
                <a:sym typeface="Calibri"/>
              </a:rPr>
              <a:t>Code + prompts</a:t>
            </a:r>
            <a:endParaRPr/>
          </a:p>
          <a:p>
            <a:pPr indent="0" lvl="0" marL="0" marR="0" rtl="0" algn="l">
              <a:spcBef>
                <a:spcPts val="200"/>
              </a:spcBef>
              <a:spcAft>
                <a:spcPts val="0"/>
              </a:spcAft>
              <a:buNone/>
            </a:pPr>
            <a:r>
              <a:rPr b="0" i="0" lang="en-US" sz="1250">
                <a:solidFill>
                  <a:srgbClr val="161D41"/>
                </a:solidFill>
                <a:latin typeface="Calibri"/>
                <a:ea typeface="Calibri"/>
                <a:cs typeface="Calibri"/>
                <a:sym typeface="Calibri"/>
              </a:rPr>
              <a:t>github.com/chnln/seeing-is-not-sharing</a:t>
            </a:r>
            <a:endParaRPr/>
          </a:p>
        </p:txBody>
      </p:sp>
      <p:sp>
        <p:nvSpPr>
          <p:cNvPr id="333" name="Google Shape;333;p14"/>
          <p:cNvSpPr/>
          <p:nvPr/>
        </p:nvSpPr>
        <p:spPr>
          <a:xfrm>
            <a:off x="7845552" y="5577840"/>
            <a:ext cx="804672" cy="804672"/>
          </a:xfrm>
          <a:prstGeom prst="roundRect">
            <a:avLst>
              <a:gd fmla="val 5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qr_data.png" id="334" name="Google Shape;334;p14"/>
          <p:cNvPicPr preferRelativeResize="0"/>
          <p:nvPr/>
        </p:nvPicPr>
        <p:blipFill rotWithShape="1">
          <a:blip r:embed="rId5">
            <a:alphaModFix/>
          </a:blip>
          <a:srcRect b="0" l="0" r="0" t="0"/>
          <a:stretch/>
        </p:blipFill>
        <p:spPr>
          <a:xfrm>
            <a:off x="7909560" y="5641848"/>
            <a:ext cx="676656" cy="676656"/>
          </a:xfrm>
          <a:prstGeom prst="rect">
            <a:avLst/>
          </a:prstGeom>
          <a:noFill/>
          <a:ln>
            <a:noFill/>
          </a:ln>
        </p:spPr>
      </p:pic>
      <p:sp>
        <p:nvSpPr>
          <p:cNvPr id="335" name="Google Shape;335;p14"/>
          <p:cNvSpPr txBox="1"/>
          <p:nvPr/>
        </p:nvSpPr>
        <p:spPr>
          <a:xfrm>
            <a:off x="8778240" y="5705856"/>
            <a:ext cx="2606040" cy="6583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161D41"/>
                </a:solidFill>
                <a:latin typeface="Calibri"/>
                <a:ea typeface="Calibri"/>
                <a:cs typeface="Calibri"/>
                <a:sym typeface="Calibri"/>
              </a:rPr>
              <a:t>SINS dataset</a:t>
            </a:r>
            <a:endParaRPr/>
          </a:p>
          <a:p>
            <a:pPr indent="0" lvl="0" marL="0" marR="0" rtl="0" algn="l">
              <a:spcBef>
                <a:spcPts val="200"/>
              </a:spcBef>
              <a:spcAft>
                <a:spcPts val="0"/>
              </a:spcAft>
              <a:buNone/>
            </a:pPr>
            <a:r>
              <a:rPr b="0" i="0" lang="en-US" sz="1250">
                <a:solidFill>
                  <a:srgbClr val="161D41"/>
                </a:solidFill>
                <a:latin typeface="Calibri"/>
                <a:ea typeface="Calibri"/>
                <a:cs typeface="Calibri"/>
                <a:sym typeface="Calibri"/>
              </a:rPr>
              <a:t>huggingface.co/datasets/chnln/…</a:t>
            </a:r>
            <a:endParaRPr/>
          </a:p>
        </p:txBody>
      </p:sp>
      <p:sp>
        <p:nvSpPr>
          <p:cNvPr id="336" name="Google Shape;336;p14"/>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161D41"/>
                </a:solidFill>
                <a:latin typeface="Calibri"/>
                <a:ea typeface="Calibri"/>
                <a:cs typeface="Calibri"/>
                <a:sym typeface="Calibri"/>
              </a:rPr>
              <a:t>14</a:t>
            </a:r>
            <a:endParaRPr/>
          </a:p>
        </p:txBody>
      </p:sp>
      <p:sp>
        <p:nvSpPr>
          <p:cNvPr id="337" name="Google Shape;337;p14"/>
          <p:cNvSpPr txBox="1"/>
          <p:nvPr/>
        </p:nvSpPr>
        <p:spPr>
          <a:xfrm>
            <a:off x="566928" y="6455664"/>
            <a:ext cx="10058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61D41"/>
                </a:solidFill>
                <a:latin typeface="Calibri"/>
                <a:ea typeface="Calibri"/>
                <a:cs typeface="Calibri"/>
                <a:sym typeface="Calibri"/>
              </a:rPr>
              <a:t>Thank you — questions welcome.    </a:t>
            </a:r>
            <a:r>
              <a:rPr b="0" i="0" lang="en-US" sz="1300">
                <a:solidFill>
                  <a:srgbClr val="161D41"/>
                </a:solidFill>
                <a:latin typeface="Calibri"/>
                <a:ea typeface="Calibri"/>
                <a:cs typeface="Calibri"/>
                <a:sym typeface="Calibri"/>
              </a:rPr>
              <a:t>Funded by NWO, AiNed Fellowship NGF.1607.22.002 — Dealing with Meaning Variation in NLP.</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5"/>
          <p:cNvSpPr txBox="1"/>
          <p:nvPr/>
        </p:nvSpPr>
        <p:spPr>
          <a:xfrm>
            <a:off x="566928" y="365760"/>
            <a:ext cx="11057839"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5F6070"/>
                </a:solidFill>
                <a:latin typeface="Calibri"/>
                <a:ea typeface="Calibri"/>
                <a:cs typeface="Calibri"/>
                <a:sym typeface="Calibri"/>
              </a:rPr>
              <a:t>BACKUP</a:t>
            </a:r>
            <a:endParaRPr/>
          </a:p>
        </p:txBody>
      </p:sp>
      <p:sp>
        <p:nvSpPr>
          <p:cNvPr id="344" name="Google Shape;344;p15"/>
          <p:cNvSpPr txBox="1"/>
          <p:nvPr/>
        </p:nvSpPr>
        <p:spPr>
          <a:xfrm>
            <a:off x="566928" y="694944"/>
            <a:ext cx="11057839"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61D41"/>
                </a:solidFill>
                <a:latin typeface="Calibri"/>
                <a:ea typeface="Calibri"/>
                <a:cs typeface="Calibri"/>
                <a:sym typeface="Calibri"/>
              </a:rPr>
              <a:t>Baseline and modality results (Qwen3-VL-8B, startT)</a:t>
            </a:r>
            <a:endParaRPr/>
          </a:p>
        </p:txBody>
      </p:sp>
      <p:sp>
        <p:nvSpPr>
          <p:cNvPr id="345" name="Google Shape;345;p15"/>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8A8A8A"/>
                </a:solidFill>
                <a:latin typeface="Calibri"/>
                <a:ea typeface="Calibri"/>
                <a:cs typeface="Calibri"/>
                <a:sym typeface="Calibri"/>
              </a:rPr>
              <a:t>B1</a:t>
            </a:r>
            <a:endParaRPr/>
          </a:p>
        </p:txBody>
      </p:sp>
      <p:graphicFrame>
        <p:nvGraphicFramePr>
          <p:cNvPr id="346" name="Google Shape;346;p15"/>
          <p:cNvGraphicFramePr/>
          <p:nvPr/>
        </p:nvGraphicFramePr>
        <p:xfrm>
          <a:off x="566928" y="1783080"/>
          <a:ext cx="3000000" cy="3000000"/>
        </p:xfrm>
        <a:graphic>
          <a:graphicData uri="http://schemas.openxmlformats.org/drawingml/2006/table">
            <a:tbl>
              <a:tblPr>
                <a:noFill/>
                <a:tableStyleId>{1C4E8F86-5123-4073-946B-92C1E0C31575}</a:tableStyleId>
              </a:tblPr>
              <a:tblGrid>
                <a:gridCol w="3108950"/>
                <a:gridCol w="1188725"/>
                <a:gridCol w="1097275"/>
                <a:gridCol w="1097275"/>
                <a:gridCol w="1188725"/>
              </a:tblGrid>
              <a:tr h="396250">
                <a:tc>
                  <a:txBody>
                    <a:bodyPr/>
                    <a:lstStyle/>
                    <a:p>
                      <a:pPr indent="0" lvl="0" marL="0" marR="0" rtl="0" algn="l">
                        <a:spcBef>
                          <a:spcPts val="0"/>
                        </a:spcBef>
                        <a:spcAft>
                          <a:spcPts val="0"/>
                        </a:spcAft>
                        <a:buNone/>
                      </a:pPr>
                      <a:r>
                        <a:rPr b="1" lang="en-US" sz="1400" u="none" cap="none" strike="noStrike">
                          <a:solidFill>
                            <a:srgbClr val="161D41"/>
                          </a:solidFill>
                          <a:latin typeface="Calibri"/>
                          <a:ea typeface="Calibri"/>
                          <a:cs typeface="Calibri"/>
                          <a:sym typeface="Calibri"/>
                        </a:rPr>
                        <a:t>Map information</a:t>
                      </a:r>
                      <a:endParaRPr/>
                    </a:p>
                  </a:txBody>
                  <a:tcPr marT="27425" marB="27425" marR="73150" marL="73150" anchor="ctr">
                    <a:solidFill>
                      <a:srgbClr val="F2F3F7"/>
                    </a:solidFill>
                  </a:tcPr>
                </a:tc>
                <a:tc>
                  <a:txBody>
                    <a:bodyPr/>
                    <a:lstStyle/>
                    <a:p>
                      <a:pPr indent="0" lvl="0" marL="0" marR="0" rtl="0" algn="ctr">
                        <a:spcBef>
                          <a:spcPts val="0"/>
                        </a:spcBef>
                        <a:spcAft>
                          <a:spcPts val="0"/>
                        </a:spcAft>
                        <a:buNone/>
                      </a:pPr>
                      <a:r>
                        <a:rPr b="1" lang="en-US" sz="1400" u="none" cap="none" strike="noStrike">
                          <a:solidFill>
                            <a:srgbClr val="161D41"/>
                          </a:solidFill>
                          <a:latin typeface="Calibri"/>
                          <a:ea typeface="Calibri"/>
                          <a:cs typeface="Calibri"/>
                          <a:sym typeface="Calibri"/>
                        </a:rPr>
                        <a:t>F1-macro</a:t>
                      </a:r>
                      <a:endParaRPr/>
                    </a:p>
                  </a:txBody>
                  <a:tcPr marT="27425" marB="27425" marR="73150" marL="73150" anchor="ctr">
                    <a:solidFill>
                      <a:srgbClr val="F2F3F7"/>
                    </a:solidFill>
                  </a:tcPr>
                </a:tc>
                <a:tc>
                  <a:txBody>
                    <a:bodyPr/>
                    <a:lstStyle/>
                    <a:p>
                      <a:pPr indent="0" lvl="0" marL="0" marR="0" rtl="0" algn="ctr">
                        <a:spcBef>
                          <a:spcPts val="0"/>
                        </a:spcBef>
                        <a:spcAft>
                          <a:spcPts val="0"/>
                        </a:spcAft>
                        <a:buNone/>
                      </a:pPr>
                      <a:r>
                        <a:rPr b="1" lang="en-US" sz="1400" u="none" cap="none" strike="noStrike">
                          <a:solidFill>
                            <a:srgbClr val="161D41"/>
                          </a:solidFill>
                          <a:latin typeface="Calibri"/>
                          <a:ea typeface="Calibri"/>
                          <a:cs typeface="Calibri"/>
                          <a:sym typeface="Calibri"/>
                        </a:rPr>
                        <a:t>R-pos</a:t>
                      </a:r>
                      <a:endParaRPr/>
                    </a:p>
                  </a:txBody>
                  <a:tcPr marT="27425" marB="27425" marR="73150" marL="73150" anchor="ctr">
                    <a:solidFill>
                      <a:srgbClr val="F2F3F7"/>
                    </a:solidFill>
                  </a:tcPr>
                </a:tc>
                <a:tc>
                  <a:txBody>
                    <a:bodyPr/>
                    <a:lstStyle/>
                    <a:p>
                      <a:pPr indent="0" lvl="0" marL="0" marR="0" rtl="0" algn="ctr">
                        <a:spcBef>
                          <a:spcPts val="0"/>
                        </a:spcBef>
                        <a:spcAft>
                          <a:spcPts val="0"/>
                        </a:spcAft>
                        <a:buNone/>
                      </a:pPr>
                      <a:r>
                        <a:rPr b="1" lang="en-US" sz="1400" u="none" cap="none" strike="noStrike">
                          <a:solidFill>
                            <a:srgbClr val="161D41"/>
                          </a:solidFill>
                          <a:latin typeface="Calibri"/>
                          <a:ea typeface="Calibri"/>
                          <a:cs typeface="Calibri"/>
                          <a:sym typeface="Calibri"/>
                        </a:rPr>
                        <a:t>R-neg</a:t>
                      </a:r>
                      <a:endParaRPr/>
                    </a:p>
                  </a:txBody>
                  <a:tcPr marT="27425" marB="27425" marR="73150" marL="73150" anchor="ctr">
                    <a:solidFill>
                      <a:srgbClr val="F2F3F7"/>
                    </a:solidFill>
                  </a:tcPr>
                </a:tc>
                <a:tc>
                  <a:txBody>
                    <a:bodyPr/>
                    <a:lstStyle/>
                    <a:p>
                      <a:pPr indent="0" lvl="0" marL="0" marR="0" rtl="0" algn="ctr">
                        <a:spcBef>
                          <a:spcPts val="0"/>
                        </a:spcBef>
                        <a:spcAft>
                          <a:spcPts val="0"/>
                        </a:spcAft>
                        <a:buNone/>
                      </a:pPr>
                      <a:r>
                        <a:rPr b="1" lang="en-US" sz="1400" u="none" cap="none" strike="noStrike">
                          <a:solidFill>
                            <a:srgbClr val="161D41"/>
                          </a:solidFill>
                          <a:latin typeface="Calibri"/>
                          <a:ea typeface="Calibri"/>
                          <a:cs typeface="Calibri"/>
                          <a:sym typeface="Calibri"/>
                        </a:rPr>
                        <a:t>Yes-rate</a:t>
                      </a:r>
                      <a:endParaRPr/>
                    </a:p>
                  </a:txBody>
                  <a:tcPr marT="27425" marB="27425" marR="73150" marL="73150" anchor="ctr">
                    <a:solidFill>
                      <a:srgbClr val="F2F3F7"/>
                    </a:solidFill>
                  </a:tcPr>
                </a:tc>
              </a:tr>
              <a:tr h="396250">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Text-only</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.591</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.590</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.677</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.515</a:t>
                      </a:r>
                      <a:endParaRPr/>
                    </a:p>
                  </a:txBody>
                  <a:tcPr marT="27425" marB="27425" marR="73150" marL="73150" anchor="ctr">
                    <a:solidFill>
                      <a:srgbClr val="FFFFFF"/>
                    </a:solidFill>
                  </a:tcPr>
                </a:tc>
              </a:tr>
              <a:tr h="396250">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Both maps</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.671</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.822</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.518</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.727</a:t>
                      </a:r>
                      <a:endParaRPr/>
                    </a:p>
                  </a:txBody>
                  <a:tcPr marT="27425" marB="27425" marR="73150" marL="73150" anchor="ctr">
                    <a:solidFill>
                      <a:srgbClr val="FFFFFF"/>
                    </a:solidFill>
                  </a:tcPr>
                </a:tc>
              </a:tr>
              <a:tr h="396250">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Giver-only</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.669</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.879</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.436</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.791</a:t>
                      </a:r>
                      <a:endParaRPr/>
                    </a:p>
                  </a:txBody>
                  <a:tcPr marT="27425" marB="27425" marR="73150" marL="73150" anchor="ctr">
                    <a:solidFill>
                      <a:srgbClr val="FFFFFF"/>
                    </a:solidFill>
                  </a:tcPr>
                </a:tc>
              </a:tr>
              <a:tr h="396250">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Follower-only</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.650</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.872</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.408</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.794</a:t>
                      </a:r>
                      <a:endParaRPr/>
                    </a:p>
                  </a:txBody>
                  <a:tcPr marT="27425" marB="27425" marR="73150" marL="73150" anchor="ctr">
                    <a:solidFill>
                      <a:srgbClr val="FFFFFF"/>
                    </a:solidFill>
                  </a:tcPr>
                </a:tc>
              </a:tr>
              <a:tr h="396250">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Landmark names (text)</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.636</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.756</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.533</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.675</a:t>
                      </a:r>
                      <a:endParaRPr/>
                    </a:p>
                  </a:txBody>
                  <a:tcPr marT="27425" marB="27425" marR="73150" marL="73150" anchor="ctr">
                    <a:solidFill>
                      <a:srgbClr val="FFFFFF"/>
                    </a:solidFill>
                  </a:tcPr>
                </a:tc>
              </a:tr>
              <a:tr h="396250">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Discrepancy description (text)</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.668</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.810</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.528</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.716</a:t>
                      </a:r>
                      <a:endParaRPr/>
                    </a:p>
                  </a:txBody>
                  <a:tcPr marT="27425" marB="27425" marR="73150" marL="73150" anchor="ctr">
                    <a:solidFill>
                      <a:srgbClr val="FFFFFF"/>
                    </a:solidFill>
                  </a:tcPr>
                </a:tc>
              </a:tr>
              <a:tr h="396250">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Blank maps</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.407</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.220</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.910</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.184</a:t>
                      </a:r>
                      <a:endParaRPr/>
                    </a:p>
                  </a:txBody>
                  <a:tcPr marT="27425" marB="27425" marR="73150" marL="73150" anchor="ctr">
                    <a:solidFill>
                      <a:srgbClr val="FFFFFF"/>
                    </a:solidFill>
                  </a:tcPr>
                </a:tc>
              </a:tr>
              <a:tr h="396250">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Shuffled maps</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.402</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.222</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.884</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.193</a:t>
                      </a:r>
                      <a:endParaRPr/>
                    </a:p>
                  </a:txBody>
                  <a:tcPr marT="27425" marB="27425" marR="73150" marL="73150" anchor="ctr">
                    <a:solidFill>
                      <a:srgbClr val="FFFFFF"/>
                    </a:solidFill>
                  </a:tcPr>
                </a:tc>
              </a:tr>
            </a:tbl>
          </a:graphicData>
        </a:graphic>
      </p:graphicFrame>
      <p:sp>
        <p:nvSpPr>
          <p:cNvPr id="347" name="Google Shape;347;p15"/>
          <p:cNvSpPr/>
          <p:nvPr/>
        </p:nvSpPr>
        <p:spPr>
          <a:xfrm>
            <a:off x="8631936" y="1783080"/>
            <a:ext cx="2992831" cy="3566160"/>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15"/>
          <p:cNvSpPr txBox="1"/>
          <p:nvPr/>
        </p:nvSpPr>
        <p:spPr>
          <a:xfrm>
            <a:off x="8869680" y="1984248"/>
            <a:ext cx="2517343" cy="316382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61D41"/>
                </a:solidFill>
                <a:latin typeface="Calibri"/>
                <a:ea typeface="Calibri"/>
                <a:cs typeface="Calibri"/>
                <a:sym typeface="Calibri"/>
              </a:rPr>
              <a:t>READING THE TABLE</a:t>
            </a:r>
            <a:endParaRPr/>
          </a:p>
          <a:p>
            <a:pPr indent="0" lvl="0" marL="0" marR="0" rtl="0" algn="l">
              <a:spcBef>
                <a:spcPts val="700"/>
              </a:spcBef>
              <a:spcAft>
                <a:spcPts val="0"/>
              </a:spcAft>
              <a:buNone/>
            </a:pPr>
            <a:r>
              <a:rPr b="0" i="0" lang="en-US" sz="1500">
                <a:solidFill>
                  <a:srgbClr val="161D41"/>
                </a:solidFill>
                <a:latin typeface="Calibri"/>
                <a:ea typeface="Calibri"/>
                <a:cs typeface="Calibri"/>
                <a:sym typeface="Calibri"/>
              </a:rPr>
              <a:t>R-pos = recall on aligned; R-neg = recall on not-aligned.</a:t>
            </a:r>
            <a:endParaRPr/>
          </a:p>
          <a:p>
            <a:pPr indent="0" lvl="0" marL="0" marR="0" rtl="0" algn="l">
              <a:spcBef>
                <a:spcPts val="800"/>
              </a:spcBef>
              <a:spcAft>
                <a:spcPts val="0"/>
              </a:spcAft>
              <a:buNone/>
            </a:pPr>
            <a:r>
              <a:rPr b="0" i="0" lang="en-US" sz="1500">
                <a:solidFill>
                  <a:srgbClr val="161D41"/>
                </a:solidFill>
                <a:latin typeface="Calibri"/>
                <a:ea typeface="Calibri"/>
                <a:cs typeface="Calibri"/>
                <a:sym typeface="Calibri"/>
              </a:rPr>
              <a:t>Gold aligned rate: .721.</a:t>
            </a:r>
            <a:endParaRPr/>
          </a:p>
          <a:p>
            <a:pPr indent="0" lvl="0" marL="0" marR="0" rtl="0" algn="l">
              <a:spcBef>
                <a:spcPts val="800"/>
              </a:spcBef>
              <a:spcAft>
                <a:spcPts val="0"/>
              </a:spcAft>
              <a:buNone/>
            </a:pPr>
            <a:r>
              <a:rPr b="0" i="0" lang="en-US" sz="1500">
                <a:solidFill>
                  <a:srgbClr val="161D41"/>
                </a:solidFill>
                <a:latin typeface="Calibri"/>
                <a:ea typeface="Calibri"/>
                <a:cs typeface="Calibri"/>
                <a:sym typeface="Calibri"/>
              </a:rPr>
              <a:t>n = 13,077 for every row.</a:t>
            </a:r>
            <a:endParaRPr/>
          </a:p>
        </p:txBody>
      </p:sp>
      <p:sp>
        <p:nvSpPr>
          <p:cNvPr id="349" name="Google Shape;349;p15"/>
          <p:cNvSpPr txBox="1"/>
          <p:nvPr/>
        </p:nvSpPr>
        <p:spPr>
          <a:xfrm>
            <a:off x="566928" y="5897880"/>
            <a:ext cx="10234879" cy="731519"/>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400">
                <a:solidFill>
                  <a:srgbClr val="5F6070"/>
                </a:solidFill>
                <a:latin typeface="Calibri"/>
                <a:ea typeface="Calibri"/>
                <a:cs typeface="Calibri"/>
                <a:sym typeface="Calibri"/>
              </a:rPr>
              <a:t>Tables 1 and 2 of the paper. Single-map conditions amplify the bias; both maps moderate it slightly via cross-map discrepancy evidence.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16"/>
          <p:cNvSpPr txBox="1"/>
          <p:nvPr/>
        </p:nvSpPr>
        <p:spPr>
          <a:xfrm>
            <a:off x="566928" y="365760"/>
            <a:ext cx="11057839"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5F6070"/>
                </a:solidFill>
                <a:latin typeface="Calibri"/>
                <a:ea typeface="Calibri"/>
                <a:cs typeface="Calibri"/>
                <a:sym typeface="Calibri"/>
              </a:rPr>
              <a:t>BACKUP</a:t>
            </a:r>
            <a:endParaRPr/>
          </a:p>
        </p:txBody>
      </p:sp>
      <p:sp>
        <p:nvSpPr>
          <p:cNvPr id="356" name="Google Shape;356;p16"/>
          <p:cNvSpPr txBox="1"/>
          <p:nvPr/>
        </p:nvSpPr>
        <p:spPr>
          <a:xfrm>
            <a:off x="566928" y="694944"/>
            <a:ext cx="11057839"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61D41"/>
                </a:solidFill>
                <a:latin typeface="Calibri"/>
                <a:ea typeface="Calibri"/>
                <a:cs typeface="Calibri"/>
                <a:sym typeface="Calibri"/>
              </a:rPr>
              <a:t>Accuracy by gold grounding status, with significance</a:t>
            </a:r>
            <a:endParaRPr/>
          </a:p>
        </p:txBody>
      </p:sp>
      <p:sp>
        <p:nvSpPr>
          <p:cNvPr id="357" name="Google Shape;357;p16"/>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8A8A8A"/>
                </a:solidFill>
                <a:latin typeface="Calibri"/>
                <a:ea typeface="Calibri"/>
                <a:cs typeface="Calibri"/>
                <a:sym typeface="Calibri"/>
              </a:rPr>
              <a:t>B2</a:t>
            </a:r>
            <a:endParaRPr/>
          </a:p>
        </p:txBody>
      </p:sp>
      <p:graphicFrame>
        <p:nvGraphicFramePr>
          <p:cNvPr id="358" name="Google Shape;358;p16"/>
          <p:cNvGraphicFramePr/>
          <p:nvPr/>
        </p:nvGraphicFramePr>
        <p:xfrm>
          <a:off x="566928" y="1783080"/>
          <a:ext cx="3000000" cy="3000000"/>
        </p:xfrm>
        <a:graphic>
          <a:graphicData uri="http://schemas.openxmlformats.org/drawingml/2006/table">
            <a:tbl>
              <a:tblPr>
                <a:noFill/>
                <a:tableStyleId>{1C4E8F86-5123-4073-946B-92C1E0C31575}</a:tableStyleId>
              </a:tblPr>
              <a:tblGrid>
                <a:gridCol w="2834650"/>
                <a:gridCol w="1371600"/>
                <a:gridCol w="1371600"/>
                <a:gridCol w="1371600"/>
              </a:tblGrid>
              <a:tr h="436875">
                <a:tc>
                  <a:txBody>
                    <a:bodyPr/>
                    <a:lstStyle/>
                    <a:p>
                      <a:pPr indent="0" lvl="0" marL="0" marR="0" rtl="0" algn="l">
                        <a:spcBef>
                          <a:spcPts val="0"/>
                        </a:spcBef>
                        <a:spcAft>
                          <a:spcPts val="0"/>
                        </a:spcAft>
                        <a:buNone/>
                      </a:pPr>
                      <a:r>
                        <a:rPr b="1" lang="en-US" sz="1400" u="none" cap="none" strike="noStrike">
                          <a:solidFill>
                            <a:srgbClr val="161D41"/>
                          </a:solidFill>
                          <a:latin typeface="Calibri"/>
                          <a:ea typeface="Calibri"/>
                          <a:cs typeface="Calibri"/>
                          <a:sym typeface="Calibri"/>
                        </a:rPr>
                        <a:t>Condition</a:t>
                      </a:r>
                      <a:endParaRPr/>
                    </a:p>
                  </a:txBody>
                  <a:tcPr marT="27425" marB="27425" marR="73150" marL="73150" anchor="ctr">
                    <a:solidFill>
                      <a:srgbClr val="F2F3F7"/>
                    </a:solidFill>
                  </a:tcPr>
                </a:tc>
                <a:tc>
                  <a:txBody>
                    <a:bodyPr/>
                    <a:lstStyle/>
                    <a:p>
                      <a:pPr indent="0" lvl="0" marL="0" marR="0" rtl="0" algn="ctr">
                        <a:spcBef>
                          <a:spcPts val="0"/>
                        </a:spcBef>
                        <a:spcAft>
                          <a:spcPts val="0"/>
                        </a:spcAft>
                        <a:buNone/>
                      </a:pPr>
                      <a:r>
                        <a:rPr b="1" lang="en-US" sz="1400" u="none" cap="none" strike="noStrike">
                          <a:solidFill>
                            <a:srgbClr val="161D41"/>
                          </a:solidFill>
                          <a:latin typeface="Calibri"/>
                          <a:ea typeface="Calibri"/>
                          <a:cs typeface="Calibri"/>
                          <a:sym typeface="Calibri"/>
                        </a:rPr>
                        <a:t>Aligned</a:t>
                      </a:r>
                      <a:endParaRPr/>
                    </a:p>
                  </a:txBody>
                  <a:tcPr marT="27425" marB="27425" marR="73150" marL="73150" anchor="ctr">
                    <a:solidFill>
                      <a:srgbClr val="F2F3F7"/>
                    </a:solidFill>
                  </a:tcPr>
                </a:tc>
                <a:tc>
                  <a:txBody>
                    <a:bodyPr/>
                    <a:lstStyle/>
                    <a:p>
                      <a:pPr indent="0" lvl="0" marL="0" marR="0" rtl="0" algn="ctr">
                        <a:spcBef>
                          <a:spcPts val="0"/>
                        </a:spcBef>
                        <a:spcAft>
                          <a:spcPts val="0"/>
                        </a:spcAft>
                        <a:buNone/>
                      </a:pPr>
                      <a:r>
                        <a:rPr b="1" lang="en-US" sz="1400" u="none" cap="none" strike="noStrike">
                          <a:solidFill>
                            <a:srgbClr val="161D41"/>
                          </a:solidFill>
                          <a:latin typeface="Calibri"/>
                          <a:ea typeface="Calibri"/>
                          <a:cs typeface="Calibri"/>
                          <a:sym typeface="Calibri"/>
                        </a:rPr>
                        <a:t>Pending</a:t>
                      </a:r>
                      <a:endParaRPr/>
                    </a:p>
                  </a:txBody>
                  <a:tcPr marT="27425" marB="27425" marR="73150" marL="73150" anchor="ctr">
                    <a:solidFill>
                      <a:srgbClr val="F2F3F7"/>
                    </a:solidFill>
                  </a:tcPr>
                </a:tc>
                <a:tc>
                  <a:txBody>
                    <a:bodyPr/>
                    <a:lstStyle/>
                    <a:p>
                      <a:pPr indent="0" lvl="0" marL="0" marR="0" rtl="0" algn="ctr">
                        <a:spcBef>
                          <a:spcPts val="0"/>
                        </a:spcBef>
                        <a:spcAft>
                          <a:spcPts val="0"/>
                        </a:spcAft>
                        <a:buNone/>
                      </a:pPr>
                      <a:r>
                        <a:rPr b="1" lang="en-US" sz="1400" u="none" cap="none" strike="noStrike">
                          <a:solidFill>
                            <a:srgbClr val="161D41"/>
                          </a:solidFill>
                          <a:latin typeface="Calibri"/>
                          <a:ea typeface="Calibri"/>
                          <a:cs typeface="Calibri"/>
                          <a:sym typeface="Calibri"/>
                        </a:rPr>
                        <a:t>Misund.</a:t>
                      </a:r>
                      <a:endParaRPr/>
                    </a:p>
                  </a:txBody>
                  <a:tcPr marT="27425" marB="27425" marR="73150" marL="73150" anchor="ctr">
                    <a:solidFill>
                      <a:srgbClr val="F2F3F7"/>
                    </a:solidFill>
                  </a:tcPr>
                </a:tc>
              </a:tr>
              <a:tr h="436875">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Text-only</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.590</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.691</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.473</a:t>
                      </a:r>
                      <a:endParaRPr/>
                    </a:p>
                  </a:txBody>
                  <a:tcPr marT="27425" marB="27425" marR="73150" marL="73150" anchor="ctr">
                    <a:solidFill>
                      <a:srgbClr val="FFFFFF"/>
                    </a:solidFill>
                  </a:tcPr>
                </a:tc>
              </a:tr>
              <a:tr h="436875">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Both maps</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.822</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.523</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.456</a:t>
                      </a:r>
                      <a:endParaRPr/>
                    </a:p>
                  </a:txBody>
                  <a:tcPr marT="27425" marB="27425" marR="73150" marL="73150" anchor="ctr">
                    <a:solidFill>
                      <a:srgbClr val="FFFFFF"/>
                    </a:solidFill>
                  </a:tcPr>
                </a:tc>
              </a:tr>
              <a:tr h="436875">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Giver-only</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.879</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.441</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.372</a:t>
                      </a:r>
                      <a:endParaRPr/>
                    </a:p>
                  </a:txBody>
                  <a:tcPr marT="27425" marB="27425" marR="73150" marL="73150" anchor="ctr">
                    <a:solidFill>
                      <a:srgbClr val="FFFFFF"/>
                    </a:solidFill>
                  </a:tcPr>
                </a:tc>
              </a:tr>
              <a:tr h="436875">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Follower-only</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.872</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.419</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.255</a:t>
                      </a:r>
                      <a:endParaRPr/>
                    </a:p>
                  </a:txBody>
                  <a:tcPr marT="27425" marB="27425" marR="73150" marL="73150" anchor="ctr">
                    <a:solidFill>
                      <a:srgbClr val="FFFFFF"/>
                    </a:solidFill>
                  </a:tcPr>
                </a:tc>
              </a:tr>
              <a:tr h="436875">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Landmark names (text)</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.756</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.544</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.372</a:t>
                      </a:r>
                      <a:endParaRPr/>
                    </a:p>
                  </a:txBody>
                  <a:tcPr marT="27425" marB="27425" marR="73150" marL="73150" anchor="ctr">
                    <a:solidFill>
                      <a:srgbClr val="FFFFFF"/>
                    </a:solidFill>
                  </a:tcPr>
                </a:tc>
              </a:tr>
              <a:tr h="436875">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Discrepancy desc. (text)</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.810</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.540</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.368</a:t>
                      </a:r>
                      <a:endParaRPr/>
                    </a:p>
                  </a:txBody>
                  <a:tcPr marT="27425" marB="27425" marR="73150" marL="73150" anchor="ctr">
                    <a:solidFill>
                      <a:srgbClr val="FFFFFF"/>
                    </a:solidFill>
                  </a:tcPr>
                </a:tc>
              </a:tr>
              <a:tr h="436875">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Blank maps</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.220</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.913</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.866</a:t>
                      </a:r>
                      <a:endParaRPr/>
                    </a:p>
                  </a:txBody>
                  <a:tcPr marT="27425" marB="27425" marR="73150" marL="73150" anchor="ctr">
                    <a:solidFill>
                      <a:srgbClr val="FFFFFF"/>
                    </a:solidFill>
                  </a:tcPr>
                </a:tc>
              </a:tr>
              <a:tr h="436875">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Shuffled maps</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.222</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.886</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.858</a:t>
                      </a:r>
                      <a:endParaRPr/>
                    </a:p>
                  </a:txBody>
                  <a:tcPr marT="27425" marB="27425" marR="73150" marL="73150" anchor="ctr">
                    <a:solidFill>
                      <a:srgbClr val="FFFFFF"/>
                    </a:solidFill>
                  </a:tcPr>
                </a:tc>
              </a:tr>
            </a:tbl>
          </a:graphicData>
        </a:graphic>
      </p:graphicFrame>
      <p:sp>
        <p:nvSpPr>
          <p:cNvPr id="359" name="Google Shape;359;p16"/>
          <p:cNvSpPr/>
          <p:nvPr/>
        </p:nvSpPr>
        <p:spPr>
          <a:xfrm>
            <a:off x="7900415" y="1783080"/>
            <a:ext cx="3724351" cy="3931920"/>
          </a:xfrm>
          <a:prstGeom prst="roundRect">
            <a:avLst>
              <a:gd fmla="val 7000" name="adj"/>
            </a:avLst>
          </a:prstGeom>
          <a:solidFill>
            <a:srgbClr val="FBEE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16"/>
          <p:cNvSpPr txBox="1"/>
          <p:nvPr/>
        </p:nvSpPr>
        <p:spPr>
          <a:xfrm>
            <a:off x="8138159" y="1984248"/>
            <a:ext cx="3248863" cy="352958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MCNEMAR TESTS</a:t>
            </a:r>
            <a:endParaRPr/>
          </a:p>
          <a:p>
            <a:pPr indent="0" lvl="0" marL="0" marR="0" rtl="0" algn="l">
              <a:spcBef>
                <a:spcPts val="700"/>
              </a:spcBef>
              <a:spcAft>
                <a:spcPts val="0"/>
              </a:spcAft>
              <a:buNone/>
            </a:pPr>
            <a:r>
              <a:rPr b="0" i="0" lang="en-US" sz="1500">
                <a:solidFill>
                  <a:srgbClr val="161D41"/>
                </a:solidFill>
                <a:latin typeface="Calibri"/>
                <a:ea typeface="Calibri"/>
                <a:cs typeface="Calibri"/>
                <a:sym typeface="Calibri"/>
              </a:rPr>
              <a:t>Pending: p &lt; 10⁻⁶ for every authentic-map condition.</a:t>
            </a:r>
            <a:endParaRPr/>
          </a:p>
          <a:p>
            <a:pPr indent="0" lvl="0" marL="0" marR="0" rtl="0" algn="l">
              <a:spcBef>
                <a:spcPts val="800"/>
              </a:spcBef>
              <a:spcAft>
                <a:spcPts val="0"/>
              </a:spcAft>
              <a:buNone/>
            </a:pPr>
            <a:r>
              <a:rPr b="0" i="0" lang="en-US" sz="1500">
                <a:solidFill>
                  <a:srgbClr val="161D41"/>
                </a:solidFill>
                <a:latin typeface="Calibri"/>
                <a:ea typeface="Calibri"/>
                <a:cs typeface="Calibri"/>
                <a:sym typeface="Calibri"/>
              </a:rPr>
              <a:t>Misunderstood — both maps: p = .724 (n.s.).</a:t>
            </a:r>
            <a:endParaRPr/>
          </a:p>
          <a:p>
            <a:pPr indent="0" lvl="0" marL="0" marR="0" rtl="0" algn="l">
              <a:spcBef>
                <a:spcPts val="600"/>
              </a:spcBef>
              <a:spcAft>
                <a:spcPts val="0"/>
              </a:spcAft>
              <a:buNone/>
            </a:pPr>
            <a:r>
              <a:rPr b="0" i="0" lang="en-US" sz="1500">
                <a:solidFill>
                  <a:srgbClr val="161D41"/>
                </a:solidFill>
                <a:latin typeface="Calibri"/>
                <a:ea typeface="Calibri"/>
                <a:cs typeface="Calibri"/>
                <a:sym typeface="Calibri"/>
              </a:rPr>
              <a:t>Misunderstood — giver-only: p = 8 × 10⁻³; follower-only: p = 3 × 10⁻⁹.</a:t>
            </a:r>
            <a:endParaRPr/>
          </a:p>
        </p:txBody>
      </p:sp>
      <p:sp>
        <p:nvSpPr>
          <p:cNvPr id="361" name="Google Shape;361;p16"/>
          <p:cNvSpPr txBox="1"/>
          <p:nvPr/>
        </p:nvSpPr>
        <p:spPr>
          <a:xfrm>
            <a:off x="566928" y="5897880"/>
            <a:ext cx="10234879" cy="731519"/>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400">
                <a:solidFill>
                  <a:srgbClr val="5F6070"/>
                </a:solidFill>
                <a:latin typeface="Calibri"/>
                <a:ea typeface="Calibri"/>
                <a:cs typeface="Calibri"/>
                <a:sym typeface="Calibri"/>
              </a:rPr>
              <a:t>Table 4. n = 9,435 / 3,403 / 239. Blank maps score high on pending and misunderstood only because they answer NO to almost everything (yes-rate .184).</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17"/>
          <p:cNvSpPr txBox="1"/>
          <p:nvPr/>
        </p:nvSpPr>
        <p:spPr>
          <a:xfrm>
            <a:off x="566928" y="365760"/>
            <a:ext cx="11057839"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5F6070"/>
                </a:solidFill>
                <a:latin typeface="Calibri"/>
                <a:ea typeface="Calibri"/>
                <a:cs typeface="Calibri"/>
                <a:sym typeface="Calibri"/>
              </a:rPr>
              <a:t>BACKUP</a:t>
            </a:r>
            <a:endParaRPr/>
          </a:p>
        </p:txBody>
      </p:sp>
      <p:sp>
        <p:nvSpPr>
          <p:cNvPr id="368" name="Google Shape;368;p17"/>
          <p:cNvSpPr txBox="1"/>
          <p:nvPr/>
        </p:nvSpPr>
        <p:spPr>
          <a:xfrm>
            <a:off x="566928" y="694944"/>
            <a:ext cx="11057839"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61D41"/>
                </a:solidFill>
                <a:latin typeface="Calibri"/>
                <a:ea typeface="Calibri"/>
                <a:cs typeface="Calibri"/>
                <a:sym typeface="Calibri"/>
              </a:rPr>
              <a:t>Calibration by gold label</a:t>
            </a:r>
            <a:endParaRPr/>
          </a:p>
        </p:txBody>
      </p:sp>
      <p:sp>
        <p:nvSpPr>
          <p:cNvPr id="369" name="Google Shape;369;p17"/>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8A8A8A"/>
                </a:solidFill>
                <a:latin typeface="Calibri"/>
                <a:ea typeface="Calibri"/>
                <a:cs typeface="Calibri"/>
                <a:sym typeface="Calibri"/>
              </a:rPr>
              <a:t>B3</a:t>
            </a:r>
            <a:endParaRPr/>
          </a:p>
        </p:txBody>
      </p:sp>
      <p:graphicFrame>
        <p:nvGraphicFramePr>
          <p:cNvPr id="370" name="Google Shape;370;p17"/>
          <p:cNvGraphicFramePr/>
          <p:nvPr/>
        </p:nvGraphicFramePr>
        <p:xfrm>
          <a:off x="566928" y="1783080"/>
          <a:ext cx="3000000" cy="3000000"/>
        </p:xfrm>
        <a:graphic>
          <a:graphicData uri="http://schemas.openxmlformats.org/drawingml/2006/table">
            <a:tbl>
              <a:tblPr>
                <a:noFill/>
                <a:tableStyleId>{1C4E8F86-5123-4073-946B-92C1E0C31575}</a:tableStyleId>
              </a:tblPr>
              <a:tblGrid>
                <a:gridCol w="2011675"/>
                <a:gridCol w="1005850"/>
                <a:gridCol w="1188725"/>
                <a:gridCol w="1188725"/>
                <a:gridCol w="1188725"/>
              </a:tblGrid>
              <a:tr h="438900">
                <a:tc>
                  <a:txBody>
                    <a:bodyPr/>
                    <a:lstStyle/>
                    <a:p>
                      <a:pPr indent="0" lvl="0" marL="0" marR="0" rtl="0" algn="l">
                        <a:spcBef>
                          <a:spcPts val="0"/>
                        </a:spcBef>
                        <a:spcAft>
                          <a:spcPts val="0"/>
                        </a:spcAft>
                        <a:buNone/>
                      </a:pPr>
                      <a:r>
                        <a:rPr b="1" lang="en-US" sz="1400" u="none" cap="none" strike="noStrike">
                          <a:solidFill>
                            <a:srgbClr val="161D41"/>
                          </a:solidFill>
                          <a:latin typeface="Calibri"/>
                          <a:ea typeface="Calibri"/>
                          <a:cs typeface="Calibri"/>
                          <a:sym typeface="Calibri"/>
                        </a:rPr>
                        <a:t>Condition</a:t>
                      </a:r>
                      <a:endParaRPr/>
                    </a:p>
                  </a:txBody>
                  <a:tcPr marT="27425" marB="27425" marR="73150" marL="73150" anchor="ctr">
                    <a:solidFill>
                      <a:srgbClr val="F2F3F7"/>
                    </a:solidFill>
                  </a:tcPr>
                </a:tc>
                <a:tc>
                  <a:txBody>
                    <a:bodyPr/>
                    <a:lstStyle/>
                    <a:p>
                      <a:pPr indent="0" lvl="0" marL="0" marR="0" rtl="0" algn="ctr">
                        <a:spcBef>
                          <a:spcPts val="0"/>
                        </a:spcBef>
                        <a:spcAft>
                          <a:spcPts val="0"/>
                        </a:spcAft>
                        <a:buNone/>
                      </a:pPr>
                      <a:r>
                        <a:rPr b="1" lang="en-US" sz="1400" u="none" cap="none" strike="noStrike">
                          <a:solidFill>
                            <a:srgbClr val="161D41"/>
                          </a:solidFill>
                          <a:latin typeface="Calibri"/>
                          <a:ea typeface="Calibri"/>
                          <a:cs typeface="Calibri"/>
                          <a:sym typeface="Calibri"/>
                        </a:rPr>
                        <a:t>ECE</a:t>
                      </a:r>
                      <a:endParaRPr/>
                    </a:p>
                  </a:txBody>
                  <a:tcPr marT="27425" marB="27425" marR="73150" marL="73150" anchor="ctr">
                    <a:solidFill>
                      <a:srgbClr val="F2F3F7"/>
                    </a:solidFill>
                  </a:tcPr>
                </a:tc>
                <a:tc>
                  <a:txBody>
                    <a:bodyPr/>
                    <a:lstStyle/>
                    <a:p>
                      <a:pPr indent="0" lvl="0" marL="0" marR="0" rtl="0" algn="ctr">
                        <a:spcBef>
                          <a:spcPts val="0"/>
                        </a:spcBef>
                        <a:spcAft>
                          <a:spcPts val="0"/>
                        </a:spcAft>
                        <a:buNone/>
                      </a:pPr>
                      <a:r>
                        <a:rPr b="1" lang="en-US" sz="1400" u="none" cap="none" strike="noStrike">
                          <a:solidFill>
                            <a:srgbClr val="161D41"/>
                          </a:solidFill>
                          <a:latin typeface="Calibri"/>
                          <a:ea typeface="Calibri"/>
                          <a:cs typeface="Calibri"/>
                          <a:sym typeface="Calibri"/>
                        </a:rPr>
                        <a:t>ECE-yes</a:t>
                      </a:r>
                      <a:endParaRPr/>
                    </a:p>
                  </a:txBody>
                  <a:tcPr marT="27425" marB="27425" marR="73150" marL="73150" anchor="ctr">
                    <a:solidFill>
                      <a:srgbClr val="F2F3F7"/>
                    </a:solidFill>
                  </a:tcPr>
                </a:tc>
                <a:tc>
                  <a:txBody>
                    <a:bodyPr/>
                    <a:lstStyle/>
                    <a:p>
                      <a:pPr indent="0" lvl="0" marL="0" marR="0" rtl="0" algn="ctr">
                        <a:spcBef>
                          <a:spcPts val="0"/>
                        </a:spcBef>
                        <a:spcAft>
                          <a:spcPts val="0"/>
                        </a:spcAft>
                        <a:buNone/>
                      </a:pPr>
                      <a:r>
                        <a:rPr b="1" lang="en-US" sz="1400" u="none" cap="none" strike="noStrike">
                          <a:solidFill>
                            <a:srgbClr val="161D41"/>
                          </a:solidFill>
                          <a:latin typeface="Calibri"/>
                          <a:ea typeface="Calibri"/>
                          <a:cs typeface="Calibri"/>
                          <a:sym typeface="Calibri"/>
                        </a:rPr>
                        <a:t>ECE-no</a:t>
                      </a:r>
                      <a:endParaRPr/>
                    </a:p>
                  </a:txBody>
                  <a:tcPr marT="27425" marB="27425" marR="73150" marL="73150" anchor="ctr">
                    <a:solidFill>
                      <a:srgbClr val="F2F3F7"/>
                    </a:solidFill>
                  </a:tcPr>
                </a:tc>
                <a:tc>
                  <a:txBody>
                    <a:bodyPr/>
                    <a:lstStyle/>
                    <a:p>
                      <a:pPr indent="0" lvl="0" marL="0" marR="0" rtl="0" algn="ctr">
                        <a:spcBef>
                          <a:spcPts val="0"/>
                        </a:spcBef>
                        <a:spcAft>
                          <a:spcPts val="0"/>
                        </a:spcAft>
                        <a:buNone/>
                      </a:pPr>
                      <a:r>
                        <a:rPr b="1" lang="en-US" sz="1400" u="none" cap="none" strike="noStrike">
                          <a:solidFill>
                            <a:srgbClr val="161D41"/>
                          </a:solidFill>
                          <a:latin typeface="Calibri"/>
                          <a:ea typeface="Calibri"/>
                          <a:cs typeface="Calibri"/>
                          <a:sym typeface="Calibri"/>
                        </a:rPr>
                        <a:t>Mean conf.</a:t>
                      </a:r>
                      <a:endParaRPr/>
                    </a:p>
                  </a:txBody>
                  <a:tcPr marT="27425" marB="27425" marR="73150" marL="73150" anchor="ctr">
                    <a:solidFill>
                      <a:srgbClr val="F2F3F7"/>
                    </a:solidFill>
                  </a:tcPr>
                </a:tc>
              </a:tr>
              <a:tr h="438900">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Text-only</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.249</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.263</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.235</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.863</a:t>
                      </a:r>
                      <a:endParaRPr/>
                    </a:p>
                  </a:txBody>
                  <a:tcPr marT="27425" marB="27425" marR="73150" marL="73150" anchor="ctr">
                    <a:solidFill>
                      <a:srgbClr val="FFFFFF"/>
                    </a:solidFill>
                  </a:tcPr>
                </a:tc>
              </a:tr>
              <a:tr h="438900">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Both maps</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.174</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.094</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.403</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.912</a:t>
                      </a:r>
                      <a:endParaRPr/>
                    </a:p>
                  </a:txBody>
                  <a:tcPr marT="27425" marB="27425" marR="73150" marL="73150" anchor="ctr">
                    <a:solidFill>
                      <a:srgbClr val="FFFFFF"/>
                    </a:solidFill>
                  </a:tcPr>
                </a:tc>
              </a:tr>
              <a:tr h="438900">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Giver-only</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.172</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.057</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.484</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.927</a:t>
                      </a:r>
                      <a:endParaRPr/>
                    </a:p>
                  </a:txBody>
                  <a:tcPr marT="27425" marB="27425" marR="73150" marL="73150" anchor="ctr">
                    <a:solidFill>
                      <a:srgbClr val="FFFFFF"/>
                    </a:solidFill>
                  </a:tcPr>
                </a:tc>
              </a:tr>
              <a:tr h="438900">
                <a:tc>
                  <a:txBody>
                    <a:bodyPr/>
                    <a:lstStyle/>
                    <a:p>
                      <a:pPr indent="0" lvl="0" marL="0" marR="0" rtl="0" algn="l">
                        <a:spcBef>
                          <a:spcPts val="0"/>
                        </a:spcBef>
                        <a:spcAft>
                          <a:spcPts val="0"/>
                        </a:spcAft>
                        <a:buNone/>
                      </a:pPr>
                      <a:r>
                        <a:rPr b="0" lang="en-US" sz="1400" u="none" cap="none" strike="noStrike">
                          <a:solidFill>
                            <a:srgbClr val="161D41"/>
                          </a:solidFill>
                          <a:latin typeface="Calibri"/>
                          <a:ea typeface="Calibri"/>
                          <a:cs typeface="Calibri"/>
                          <a:sym typeface="Calibri"/>
                        </a:rPr>
                        <a:t>Follower-only</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.185</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.061</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.524</a:t>
                      </a:r>
                      <a:endParaRPr/>
                    </a:p>
                  </a:txBody>
                  <a:tcPr marT="27425" marB="27425" marR="73150" marL="73150"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161D41"/>
                          </a:solidFill>
                          <a:latin typeface="Calibri"/>
                          <a:ea typeface="Calibri"/>
                          <a:cs typeface="Calibri"/>
                          <a:sym typeface="Calibri"/>
                        </a:rPr>
                        <a:t>.929</a:t>
                      </a:r>
                      <a:endParaRPr/>
                    </a:p>
                  </a:txBody>
                  <a:tcPr marT="27425" marB="27425" marR="73150" marL="73150" anchor="ctr">
                    <a:solidFill>
                      <a:srgbClr val="FFFFFF"/>
                    </a:solidFill>
                  </a:tcPr>
                </a:tc>
              </a:tr>
            </a:tbl>
          </a:graphicData>
        </a:graphic>
      </p:graphicFrame>
      <p:sp>
        <p:nvSpPr>
          <p:cNvPr id="371" name="Google Shape;371;p17"/>
          <p:cNvSpPr/>
          <p:nvPr/>
        </p:nvSpPr>
        <p:spPr>
          <a:xfrm>
            <a:off x="7534656" y="1783080"/>
            <a:ext cx="4090111" cy="2194560"/>
          </a:xfrm>
          <a:prstGeom prst="roundRect">
            <a:avLst>
              <a:gd fmla="val 7000" name="adj"/>
            </a:avLst>
          </a:prstGeom>
          <a:solidFill>
            <a:srgbClr val="FBEE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17"/>
          <p:cNvSpPr txBox="1"/>
          <p:nvPr/>
        </p:nvSpPr>
        <p:spPr>
          <a:xfrm>
            <a:off x="7772400" y="1984248"/>
            <a:ext cx="3614623" cy="179222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WHY THIS MATTERS</a:t>
            </a:r>
            <a:endParaRPr/>
          </a:p>
          <a:p>
            <a:pPr indent="0" lvl="0" marL="0" marR="0" rtl="0" algn="l">
              <a:spcBef>
                <a:spcPts val="700"/>
              </a:spcBef>
              <a:spcAft>
                <a:spcPts val="0"/>
              </a:spcAft>
              <a:buNone/>
            </a:pPr>
            <a:r>
              <a:rPr b="0" i="0" lang="en-US" sz="1500">
                <a:solidFill>
                  <a:srgbClr val="161D41"/>
                </a:solidFill>
                <a:latin typeface="Calibri"/>
                <a:ea typeface="Calibri"/>
                <a:cs typeface="Calibri"/>
                <a:sym typeface="Calibri"/>
              </a:rPr>
              <a:t>The class gap widens from .028 to .463 — spurious certainty on top of the threshold shift, not instead of it.</a:t>
            </a:r>
            <a:endParaRPr/>
          </a:p>
        </p:txBody>
      </p:sp>
      <p:sp>
        <p:nvSpPr>
          <p:cNvPr id="373" name="Google Shape;373;p17"/>
          <p:cNvSpPr/>
          <p:nvPr/>
        </p:nvSpPr>
        <p:spPr>
          <a:xfrm>
            <a:off x="566928" y="4224528"/>
            <a:ext cx="11057839" cy="1481328"/>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17"/>
          <p:cNvSpPr txBox="1"/>
          <p:nvPr/>
        </p:nvSpPr>
        <p:spPr>
          <a:xfrm>
            <a:off x="804672" y="4425696"/>
            <a:ext cx="10582351" cy="10789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61D41"/>
                </a:solidFill>
                <a:latin typeface="Calibri"/>
                <a:ea typeface="Calibri"/>
                <a:cs typeface="Calibri"/>
                <a:sym typeface="Calibri"/>
              </a:rPr>
              <a:t>CROSS-MODEL CALIBRATION</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Qwen3-VL-2B has the best ECE (.144) because it is the least confident (mean .789); Gemma-3-12B the worst (.531) at the second-highest confidence (.948).</a:t>
            </a:r>
            <a:endParaRPr/>
          </a:p>
          <a:p>
            <a:pPr indent="0" lvl="0" marL="0" marR="0" rtl="0" algn="l">
              <a:spcBef>
                <a:spcPts val="600"/>
              </a:spcBef>
              <a:spcAft>
                <a:spcPts val="0"/>
              </a:spcAft>
              <a:buNone/>
            </a:pPr>
            <a:r>
              <a:rPr b="0" i="1" lang="en-US" sz="1600">
                <a:solidFill>
                  <a:srgbClr val="5F6070"/>
                </a:solidFill>
                <a:latin typeface="Calibri"/>
                <a:ea typeface="Calibri"/>
                <a:cs typeface="Calibri"/>
                <a:sym typeface="Calibri"/>
              </a:rPr>
              <a:t>Confidence rises with size in Qwen (.789 / .907 / .912) but falls in Gemma (.973 → .948). What holds in both families is that larger is not more discerning.</a:t>
            </a:r>
            <a:endParaRPr/>
          </a:p>
        </p:txBody>
      </p:sp>
      <p:sp>
        <p:nvSpPr>
          <p:cNvPr id="375" name="Google Shape;375;p17"/>
          <p:cNvSpPr txBox="1"/>
          <p:nvPr/>
        </p:nvSpPr>
        <p:spPr>
          <a:xfrm>
            <a:off x="566928" y="5897880"/>
            <a:ext cx="10234879" cy="731519"/>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400">
                <a:solidFill>
                  <a:srgbClr val="5F6070"/>
                </a:solidFill>
                <a:latin typeface="Calibri"/>
                <a:ea typeface="Calibri"/>
                <a:cs typeface="Calibri"/>
                <a:sym typeface="Calibri"/>
              </a:rPr>
              <a:t>Table 3, n = 13,077, Qwen3-VL-8B at startT. conf := exp(logprob) of the single generated YES/NO token.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18"/>
          <p:cNvSpPr txBox="1"/>
          <p:nvPr/>
        </p:nvSpPr>
        <p:spPr>
          <a:xfrm>
            <a:off x="566928" y="365760"/>
            <a:ext cx="11057839"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5F6070"/>
                </a:solidFill>
                <a:latin typeface="Calibri"/>
                <a:ea typeface="Calibri"/>
                <a:cs typeface="Calibri"/>
                <a:sym typeface="Calibri"/>
              </a:rPr>
              <a:t>BACKUP</a:t>
            </a:r>
            <a:endParaRPr/>
          </a:p>
        </p:txBody>
      </p:sp>
      <p:sp>
        <p:nvSpPr>
          <p:cNvPr id="382" name="Google Shape;382;p18"/>
          <p:cNvSpPr txBox="1"/>
          <p:nvPr/>
        </p:nvSpPr>
        <p:spPr>
          <a:xfrm>
            <a:off x="566928" y="694944"/>
            <a:ext cx="11057839"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61D41"/>
                </a:solidFill>
                <a:latin typeface="Calibri"/>
                <a:ea typeface="Calibri"/>
                <a:cs typeface="Calibri"/>
                <a:sym typeface="Calibri"/>
              </a:rPr>
              <a:t>Reference chains, against the right baseline</a:t>
            </a:r>
            <a:endParaRPr/>
          </a:p>
        </p:txBody>
      </p:sp>
      <p:sp>
        <p:nvSpPr>
          <p:cNvPr id="383" name="Google Shape;383;p18"/>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8A8A8A"/>
                </a:solidFill>
                <a:latin typeface="Calibri"/>
                <a:ea typeface="Calibri"/>
                <a:cs typeface="Calibri"/>
                <a:sym typeface="Calibri"/>
              </a:rPr>
              <a:t>B4</a:t>
            </a:r>
            <a:endParaRPr/>
          </a:p>
        </p:txBody>
      </p:sp>
      <p:pic>
        <p:nvPicPr>
          <p:cNvPr descr="chart_chain_prevalence.png" id="384" name="Google Shape;384;p18"/>
          <p:cNvPicPr preferRelativeResize="0"/>
          <p:nvPr/>
        </p:nvPicPr>
        <p:blipFill rotWithShape="1">
          <a:blip r:embed="rId3">
            <a:alphaModFix/>
          </a:blip>
          <a:srcRect b="0" l="0" r="0" t="0"/>
          <a:stretch/>
        </p:blipFill>
        <p:spPr>
          <a:xfrm>
            <a:off x="566928" y="1700784"/>
            <a:ext cx="6720840" cy="3174831"/>
          </a:xfrm>
          <a:prstGeom prst="rect">
            <a:avLst/>
          </a:prstGeom>
          <a:noFill/>
          <a:ln>
            <a:noFill/>
          </a:ln>
        </p:spPr>
      </p:pic>
      <p:sp>
        <p:nvSpPr>
          <p:cNvPr id="385" name="Google Shape;385;p18"/>
          <p:cNvSpPr/>
          <p:nvPr/>
        </p:nvSpPr>
        <p:spPr>
          <a:xfrm>
            <a:off x="7690104" y="1700784"/>
            <a:ext cx="3934663" cy="1975104"/>
          </a:xfrm>
          <a:prstGeom prst="roundRect">
            <a:avLst>
              <a:gd fmla="val 7000" name="adj"/>
            </a:avLst>
          </a:prstGeom>
          <a:solidFill>
            <a:srgbClr val="FBEE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18"/>
          <p:cNvSpPr txBox="1"/>
          <p:nvPr/>
        </p:nvSpPr>
        <p:spPr>
          <a:xfrm>
            <a:off x="7927848" y="1901952"/>
            <a:ext cx="3459175" cy="15727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WHY NOT COMPARE TO .721</a:t>
            </a:r>
            <a:endParaRPr/>
          </a:p>
          <a:p>
            <a:pPr indent="0" lvl="0" marL="0" marR="0" rtl="0" algn="l">
              <a:spcBef>
                <a:spcPts val="700"/>
              </a:spcBef>
              <a:spcAft>
                <a:spcPts val="0"/>
              </a:spcAft>
              <a:buNone/>
            </a:pPr>
            <a:r>
              <a:rPr b="0" i="0" lang="en-US" sz="1500">
                <a:solidFill>
                  <a:srgbClr val="161D41"/>
                </a:solidFill>
                <a:latin typeface="Calibri"/>
                <a:ea typeface="Calibri"/>
                <a:cs typeface="Calibri"/>
                <a:sym typeface="Calibri"/>
              </a:rPr>
              <a:t>The chain subset is not the whole dataset: all 9,435 aligned REs sit in chains, but only 1,799 of 3,403 pending ones do.</a:t>
            </a:r>
            <a:endParaRPr/>
          </a:p>
          <a:p>
            <a:pPr indent="0" lvl="0" marL="0" marR="0" rtl="0" algn="l">
              <a:spcBef>
                <a:spcPts val="600"/>
              </a:spcBef>
              <a:spcAft>
                <a:spcPts val="0"/>
              </a:spcAft>
              <a:buNone/>
            </a:pPr>
            <a:r>
              <a:rPr b="0" i="0" lang="en-US" sz="1500">
                <a:solidFill>
                  <a:srgbClr val="161D41"/>
                </a:solidFill>
                <a:latin typeface="Calibri"/>
                <a:ea typeface="Calibri"/>
                <a:cs typeface="Calibri"/>
                <a:sym typeface="Calibri"/>
              </a:rPr>
              <a:t>And prevalence climbs within it, .33 → .87.</a:t>
            </a:r>
            <a:endParaRPr/>
          </a:p>
        </p:txBody>
      </p:sp>
      <p:sp>
        <p:nvSpPr>
          <p:cNvPr id="387" name="Google Shape;387;p18"/>
          <p:cNvSpPr/>
          <p:nvPr/>
        </p:nvSpPr>
        <p:spPr>
          <a:xfrm>
            <a:off x="7690104" y="3822191"/>
            <a:ext cx="3934663" cy="1938528"/>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18"/>
          <p:cNvSpPr txBox="1"/>
          <p:nvPr/>
        </p:nvSpPr>
        <p:spPr>
          <a:xfrm>
            <a:off x="7927848" y="4023359"/>
            <a:ext cx="3459175" cy="15361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F6ABF"/>
                </a:solidFill>
                <a:latin typeface="Calibri"/>
                <a:ea typeface="Calibri"/>
                <a:cs typeface="Calibri"/>
                <a:sym typeface="Calibri"/>
              </a:rPr>
              <a:t>WHAT THE DATA SAYS</a:t>
            </a:r>
            <a:endParaRPr/>
          </a:p>
          <a:p>
            <a:pPr indent="0" lvl="0" marL="0" marR="0" rtl="0" algn="l">
              <a:spcBef>
                <a:spcPts val="700"/>
              </a:spcBef>
              <a:spcAft>
                <a:spcPts val="0"/>
              </a:spcAft>
              <a:buNone/>
            </a:pPr>
            <a:r>
              <a:rPr b="0" i="0" lang="en-US" sz="1500">
                <a:solidFill>
                  <a:srgbClr val="161D41"/>
                </a:solidFill>
                <a:latin typeface="Calibri"/>
                <a:ea typeface="Calibri"/>
                <a:cs typeface="Calibri"/>
                <a:sym typeface="Calibri"/>
              </a:rPr>
              <a:t>At one mention the model answers YES .55 of the time where only .33 are aligned — a 22-point over-prediction.</a:t>
            </a:r>
            <a:endParaRPr/>
          </a:p>
          <a:p>
            <a:pPr indent="0" lvl="0" marL="0" marR="0" rtl="0" algn="l">
              <a:spcBef>
                <a:spcPts val="600"/>
              </a:spcBef>
              <a:spcAft>
                <a:spcPts val="0"/>
              </a:spcAft>
              <a:buNone/>
            </a:pPr>
            <a:r>
              <a:rPr b="0" i="0" lang="en-US" sz="1500">
                <a:solidFill>
                  <a:srgbClr val="161D41"/>
                </a:solidFill>
                <a:latin typeface="Calibri"/>
                <a:ea typeface="Calibri"/>
                <a:cs typeface="Calibri"/>
                <a:sym typeface="Calibri"/>
              </a:rPr>
              <a:t>By 9+ mentions it sits slightly below the local rate.</a:t>
            </a:r>
            <a:endParaRPr/>
          </a:p>
        </p:txBody>
      </p:sp>
      <p:sp>
        <p:nvSpPr>
          <p:cNvPr id="389" name="Google Shape;389;p18"/>
          <p:cNvSpPr txBox="1"/>
          <p:nvPr/>
        </p:nvSpPr>
        <p:spPr>
          <a:xfrm>
            <a:off x="566928" y="5961888"/>
            <a:ext cx="10234879" cy="667512"/>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400">
                <a:solidFill>
                  <a:srgbClr val="5F6070"/>
                </a:solidFill>
                <a:latin typeface="Calibri"/>
                <a:ea typeface="Calibri"/>
                <a:cs typeface="Calibri"/>
                <a:sym typeface="Calibri"/>
              </a:rPr>
              <a:t>1,665 chains covering 11,473 of the 13,077 REs. Suggestive, not causal: chain length is not randomly assigned. The full three-panel figure from the paper is Figure 2.</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19"/>
          <p:cNvSpPr txBox="1"/>
          <p:nvPr/>
        </p:nvSpPr>
        <p:spPr>
          <a:xfrm>
            <a:off x="566928" y="365760"/>
            <a:ext cx="11057839"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5F6070"/>
                </a:solidFill>
                <a:latin typeface="Calibri"/>
                <a:ea typeface="Calibri"/>
                <a:cs typeface="Calibri"/>
                <a:sym typeface="Calibri"/>
              </a:rPr>
              <a:t>BACKUP</a:t>
            </a:r>
            <a:endParaRPr/>
          </a:p>
        </p:txBody>
      </p:sp>
      <p:sp>
        <p:nvSpPr>
          <p:cNvPr id="396" name="Google Shape;396;p19"/>
          <p:cNvSpPr txBox="1"/>
          <p:nvPr/>
        </p:nvSpPr>
        <p:spPr>
          <a:xfrm>
            <a:off x="566928" y="694944"/>
            <a:ext cx="11057839"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61D41"/>
                </a:solidFill>
                <a:latin typeface="Calibri"/>
                <a:ea typeface="Calibri"/>
                <a:cs typeface="Calibri"/>
                <a:sym typeface="Calibri"/>
              </a:rPr>
              <a:t>Why the models diverge</a:t>
            </a:r>
            <a:endParaRPr/>
          </a:p>
        </p:txBody>
      </p:sp>
      <p:sp>
        <p:nvSpPr>
          <p:cNvPr id="397" name="Google Shape;397;p19"/>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8A8A8A"/>
                </a:solidFill>
                <a:latin typeface="Calibri"/>
                <a:ea typeface="Calibri"/>
                <a:cs typeface="Calibri"/>
                <a:sym typeface="Calibri"/>
              </a:rPr>
              <a:t>B5</a:t>
            </a:r>
            <a:endParaRPr/>
          </a:p>
        </p:txBody>
      </p:sp>
      <p:sp>
        <p:nvSpPr>
          <p:cNvPr id="398" name="Google Shape;398;p19"/>
          <p:cNvSpPr/>
          <p:nvPr/>
        </p:nvSpPr>
        <p:spPr>
          <a:xfrm>
            <a:off x="566928" y="1664208"/>
            <a:ext cx="5327751" cy="2103120"/>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9"/>
          <p:cNvSpPr txBox="1"/>
          <p:nvPr/>
        </p:nvSpPr>
        <p:spPr>
          <a:xfrm>
            <a:off x="804672" y="1865376"/>
            <a:ext cx="4852263" cy="170078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F6ABF"/>
                </a:solidFill>
                <a:latin typeface="Calibri"/>
                <a:ea typeface="Calibri"/>
                <a:cs typeface="Calibri"/>
                <a:sym typeface="Calibri"/>
              </a:rPr>
              <a:t>VISION ENCODING</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Qwen3-VL: native dynamic-resolution encoder, hundreds of tokens for a 791×1024 map, 2D-RoPE spatial encoding.</a:t>
            </a:r>
            <a:endParaRPr/>
          </a:p>
          <a:p>
            <a:pPr indent="0" lvl="0" marL="0" marR="0" rtl="0" algn="l">
              <a:spcBef>
                <a:spcPts val="800"/>
              </a:spcBef>
              <a:spcAft>
                <a:spcPts val="0"/>
              </a:spcAft>
              <a:buNone/>
            </a:pPr>
            <a:r>
              <a:rPr b="0" i="0" lang="en-US" sz="1600">
                <a:solidFill>
                  <a:srgbClr val="161D41"/>
                </a:solidFill>
                <a:latin typeface="Calibri"/>
                <a:ea typeface="Calibri"/>
                <a:cs typeface="Calibri"/>
                <a:sym typeface="Calibri"/>
              </a:rPr>
              <a:t>Gemma-3: SigLIP, resized to 896×896 and average-pooled to 256 tokens per image regardless of complexity.</a:t>
            </a:r>
            <a:endParaRPr/>
          </a:p>
        </p:txBody>
      </p:sp>
      <p:sp>
        <p:nvSpPr>
          <p:cNvPr id="400" name="Google Shape;400;p19"/>
          <p:cNvSpPr/>
          <p:nvPr/>
        </p:nvSpPr>
        <p:spPr>
          <a:xfrm>
            <a:off x="6297015" y="1664208"/>
            <a:ext cx="5327751" cy="2103120"/>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1" name="Google Shape;401;p19"/>
          <p:cNvSpPr txBox="1"/>
          <p:nvPr/>
        </p:nvSpPr>
        <p:spPr>
          <a:xfrm>
            <a:off x="6534759" y="1865376"/>
            <a:ext cx="4852263" cy="170078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F7A6B"/>
                </a:solidFill>
                <a:latin typeface="Calibri"/>
                <a:ea typeface="Calibri"/>
                <a:cs typeface="Calibri"/>
                <a:sym typeface="Calibri"/>
              </a:rPr>
              <a:t>MAP-READING SANITY CHECK</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All five models were asked to list landmark names and positions on all 32 maps.</a:t>
            </a:r>
            <a:endParaRPr/>
          </a:p>
          <a:p>
            <a:pPr indent="0" lvl="0" marL="0" marR="0" rtl="0" algn="l">
              <a:spcBef>
                <a:spcPts val="800"/>
              </a:spcBef>
              <a:spcAft>
                <a:spcPts val="0"/>
              </a:spcAft>
              <a:buNone/>
            </a:pPr>
            <a:r>
              <a:rPr b="0" i="0" lang="en-US" sz="1600">
                <a:solidFill>
                  <a:srgbClr val="161D41"/>
                </a:solidFill>
                <a:latin typeface="Calibri"/>
                <a:ea typeface="Calibri"/>
                <a:cs typeface="Calibri"/>
                <a:sym typeface="Calibri"/>
              </a:rPr>
              <a:t>Qwen3-VL 88–90 F1 · Gemma-3 81–82 F1, with character-level naming errors and spatial mislocations.</a:t>
            </a:r>
            <a:endParaRPr/>
          </a:p>
        </p:txBody>
      </p:sp>
      <p:sp>
        <p:nvSpPr>
          <p:cNvPr id="402" name="Google Shape;402;p19"/>
          <p:cNvSpPr/>
          <p:nvPr/>
        </p:nvSpPr>
        <p:spPr>
          <a:xfrm>
            <a:off x="566928" y="3931920"/>
            <a:ext cx="11057839" cy="1810512"/>
          </a:xfrm>
          <a:prstGeom prst="roundRect">
            <a:avLst>
              <a:gd fmla="val 7000" name="adj"/>
            </a:avLst>
          </a:prstGeom>
          <a:solidFill>
            <a:srgbClr val="FBEE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19"/>
          <p:cNvSpPr txBox="1"/>
          <p:nvPr/>
        </p:nvSpPr>
        <p:spPr>
          <a:xfrm>
            <a:off x="804672" y="4133087"/>
            <a:ext cx="10582351" cy="140817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WHAT THIS DOES AND DOES NOT EXPLAIN</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A model that cannot reliably extract map content cannot show a content-driven bias — so weak map reading plausibly explains Gemma's conservatism.</a:t>
            </a:r>
            <a:endParaRPr/>
          </a:p>
          <a:p>
            <a:pPr indent="0" lvl="0" marL="0" marR="0" rtl="0" algn="l">
              <a:spcBef>
                <a:spcPts val="600"/>
              </a:spcBef>
              <a:spcAft>
                <a:spcPts val="0"/>
              </a:spcAft>
              <a:buNone/>
            </a:pPr>
            <a:r>
              <a:rPr b="0" i="0" lang="en-US" sz="1600">
                <a:solidFill>
                  <a:srgbClr val="161D41"/>
                </a:solidFill>
                <a:latin typeface="Calibri"/>
                <a:ea typeface="Calibri"/>
                <a:cs typeface="Calibri"/>
                <a:sym typeface="Calibri"/>
              </a:rPr>
              <a:t>It does not explain Qwen3-VL-4B, which reads maps well and still reverses. We report the heterogeneity; a mechanistic account is future work.</a:t>
            </a:r>
            <a:endParaRPr/>
          </a:p>
        </p:txBody>
      </p:sp>
      <p:sp>
        <p:nvSpPr>
          <p:cNvPr id="404" name="Google Shape;404;p19"/>
          <p:cNvSpPr txBox="1"/>
          <p:nvPr/>
        </p:nvSpPr>
        <p:spPr>
          <a:xfrm>
            <a:off x="566928" y="5897880"/>
            <a:ext cx="10234879" cy="731519"/>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400">
                <a:solidFill>
                  <a:srgbClr val="5F6070"/>
                </a:solidFill>
                <a:latin typeface="Calibri"/>
                <a:ea typeface="Calibri"/>
                <a:cs typeface="Calibri"/>
                <a:sym typeface="Calibri"/>
              </a:rPr>
              <a:t>Appendix E. The over-alignment bias is not a universal property of vision-language architectures.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20"/>
          <p:cNvSpPr txBox="1"/>
          <p:nvPr/>
        </p:nvSpPr>
        <p:spPr>
          <a:xfrm>
            <a:off x="566928" y="365760"/>
            <a:ext cx="11057839"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5F6070"/>
                </a:solidFill>
                <a:latin typeface="Calibri"/>
                <a:ea typeface="Calibri"/>
                <a:cs typeface="Calibri"/>
                <a:sym typeface="Calibri"/>
              </a:rPr>
              <a:t>BACKUP</a:t>
            </a:r>
            <a:endParaRPr/>
          </a:p>
        </p:txBody>
      </p:sp>
      <p:sp>
        <p:nvSpPr>
          <p:cNvPr id="411" name="Google Shape;411;p20"/>
          <p:cNvSpPr txBox="1"/>
          <p:nvPr/>
        </p:nvSpPr>
        <p:spPr>
          <a:xfrm>
            <a:off x="566928" y="694944"/>
            <a:ext cx="11057839"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61D41"/>
                </a:solidFill>
                <a:latin typeface="Calibri"/>
                <a:ea typeface="Calibri"/>
                <a:cs typeface="Calibri"/>
                <a:sym typeface="Calibri"/>
              </a:rPr>
              <a:t>Design choices and positioning</a:t>
            </a:r>
            <a:endParaRPr/>
          </a:p>
        </p:txBody>
      </p:sp>
      <p:sp>
        <p:nvSpPr>
          <p:cNvPr id="412" name="Google Shape;412;p20"/>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8A8A8A"/>
                </a:solidFill>
                <a:latin typeface="Calibri"/>
                <a:ea typeface="Calibri"/>
                <a:cs typeface="Calibri"/>
                <a:sym typeface="Calibri"/>
              </a:rPr>
              <a:t>B6</a:t>
            </a:r>
            <a:endParaRPr/>
          </a:p>
        </p:txBody>
      </p:sp>
      <p:sp>
        <p:nvSpPr>
          <p:cNvPr id="413" name="Google Shape;413;p20"/>
          <p:cNvSpPr/>
          <p:nvPr/>
        </p:nvSpPr>
        <p:spPr>
          <a:xfrm>
            <a:off x="566928" y="1664208"/>
            <a:ext cx="5327751" cy="1938528"/>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20"/>
          <p:cNvSpPr txBox="1"/>
          <p:nvPr/>
        </p:nvSpPr>
        <p:spPr>
          <a:xfrm>
            <a:off x="804672" y="1865376"/>
            <a:ext cx="4852263" cy="15361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F6ABF"/>
                </a:solidFill>
                <a:latin typeface="Calibri"/>
                <a:ea typeface="Calibri"/>
                <a:cs typeface="Calibri"/>
                <a:sym typeface="Calibri"/>
              </a:rPr>
              <a:t>WHY ZERO-SHOT, GREEDY, BINARY?</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To characterise default judgement behaviour, and because constrained single-token decoding makes the token probability a clean confidence signal.</a:t>
            </a:r>
            <a:endParaRPr/>
          </a:p>
          <a:p>
            <a:pPr indent="0" lvl="0" marL="0" marR="0" rtl="0" algn="l">
              <a:spcBef>
                <a:spcPts val="600"/>
              </a:spcBef>
              <a:spcAft>
                <a:spcPts val="0"/>
              </a:spcAft>
              <a:buNone/>
            </a:pPr>
            <a:r>
              <a:rPr b="0" i="1" lang="en-US" sz="1600">
                <a:solidFill>
                  <a:srgbClr val="5F6070"/>
                </a:solidFill>
                <a:latin typeface="Calibri"/>
                <a:ea typeface="Calibri"/>
                <a:cs typeface="Calibri"/>
                <a:sym typeface="Calibri"/>
              </a:rPr>
              <a:t>Few-shot, CoT and thinking models are natural follow-ups.</a:t>
            </a:r>
            <a:endParaRPr/>
          </a:p>
        </p:txBody>
      </p:sp>
      <p:sp>
        <p:nvSpPr>
          <p:cNvPr id="415" name="Google Shape;415;p20"/>
          <p:cNvSpPr/>
          <p:nvPr/>
        </p:nvSpPr>
        <p:spPr>
          <a:xfrm>
            <a:off x="6297015" y="1664208"/>
            <a:ext cx="5327751" cy="1938528"/>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20"/>
          <p:cNvSpPr txBox="1"/>
          <p:nvPr/>
        </p:nvSpPr>
        <p:spPr>
          <a:xfrm>
            <a:off x="6534759" y="1865376"/>
            <a:ext cx="4852263" cy="15361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1F7A6B"/>
                </a:solidFill>
                <a:latin typeface="Calibri"/>
                <a:ea typeface="Calibri"/>
                <a:cs typeface="Calibri"/>
                <a:sym typeface="Calibri"/>
              </a:rPr>
              <a:t>IS THE TEXT/VISION COMPARISON FAIR?</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The textual conditions convey landmark lists and discrepancies, not the full spatial layout — acknowledged in Limitations.</a:t>
            </a:r>
            <a:endParaRPr/>
          </a:p>
          <a:p>
            <a:pPr indent="0" lvl="0" marL="0" marR="0" rtl="0" algn="l">
              <a:spcBef>
                <a:spcPts val="600"/>
              </a:spcBef>
              <a:spcAft>
                <a:spcPts val="0"/>
              </a:spcAft>
              <a:buNone/>
            </a:pPr>
            <a:r>
              <a:rPr b="0" i="0" lang="en-US" sz="1600">
                <a:solidFill>
                  <a:srgbClr val="161D41"/>
                </a:solidFill>
                <a:latin typeface="Calibri"/>
                <a:ea typeface="Calibri"/>
                <a:cs typeface="Calibri"/>
                <a:sym typeface="Calibri"/>
              </a:rPr>
              <a:t>The direction of the argument is unaffected: text already reproduces the bulk of the bias.</a:t>
            </a:r>
            <a:endParaRPr/>
          </a:p>
        </p:txBody>
      </p:sp>
      <p:sp>
        <p:nvSpPr>
          <p:cNvPr id="417" name="Google Shape;417;p20"/>
          <p:cNvSpPr/>
          <p:nvPr/>
        </p:nvSpPr>
        <p:spPr>
          <a:xfrm>
            <a:off x="566928" y="3767328"/>
            <a:ext cx="5327751" cy="1901952"/>
          </a:xfrm>
          <a:prstGeom prst="roundRect">
            <a:avLst>
              <a:gd fmla="val 7000" name="adj"/>
            </a:avLst>
          </a:prstGeom>
          <a:solidFill>
            <a:srgbClr val="F2F3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20"/>
          <p:cNvSpPr txBox="1"/>
          <p:nvPr/>
        </p:nvSpPr>
        <p:spPr>
          <a:xfrm>
            <a:off x="804672" y="3968496"/>
            <a:ext cx="4852263" cy="14996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7B52C7"/>
                </a:solidFill>
                <a:latin typeface="Calibri"/>
                <a:ea typeface="Calibri"/>
                <a:cs typeface="Calibri"/>
                <a:sym typeface="Calibri"/>
              </a:rPr>
              <a:t>RELATION TO WANG ET AL. (2025)</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They measure the overall overhearer gap on referential dialogue.</a:t>
            </a:r>
            <a:endParaRPr/>
          </a:p>
          <a:p>
            <a:pPr indent="0" lvl="0" marL="0" marR="0" rtl="0" algn="l">
              <a:spcBef>
                <a:spcPts val="600"/>
              </a:spcBef>
              <a:spcAft>
                <a:spcPts val="0"/>
              </a:spcAft>
              <a:buNone/>
            </a:pPr>
            <a:r>
              <a:rPr b="0" i="0" lang="en-US" sz="1600">
                <a:solidFill>
                  <a:srgbClr val="161D41"/>
                </a:solidFill>
                <a:latin typeface="Calibri"/>
                <a:ea typeface="Calibri"/>
                <a:cs typeface="Calibri"/>
                <a:sym typeface="Calibri"/>
              </a:rPr>
              <a:t>We use perspectivist annotations to split that gap into potential vs. established common ground, and use modality controls to locate its source.</a:t>
            </a:r>
            <a:endParaRPr/>
          </a:p>
        </p:txBody>
      </p:sp>
      <p:sp>
        <p:nvSpPr>
          <p:cNvPr id="419" name="Google Shape;419;p20"/>
          <p:cNvSpPr/>
          <p:nvPr/>
        </p:nvSpPr>
        <p:spPr>
          <a:xfrm>
            <a:off x="6297015" y="3767328"/>
            <a:ext cx="5327751" cy="1901952"/>
          </a:xfrm>
          <a:prstGeom prst="roundRect">
            <a:avLst>
              <a:gd fmla="val 7000" name="adj"/>
            </a:avLst>
          </a:prstGeom>
          <a:solidFill>
            <a:srgbClr val="FBEE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20"/>
          <p:cNvSpPr txBox="1"/>
          <p:nvPr/>
        </p:nvSpPr>
        <p:spPr>
          <a:xfrm>
            <a:off x="6534759" y="3968496"/>
            <a:ext cx="4852263" cy="14996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C00935"/>
                </a:solidFill>
                <a:latin typeface="Calibri"/>
                <a:ea typeface="Calibri"/>
                <a:cs typeface="Calibri"/>
                <a:sym typeface="Calibri"/>
              </a:rPr>
              <a:t>HUMAN BASELINE?</a:t>
            </a:r>
            <a:endParaRPr/>
          </a:p>
          <a:p>
            <a:pPr indent="0" lvl="0" marL="0" marR="0" rtl="0" algn="l">
              <a:spcBef>
                <a:spcPts val="700"/>
              </a:spcBef>
              <a:spcAft>
                <a:spcPts val="0"/>
              </a:spcAft>
              <a:buNone/>
            </a:pPr>
            <a:r>
              <a:rPr b="0" i="0" lang="en-US" sz="1600">
                <a:solidFill>
                  <a:srgbClr val="161D41"/>
                </a:solidFill>
                <a:latin typeface="Calibri"/>
                <a:ea typeface="Calibri"/>
                <a:cs typeface="Calibri"/>
                <a:sym typeface="Calibri"/>
              </a:rPr>
              <a:t>Gold labels come from the perspectivist annotation, not from a human-overhearer baseline.</a:t>
            </a:r>
            <a:endParaRPr/>
          </a:p>
          <a:p>
            <a:pPr indent="0" lvl="0" marL="0" marR="0" rtl="0" algn="l">
              <a:spcBef>
                <a:spcPts val="600"/>
              </a:spcBef>
              <a:spcAft>
                <a:spcPts val="0"/>
              </a:spcAft>
              <a:buNone/>
            </a:pPr>
            <a:r>
              <a:rPr b="0" i="0" lang="en-US" sz="1600">
                <a:solidFill>
                  <a:srgbClr val="161D41"/>
                </a:solidFill>
                <a:latin typeface="Calibri"/>
                <a:ea typeface="Calibri"/>
                <a:cs typeface="Calibri"/>
                <a:sym typeface="Calibri"/>
              </a:rPr>
              <a:t>A matched human-overhearer baseline is future work.</a:t>
            </a:r>
            <a:endParaRPr/>
          </a:p>
        </p:txBody>
      </p:sp>
      <p:sp>
        <p:nvSpPr>
          <p:cNvPr id="421" name="Google Shape;421;p20"/>
          <p:cNvSpPr txBox="1"/>
          <p:nvPr/>
        </p:nvSpPr>
        <p:spPr>
          <a:xfrm>
            <a:off x="566928" y="5897880"/>
            <a:ext cx="10234879" cy="731519"/>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400">
                <a:solidFill>
                  <a:srgbClr val="5F6070"/>
                </a:solidFill>
                <a:latin typeface="Calibri"/>
                <a:ea typeface="Calibri"/>
                <a:cs typeface="Calibri"/>
                <a:sym typeface="Calibri"/>
              </a:rPr>
              <a:t>Paper: aclanthology.org/2026.sigdial-1.49 (arXiv:2606.31719) · Code and prompts: github.com/chnln/seeing-is-not-sharing · SINS dataset: huggingface.co/datasets/chnln/seeing-is-not-sharing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21"/>
          <p:cNvSpPr txBox="1"/>
          <p:nvPr/>
        </p:nvSpPr>
        <p:spPr>
          <a:xfrm>
            <a:off x="566928" y="365760"/>
            <a:ext cx="11057839"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a:solidFill>
                  <a:srgbClr val="5F6070"/>
                </a:solidFill>
                <a:latin typeface="Calibri"/>
                <a:ea typeface="Calibri"/>
                <a:cs typeface="Calibri"/>
                <a:sym typeface="Calibri"/>
              </a:rPr>
              <a:t>BACKUP</a:t>
            </a:r>
            <a:endParaRPr/>
          </a:p>
        </p:txBody>
      </p:sp>
      <p:sp>
        <p:nvSpPr>
          <p:cNvPr id="428" name="Google Shape;428;p21"/>
          <p:cNvSpPr txBox="1"/>
          <p:nvPr/>
        </p:nvSpPr>
        <p:spPr>
          <a:xfrm>
            <a:off x="566928" y="694944"/>
            <a:ext cx="11057839"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61D41"/>
                </a:solidFill>
                <a:latin typeface="Calibri"/>
                <a:ea typeface="Calibri"/>
                <a:cs typeface="Calibri"/>
                <a:sym typeface="Calibri"/>
              </a:rPr>
              <a:t>The same trade-off, grouped by condition</a:t>
            </a:r>
            <a:endParaRPr/>
          </a:p>
        </p:txBody>
      </p:sp>
      <p:sp>
        <p:nvSpPr>
          <p:cNvPr id="429" name="Google Shape;429;p21"/>
          <p:cNvSpPr txBox="1"/>
          <p:nvPr/>
        </p:nvSpPr>
        <p:spPr>
          <a:xfrm>
            <a:off x="11094415" y="6419088"/>
            <a:ext cx="530352"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8A8A8A"/>
                </a:solidFill>
                <a:latin typeface="Calibri"/>
                <a:ea typeface="Calibri"/>
                <a:cs typeface="Calibri"/>
                <a:sym typeface="Calibri"/>
              </a:rPr>
              <a:t>B7</a:t>
            </a:r>
            <a:endParaRPr/>
          </a:p>
        </p:txBody>
      </p:sp>
      <p:pic>
        <p:nvPicPr>
          <p:cNvPr descr="chart_status_by_condition.png" id="430" name="Google Shape;430;p21"/>
          <p:cNvPicPr preferRelativeResize="0"/>
          <p:nvPr/>
        </p:nvPicPr>
        <p:blipFill rotWithShape="1">
          <a:blip r:embed="rId3">
            <a:alphaModFix/>
          </a:blip>
          <a:srcRect b="0" l="0" r="0" t="0"/>
          <a:stretch/>
        </p:blipFill>
        <p:spPr>
          <a:xfrm>
            <a:off x="655167" y="1627632"/>
            <a:ext cx="10881360" cy="4035211"/>
          </a:xfrm>
          <a:prstGeom prst="rect">
            <a:avLst/>
          </a:prstGeom>
          <a:noFill/>
          <a:ln>
            <a:noFill/>
          </a:ln>
        </p:spPr>
      </p:pic>
      <p:sp>
        <p:nvSpPr>
          <p:cNvPr id="431" name="Google Shape;431;p21"/>
          <p:cNvSpPr txBox="1"/>
          <p:nvPr/>
        </p:nvSpPr>
        <p:spPr>
          <a:xfrm>
            <a:off x="566928" y="6089904"/>
            <a:ext cx="10234879" cy="539495"/>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350">
                <a:solidFill>
                  <a:srgbClr val="5F6070"/>
                </a:solidFill>
                <a:latin typeface="Calibri"/>
                <a:ea typeface="Calibri"/>
                <a:cs typeface="Calibri"/>
                <a:sym typeface="Calibri"/>
              </a:rPr>
              <a:t>Table 4, all eight conditions. Anything carrying task-relevant map content — images or text — raises aligned accuracy and lowers pending and misunderstood accuracy.</a:t>
            </a:r>
            <a:endParaRPr/>
          </a:p>
          <a:p>
            <a:pPr indent="0" lvl="0" marL="0" marR="0" rtl="0" algn="l">
              <a:lnSpc>
                <a:spcPct val="105000"/>
              </a:lnSpc>
              <a:spcBef>
                <a:spcPts val="300"/>
              </a:spcBef>
              <a:spcAft>
                <a:spcPts val="0"/>
              </a:spcAft>
              <a:buNone/>
            </a:pPr>
            <a:r>
              <a:rPr b="0" i="0" lang="en-US" sz="1350">
                <a:solidFill>
                  <a:srgbClr val="5F6070"/>
                </a:solidFill>
                <a:latin typeface="Calibri"/>
                <a:ea typeface="Calibri"/>
                <a:cs typeface="Calibri"/>
                <a:sym typeface="Calibri"/>
              </a:rPr>
              <a:t>The content-free controls invert the profile, for the wrong reason: they answer NO to almost everything.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Utrecht University">
  <a:themeElements>
    <a:clrScheme name="Utrecht University">
      <a:dk1>
        <a:srgbClr val="000000"/>
      </a:dk1>
      <a:lt1>
        <a:srgbClr val="FFFFFF"/>
      </a:lt1>
      <a:dk2>
        <a:srgbClr val="C00935"/>
      </a:dk2>
      <a:lt2>
        <a:srgbClr val="D9D9D9"/>
      </a:lt2>
      <a:accent1>
        <a:srgbClr val="FFCD00"/>
      </a:accent1>
      <a:accent2>
        <a:srgbClr val="DD9562"/>
      </a:accent2>
      <a:accent3>
        <a:srgbClr val="911D56"/>
      </a:accent3>
      <a:accent4>
        <a:srgbClr val="63A593"/>
      </a:accent4>
      <a:accent5>
        <a:srgbClr val="161D41"/>
      </a:accent5>
      <a:accent6>
        <a:srgbClr val="6686C3"/>
      </a:accent6>
      <a:hlink>
        <a:srgbClr val="52287F"/>
      </a:hlink>
      <a:folHlink>
        <a:srgbClr val="623E2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trecht University">
  <a:themeElements>
    <a:clrScheme name="Utrecht University">
      <a:dk1>
        <a:srgbClr val="000000"/>
      </a:dk1>
      <a:lt1>
        <a:srgbClr val="FFFFFF"/>
      </a:lt1>
      <a:dk2>
        <a:srgbClr val="C00935"/>
      </a:dk2>
      <a:lt2>
        <a:srgbClr val="D9D9D9"/>
      </a:lt2>
      <a:accent1>
        <a:srgbClr val="FFCD00"/>
      </a:accent1>
      <a:accent2>
        <a:srgbClr val="DD9562"/>
      </a:accent2>
      <a:accent3>
        <a:srgbClr val="911D56"/>
      </a:accent3>
      <a:accent4>
        <a:srgbClr val="63A593"/>
      </a:accent4>
      <a:accent5>
        <a:srgbClr val="161D41"/>
      </a:accent5>
      <a:accent6>
        <a:srgbClr val="6686C3"/>
      </a:accent6>
      <a:hlink>
        <a:srgbClr val="52287F"/>
      </a:hlink>
      <a:folHlink>
        <a:srgbClr val="623E2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2026-07-10T14:47:01.5260000Z</dcterms:created>
  <dc:creator>Walnut Exporter</dc:creator>
</cp:coreProperties>
</file>