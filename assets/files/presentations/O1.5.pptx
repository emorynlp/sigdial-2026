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2" r:id="rId3"/>
    <p:sldId id="259" r:id="rId4"/>
    <p:sldId id="260" r:id="rId5"/>
    <p:sldId id="261" r:id="rId6"/>
    <p:sldId id="262" r:id="rId7"/>
    <p:sldId id="274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5" r:id="rId16"/>
    <p:sldId id="277" r:id="rId17"/>
    <p:sldId id="276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3"/>
    <p:restoredTop sz="89976"/>
  </p:normalViewPr>
  <p:slideViewPr>
    <p:cSldViewPr snapToGrid="0" snapToObjects="1">
      <p:cViewPr>
        <p:scale>
          <a:sx n="110" d="100"/>
          <a:sy n="110" d="100"/>
        </p:scale>
        <p:origin x="119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50" b="0" i="0" u="none" strike="noStrike">
                <a:solidFill>
                  <a:srgbClr val="172A3A"/>
                </a:solidFill>
                <a:latin typeface="Calibri"/>
              </a:defRPr>
            </a:pPr>
            <a:r>
              <a:rPr lang="en-US" sz="1350" b="0" i="0" u="none" strike="noStrike">
                <a:solidFill>
                  <a:srgbClr val="172A3A"/>
                </a:solidFill>
                <a:latin typeface="Calibri"/>
              </a:rPr>
              <a:t>Sensitivity vs. consensus gold standard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Sensitivity</c:v>
                </c:pt>
              </c:strCache>
            </c:strRef>
          </c:tx>
          <c:spPr>
            <a:solidFill>
              <a:srgbClr val="0A5B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72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Overall</c:v>
                </c:pt>
                <c:pt idx="1">
                  <c:v>SP</c:v>
                </c:pt>
                <c:pt idx="2">
                  <c:v>FP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83.5</c:v>
                </c:pt>
                <c:pt idx="1">
                  <c:v>87.6</c:v>
                </c:pt>
                <c:pt idx="2">
                  <c:v>78.7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11-5E47-9219-E13C5A5921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572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~30s. Hook: history-taking is the foundation of an ADRD diagnosis, but the clinic is out of time. We built a voice AI agent that conducts the pre-visit interview. Two takeaways today: (1) how you PROMPT the agent reshapes the whole conversation, and (2) patients open up MORE to the agent than to the time-limited clinician. Note up front: this is a feasibility pilot of the interview SYSTEM, not a clinical-utility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One number to set the stage: primary care gives about 15 minutes — nowhere near enough for a dementia history, and specialist waits already exceed a year. LLMs make flexible dialogue possible without hand-built state machines, so a pre-visit agent is plausible. But three things make it hard here: real-time symptom elicitation is underexplored; the population is cognitively impaired and needs scaffolding; and it's multi-party, with an informant in the room. Those three challenges drive every design decision in the next few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Patient and informant speak to a web interface. Whisper transcribes their speech, an LLM (Claude 3.5) drives the conversation guided by specialist-developed scripts, and Kokoro speaks the reply. Everything runs in a HIPAA-compliant AWS environment. Key scope point: the system's output is the TRANSCRIPT itself — that's what we evaluate. It's later compared to a blinded clinician interview through consensus adjudication; the agent never produces a summary or diagnosis. Transcripts were manually reviewed against the audio before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The clinical content is a specialist question set (ACCT-AD): ~30 topics, each a main question plus 3-4 conditional follow-ups that branch on the answer and probe for examples, duration, and functional impact. Around that we layer scaffolding designed for cognitively impaired older adults: concrete memory anchors, gentle rephrasing when confused, and a SINGLE polite redirect to keep the session humane in length rather than exhaustive at all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~50s. A subtle but important inversion: most voice agents minimize latency; we MAXIMIZED it — up to 5, even 10 seconds of silence — because pauses here signal effortful recall, not that the user is done. Visual cues show speaking vs. listening. For multi-party, the agent addresses roles separately to keep turn-taking predictable. Patient and informant are seen together, as in real specialist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This is the core experimental manipulation. Same clinical scripts, same content — the only difference is HOW the LLM receives them. Full-script: everything up front — broader coverage, but the agent crams questions together and is rigid. Sequential: one topic at a time — richer, more natural, better alignment and repair, BUT vulnerable to transition errors that skip later topics. Framing point for the anticipated reviewer question: because the two conditions differ ONLY in prompt delivery, the resulting behavioral differences aren't a nuisance confound — they're precisely the object of study. The interesting findings are qualitative (repair, alignment, question-compression), not just raw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[0:40] Within-subjects: every participant did the agent interview first, then a clinician interview where the clinician was blinded and used normal practice. Fixed order mirrors real deployment. Thirty participants analyzed after a five-person design pilot; 18 brought an informant; mean age 72. Full demographics are in a backup slide if anyone wants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Three dimensions — dialogue quality, symptom elicitation, user experience. Each interview was labeled across 35 symptoms (21 flagged clinically important). We distinguish 'absent' — a symptom explicitly raised and denied — from 'not-discussed,' never raised. The critical point, and a common reviewer confusion: we do NOT treat the clinician as ground truth. The gold standard is consensus adjudication of both transcripts: when they agree, adopt the label; when they disagree, the annotators re-review both together. So a symptom the agent surfaced but the clinician missed still counts. That's what makes sensitivity/specificity meaningful rather than mere agent-vs-clinician agreement.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Two findings. First, the agent takes fewer turns than the clinician but patients say about TWICE as many words per turn — the non-interruptive, patient-time design gives people room to describe symptoms. Second, the prompting strategies diverge qualitatively: SP produces richer dialogue with more repair and better alignment; FP covers more topics but crams questions and limits response opportunity. One framing point: the two conditions differ only in how the same content is delivered, so these behavioral differences are the intended object of study, not a nuisance confound — and the substantive findings are qualitative (repair, alignment, response opportunity), not just raw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Against the consensus gold standard, overall sensitivity was 83.5% — higher for SP (87.6) than FP (78.7). Specificity was 100%, and the paper now leads with it. What that 100% means concretely: zero adjudicated false positives — nothing the agent recorded as present was later found absent. Because the agent queries every symptom systematically while clinicians probe selectively, it accumulates a large pool of explicit denials; combined with no false positives, that drives specificity. Read it as: the agent didn't push people to over-endorse symptoms. The agent also omitted fewer core symptoms than the time-limited clinician (median 13% vs 30%). Per-symptom estimates are unstable (CIs often &gt;40 points), so we rely on pooled numbers and treat per-symptom values as hypothesis-generating.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Experience ratings were positive across all six items. Participants repeatedly praised the non-interruptive style and the sense of being given time — one said it understood their history better than most doctors. The negatives are instructive and honest: helpfulness and time drew a few strongly negative ratings, tied to technical stalls and to question-compression — the FP 'two or three questions at once' issue. Note only 19 of 30 completed the questionnaire, mostly for time reasons, which I count as 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Upfront about limits: a 30-person, single-site, English-only pilot; fixed order and variable intervals risk order effects; the co-present setting can suppress informant disclosures. Scope: this establishes feasibility of the INTERVIEW SYSTEM — not clinician-facing summaries, clinical utility, or deployment readiness, and no causal agent-vs-clinician claims. The responsible-use argument that matters most: the agent outputs no diagnosis, risk score, or recommendation. It elicits and records a narrative to INFORM the clinician. So the failure mode is a missed or awkward question — not a fabricated clinical conclusion. That, plus HIPAA hosting and real-time supervision, is our answer to the ethics concern.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Three takeaways. Prompting strategy is a first-class design lever — it reshapes the entire interview. Patients open up more to the agent than to the rushed clinician. And the system is feasible and genuinely well-received by this hard-to-serve population. Where we're headed: hybrid prompting to get SP's flexibility with FP's coverage; a dedicated summarization-and-adjudication study for the clinician-facing use case; and larger, multi-site, multilingual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BDED1-8596-5FD2-9B1F-0BEFBDFD1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9D63A6-9872-D752-165C-7E29CD976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26C50B-73BD-B71C-5814-C11F09520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2F186-A3EF-F12E-4222-11956F72A5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657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AECB6-1BDA-7C63-12C6-CDC3EBC5F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A719CF-0F20-537F-EB78-137F92598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19D9E-08E1-80D5-A4F9-B19B85CDB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Lower α values for dimensions involving rare judgments (e.g., Out-of-Survey (b), Misunderstanding, Failure to Repair Misunderstanding) are expected, as chance-corrected measures tend to be conservative under imbalanced label distributions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Krippendorff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2011;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Artstein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Poesio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2008). Survey Coverage shows moderate agreement, likely reflecting the difficulty of its three-way categorical scheme; notably, human–LLM agreement remains comparable to human–human agreement. For Antisocial / Impolite Responses, all annotators labeled every instance as non-antisocial, yielding perfect raw agreement and undefined α. We note that this analysis is intended to assess plausibility rather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 serve as definitive validation.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DC358-C323-9F70-4874-EF12FB380A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3427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10EAD-425C-2782-989E-2FB89E00A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4D00B-4152-05CA-5887-7CDB07A94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A1A542-C2E1-5F2E-EC56-108A88EBB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A5B57-89EF-D83E-7E72-CAFA269913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334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25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slow" p14:dur="5250"/>
    </mc:Choice>
    <mc:Fallback>
      <p:transition spd="slow"/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1234440"/>
            <a:ext cx="2011680" cy="20116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29800" y="1691640"/>
            <a:ext cx="1371600" cy="1051560"/>
          </a:xfrm>
          <a:prstGeom prst="roundRect">
            <a:avLst>
              <a:gd name="adj" fmla="val 19130"/>
            </a:avLst>
          </a:prstGeom>
          <a:solidFill>
            <a:srgbClr val="CFE7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76688" y="1993392"/>
            <a:ext cx="256032" cy="256032"/>
          </a:xfrm>
          <a:prstGeom prst="ellipse">
            <a:avLst/>
          </a:prstGeom>
          <a:solidFill>
            <a:srgbClr val="0F2C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98480" y="1993392"/>
            <a:ext cx="256032" cy="256032"/>
          </a:xfrm>
          <a:prstGeom prst="ellipse">
            <a:avLst/>
          </a:prstGeom>
          <a:solidFill>
            <a:srgbClr val="0F2C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168128" y="2395728"/>
            <a:ext cx="685800" cy="146304"/>
          </a:xfrm>
          <a:prstGeom prst="roundRect">
            <a:avLst>
              <a:gd name="adj" fmla="val 50000"/>
            </a:avLst>
          </a:prstGeom>
          <a:solidFill>
            <a:srgbClr val="E39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SIGDIAL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Towards Conversational Patient History-Taking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Voice-Interactive AI Agents for Pre-visit Dementia Diagnostic Interviews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343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G. Breithaupt*</a:t>
            </a:r>
            <a:r>
              <a:rPr lang="en-US" sz="15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500" dirty="0" err="1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Nayoung</a:t>
            </a:r>
            <a:r>
              <a:rPr lang="en-US" sz="15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Choi*  ·  James D. Finch  ·  Jeanne M. Powell  ·  Arin L. Nelson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468172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 A. Alon  ·  Howard J. Rosen  ·  Jinho D. Choi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5619539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Emory University  ·  University of California, San Francisco</a:t>
            </a:r>
            <a:endParaRPr lang="en-US" sz="14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B861EF8-F96B-E1B5-D4BA-8E496F864558}"/>
              </a:ext>
            </a:extLst>
          </p:cNvPr>
          <p:cNvSpPr/>
          <p:nvPr/>
        </p:nvSpPr>
        <p:spPr>
          <a:xfrm>
            <a:off x="731520" y="4983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EF3"/>
                </a:solidFill>
                <a:latin typeface="Calibri" pitchFamily="34" charset="0"/>
                <a:cs typeface="Calibri" pitchFamily="34" charset="-120"/>
              </a:rPr>
              <a:t>*Co-first author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25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THE GAP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History-taking is the bottleneck — and hard to automate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00400" cy="4023360"/>
          </a:xfrm>
          <a:prstGeom prst="roundRect">
            <a:avLst>
              <a:gd name="adj" fmla="val 2857"/>
            </a:avLst>
          </a:prstGeom>
          <a:solidFill>
            <a:srgbClr val="0F2C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3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less for a typical primary-care visit — too short for the extended dialogue ADRD needs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8463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waits exceed a year; &gt;50% of diagnoses come late.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69080" y="1783080"/>
            <a:ext cx="7452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43400" y="2093976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43400" y="209397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212080" y="1984248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Nuanced symptom elicitation is underexplored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2386584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mines existing notes or uses rigid state machines — few systems elicit complex cognitive symptoms through live dialogue.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069080" y="3154680"/>
            <a:ext cx="7452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43400" y="3465576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43400" y="346557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212080" y="3355848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Cognitive impairment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12080" y="3758184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speech, effortful recall, and a need for rephrasing and scaffolding.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069080" y="4526280"/>
            <a:ext cx="7452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43400" y="4837176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43400" y="483717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212080" y="4727448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Multi-party dynamics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12080" y="5129784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informant often participates alongside the patient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25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8636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voice-interactive pre-visit interview agent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624946" y="4806118"/>
            <a:ext cx="2331720" cy="805119"/>
          </a:xfrm>
          <a:prstGeom prst="roundRect">
            <a:avLst>
              <a:gd name="adj" fmla="val 8333"/>
            </a:avLst>
          </a:prstGeom>
          <a:solidFill>
            <a:srgbClr val="0A5B82"/>
          </a:solidFill>
          <a:ln/>
          <a:effectLst>
            <a:outerShdw blurRad="76200" dist="25400" dir="5400000" algn="bl" rotWithShape="0">
              <a:srgbClr val="AEB9C1">
                <a:alpha val="4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4624946" y="4628648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HIPAA compliant AWS environment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1792" y="5971924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5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transcript is the system's output </a:t>
            </a:r>
            <a:r>
              <a:rPr lang="en-US" sz="1600" b="1" dirty="0">
                <a:solidFill>
                  <a:srgbClr val="0A5B82"/>
                </a:solidFill>
                <a:latin typeface="Calibri" pitchFamily="34" charset="0"/>
                <a:cs typeface="Calibri" pitchFamily="34" charset="-120"/>
              </a:rPr>
              <a:t>later, manually reviewed before analysis, compared to a blinded clinician interview via consensus adjudication.</a:t>
            </a:r>
          </a:p>
        </p:txBody>
      </p:sp>
      <p:sp>
        <p:nvSpPr>
          <p:cNvPr id="21" name="Text 19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C4EB3FE4-D2B6-9381-BC7B-C8071DA69CD8}"/>
              </a:ext>
            </a:extLst>
          </p:cNvPr>
          <p:cNvSpPr/>
          <p:nvPr/>
        </p:nvSpPr>
        <p:spPr>
          <a:xfrm rot="5400000">
            <a:off x="5595877" y="1221396"/>
            <a:ext cx="457200" cy="6532944"/>
          </a:xfrm>
          <a:prstGeom prst="rightBrac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6C3970C-A728-2818-5DAC-5505CA2A2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549" y="2178668"/>
            <a:ext cx="7772400" cy="20537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25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INTERVIEW SCAFFOLDING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Specialist scripts with conditional branching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245121" y="182880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6519441" y="2057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 topic areas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19441" y="2468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C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· Language · Personality · Motor changes 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19441" y="292608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question</a:t>
            </a:r>
            <a:endParaRPr lang="en-US" dirty="0"/>
          </a:p>
          <a:p>
            <a:pPr marL="0" indent="0">
              <a:spcAft>
                <a:spcPts val="800"/>
              </a:spcAft>
              <a:buNone/>
            </a:pPr>
            <a:r>
              <a:rPr lang="en-US" i="1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"Have you noticed recent problems with your memory?"</a:t>
            </a:r>
            <a:endParaRPr lang="en-US" dirty="0"/>
          </a:p>
          <a:p>
            <a:pPr marL="190500" indent="-190500">
              <a:buSzPct val="100000"/>
              <a:buChar char="•"/>
            </a:pPr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conditional follow-ups</a:t>
            </a:r>
            <a:endParaRPr lang="en-US" dirty="0"/>
          </a:p>
          <a:p>
            <a:pPr marL="0" indent="0">
              <a:spcAft>
                <a:spcPts val="800"/>
              </a:spcAft>
              <a:buNone/>
            </a:pPr>
            <a:r>
              <a:rPr lang="en-US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on yes / no, probe for examples, duration, functional impact</a:t>
            </a:r>
            <a:endParaRPr lang="en-US" dirty="0"/>
          </a:p>
          <a:p>
            <a:pPr marL="190500" indent="-190500">
              <a:buSzPct val="100000"/>
              <a:buChar char="•"/>
            </a:pPr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rules embedded in the system prompt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40080" y="1837944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Two-part prompt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2313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role &amp; tone + topic-specific scripts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2916936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4" name="Shape 12"/>
          <p:cNvSpPr/>
          <p:nvPr/>
        </p:nvSpPr>
        <p:spPr>
          <a:xfrm>
            <a:off x="822960" y="313639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1363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30449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Supportive cues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339242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anchors: "in the past couple of years"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995928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9" name="Shape 17"/>
          <p:cNvSpPr/>
          <p:nvPr/>
        </p:nvSpPr>
        <p:spPr>
          <a:xfrm>
            <a:off x="822960" y="421538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421538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412394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 misunderstanding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44714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rephrasing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507492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4" name="Shape 22"/>
          <p:cNvSpPr/>
          <p:nvPr/>
        </p:nvSpPr>
        <p:spPr>
          <a:xfrm>
            <a:off x="822960" y="5294376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529437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54480" y="52029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polite redirect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54480" y="55504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fixed time limit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25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INTERACTION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Turn-taking set for slow, effortful recall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refined in preliminary testing to fit older adults with cognitive impairment and multi-party sessions.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B9C4CC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624328"/>
            <a:ext cx="658368" cy="658368"/>
          </a:xfrm>
          <a:prstGeom prst="ellipse">
            <a:avLst/>
          </a:prstGeom>
          <a:solidFill>
            <a:srgbClr val="0A5B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6243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37360" y="2550681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Increased latency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737360" y="297081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5s of silence before the agent takes its turn — 10s for questions needing elaboration. Avoids interrupting effortful recall.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B9C4CC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46520" y="2624328"/>
            <a:ext cx="658368" cy="658368"/>
          </a:xfrm>
          <a:prstGeom prst="ellipse">
            <a:avLst/>
          </a:prstGeom>
          <a:solidFill>
            <a:srgbClr val="0A5B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46520" y="26243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◑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269480" y="2550681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 speaking / listening cues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69480" y="2909025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indicators signal when the agent is speaking vs. actively listening.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B9C4CC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4400" y="4498848"/>
            <a:ext cx="658368" cy="658368"/>
          </a:xfrm>
          <a:prstGeom prst="ellipse">
            <a:avLst/>
          </a:prstGeom>
          <a:solidFill>
            <a:srgbClr val="0A5B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4988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◎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37360" y="4425201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Role-addressed multi-party scaffolding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737360" y="4919472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patient and informant separately to keep turn-taking predictable and reduce ambiguity about who answers.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2200" y="420624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B9C4CC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46520" y="4498848"/>
            <a:ext cx="658368" cy="658368"/>
          </a:xfrm>
          <a:prstGeom prst="ellipse">
            <a:avLst/>
          </a:prstGeom>
          <a:solidFill>
            <a:srgbClr val="0A5B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46520" y="44988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◍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69480" y="4425201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Interviewed together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269480" y="484533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informant present interviewed with patient, mirroring most real-world dementia-specialist clinics.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25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9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two prompting strategies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9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participants each. Same scripts and clinical content — only how the LLM receives the scripts differs.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49240" cy="2468881"/>
          </a:xfrm>
          <a:prstGeom prst="roundRect">
            <a:avLst>
              <a:gd name="adj" fmla="val 2892"/>
            </a:avLst>
          </a:prstGeom>
          <a:solidFill>
            <a:srgbClr val="1639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9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Full-script Prompting  (FP)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~30 topic scripts delivered at once, in a single system prompt.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172200" y="2331720"/>
            <a:ext cx="5349240" cy="2468881"/>
          </a:xfrm>
          <a:prstGeom prst="roundRect">
            <a:avLst>
              <a:gd name="adj" fmla="val 289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46520" y="2560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Prompting  (SP)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46520" y="30632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A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topic script at a time; advances only when the current topic is addressed.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25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Within-subjects design at a cognitive neurology clinic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0A5B82"/>
          </a:solidFill>
          <a:ln/>
          <a:effectLst>
            <a:outerShdw blurRad="76200" dist="25400" dir="5400000" algn="bl" rotWithShape="0">
              <a:srgbClr val="AEB9C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Agent-led interview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(FP or SP)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069080" y="2688336"/>
            <a:ext cx="685800" cy="320040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0" y="214884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AEB9C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2148840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Clinician-led interview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(blinded to agent)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366760" y="2688336"/>
            <a:ext cx="685800" cy="320040"/>
          </a:xfrm>
          <a:prstGeom prst="rightArrow">
            <a:avLst/>
          </a:prstGeom>
          <a:solidFill>
            <a:srgbClr val="E39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235440" y="21488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F2C4C"/>
          </a:solidFill>
          <a:ln/>
          <a:effectLst>
            <a:outerShdw blurRad="76200" dist="25400" dir="5400000" algn="bl" rotWithShape="0">
              <a:srgbClr val="AEB9C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235440" y="21488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experience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C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order mirrors the intended deployment: the agent gathers preliminary information before specialist consultation.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48006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5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participants</a:t>
            </a:r>
            <a:r>
              <a:rPr lang="en-US" sz="190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analyzed ·  </a:t>
            </a:r>
            <a:r>
              <a:rPr lang="en-US" sz="1900" b="1" dirty="0">
                <a:solidFill>
                  <a:srgbClr val="0A5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r>
              <a:rPr lang="en-US" sz="190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attended with an informant  ·  mean age </a:t>
            </a:r>
            <a:r>
              <a:rPr lang="en-US" sz="1900" b="1" dirty="0">
                <a:solidFill>
                  <a:srgbClr val="0A5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r>
              <a:rPr lang="en-US" sz="190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(47–89)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25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dimensions: Dialogue, content, and experience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02152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0482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Dialogue analysis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coverage, alignment, politeness, input understanding, response opportunity. LLM-annotated, validated against 2 human annotators.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5112" y="1783080"/>
            <a:ext cx="3502152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99432" y="2011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99432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85232" y="20482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elicitation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45152" y="27432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symptoms (21 clinically prioritized) labeled present / absent / ambiguous / not-discussed. Absent = raised &amp; denied; not-discussed = never raised.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10144" y="1783080"/>
            <a:ext cx="3502152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84464" y="2011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84464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70264" y="20482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experience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30184" y="27432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6-item AES: ease, understandability, enjoyment, helpfulness, time, satisfaction — plus open response.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0F2C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60120" y="4892040"/>
            <a:ext cx="777240" cy="777240"/>
          </a:xfrm>
          <a:prstGeom prst="ellipse">
            <a:avLst/>
          </a:prstGeom>
          <a:solidFill>
            <a:srgbClr val="E39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0120" y="4892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011680" y="4800600"/>
            <a:ext cx="9235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content elicitation: The clinician interview is NOT the reference standard.  </a:t>
            </a:r>
            <a:r>
              <a:rPr lang="en-US" sz="16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 standard is consensus adjudication of BOTH transcripts by a behavioral neurologist and trained team members.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25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DIALOGUE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strategy reshapes the conversation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965960"/>
            <a:ext cx="52578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128016" cy="932688"/>
          </a:xfrm>
          <a:prstGeom prst="roundRect">
            <a:avLst>
              <a:gd name="adj" fmla="val 35714"/>
            </a:avLst>
          </a:prstGeom>
          <a:solidFill>
            <a:srgbClr val="E39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20574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 say ~2× more per turn to the agent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40487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31.8 (FP) / 39.5 (SP) words vs. 13.1 with the clinician — more room to describe symptoms.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082688"/>
            <a:ext cx="5257800" cy="102412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" y="3082688"/>
            <a:ext cx="128016" cy="932688"/>
          </a:xfrm>
          <a:prstGeom prst="roundRect">
            <a:avLst>
              <a:gd name="adj" fmla="val 3571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14400" y="317412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SP: richer dialogue with more repair, but missed topics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3602625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out-of-survey but mostly appropriate probes; recovers from misunderstandings.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4268865"/>
            <a:ext cx="52578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40080" y="4268865"/>
            <a:ext cx="128016" cy="932688"/>
          </a:xfrm>
          <a:prstGeom prst="roundRect">
            <a:avLst>
              <a:gd name="adj" fmla="val 35714"/>
            </a:avLst>
          </a:prstGeom>
          <a:solidFill>
            <a:srgbClr val="0A5B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14400" y="4360305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FP: broader coverage with less flow and depth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14400" y="4707777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more topics but with less depth.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8795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6BDEB66-B0BC-F6B1-82FA-331ED10706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534" b="49671"/>
          <a:stretch>
            <a:fillRect/>
          </a:stretch>
        </p:blipFill>
        <p:spPr>
          <a:xfrm>
            <a:off x="6508482" y="1853685"/>
            <a:ext cx="3908579" cy="201168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819ABE8-8F23-DA3B-09F6-8E5408EEB1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161" b="49671"/>
          <a:stretch>
            <a:fillRect/>
          </a:stretch>
        </p:blipFill>
        <p:spPr>
          <a:xfrm>
            <a:off x="6508482" y="3990951"/>
            <a:ext cx="3908578" cy="21199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25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SYMPTOM ELICITATION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specificity, strong sensitivity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236756277"/>
              </p:ext>
            </p:extLst>
          </p:nvPr>
        </p:nvGraphicFramePr>
        <p:xfrm>
          <a:off x="640080" y="1920240"/>
          <a:ext cx="53949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2120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= 100% across all conditions (95% CI 95.8–100)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63640" y="192024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37960" y="20848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omissions than the clinician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537960" y="2487168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not-discussed rate (21 core symptoms):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5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13.0%  vs.  clinician 30.4%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comparable (13.0% vs 16.7%, p = 0.19)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379476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0F2C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92240" y="3930760"/>
            <a:ext cx="566928" cy="566928"/>
          </a:xfrm>
          <a:prstGeom prst="ellipse">
            <a:avLst/>
          </a:prstGeom>
          <a:solidFill>
            <a:srgbClr val="E39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92240" y="3930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178040" y="3977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100% specificity means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37960" y="44805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adjudicated false positives — no symptom the participant reported as present with the agent was later found absent with the clinician.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querying builds a large pool of denials. Still exploratory: small n.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25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USER EXPERIENCE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positive mainly due to patience &amp; thoroughness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231648" y="5403012"/>
            <a:ext cx="2843321" cy="1280160"/>
          </a:xfrm>
          <a:prstGeom prst="roundRect">
            <a:avLst>
              <a:gd name="adj" fmla="val 7143"/>
            </a:avLst>
          </a:prstGeom>
          <a:solidFill>
            <a:srgbClr val="EAF3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95612" y="5567604"/>
            <a:ext cx="277935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appreciate she doesn’t interrupt and gave us time to talk.”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95612" y="6335700"/>
            <a:ext cx="277935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P24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83053" y="5403012"/>
            <a:ext cx="2843321" cy="1280160"/>
          </a:xfrm>
          <a:prstGeom prst="roundRect">
            <a:avLst>
              <a:gd name="adj" fmla="val 7143"/>
            </a:avLst>
          </a:prstGeom>
          <a:solidFill>
            <a:srgbClr val="EAF3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547017" y="5567604"/>
            <a:ext cx="277935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“Very thorough — understood my information more than most doctors. Patient and took time to listen.”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547017" y="6335700"/>
            <a:ext cx="277935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P7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30086" y="5403012"/>
            <a:ext cx="2843321" cy="1280160"/>
          </a:xfrm>
          <a:prstGeom prst="roundRect">
            <a:avLst>
              <a:gd name="adj" fmla="val 7143"/>
            </a:avLst>
          </a:prstGeom>
          <a:solidFill>
            <a:srgbClr val="FBEE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894050" y="5567604"/>
            <a:ext cx="277935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“Some of the questions should be broken down — asked 2 or 3 at once.”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94050" y="6335700"/>
            <a:ext cx="277935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P23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FBE0D7D-EA74-2B75-B66D-400621F79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91" y="1917875"/>
            <a:ext cx="9709767" cy="26621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76FF168-7FFA-887A-998A-788616DF89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546" t="49697"/>
          <a:stretch>
            <a:fillRect/>
          </a:stretch>
        </p:blipFill>
        <p:spPr>
          <a:xfrm>
            <a:off x="9936188" y="1917875"/>
            <a:ext cx="2255812" cy="24422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25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RESPONSIBLE USE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 single site pilot study on the interview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0848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scale, single site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54480" y="2395728"/>
            <a:ext cx="40827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n=30, one clinic, English only. Preliminary &amp; hypothesis-generating.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28232" y="20848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2823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86600" y="2011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order &amp; timing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86600" y="2395728"/>
            <a:ext cx="40827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always precedes clinician; intervals up to 3 months. Possible order effects.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96112" y="36850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6112" y="3685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3611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Co-present setting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554480" y="3995928"/>
            <a:ext cx="40827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Informants may soften disclosures with the patient present, suppressing some information.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429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28232" y="36850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28232" y="3685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86600" y="3611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is interview system only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086600" y="3995928"/>
            <a:ext cx="40827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of the interview system — NOT clinician-facing summaries, clinical utility, or deployment readiness.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0F2C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400" y="523036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Informs, never directs care.  </a:t>
            </a:r>
            <a:r>
              <a:rPr lang="en-US" sz="16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produces no diagnosis, score, or recommendation — so a model error surfaces as a missed or inappropriate question, not a fabricated clinical conclusion.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25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9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7040880" cy="1280160"/>
          </a:xfrm>
          <a:prstGeom prst="roundRect">
            <a:avLst>
              <a:gd name="adj" fmla="val 7143"/>
            </a:avLst>
          </a:prstGeom>
          <a:solidFill>
            <a:srgbClr val="1639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276856"/>
            <a:ext cx="658368" cy="658368"/>
          </a:xfrm>
          <a:prstGeom prst="ellipse">
            <a:avLst/>
          </a:prstGeom>
          <a:solidFill>
            <a:srgbClr val="E39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27685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2167128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shapes conversation outcomes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258775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vs. full-script meaningfully reshapes coverage, flexibility, and repair behavior.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7040880" cy="1280160"/>
          </a:xfrm>
          <a:prstGeom prst="roundRect">
            <a:avLst>
              <a:gd name="adj" fmla="val 7143"/>
            </a:avLst>
          </a:prstGeom>
          <a:solidFill>
            <a:srgbClr val="1639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3694176"/>
            <a:ext cx="658368" cy="658368"/>
          </a:xfrm>
          <a:prstGeom prst="ellipse">
            <a:avLst/>
          </a:prstGeom>
          <a:solidFill>
            <a:srgbClr val="E39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69417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28800" y="3584448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 are verbose with the agent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400507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~2× words per turn and fewer omitted core symptoms than the time-limited clinician.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7040880" cy="1280160"/>
          </a:xfrm>
          <a:prstGeom prst="roundRect">
            <a:avLst>
              <a:gd name="adj" fmla="val 7143"/>
            </a:avLst>
          </a:prstGeom>
          <a:solidFill>
            <a:srgbClr val="1639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5111496"/>
            <a:ext cx="658368" cy="658368"/>
          </a:xfrm>
          <a:prstGeom prst="ellipse">
            <a:avLst/>
          </a:prstGeom>
          <a:solidFill>
            <a:srgbClr val="E39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511149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828800" y="5001768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high user satisfaction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28800" y="542239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adults and informants found the interview acceptable, patient, and thorough.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09560" y="1965960"/>
            <a:ext cx="3611880" cy="3977640"/>
          </a:xfrm>
          <a:prstGeom prst="roundRect">
            <a:avLst>
              <a:gd name="adj" fmla="val 253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8388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183880" y="2743200"/>
            <a:ext cx="3200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prompting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A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SP flexibility with FP coverage &amp; robust topic transitions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summarization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A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clinician-facing summaries + specialist adjudication for diagnosis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multi-site, multilingual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EA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real-world evaluation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25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023360"/>
            <a:ext cx="1920240" cy="1920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902952" y="4434840"/>
            <a:ext cx="1325880" cy="1005840"/>
          </a:xfrm>
          <a:prstGeom prst="roundRect">
            <a:avLst>
              <a:gd name="adj" fmla="val 18182"/>
            </a:avLst>
          </a:prstGeom>
          <a:solidFill>
            <a:srgbClr val="CFE7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131552" y="4718304"/>
            <a:ext cx="237744" cy="237744"/>
          </a:xfrm>
          <a:prstGeom prst="ellipse">
            <a:avLst/>
          </a:prstGeom>
          <a:solidFill>
            <a:srgbClr val="0F2C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716768" y="4718304"/>
            <a:ext cx="237744" cy="237744"/>
          </a:xfrm>
          <a:prstGeom prst="ellipse">
            <a:avLst/>
          </a:prstGeom>
          <a:solidFill>
            <a:srgbClr val="0F2C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222992" y="5084064"/>
            <a:ext cx="640080" cy="137160"/>
          </a:xfrm>
          <a:prstGeom prst="roundRect">
            <a:avLst>
              <a:gd name="adj" fmla="val 46667"/>
            </a:avLst>
          </a:prstGeom>
          <a:solidFill>
            <a:srgbClr val="E39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9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G. Breithaupt  ·  abreith@emory.edu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Neurology, Emory University School of Medicine 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25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7B1C62-D8F5-36FB-C6B5-EDB40A616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064BA91-BEBA-63EB-17A3-85782BF3BE0E}"/>
              </a:ext>
            </a:extLst>
          </p:cNvPr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DIALOGUE</a:t>
            </a: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311A805-4622-D8B5-AF3B-132093C9855E}"/>
              </a:ext>
            </a:extLst>
          </p:cNvPr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strategy reshapes the conversation</a:t>
            </a:r>
            <a:endParaRPr lang="en-US" sz="32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31A5288E-CBF1-38A9-FF00-75C22F0FD5AD}"/>
              </a:ext>
            </a:extLst>
          </p:cNvPr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5CE987-EB54-325E-AC21-9E7D3D189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35" y="1545676"/>
            <a:ext cx="9224736" cy="485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717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25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2E1CEC-2163-51F8-3F31-7D31649A3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0505A18-AC4A-23CA-16FF-48431D38329A}"/>
              </a:ext>
            </a:extLst>
          </p:cNvPr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DIALOGUE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91F5EC1-6EDB-093C-3D0A-2FB76B164094}"/>
              </a:ext>
            </a:extLst>
          </p:cNvPr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behind LLM annotation with two human annotators</a:t>
            </a:r>
            <a:endParaRPr lang="en-US" sz="32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817B763B-7FDE-BBF7-3378-B1EDC41514E1}"/>
              </a:ext>
            </a:extLst>
          </p:cNvPr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C1B59C-1ADA-35E6-10AD-45249DD7E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0" y="2076450"/>
            <a:ext cx="55245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423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25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95942C-402C-022E-01CD-78216D5CF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B95E4A-C59C-7A3A-4BF7-A448D2A707C0}"/>
              </a:ext>
            </a:extLst>
          </p:cNvPr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SYMPTOM ELICITATION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4DAE3B-90CC-F208-EB52-1A6B991A7C17}"/>
              </a:ext>
            </a:extLst>
          </p:cNvPr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5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behind sensitivity and specificity</a:t>
            </a:r>
            <a:endParaRPr lang="en-US" sz="32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A75EBF7-8D8A-D8CE-3E96-5B25C314B5DB}"/>
              </a:ext>
            </a:extLst>
          </p:cNvPr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0FA2191-4439-F8F4-57FE-3C945619B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9" y="2273300"/>
            <a:ext cx="5422900" cy="231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123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25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2898</TotalTime>
  <Words>2647</Words>
  <Application>Microsoft Macintosh PowerPoint</Application>
  <PresentationFormat>Widescreen</PresentationFormat>
  <Paragraphs>209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Towards Conversational Patient History-Taking</dc:title>
  <dc:subject>PptxGenJS Presentation</dc:subject>
  <dc:creator>Andrew G. Breithaupt et al.</dc:creator>
  <cp:lastModifiedBy>Breithaupt, Andrew</cp:lastModifiedBy>
  <cp:revision>3</cp:revision>
  <dcterms:created xsi:type="dcterms:W3CDTF">2026-07-23T00:17:09Z</dcterms:created>
  <dcterms:modified xsi:type="dcterms:W3CDTF">2026-07-31T22:15:39Z</dcterms:modified>
</cp:coreProperties>
</file>