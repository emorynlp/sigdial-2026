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96" r:id="rId2"/>
    <p:sldId id="299" r:id="rId3"/>
    <p:sldId id="323" r:id="rId4"/>
    <p:sldId id="324" r:id="rId5"/>
    <p:sldId id="325" r:id="rId6"/>
    <p:sldId id="326" r:id="rId7"/>
    <p:sldId id="327" r:id="rId8"/>
    <p:sldId id="336" r:id="rId9"/>
    <p:sldId id="329" r:id="rId10"/>
    <p:sldId id="330" r:id="rId11"/>
    <p:sldId id="337" r:id="rId12"/>
    <p:sldId id="332" r:id="rId13"/>
    <p:sldId id="333" r:id="rId14"/>
    <p:sldId id="334" r:id="rId15"/>
    <p:sldId id="335" r:id="rId16"/>
    <p:sldId id="298" r:id="rId17"/>
    <p:sldId id="346" r:id="rId18"/>
    <p:sldId id="343" r:id="rId19"/>
    <p:sldId id="344" r:id="rId20"/>
    <p:sldId id="345"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6182"/>
    <a:srgbClr val="EA7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20"/>
    <p:restoredTop sz="94676"/>
  </p:normalViewPr>
  <p:slideViewPr>
    <p:cSldViewPr snapToGrid="0">
      <p:cViewPr>
        <p:scale>
          <a:sx n="81" d="100"/>
          <a:sy n="81" d="100"/>
        </p:scale>
        <p:origin x="944" y="8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7A8FBE-6BF2-7C4A-85E5-BB4BFC263CC1}"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D62C18-5DDC-1043-ABB5-D9EEFE044AEE}" type="slidenum">
              <a:rPr kumimoji="1" lang="ja-JP" altLang="en-US" smtClean="0"/>
              <a:t>‹#›</a:t>
            </a:fld>
            <a:endParaRPr kumimoji="1" lang="ja-JP" altLang="en-US"/>
          </a:p>
        </p:txBody>
      </p:sp>
    </p:spTree>
    <p:extLst>
      <p:ext uri="{BB962C8B-B14F-4D97-AF65-F5344CB8AC3E}">
        <p14:creationId xmlns:p14="http://schemas.microsoft.com/office/powerpoint/2010/main" val="20836219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Good morning. My name is Taiga Mori, from Kyoto University.</a:t>
            </a:r>
          </a:p>
          <a:p>
            <a:pPr>
              <a:buNone/>
            </a:pPr>
            <a:r>
              <a:rPr lang="en-US" sz="1200" dirty="0"/>
              <a:t>The title of my talk is: On the Structure of Address in Multi-Party Dialogue: From Discrete Labels to Continuous Levels.</a:t>
            </a:r>
          </a:p>
          <a:p>
            <a:pPr>
              <a:buNone/>
            </a:pPr>
            <a:r>
              <a:rPr lang="en-US" sz="1200" dirty="0"/>
              <a:t>I am sorry, my English is not very good, so I put the key points on every slide. Please read them together with me.</a:t>
            </a:r>
          </a:p>
          <a:p>
            <a:pPr>
              <a:buNone/>
            </a:pPr>
            <a:r>
              <a:rPr lang="en-US" sz="1200" dirty="0"/>
              <a:t>Let us begin.</a:t>
            </a:r>
          </a:p>
          <a:p>
            <a:pPr>
              <a:buNone/>
            </a:pPr>
            <a:endParaRPr lang="en-US" sz="1200" dirty="0"/>
          </a:p>
          <a:p>
            <a:pPr>
              <a:buNone/>
            </a:pPr>
            <a:r>
              <a:rPr lang="ja-JP" sz="1200" dirty="0"/>
              <a:t>おはようございます。京都大学の森大我です。</a:t>
            </a:r>
          </a:p>
          <a:p>
            <a:pPr>
              <a:buNone/>
            </a:pPr>
            <a:r>
              <a:rPr lang="ja-JP" sz="1200" dirty="0"/>
              <a:t>発表タイトルは「On the Structure of Address in Multi-Party Dialogue: From Discrete Labels to Continuous Levels」です。</a:t>
            </a:r>
          </a:p>
          <a:p>
            <a:pPr>
              <a:buNone/>
            </a:pPr>
            <a:r>
              <a:rPr lang="ja-JP" sz="1200" dirty="0"/>
              <a:t>英語が得意ではないため、各スライドに要点を書いてあります。あわせてご覧ください。</a:t>
            </a:r>
          </a:p>
          <a:p>
            <a:pPr>
              <a:buNone/>
            </a:pPr>
            <a:r>
              <a:rPr lang="ja-JP" sz="1200" dirty="0"/>
              <a:t>では始めます。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Most previous work treats addressee detection as a classification task.</a:t>
            </a:r>
          </a:p>
          <a:p>
            <a:pPr>
              <a:buNone/>
            </a:pPr>
            <a:r>
              <a:rPr lang="en-US" sz="1200" dirty="0"/>
              <a:t>In human-agent settings, the question is binary: is this utterance for the system, or for another human?</a:t>
            </a:r>
          </a:p>
          <a:p>
            <a:pPr>
              <a:buNone/>
            </a:pPr>
            <a:r>
              <a:rPr lang="en-US" sz="1200" dirty="0"/>
              <a:t>In multi-party human dialogue, the model picks one label: participant A, B, C, or the group.</a:t>
            </a:r>
          </a:p>
          <a:p>
            <a:pPr>
              <a:buNone/>
            </a:pPr>
            <a:r>
              <a:rPr lang="en-US" sz="1200" dirty="0"/>
              <a:t>Prediction is usually made after the turn is finished.</a:t>
            </a:r>
          </a:p>
          <a:p>
            <a:pPr>
              <a:buNone/>
            </a:pPr>
            <a:r>
              <a:rPr lang="en-US" sz="1200" dirty="0"/>
              <a:t>And addressee detection is usually only a sub-task for turn-taking.</a:t>
            </a:r>
          </a:p>
          <a:p>
            <a:pPr>
              <a:buNone/>
            </a:pPr>
            <a:endParaRPr lang="en-US" sz="1200"/>
          </a:p>
          <a:p>
            <a:pPr>
              <a:buNone/>
            </a:pPr>
            <a:r>
              <a:rPr lang="ja-JP" sz="1200" dirty="0"/>
              <a:t>従来研究のほとんどは、宛先推定を分類タスクとして扱ってきました。</a:t>
            </a:r>
          </a:p>
          <a:p>
            <a:pPr>
              <a:buNone/>
            </a:pPr>
            <a:r>
              <a:rPr lang="ja-JP" sz="1200" dirty="0"/>
              <a:t>人–人–システムの場面では、「システム宛てか、他の人間宛てか」の2値分類です。</a:t>
            </a:r>
          </a:p>
          <a:p>
            <a:pPr>
              <a:buNone/>
            </a:pPr>
            <a:r>
              <a:rPr lang="ja-JP" sz="1200" dirty="0"/>
              <a:t>多人数の人間対話では、A・B・C、または「全体」のうち一つのラベルを選びます。</a:t>
            </a:r>
          </a:p>
          <a:p>
            <a:pPr>
              <a:buNone/>
            </a:pPr>
            <a:r>
              <a:rPr lang="ja-JP" sz="1200" dirty="0"/>
              <a:t>予測は通常、ターンが終わった後に行われます。</a:t>
            </a:r>
          </a:p>
          <a:p>
            <a:pPr>
              <a:buNone/>
            </a:pPr>
            <a:r>
              <a:rPr lang="ja-JP" sz="1200" dirty="0"/>
              <a:t>そして宛先推定は、多くの場合 turn-taking の補助タスクでしかありません。</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But is this assumption right?</a:t>
            </a:r>
          </a:p>
          <a:p>
            <a:pPr>
              <a:buNone/>
            </a:pPr>
            <a:r>
              <a:rPr lang="en-US" sz="1200" dirty="0"/>
              <a:t>Real dialogue is not always so simple. One utterance can address several listeners, with different strength.</a:t>
            </a:r>
          </a:p>
          <a:p>
            <a:pPr>
              <a:buNone/>
            </a:pPr>
            <a:r>
              <a:rPr lang="en-US" sz="1200" dirty="0"/>
              <a:t>Under a single-label scheme, when annotators disagree, we just call it noise and throw it away.</a:t>
            </a:r>
          </a:p>
          <a:p>
            <a:pPr>
              <a:buNone/>
            </a:pPr>
            <a:r>
              <a:rPr lang="en-US" sz="1200" dirty="0"/>
              <a:t>Also, address is usually studied alone. Its relation to listener behavior is rarely examined.</a:t>
            </a:r>
          </a:p>
          <a:p>
            <a:pPr>
              <a:buNone/>
            </a:pPr>
            <a:r>
              <a:rPr lang="en-US" sz="1200" dirty="0"/>
              <a:t>So our research question is: is address graded? And is it related to listener behavior?</a:t>
            </a:r>
          </a:p>
          <a:p>
            <a:pPr>
              <a:buNone/>
            </a:pPr>
            <a:endParaRPr lang="en-US" sz="1200"/>
          </a:p>
          <a:p>
            <a:pPr>
              <a:buNone/>
            </a:pPr>
            <a:r>
              <a:rPr lang="ja-JP" sz="1200" dirty="0"/>
              <a:t>しかしこの前提は正しいでしょうか。</a:t>
            </a:r>
          </a:p>
          <a:p>
            <a:pPr>
              <a:buNone/>
            </a:pPr>
            <a:r>
              <a:rPr lang="ja-JP" sz="1200" dirty="0"/>
              <a:t>実際の対話はそこまで単純ではなく、1つの発話が複数の聴者に異なる強さで向けられることがあります。</a:t>
            </a:r>
          </a:p>
          <a:p>
            <a:pPr>
              <a:buNone/>
            </a:pPr>
            <a:r>
              <a:rPr lang="ja-JP" sz="1200" dirty="0"/>
              <a:t>単一ラベルの枠組みでは、アノテータ間の不一致は単なる誤りとして捨てられます。</a:t>
            </a:r>
          </a:p>
          <a:p>
            <a:pPr>
              <a:buNone/>
            </a:pPr>
            <a:r>
              <a:rPr lang="ja-JP" sz="1200" dirty="0"/>
              <a:t>また宛先は単独でモデル化され、聴者行動との関係はほとんど検証されていません。</a:t>
            </a:r>
          </a:p>
          <a:p>
            <a:pPr>
              <a:buNone/>
            </a:pPr>
            <a:r>
              <a:rPr lang="ja-JP" sz="1200" dirty="0"/>
              <a:t>そこで本研究の問いは、宛先は段階的か、そして聴者行動と関係するか、です。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This work makes three contributions.</a:t>
            </a:r>
          </a:p>
          <a:p>
            <a:pPr>
              <a:buNone/>
            </a:pPr>
            <a:r>
              <a:rPr lang="en-US" sz="1200" dirty="0"/>
              <a:t>First, we give empirical evidence that address has graded structure, so it should be estimated continuously, not classified.</a:t>
            </a:r>
          </a:p>
          <a:p>
            <a:pPr>
              <a:buNone/>
            </a:pPr>
            <a:r>
              <a:rPr lang="en-US" sz="1200" dirty="0"/>
              <a:t>Second, we propose an operationalization called address level: a latent continuous value for each listener, inferred from categorical annotations.</a:t>
            </a:r>
          </a:p>
          <a:p>
            <a:pPr>
              <a:buNone/>
            </a:pPr>
            <a:r>
              <a:rPr lang="en-US" sz="1200" dirty="0"/>
              <a:t>Third, we show that address level is related to turn-taking, listener gaze, and backchannels.</a:t>
            </a:r>
          </a:p>
          <a:p>
            <a:pPr>
              <a:buNone/>
            </a:pPr>
            <a:r>
              <a:rPr lang="en-US" sz="1200" dirty="0"/>
              <a:t>In short: from a discrete label to a continuous address level.</a:t>
            </a:r>
          </a:p>
          <a:p>
            <a:pPr>
              <a:buNone/>
            </a:pPr>
            <a:endParaRPr lang="en-US" sz="1200"/>
          </a:p>
          <a:p>
            <a:pPr>
              <a:buNone/>
            </a:pPr>
            <a:r>
              <a:rPr lang="ja-JP" sz="1200" dirty="0"/>
              <a:t>本研究の貢献は3つです。</a:t>
            </a:r>
          </a:p>
          <a:p>
            <a:pPr>
              <a:buNone/>
            </a:pPr>
            <a:r>
              <a:rPr lang="ja-JP" sz="1200" dirty="0"/>
              <a:t>第1に、宛先が段階的な構造を持つという経験的根拠を示し、分類でなく連続量の推定問題として再定式化します。</a:t>
            </a:r>
          </a:p>
          <a:p>
            <a:pPr>
              <a:buNone/>
            </a:pPr>
            <a:r>
              <a:rPr lang="ja-JP" sz="1200" dirty="0"/>
              <a:t>第2に、address level という操作化を提案します。カテゴリカルなアノテーションから、聴者ごとの潜在連続値を推定します。</a:t>
            </a:r>
          </a:p>
          <a:p>
            <a:pPr>
              <a:buNone/>
            </a:pPr>
            <a:r>
              <a:rPr lang="ja-JP" sz="1200" dirty="0"/>
              <a:t>第3に、address level が turn-taking・聴者の視線・あいづちと関連することを示します。</a:t>
            </a:r>
          </a:p>
          <a:p>
            <a:pPr>
              <a:buNone/>
            </a:pPr>
            <a:r>
              <a:rPr lang="ja-JP" sz="1200" dirty="0"/>
              <a:t>つまり、離散ラベルから連続的な address level へ、という話です。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We used the Teidan corpus from Inoue and colleagues, 2025.</a:t>
            </a:r>
          </a:p>
          <a:p>
            <a:pPr>
              <a:buNone/>
            </a:pPr>
            <a:r>
              <a:rPr lang="en-US" sz="1200" dirty="0"/>
              <a:t>It contains casual discussions in Japanese among groups of three lab members.</a:t>
            </a:r>
          </a:p>
          <a:p>
            <a:pPr>
              <a:buNone/>
            </a:pPr>
            <a:r>
              <a:rPr lang="en-US" sz="1200" dirty="0"/>
              <a:t>Twelve groups talked about three topics, so we have 36 dialogues, about three hours and forty minutes in total.</a:t>
            </a:r>
          </a:p>
          <a:p>
            <a:pPr>
              <a:buNone/>
            </a:pPr>
            <a:r>
              <a:rPr lang="en-US" sz="1200" dirty="0"/>
              <a:t>There are 3,121 turns. Turns, backchannels, and gaze are annotated by hand.</a:t>
            </a:r>
          </a:p>
          <a:p>
            <a:pPr>
              <a:buNone/>
            </a:pPr>
            <a:r>
              <a:rPr lang="en-US" sz="1200" dirty="0"/>
              <a:t>The three participants are called A, B, and C.</a:t>
            </a:r>
          </a:p>
          <a:p>
            <a:pPr>
              <a:buNone/>
            </a:pPr>
            <a:endParaRPr lang="en-US" sz="1200"/>
          </a:p>
          <a:p>
            <a:pPr>
              <a:buNone/>
            </a:pPr>
            <a:r>
              <a:rPr lang="ja-JP" sz="1200" dirty="0"/>
              <a:t>データは Inoue ら 2025 の対談コーパスを使いました。</a:t>
            </a:r>
          </a:p>
          <a:p>
            <a:pPr>
              <a:buNone/>
            </a:pPr>
            <a:r>
              <a:rPr lang="ja-JP" sz="1200" dirty="0"/>
              <a:t>同じ研究室の3名による日本語の雑談的な議詖です。</a:t>
            </a:r>
          </a:p>
          <a:p>
            <a:pPr>
              <a:buNone/>
            </a:pPr>
            <a:r>
              <a:rPr lang="ja-JP" sz="1200" dirty="0"/>
              <a:t>12グループ×3トピックで36対話、合計3時間38分ます。</a:t>
            </a:r>
          </a:p>
          <a:p>
            <a:pPr>
              <a:buNone/>
            </a:pPr>
            <a:r>
              <a:rPr lang="ja-JP" sz="1200" dirty="0"/>
              <a:t>ターン数は3,121。ターン、あいづち、視線が手作業で付与されています。</a:t>
            </a:r>
          </a:p>
          <a:p>
            <a:pPr>
              <a:buNone/>
            </a:pPr>
            <a:r>
              <a:rPr lang="ja-JP" sz="1200" dirty="0"/>
              <a:t>3名の参加者を A、B、C と呼びます。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Each turn was given one of eight addressee labels, following Kadota and colleagues, 2024.</a:t>
            </a:r>
          </a:p>
          <a:p>
            <a:pPr>
              <a:buNone/>
            </a:pPr>
            <a:r>
              <a:rPr lang="en-US" sz="1200" dirty="0"/>
              <a:t>A, B, C mean one specific participant. E means everyone. W means whoever. N means nobody, so monologue. O means someone outside. U means unknown.</a:t>
            </a:r>
          </a:p>
          <a:p>
            <a:pPr>
              <a:buNone/>
            </a:pPr>
            <a:r>
              <a:rPr lang="en-US" sz="1200" dirty="0"/>
              <a:t>Three annotators labeled 3,078 turns independently. They could use multimodal cues, but not information after the turn.</a:t>
            </a:r>
          </a:p>
          <a:p>
            <a:pPr>
              <a:buNone/>
            </a:pPr>
            <a:r>
              <a:rPr lang="en-US" sz="1200" dirty="0"/>
              <a:t>On the right you see the counts. E is the most frequent label, more than 3,500.</a:t>
            </a:r>
          </a:p>
          <a:p>
            <a:pPr>
              <a:buNone/>
            </a:pPr>
            <a:r>
              <a:rPr lang="en-US" sz="1200" dirty="0"/>
              <a:t>Agreement was Fleiss kappa 0.52, which is moderate. So the annotation is consistent, but ambiguity clearly remains.</a:t>
            </a:r>
          </a:p>
          <a:p>
            <a:pPr>
              <a:buNone/>
            </a:pPr>
            <a:endParaRPr lang="en-US" sz="1200"/>
          </a:p>
          <a:p>
            <a:pPr>
              <a:buNone/>
            </a:pPr>
            <a:r>
              <a:rPr lang="ja-JP" sz="1200" dirty="0"/>
              <a:t>各ターンに、Kadota ら 2024 に基づく8種の宛先ラベルを付与しました。</a:t>
            </a:r>
          </a:p>
          <a:p>
            <a:pPr>
              <a:buNone/>
            </a:pPr>
            <a:r>
              <a:rPr lang="ja-JP" sz="1200" dirty="0"/>
              <a:t>A・B・C は特定の1名、E は全員、W は誰でも、N は誰でもない（独語）、O は参加者外、U は不明です。</a:t>
            </a:r>
          </a:p>
          <a:p>
            <a:pPr>
              <a:buNone/>
            </a:pPr>
            <a:r>
              <a:rPr lang="ja-JP" sz="1200" dirty="0"/>
              <a:t>3名のアノテータが3,078ターンを独立に付与しました。マルチモーダルな手がかりは使って良いが、当該ターンより後の情報は使わないよう指示しました。</a:t>
            </a:r>
          </a:p>
          <a:p>
            <a:pPr>
              <a:buNone/>
            </a:pPr>
            <a:r>
              <a:rPr lang="ja-JP" sz="1200" dirty="0"/>
              <a:t>右がラベルの頻度です。E が最も多く3,500以上です。</a:t>
            </a:r>
          </a:p>
          <a:p>
            <a:pPr>
              <a:buNone/>
            </a:pPr>
            <a:r>
              <a:rPr lang="ja-JP" sz="1200" dirty="0"/>
              <a:t>一致度は Fleissのκ = 0.52 で中程度。一定の一貫性はあるが、あいまいさも残っています。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Next, which labels are ambiguous? This heatmap shows how often two labels co-occur on the same turn.</a:t>
            </a:r>
          </a:p>
          <a:p>
            <a:pPr>
              <a:buNone/>
            </a:pPr>
            <a:r>
              <a:rPr lang="en-US" sz="1200" dirty="0"/>
              <a:t>For A, B, and C, the most frequent partner is the same label, over 50 percent. So individual judgments are fairly stable.</a:t>
            </a:r>
          </a:p>
          <a:p>
            <a:pPr>
              <a:buNone/>
            </a:pPr>
            <a:r>
              <a:rPr lang="en-US" sz="1200" dirty="0"/>
              <a:t>But the second most frequent partner is always E, everyone, around 30 percent.</a:t>
            </a:r>
          </a:p>
          <a:p>
            <a:pPr>
              <a:buNone/>
            </a:pPr>
            <a:r>
              <a:rPr lang="en-US" sz="1200" dirty="0"/>
              <a:t>And for E, agreement with itself is 45.6 percent, while co-occurrence with A, B, or C is about 15 percent each.</a:t>
            </a:r>
          </a:p>
          <a:p>
            <a:pPr>
              <a:buNone/>
            </a:pPr>
            <a:r>
              <a:rPr lang="en-US" sz="1200" dirty="0"/>
              <a:t>W, whoever, co-occurs with E much more often than with itself.</a:t>
            </a:r>
          </a:p>
          <a:p>
            <a:pPr>
              <a:buNone/>
            </a:pPr>
            <a:r>
              <a:rPr lang="en-US" sz="1200" dirty="0"/>
              <a:t>So the boundary between addressing one person and addressing the group is not clean.</a:t>
            </a:r>
          </a:p>
          <a:p>
            <a:pPr>
              <a:buNone/>
            </a:pPr>
            <a:endParaRPr lang="en-US" sz="1200"/>
          </a:p>
          <a:p>
            <a:pPr>
              <a:buNone/>
            </a:pPr>
            <a:r>
              <a:rPr lang="ja-JP" sz="1200" dirty="0"/>
              <a:t>次に、どのラベルがあいまいかを見ます。このヒートマップは同じターンでラベル対が共起した回数です。</a:t>
            </a:r>
          </a:p>
          <a:p>
            <a:pPr>
              <a:buNone/>
            </a:pPr>
            <a:r>
              <a:rPr lang="ja-JP" sz="1200" dirty="0"/>
              <a:t>A・B・C は自己共起が50％以上で最も多く、個人宛ての判定は比較的安定しています。</a:t>
            </a:r>
          </a:p>
          <a:p>
            <a:pPr>
              <a:buNone/>
            </a:pPr>
            <a:r>
              <a:rPr lang="ja-JP" sz="1200" dirty="0"/>
              <a:t>しかし第2位は常に E（全員）で、約30％です。</a:t>
            </a:r>
          </a:p>
          <a:p>
            <a:pPr>
              <a:buNone/>
            </a:pPr>
            <a:r>
              <a:rPr lang="ja-JP" sz="1200" dirty="0"/>
              <a:t>E の自己共起は45.6％で、A・B・C との共起もそれぞれ約15％あります。</a:t>
            </a:r>
          </a:p>
          <a:p>
            <a:pPr>
              <a:buNone/>
            </a:pPr>
            <a:r>
              <a:rPr lang="ja-JP" sz="1200" dirty="0"/>
              <a:t>W（誰でも）は自己共起より E との共起がはるかに多いです。</a:t>
            </a:r>
          </a:p>
          <a:p>
            <a:pPr>
              <a:buNone/>
            </a:pPr>
            <a:r>
              <a:rPr lang="ja-JP" sz="1200" dirty="0"/>
              <a:t>つまり「個人宛て」と「全体宛て」の境界は明確ではありません。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We built two representations of addressivity.</a:t>
            </a:r>
          </a:p>
          <a:p>
            <a:pPr>
              <a:buNone/>
            </a:pPr>
            <a:r>
              <a:rPr lang="en-US" sz="1200" dirty="0"/>
              <a:t>On the left, the address label. This is the conventional discrete view. We merge W into E, drop U, and take a majority vote for each turn.</a:t>
            </a:r>
          </a:p>
          <a:p>
            <a:pPr>
              <a:buNone/>
            </a:pPr>
            <a:r>
              <a:rPr lang="en-US" sz="1200" dirty="0"/>
              <a:t>Then for each of the two listeners, if the majority label matches that listener, or is E, the listener is addressed. Otherwise not addressed. So the value is zero or one.</a:t>
            </a:r>
          </a:p>
          <a:p>
            <a:pPr>
              <a:buNone/>
            </a:pPr>
            <a:r>
              <a:rPr lang="en-US" sz="1200" dirty="0"/>
              <a:t>On the right, the address level. This is our proposal. For each listener in each turn we assume a latent value theta between zero and one.</a:t>
            </a:r>
          </a:p>
          <a:p>
            <a:pPr>
              <a:buNone/>
            </a:pPr>
            <a:r>
              <a:rPr lang="en-US" sz="1200" dirty="0"/>
              <a:t>Each label has an ideal point in this two-dimensional space. Listener one is one-zero, listener two is zero-one, everyone is one-one, and nobody is zero-zero.</a:t>
            </a:r>
          </a:p>
          <a:p>
            <a:pPr>
              <a:buNone/>
            </a:pPr>
            <a:r>
              <a:rPr lang="en-US" sz="1200" dirty="0"/>
              <a:t>The probability of an observed label is a softmax of minus the squared distance to the ideal point, plus an annotator bias term.</a:t>
            </a:r>
          </a:p>
          <a:p>
            <a:pPr>
              <a:buNone/>
            </a:pPr>
            <a:r>
              <a:rPr lang="en-US" sz="1200" dirty="0"/>
              <a:t>Note that E is one-one, not point-five point-five. We treat addressivity as directedness to each listener, not as a resource to divide.</a:t>
            </a:r>
          </a:p>
          <a:p>
            <a:pPr>
              <a:buNone/>
            </a:pPr>
            <a:r>
              <a:rPr lang="en-US" sz="1200" dirty="0"/>
              <a:t>We estimate the model with Bayesian sampling in Stan, and use the posterior median as the address level.</a:t>
            </a:r>
          </a:p>
          <a:p>
            <a:pPr>
              <a:buNone/>
            </a:pPr>
            <a:endParaRPr lang="en-US" sz="1200"/>
          </a:p>
          <a:p>
            <a:pPr>
              <a:buNone/>
            </a:pPr>
            <a:r>
              <a:rPr lang="ja-JP" sz="1200" dirty="0"/>
              <a:t>addressivity の表現を2通り作りました。</a:t>
            </a:r>
          </a:p>
          <a:p>
            <a:pPr>
              <a:buNone/>
            </a:pPr>
            <a:r>
              <a:rPr lang="ja-JP" sz="1200" dirty="0"/>
              <a:t>左は address label、従来の離散的な見方です。W を E に統合し、U を除外し、ターンごとに多数決を取ります。</a:t>
            </a:r>
          </a:p>
          <a:p>
            <a:pPr>
              <a:buNone/>
            </a:pPr>
            <a:r>
              <a:rPr lang="ja-JP" sz="1200" dirty="0"/>
              <a:t>2名の聴者のそれぞれについて、多数ラベルがその人か E なら addressed、それ以外なら not addressed。つまり0か1です。</a:t>
            </a:r>
          </a:p>
          <a:p>
            <a:pPr>
              <a:buNone/>
            </a:pPr>
            <a:r>
              <a:rPr lang="ja-JP" sz="1200" dirty="0"/>
              <a:t>右が提案する address level です。ターンと聴者の組み合わせごとに、0から1の潜在値 θ を仮定します。</a:t>
            </a:r>
          </a:p>
          <a:p>
            <a:pPr>
              <a:buNone/>
            </a:pPr>
            <a:r>
              <a:rPr lang="ja-JP" sz="1200" dirty="0"/>
              <a:t>各ラベルには2次元空間上の理想点を割り当てます。聴者1は(1,0)、聴者2は(0,1)、全員は(1,1)、誰でもないは(0,0)です。</a:t>
            </a:r>
          </a:p>
          <a:p>
            <a:pPr>
              <a:buNone/>
            </a:pPr>
            <a:r>
              <a:rPr lang="ja-JP" sz="1200" dirty="0"/>
              <a:t>観測ラベルの確率は、理想点との二乗距離にマイナスを付け、アノテータバイアスを加えた softmax です。</a:t>
            </a:r>
          </a:p>
          <a:p>
            <a:pPr>
              <a:buNone/>
            </a:pPr>
            <a:r>
              <a:rPr lang="ja-JP" sz="1200" dirty="0"/>
              <a:t>E を(0.5,0.5)でなく(1,1)としている点が重要です。addressivity を分配する資源でなく、聴者ごとの向けられとして扱うためです。</a:t>
            </a:r>
          </a:p>
          <a:p>
            <a:pPr>
              <a:buNone/>
            </a:pPr>
            <a:r>
              <a:rPr lang="ja-JP" sz="1200" dirty="0"/>
              <a:t>Stan でベイズ推定を行い、事後中央値を address level として使います。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This figure shows the two distributions.</a:t>
            </a:r>
          </a:p>
          <a:p>
            <a:pPr>
              <a:buNone/>
            </a:pPr>
            <a:r>
              <a:rPr lang="en-US" sz="1200" dirty="0"/>
              <a:t>On the left, the binary address label. Addressed is about twice as frequent as not addressed. This follows the original label counts, where E was the most frequent.</a:t>
            </a:r>
          </a:p>
          <a:p>
            <a:pPr>
              <a:buNone/>
            </a:pPr>
            <a:r>
              <a:rPr lang="en-US" sz="1200" dirty="0"/>
              <a:t>On the right, the address level. Many values are near zero or near one, as you expect.</a:t>
            </a:r>
          </a:p>
          <a:p>
            <a:pPr>
              <a:buNone/>
            </a:pPr>
            <a:r>
              <a:rPr lang="en-US" sz="1200" dirty="0"/>
              <a:t>But importantly, the middle of the scale is not empty. There are partially addressed states.</a:t>
            </a:r>
          </a:p>
          <a:p>
            <a:pPr>
              <a:buNone/>
            </a:pPr>
            <a:r>
              <a:rPr lang="en-US" sz="1200" dirty="0"/>
              <a:t>This is the first piece of evidence that address is graded.</a:t>
            </a:r>
          </a:p>
          <a:p>
            <a:pPr>
              <a:buNone/>
            </a:pPr>
            <a:endParaRPr lang="en-US" sz="1200"/>
          </a:p>
          <a:p>
            <a:pPr>
              <a:buNone/>
            </a:pPr>
            <a:r>
              <a:rPr lang="ja-JP" sz="1200" dirty="0"/>
              <a:t>この図は2つの分布です。</a:t>
            </a:r>
          </a:p>
          <a:p>
            <a:pPr>
              <a:buNone/>
            </a:pPr>
            <a:r>
              <a:rPr lang="ja-JP" sz="1200" dirty="0"/>
              <a:t>左が二値の address label。addressed は not addressed の約2倍で、E が最頙だった元のラベル分布と整合します。</a:t>
            </a:r>
          </a:p>
          <a:p>
            <a:pPr>
              <a:buNone/>
            </a:pPr>
            <a:r>
              <a:rPr lang="ja-JP" sz="1200" dirty="0"/>
              <a:t>右が address level。0付近と1付近に集中します。</a:t>
            </a:r>
          </a:p>
          <a:p>
            <a:pPr>
              <a:buNone/>
            </a:pPr>
            <a:r>
              <a:rPr lang="ja-JP" sz="1200" dirty="0"/>
              <a:t>しかし重要なのは、中間の値も空ではないことです。部分的に宛てられている状態が存在します。</a:t>
            </a:r>
          </a:p>
          <a:p>
            <a:pPr>
              <a:buNone/>
            </a:pPr>
            <a:r>
              <a:rPr lang="ja-JP" sz="1200" dirty="0"/>
              <a:t>これが、宛先が段階的であることの最初の証拠です。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Now the models. We used Bayesian generalized linear mixed models with the brms package.</a:t>
            </a:r>
          </a:p>
          <a:p>
            <a:pPr>
              <a:buNone/>
            </a:pPr>
            <a:r>
              <a:rPr lang="en-US" sz="1200" dirty="0"/>
              <a:t>The fixed effect is either the address label, or the address level. Everything else is the same.</a:t>
            </a:r>
          </a:p>
          <a:p>
            <a:pPr>
              <a:buNone/>
            </a:pPr>
            <a:r>
              <a:rPr lang="en-US" sz="1200" dirty="0"/>
              <a:t>Random intercepts are included for turn, dialogue session, speaker, and listener.</a:t>
            </a:r>
          </a:p>
          <a:p>
            <a:pPr>
              <a:buNone/>
            </a:pPr>
            <a:r>
              <a:rPr lang="en-US" sz="1200" dirty="0"/>
              <a:t>We compare the two models by ELPD, that is expected log predictive density, using leave-one-out cross-validation. Larger is better.</a:t>
            </a:r>
          </a:p>
          <a:p>
            <a:pPr>
              <a:buNone/>
            </a:pPr>
            <a:r>
              <a:rPr lang="en-US" sz="1200" dirty="0"/>
              <a:t>We modeled three listener outcomes, shown in the table. Whether the listener became the next speaker, a Bernoulli model. The proportion of time the listener gazed at the speaker, a Beta model. And the number of backchannels, a Poisson model with turn duration as an offset.</a:t>
            </a:r>
          </a:p>
          <a:p>
            <a:pPr>
              <a:buNone/>
            </a:pPr>
            <a:r>
              <a:rPr lang="en-US" sz="1200" dirty="0"/>
              <a:t>The number of observations is about five to six thousand for each model.</a:t>
            </a:r>
          </a:p>
          <a:p>
            <a:pPr>
              <a:buNone/>
            </a:pPr>
            <a:endParaRPr lang="en-US" sz="1200"/>
          </a:p>
          <a:p>
            <a:pPr>
              <a:buNone/>
            </a:pPr>
            <a:r>
              <a:rPr lang="ja-JP" sz="1200" dirty="0"/>
              <a:t>モデルの説明です。brms を用いたベイズ一般化線形混合モデルを使いました。</a:t>
            </a:r>
          </a:p>
          <a:p>
            <a:pPr>
              <a:buNone/>
            </a:pPr>
            <a:r>
              <a:rPr lang="ja-JP" sz="1200" dirty="0"/>
              <a:t>固定効果は address label または address level。他の条件は共通です。</a:t>
            </a:r>
          </a:p>
          <a:p>
            <a:pPr>
              <a:buNone/>
            </a:pPr>
            <a:r>
              <a:rPr lang="ja-JP" sz="1200" dirty="0"/>
              <a:t>ランダム切片は、ターン・セッション・話者・聴者に入れています。</a:t>
            </a:r>
          </a:p>
          <a:p>
            <a:pPr>
              <a:buNone/>
            </a:pPr>
            <a:r>
              <a:rPr lang="ja-JP" sz="1200" dirty="0"/>
              <a:t>モデル比較は leave-one-out による ELPD（期待対数予測密度）で行い、大きい方が良いです。</a:t>
            </a:r>
          </a:p>
          <a:p>
            <a:pPr>
              <a:buNone/>
            </a:pPr>
            <a:r>
              <a:rPr lang="ja-JP" sz="1200" dirty="0"/>
              <a:t>対象は聴者行動3つ。次話者になったか（ベルヌーイ）、話者を見ていた時間割合（ベータ）、あいづちの回数（ポワソン、ターン長をオフセット）です。</a:t>
            </a:r>
          </a:p>
          <a:p>
            <a:pPr>
              <a:buNone/>
            </a:pPr>
            <a:r>
              <a:rPr lang="ja-JP" sz="1200" dirty="0"/>
              <a:t>観測数は各モデル5千〜6千程度です。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First result: next-speaker selection.</a:t>
            </a:r>
          </a:p>
          <a:p>
            <a:pPr>
              <a:buNone/>
            </a:pPr>
            <a:r>
              <a:rPr lang="en-US" sz="1200" dirty="0"/>
              <a:t>In both plots, higher addressivity means a higher probability of becoming the next speaker. The left panel uses the address label, the right panel uses the address level.</a:t>
            </a:r>
          </a:p>
          <a:p>
            <a:pPr>
              <a:buNone/>
            </a:pPr>
            <a:r>
              <a:rPr lang="en-US" sz="1200" dirty="0"/>
              <a:t>For the label, the coefficient is 0.72. For the level, it is 1.06. Both credible intervals exclude zero.</a:t>
            </a:r>
          </a:p>
          <a:p>
            <a:pPr>
              <a:buNone/>
            </a:pPr>
            <a:r>
              <a:rPr lang="en-US" sz="1200" dirty="0"/>
              <a:t>Importantly, the ELPD comparison favors the address level, by 14.4 with a standard error of 4.9. So the continuous representation predicts better.</a:t>
            </a:r>
          </a:p>
          <a:p>
            <a:pPr>
              <a:buNone/>
            </a:pPr>
            <a:r>
              <a:rPr lang="en-US" sz="1200" dirty="0"/>
              <a:t>In other words, a listener labeled not addressed can still take the next turn, and a listener labeled addressed does not always take it.</a:t>
            </a:r>
          </a:p>
          <a:p>
            <a:pPr>
              <a:buNone/>
            </a:pPr>
            <a:endParaRPr lang="en-US" sz="1200"/>
          </a:p>
          <a:p>
            <a:pPr>
              <a:buNone/>
            </a:pPr>
            <a:r>
              <a:rPr lang="ja-JP" sz="1200" dirty="0"/>
              <a:t>最初の結果は次話者選択です。</a:t>
            </a:r>
          </a:p>
          <a:p>
            <a:pPr>
              <a:buNone/>
            </a:pPr>
            <a:r>
              <a:rPr lang="ja-JP" sz="1200" dirty="0"/>
              <a:t>どちらの図でも、addressivity が高いほど次話者になりやすい。左が address label、右が address level です。</a:t>
            </a:r>
          </a:p>
          <a:p>
            <a:pPr>
              <a:buNone/>
            </a:pPr>
            <a:r>
              <a:rPr lang="ja-JP" sz="1200" dirty="0"/>
              <a:t>係数は label で0.72、level で1.06。いずれも 95％信用区間が0を含まない。</a:t>
            </a:r>
          </a:p>
          <a:p>
            <a:pPr>
              <a:buNone/>
            </a:pPr>
            <a:r>
              <a:rPr lang="ja-JP" sz="1200" dirty="0"/>
              <a:t>重要なのは ELPD 比較で、address level が 14.4（SE 4.9）優れています。連続表現の方が予測が良いということです。</a:t>
            </a:r>
          </a:p>
          <a:p>
            <a:pPr>
              <a:buNone/>
            </a:pPr>
            <a:r>
              <a:rPr lang="ja-JP" sz="1200" dirty="0"/>
              <a:t>すなわち、not addressed と分類された聴者でも次話者になることがあり、addressed でも常にそうなるわけではないということです。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Second result: listener gaze.</a:t>
            </a:r>
          </a:p>
          <a:p>
            <a:pPr>
              <a:buNone/>
            </a:pPr>
            <a:r>
              <a:rPr lang="en-US" sz="1200" dirty="0"/>
              <a:t>Here the outcome is the proportion of the turn during which the listener looked at the current speaker.</a:t>
            </a:r>
          </a:p>
          <a:p>
            <a:pPr>
              <a:buNone/>
            </a:pPr>
            <a:r>
              <a:rPr lang="en-US" sz="1200" dirty="0"/>
              <a:t>Again, higher addressivity means more gaze. The coefficient is 0.77 for the label and 1.15 for the level.</a:t>
            </a:r>
          </a:p>
          <a:p>
            <a:pPr>
              <a:buNone/>
            </a:pPr>
            <a:r>
              <a:rPr lang="en-US" sz="1200" dirty="0"/>
              <a:t>The ELPD difference is 39.2, with a standard error of 7.9. This is the largest improvement among the three behaviors.</a:t>
            </a:r>
          </a:p>
          <a:p>
            <a:pPr>
              <a:buNone/>
            </a:pPr>
            <a:r>
              <a:rPr lang="en-US" sz="1200" dirty="0"/>
              <a:t>So gaze varies in a graded way with the strength of address. It is not fully explained by a binary distinction.</a:t>
            </a:r>
          </a:p>
          <a:p>
            <a:pPr>
              <a:buNone/>
            </a:pPr>
            <a:endParaRPr lang="en-US" sz="1200"/>
          </a:p>
          <a:p>
            <a:pPr>
              <a:buNone/>
            </a:pPr>
            <a:r>
              <a:rPr lang="ja-JP" sz="1200" dirty="0"/>
              <a:t>2つ目の結果は聴者の視線です。</a:t>
            </a:r>
          </a:p>
          <a:p>
            <a:pPr>
              <a:buNone/>
            </a:pPr>
            <a:r>
              <a:rPr lang="ja-JP" sz="1200" dirty="0"/>
              <a:t>従属変数は、ターン中に聴者が現話者を見ていた時間の割合です。</a:t>
            </a:r>
          </a:p>
          <a:p>
            <a:pPr>
              <a:buNone/>
            </a:pPr>
            <a:r>
              <a:rPr lang="ja-JP" sz="1200" dirty="0"/>
              <a:t>ここでも addressivity が高いほど視線が長い。係数は label で0.77、level で1.15です。</a:t>
            </a:r>
          </a:p>
          <a:p>
            <a:pPr>
              <a:buNone/>
            </a:pPr>
            <a:r>
              <a:rPr lang="ja-JP" sz="1200" dirty="0"/>
              <a:t>ELPD 差は39.2（SE 7.9）。3つの行動の中で最も大きな改善です。</a:t>
            </a:r>
          </a:p>
          <a:p>
            <a:pPr>
              <a:buNone/>
            </a:pPr>
            <a:r>
              <a:rPr lang="ja-JP" sz="1200" dirty="0"/>
              <a:t>つまり視線は宛てられ方の強さに応じて段階的に変化し、二値の区別では説明し尽せません。</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Third result: backchannels.</a:t>
            </a:r>
          </a:p>
          <a:p>
            <a:pPr>
              <a:buNone/>
            </a:pPr>
            <a:r>
              <a:rPr lang="en-US" sz="1200" dirty="0"/>
              <a:t>The outcome is the number of backchannels the listener produced during the turn, with turn duration as an offset.</a:t>
            </a:r>
          </a:p>
          <a:p>
            <a:pPr>
              <a:buNone/>
            </a:pPr>
            <a:r>
              <a:rPr lang="en-US" sz="1200" dirty="0"/>
              <a:t>Listeners with higher addressivity produce more backchannels. The coefficient is 0.18 for the label and 0.31 for the level.</a:t>
            </a:r>
          </a:p>
          <a:p>
            <a:pPr>
              <a:buNone/>
            </a:pPr>
            <a:r>
              <a:rPr lang="en-US" sz="1200" dirty="0"/>
              <a:t>The address level is again better, but the ELPD difference is only 3.5. This is the smallest gain of the three.</a:t>
            </a:r>
          </a:p>
          <a:p>
            <a:pPr>
              <a:buNone/>
            </a:pPr>
            <a:r>
              <a:rPr lang="en-US" sz="1200" dirty="0"/>
              <a:t>So backchanneling is influenced by addressivity, but clearly also by other factors.</a:t>
            </a:r>
          </a:p>
          <a:p>
            <a:pPr>
              <a:buNone/>
            </a:pPr>
            <a:endParaRPr lang="en-US" sz="1200"/>
          </a:p>
          <a:p>
            <a:pPr>
              <a:buNone/>
            </a:pPr>
            <a:r>
              <a:rPr lang="ja-JP" sz="1200" dirty="0"/>
              <a:t>3つ目の結果はあいづちです。</a:t>
            </a:r>
          </a:p>
          <a:p>
            <a:pPr>
              <a:buNone/>
            </a:pPr>
            <a:r>
              <a:rPr lang="ja-JP" sz="1200" dirty="0"/>
              <a:t>従属変数はターン中のあいづち回数で、ターン長をオフセットにしています。</a:t>
            </a:r>
          </a:p>
          <a:p>
            <a:pPr>
              <a:buNone/>
            </a:pPr>
            <a:r>
              <a:rPr lang="ja-JP" sz="1200" dirty="0"/>
              <a:t>addressivity が高い聴者はあいづちが多い。係数は label で0.18、level で0.31です。</a:t>
            </a:r>
          </a:p>
          <a:p>
            <a:pPr>
              <a:buNone/>
            </a:pPr>
            <a:r>
              <a:rPr lang="ja-JP" sz="1200" dirty="0"/>
              <a:t>address level の方が良いですが、ELPD 差は3.5と10分の1以下の規模。3つの中で最も小さい改善です。</a:t>
            </a:r>
          </a:p>
          <a:p>
            <a:pPr>
              <a:buNone/>
            </a:pPr>
            <a:r>
              <a:rPr lang="ja-JP" sz="1200" dirty="0"/>
              <a:t>あいづちは addressivity に影響される一方で、他の要因も大きいと考えられます。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Here is a short example. The participants discuss a club trip to Tokyo.</a:t>
            </a:r>
          </a:p>
          <a:p>
            <a:pPr>
              <a:buNone/>
            </a:pPr>
            <a:r>
              <a:rPr lang="en-US" sz="1200" dirty="0"/>
              <a:t>In line 01, C asks what they were supposed to do in Tokyo, while gazing at B. So B is strongly addressed, and indeed B speaks next.</a:t>
            </a:r>
          </a:p>
          <a:p>
            <a:pPr>
              <a:buNone/>
            </a:pPr>
            <a:r>
              <a:rPr lang="en-US" sz="1200" dirty="0"/>
              <a:t>In line 02, B does not answer. Instead, gazing at A, B questions the presupposition: was there something we were supposed to do at all?</a:t>
            </a:r>
          </a:p>
          <a:p>
            <a:pPr>
              <a:buNone/>
            </a:pPr>
            <a:r>
              <a:rPr lang="en-US" sz="1200" dirty="0"/>
              <a:t>In line 03, A answers shopping. Sequentially this answers B. But A gazes at C, and in content it answers C’s question.</a:t>
            </a:r>
          </a:p>
          <a:p>
            <a:pPr>
              <a:buNone/>
            </a:pPr>
            <a:r>
              <a:rPr lang="en-US" sz="1200" dirty="0"/>
              <a:t>Two annotators labeled this turn C, and one labeled it E.</a:t>
            </a:r>
          </a:p>
          <a:p>
            <a:pPr>
              <a:buNone/>
            </a:pPr>
            <a:r>
              <a:rPr lang="en-US" sz="1200" dirty="0"/>
              <a:t>We think both are right. The primary address is C, but there is also a weaker address toward B, because answering C also answers B.</a:t>
            </a:r>
          </a:p>
          <a:p>
            <a:pPr>
              <a:buNone/>
            </a:pPr>
            <a:r>
              <a:rPr lang="en-US" sz="1200" dirty="0"/>
              <a:t>A single discrete label cannot express this. A continuous, per-listener level can.</a:t>
            </a:r>
          </a:p>
          <a:p>
            <a:pPr>
              <a:buNone/>
            </a:pPr>
            <a:endParaRPr lang="en-US" sz="1200"/>
          </a:p>
          <a:p>
            <a:pPr>
              <a:buNone/>
            </a:pPr>
            <a:r>
              <a:rPr lang="ja-JP" sz="1200" dirty="0"/>
              <a:t>短い例を見ます。部の旅行で東京に行く話をしています。</a:t>
            </a:r>
          </a:p>
          <a:p>
            <a:pPr>
              <a:buNone/>
            </a:pPr>
            <a:r>
              <a:rPr lang="ja-JP" sz="1200" dirty="0"/>
              <a:t>01行目で C は B を見ながら、東京で何をする予定だったかと尋ねます。B が強く宛てられており、実際に次に話すのは B です。</a:t>
            </a:r>
          </a:p>
          <a:p>
            <a:pPr>
              <a:buNone/>
            </a:pPr>
            <a:r>
              <a:rPr lang="ja-JP" sz="1200" dirty="0"/>
              <a:t>02行目で B は答えず、A を見ながら「そもそも何かする予定はあったのか」と前提を問い直します。</a:t>
            </a:r>
          </a:p>
          <a:p>
            <a:pPr>
              <a:buNone/>
            </a:pPr>
            <a:r>
              <a:rPr lang="ja-JP" sz="1200" dirty="0"/>
              <a:t>03行目で A は「買い物」と答えます。連鎖的には B への応答ですが、A は C を見ていて、内容上は C の質問に答えています。</a:t>
            </a:r>
          </a:p>
          <a:p>
            <a:pPr>
              <a:buNone/>
            </a:pPr>
            <a:r>
              <a:rPr lang="ja-JP" sz="1200" dirty="0"/>
              <a:t>このターンに対し、2名のアノテータは C、1名は E を付けました。</a:t>
            </a:r>
          </a:p>
          <a:p>
            <a:pPr>
              <a:buNone/>
            </a:pPr>
            <a:r>
              <a:rPr lang="ja-JP" sz="1200" dirty="0"/>
              <a:t>どちらも正しいと考えます。主な宛先は C ですが、C に答えることが B にも答えることになるため、B への弱い宛ても存在します。</a:t>
            </a:r>
          </a:p>
          <a:p>
            <a:pPr>
              <a:buNone/>
            </a:pPr>
            <a:r>
              <a:rPr lang="ja-JP" sz="1200" dirty="0"/>
              <a:t>単一の離散ラベルではこれを表現できません。聴者ごとの連続値なら表現できます。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buNone/>
            </a:pPr>
            <a:r>
              <a:rPr lang="en-US" sz="1200" dirty="0"/>
              <a:t>To conclude.</a:t>
            </a:r>
          </a:p>
          <a:p>
            <a:pPr>
              <a:buNone/>
            </a:pPr>
            <a:r>
              <a:rPr lang="en-US" sz="1200" dirty="0"/>
              <a:t>Aggregating annotations into one label discards information about the phenomenon. A continuous, per-listener representation keeps it.</a:t>
            </a:r>
          </a:p>
          <a:p>
            <a:pPr>
              <a:buNone/>
            </a:pPr>
            <a:r>
              <a:rPr lang="en-US" sz="1200" dirty="0"/>
              <a:t>This is also practical. Inside a group-addressed turn, a continuous representation can still tell participants apart. And because levels are estimated per listener, the framework does not depend on the number of participants.</a:t>
            </a:r>
          </a:p>
          <a:p>
            <a:pPr>
              <a:buNone/>
            </a:pPr>
            <a:r>
              <a:rPr lang="en-US" sz="1200" dirty="0"/>
              <a:t>Second, address is related to listener behavior during the turn. So it should be estimated online, while the utterance is still going on, not only after the turn ends.</a:t>
            </a:r>
          </a:p>
          <a:p>
            <a:pPr>
              <a:buNone/>
            </a:pPr>
            <a:r>
              <a:rPr lang="en-US" sz="1200" dirty="0"/>
              <a:t>In future work we want to test other languages, domains and group sizes, and to model addressivity, gaze, backchannels and turn-taking jointly in real time.</a:t>
            </a:r>
          </a:p>
          <a:p>
            <a:pPr>
              <a:buNone/>
            </a:pPr>
            <a:r>
              <a:rPr lang="en-US" sz="1200" dirty="0"/>
              <a:t>Our limitations: the data are Japanese triadic discussions, each turn has only three annotations, and we used posterior medians.</a:t>
            </a:r>
          </a:p>
          <a:p>
            <a:pPr>
              <a:buNone/>
            </a:pPr>
            <a:r>
              <a:rPr lang="en-US" sz="1200" dirty="0"/>
              <a:t>Thank you for listening. I am happy to take questions, and please feel free to email me.</a:t>
            </a:r>
          </a:p>
          <a:p>
            <a:pPr>
              <a:buNone/>
            </a:pPr>
            <a:endParaRPr lang="en-US" sz="1200" dirty="0"/>
          </a:p>
          <a:p>
            <a:pPr>
              <a:buNone/>
            </a:pPr>
            <a:r>
              <a:rPr lang="ja-JP" sz="1200" dirty="0"/>
              <a:t>まとめです。</a:t>
            </a:r>
          </a:p>
          <a:p>
            <a:pPr>
              <a:buNone/>
            </a:pPr>
            <a:r>
              <a:rPr lang="ja-JP" sz="1200" dirty="0"/>
              <a:t>アノテーションを1つのラベルに集約すると情報が失われます。聴者ごとの連続表現なら保持できます。</a:t>
            </a:r>
          </a:p>
          <a:p>
            <a:pPr>
              <a:buNone/>
            </a:pPr>
            <a:r>
              <a:rPr lang="ja-JP" sz="1200" dirty="0"/>
              <a:t>実用上の利点もあります。全体宛てのターンの中でも参加者間の違いを表せますし、聴者ごとに推定するので参加者数に依存しません。</a:t>
            </a:r>
          </a:p>
          <a:p>
            <a:pPr>
              <a:buNone/>
            </a:pPr>
            <a:r>
              <a:rPr lang="ja-JP" sz="1200" dirty="0"/>
              <a:t>第2に、宛先はターン中の聴者行動と関係します。つまりターン終了後だけでなく、発話途中にオンラインで推定すべきです。</a:t>
            </a:r>
          </a:p>
          <a:p>
            <a:pPr>
              <a:buNone/>
            </a:pPr>
            <a:r>
              <a:rPr lang="ja-JP" sz="1200" dirty="0"/>
              <a:t>今後は他言語・他ドメイン・他の人数での検証と、addressivity・視線・あいづち・turn-taking の同時モデル化に取り組みます。</a:t>
            </a:r>
          </a:p>
          <a:p>
            <a:pPr>
              <a:buNone/>
            </a:pPr>
            <a:r>
              <a:rPr lang="ja-JP" sz="1200" dirty="0"/>
              <a:t>限界として、データは日本語3者対話のみ、1ターンあたり3人のアノテーションだけ、事後中央値を使っている点があります。</a:t>
            </a:r>
          </a:p>
          <a:p>
            <a:pPr>
              <a:buNone/>
            </a:pPr>
            <a:r>
              <a:rPr lang="ja-JP" sz="1200" dirty="0"/>
              <a:t>ご清聴ありがとうございました。ご質問をお願いします。メールでもお気軽に。</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F265E-6B62-DC4B-0C68-60D3125754B4}"/>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FAEA2491-CFEE-9CDF-2BD8-C0688D63F9B6}"/>
              </a:ext>
            </a:extLst>
          </p:cNvPr>
          <p:cNvSpPr>
            <a:spLocks noGrp="1"/>
          </p:cNvSpPr>
          <p:nvPr>
            <p:ph type="body" idx="1"/>
          </p:nvPr>
        </p:nvSpPr>
        <p:spPr/>
        <p:txBody>
          <a:bodyPr/>
          <a:lstStyle/>
          <a:p>
            <a:pPr>
              <a:buNone/>
            </a:pPr>
            <a:r>
              <a:rPr lang="en-US" sz="1200" dirty="0"/>
              <a:t>To conclude.</a:t>
            </a:r>
          </a:p>
          <a:p>
            <a:pPr>
              <a:buNone/>
            </a:pPr>
            <a:r>
              <a:rPr lang="en-US" sz="1200" dirty="0"/>
              <a:t>Aggregating annotations into one label discards information about the phenomenon. A continuous, per-listener representation keeps it.</a:t>
            </a:r>
          </a:p>
          <a:p>
            <a:pPr>
              <a:buNone/>
            </a:pPr>
            <a:r>
              <a:rPr lang="en-US" sz="1200" dirty="0"/>
              <a:t>This is also practical. Inside a group-addressed turn, a continuous representation can still tell participants apart. And because levels are estimated per listener, the framework does not depend on the number of participants.</a:t>
            </a:r>
          </a:p>
          <a:p>
            <a:pPr>
              <a:buNone/>
            </a:pPr>
            <a:r>
              <a:rPr lang="en-US" sz="1200" dirty="0"/>
              <a:t>Second, address is related to listener behavior during the turn. So it should be estimated online, while the utterance is still going on, not only after the turn ends.</a:t>
            </a:r>
          </a:p>
          <a:p>
            <a:pPr>
              <a:buNone/>
            </a:pPr>
            <a:r>
              <a:rPr lang="en-US" sz="1200" dirty="0"/>
              <a:t>In future work we want to test other languages, domains and group sizes, and to model addressivity, gaze, backchannels and turn-taking jointly in real time.</a:t>
            </a:r>
          </a:p>
          <a:p>
            <a:pPr>
              <a:buNone/>
            </a:pPr>
            <a:r>
              <a:rPr lang="en-US" sz="1200" dirty="0"/>
              <a:t>Our limitations: the data are Japanese triadic discussions, each turn has only three annotations, and we used posterior medians.</a:t>
            </a:r>
          </a:p>
          <a:p>
            <a:pPr>
              <a:buNone/>
            </a:pPr>
            <a:r>
              <a:rPr lang="en-US" sz="1200" dirty="0"/>
              <a:t>Thank you for listening. I am happy to take questions, and please feel free to email me.</a:t>
            </a:r>
          </a:p>
          <a:p>
            <a:pPr>
              <a:buNone/>
            </a:pPr>
            <a:endParaRPr lang="en-US" sz="1200" dirty="0"/>
          </a:p>
          <a:p>
            <a:pPr>
              <a:buNone/>
            </a:pPr>
            <a:r>
              <a:rPr lang="ja-JP" sz="1200" dirty="0"/>
              <a:t>まとめです。</a:t>
            </a:r>
          </a:p>
          <a:p>
            <a:pPr>
              <a:buNone/>
            </a:pPr>
            <a:r>
              <a:rPr lang="ja-JP" sz="1200" dirty="0"/>
              <a:t>アノテーションを1つのラベルに集約すると情報が失われます。聴者ごとの連続表現なら保持できます。</a:t>
            </a:r>
          </a:p>
          <a:p>
            <a:pPr>
              <a:buNone/>
            </a:pPr>
            <a:r>
              <a:rPr lang="ja-JP" sz="1200" dirty="0"/>
              <a:t>実用上の利点もあります。全体宛てのターンの中でも参加者間の違いを表せますし、聴者ごとに推定するので参加者数に依存しません。</a:t>
            </a:r>
          </a:p>
          <a:p>
            <a:pPr>
              <a:buNone/>
            </a:pPr>
            <a:r>
              <a:rPr lang="ja-JP" sz="1200" dirty="0"/>
              <a:t>第2に、宛先はターン中の聴者行動と関係します。つまりターン終了後だけでなく、発話途中にオンラインで推定すべきです。</a:t>
            </a:r>
          </a:p>
          <a:p>
            <a:pPr>
              <a:buNone/>
            </a:pPr>
            <a:r>
              <a:rPr lang="ja-JP" sz="1200" dirty="0"/>
              <a:t>今後は他言語・他ドメイン・他の人数での検証と、addressivity・視線・あいづち・turn-taking の同時モデル化に取り組みます。</a:t>
            </a:r>
          </a:p>
          <a:p>
            <a:pPr>
              <a:buNone/>
            </a:pPr>
            <a:r>
              <a:rPr lang="ja-JP" sz="1200" dirty="0"/>
              <a:t>限界として、データは日本語3者対話のみ、1ターンあたり3人のアノテーションだけ、事後中央値を使っている点があります。</a:t>
            </a:r>
          </a:p>
          <a:p>
            <a:pPr>
              <a:buNone/>
            </a:pPr>
            <a:r>
              <a:rPr lang="ja-JP" sz="1200" dirty="0"/>
              <a:t>ご清聴ありがとうございました。ご質問をお願いします。メールでもお気軽に。</a:t>
            </a:r>
          </a:p>
        </p:txBody>
      </p:sp>
    </p:spTree>
    <p:extLst>
      <p:ext uri="{BB962C8B-B14F-4D97-AF65-F5344CB8AC3E}">
        <p14:creationId xmlns:p14="http://schemas.microsoft.com/office/powerpoint/2010/main" val="147105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860E22-A139-4353-3318-46330B98548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A71EB4A-7AE7-CCDD-1DCB-8D6DE31CE8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CD89561-7DC6-825E-CB94-0B4604A5D37E}"/>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5" name="フッター プレースホルダー 4">
            <a:extLst>
              <a:ext uri="{FF2B5EF4-FFF2-40B4-BE49-F238E27FC236}">
                <a16:creationId xmlns:a16="http://schemas.microsoft.com/office/drawing/2014/main" id="{FFB7A56E-BB60-8BA3-FAAB-F819C9DAA00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DAC097-3B86-F6AF-33A4-B61DC804F699}"/>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320083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E7D4B6-39F1-2035-F8CF-22E6A257F87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27EBC4-5A82-490F-A55A-2E3FF745CC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A71270E-A8B0-4B24-C7FC-3B6DB9A6B285}"/>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5" name="フッター プレースホルダー 4">
            <a:extLst>
              <a:ext uri="{FF2B5EF4-FFF2-40B4-BE49-F238E27FC236}">
                <a16:creationId xmlns:a16="http://schemas.microsoft.com/office/drawing/2014/main" id="{60EE6FDE-9EEF-6989-056E-7401294CB6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5129B25-992E-F645-5E81-5167BF499CDC}"/>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1932367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40D595-699C-3732-B8CA-B99FFB4F736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71AF914-E1E4-8550-E2CA-8E5EB807C8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DEC4160-8293-8EB0-2BDA-1557507DF3C8}"/>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5" name="フッター プレースホルダー 4">
            <a:extLst>
              <a:ext uri="{FF2B5EF4-FFF2-40B4-BE49-F238E27FC236}">
                <a16:creationId xmlns:a16="http://schemas.microsoft.com/office/drawing/2014/main" id="{D8B8810B-3871-E7DD-EEB1-BD25659591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050FDE-F193-221F-D965-A450077B5BAE}"/>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4257262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BA10B8-DE9F-AC11-6988-72B164402B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C14883B-A7A3-F58F-7210-A35E5EB3EB5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4A06ED2-3F8D-3791-C3F6-B68C2D7DF01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38C6F99-091B-7451-51EB-52B0504BBD5A}"/>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6" name="フッター プレースホルダー 5">
            <a:extLst>
              <a:ext uri="{FF2B5EF4-FFF2-40B4-BE49-F238E27FC236}">
                <a16:creationId xmlns:a16="http://schemas.microsoft.com/office/drawing/2014/main" id="{B82DB1D1-AA0C-8781-D611-DFD2ABCC48E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805E72F-DEFA-99FA-A516-27A96A91FA93}"/>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2742950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6F1512-D7C0-8A9A-3B47-12D133D50F9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245F17-4293-2D89-D7CD-6E19BD7F36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640B6A5-14E5-E399-CF04-706C0F32C91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A3F6BA6-F6F6-D4BB-8290-7BF2BC39A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C751EDB-54B5-80CA-9A7D-1D44FDC89CB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DE9E4C9-1CDD-B771-9055-654C63888721}"/>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8" name="フッター プレースホルダー 7">
            <a:extLst>
              <a:ext uri="{FF2B5EF4-FFF2-40B4-BE49-F238E27FC236}">
                <a16:creationId xmlns:a16="http://schemas.microsoft.com/office/drawing/2014/main" id="{AEC882BB-99C8-DDDA-DB2E-4B1A880FFD5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C10A644-9E84-490D-6F24-AE8E9A5F9B29}"/>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879298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DC5278-3C7C-0D37-7FDD-C2E4C4407AD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40B3D6-E2A8-E0E1-219F-77133261E1F3}"/>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4" name="フッター プレースホルダー 3">
            <a:extLst>
              <a:ext uri="{FF2B5EF4-FFF2-40B4-BE49-F238E27FC236}">
                <a16:creationId xmlns:a16="http://schemas.microsoft.com/office/drawing/2014/main" id="{FC5C5C27-BA29-3BD0-D38C-98D52BC50FE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6B1EFC-874F-8151-DBE5-A0B32F520D62}"/>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1110812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9BC56BF-10C4-7C03-3690-6CDE29B5678F}"/>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3" name="フッター プレースホルダー 2">
            <a:extLst>
              <a:ext uri="{FF2B5EF4-FFF2-40B4-BE49-F238E27FC236}">
                <a16:creationId xmlns:a16="http://schemas.microsoft.com/office/drawing/2014/main" id="{EDE5F5CB-B43F-AC96-2294-DE816A4C0D4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A7D34EC-8E9F-ABD0-C411-07593DA13D26}"/>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4147864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52485E-5C98-BA2E-4AFA-F6E5E788C5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55CBCF-A791-3C03-97F0-EB595A0256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4CC391E-BC14-2653-6E9E-8734C3F979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45816E4-48DA-4849-CE93-554FA46DAD20}"/>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6" name="フッター プレースホルダー 5">
            <a:extLst>
              <a:ext uri="{FF2B5EF4-FFF2-40B4-BE49-F238E27FC236}">
                <a16:creationId xmlns:a16="http://schemas.microsoft.com/office/drawing/2014/main" id="{990CACFF-9B8B-E89B-A108-0CB61E8666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33341AD-BEBC-4DA3-42E5-30DB3FB845CC}"/>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169337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3171DC-E821-BD25-CE59-7C060FB9A3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977C31C-1CAD-9362-767B-E266060038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C92AAA0-1973-F7D1-4156-048CBCE1C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543A9A8-8AA7-4073-2FAE-B53D601E8BCD}"/>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6" name="フッター プレースホルダー 5">
            <a:extLst>
              <a:ext uri="{FF2B5EF4-FFF2-40B4-BE49-F238E27FC236}">
                <a16:creationId xmlns:a16="http://schemas.microsoft.com/office/drawing/2014/main" id="{91F5EF36-D91A-0E04-628B-B8F9182E210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483CAE-385D-E640-AADA-E763E734DDE7}"/>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306335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688047-ACC2-FCB6-4147-F2D6E679621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EDCF526-FA9C-1386-A043-CA8E1FEF5C4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323F386-FDA6-AD13-FC70-306BF1FF51AE}"/>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5" name="フッター プレースホルダー 4">
            <a:extLst>
              <a:ext uri="{FF2B5EF4-FFF2-40B4-BE49-F238E27FC236}">
                <a16:creationId xmlns:a16="http://schemas.microsoft.com/office/drawing/2014/main" id="{E90D93AA-E977-B6BA-E9F0-9AADBF07C6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200790-EE62-9CF6-F285-A288903E0BCF}"/>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3104973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586AD1A-FEA8-8E55-C5C1-28A7BE102A3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F1B4D2-0081-650E-F395-79044C45123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677908-619C-DA04-B544-53560D2A2085}"/>
              </a:ext>
            </a:extLst>
          </p:cNvPr>
          <p:cNvSpPr>
            <a:spLocks noGrp="1"/>
          </p:cNvSpPr>
          <p:nvPr>
            <p:ph type="dt" sz="half" idx="10"/>
          </p:nvPr>
        </p:nvSpPr>
        <p:spPr/>
        <p:txBody>
          <a:bodyPr/>
          <a:lstStyle/>
          <a:p>
            <a:fld id="{1AC74DB9-AD9A-A946-913D-C5DA4489551C}" type="datetimeFigureOut">
              <a:rPr kumimoji="1" lang="ja-JP" altLang="en-US" smtClean="0"/>
              <a:t>2026/7/29</a:t>
            </a:fld>
            <a:endParaRPr kumimoji="1" lang="ja-JP" altLang="en-US"/>
          </a:p>
        </p:txBody>
      </p:sp>
      <p:sp>
        <p:nvSpPr>
          <p:cNvPr id="5" name="フッター プレースホルダー 4">
            <a:extLst>
              <a:ext uri="{FF2B5EF4-FFF2-40B4-BE49-F238E27FC236}">
                <a16:creationId xmlns:a16="http://schemas.microsoft.com/office/drawing/2014/main" id="{40D0762A-57A7-7832-2450-B27E0A1180D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3D2E1D-97AC-995F-2D2B-DE95ADB39955}"/>
              </a:ext>
            </a:extLst>
          </p:cNvPr>
          <p:cNvSpPr>
            <a:spLocks noGrp="1"/>
          </p:cNvSpPr>
          <p:nvPr>
            <p:ph type="sldNum" sz="quarter" idx="12"/>
          </p:nvPr>
        </p:nvSpPr>
        <p:spPr/>
        <p:txBody>
          <a:body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1702959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5BE2BD5-729D-E62B-0890-0B9B62C85E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0F2A9B3-FFFE-E8B5-7F8C-3287F5430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881AD29-765C-3CBC-1859-678F0F5A44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C74DB9-AD9A-A946-913D-C5DA4489551C}" type="datetimeFigureOut">
              <a:rPr kumimoji="1" lang="ja-JP" altLang="en-US" smtClean="0"/>
              <a:t>2026/7/29</a:t>
            </a:fld>
            <a:endParaRPr kumimoji="1" lang="ja-JP" altLang="en-US"/>
          </a:p>
        </p:txBody>
      </p:sp>
      <p:sp>
        <p:nvSpPr>
          <p:cNvPr id="5" name="フッター プレースホルダー 4">
            <a:extLst>
              <a:ext uri="{FF2B5EF4-FFF2-40B4-BE49-F238E27FC236}">
                <a16:creationId xmlns:a16="http://schemas.microsoft.com/office/drawing/2014/main" id="{8C42D9E9-4095-8405-2D50-84F20873B0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BD028C6-3FCC-0D28-143C-44EB792D6B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93C5D8-89DF-8D4C-859F-F143528832E0}" type="slidenum">
              <a:rPr kumimoji="1" lang="ja-JP" altLang="en-US" smtClean="0"/>
              <a:t>‹#›</a:t>
            </a:fld>
            <a:endParaRPr kumimoji="1" lang="ja-JP" altLang="en-US"/>
          </a:p>
        </p:txBody>
      </p:sp>
    </p:spTree>
    <p:extLst>
      <p:ext uri="{BB962C8B-B14F-4D97-AF65-F5344CB8AC3E}">
        <p14:creationId xmlns:p14="http://schemas.microsoft.com/office/powerpoint/2010/main" val="1321151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図 23">
            <a:extLst>
              <a:ext uri="{FF2B5EF4-FFF2-40B4-BE49-F238E27FC236}">
                <a16:creationId xmlns:a16="http://schemas.microsoft.com/office/drawing/2014/main" id="{68AA16C5-9569-14B5-F1BC-F0B4AD0CE6FA}"/>
              </a:ext>
            </a:extLst>
          </p:cNvPr>
          <p:cNvPicPr>
            <a:picLocks noChangeAspect="1"/>
          </p:cNvPicPr>
          <p:nvPr/>
        </p:nvPicPr>
        <p:blipFill>
          <a:blip r:embed="rId3"/>
          <a:stretch>
            <a:fillRect/>
          </a:stretch>
        </p:blipFill>
        <p:spPr>
          <a:xfrm>
            <a:off x="0" y="0"/>
            <a:ext cx="12198487" cy="6858000"/>
          </a:xfrm>
          <a:prstGeom prst="rect">
            <a:avLst/>
          </a:prstGeom>
        </p:spPr>
      </p:pic>
      <p:pic>
        <p:nvPicPr>
          <p:cNvPr id="13" name="図 12">
            <a:extLst>
              <a:ext uri="{FF2B5EF4-FFF2-40B4-BE49-F238E27FC236}">
                <a16:creationId xmlns:a16="http://schemas.microsoft.com/office/drawing/2014/main" id="{4533C3C9-9A78-5063-68F0-A0FF1A006CA4}"/>
              </a:ext>
            </a:extLst>
          </p:cNvPr>
          <p:cNvPicPr>
            <a:picLocks noChangeAspect="1"/>
          </p:cNvPicPr>
          <p:nvPr/>
        </p:nvPicPr>
        <p:blipFill>
          <a:blip r:embed="rId3"/>
          <a:stretch>
            <a:fillRect/>
          </a:stretch>
        </p:blipFill>
        <p:spPr>
          <a:xfrm>
            <a:off x="1340069" y="757035"/>
            <a:ext cx="10851930" cy="6100965"/>
          </a:xfrm>
          <a:prstGeom prst="rect">
            <a:avLst/>
          </a:prstGeom>
        </p:spPr>
      </p:pic>
      <p:sp>
        <p:nvSpPr>
          <p:cNvPr id="4" name="タイトル 1">
            <a:extLst>
              <a:ext uri="{FF2B5EF4-FFF2-40B4-BE49-F238E27FC236}">
                <a16:creationId xmlns:a16="http://schemas.microsoft.com/office/drawing/2014/main" id="{4F771538-A9C9-37D2-C813-8678D8E93850}"/>
              </a:ext>
            </a:extLst>
          </p:cNvPr>
          <p:cNvSpPr txBox="1">
            <a:spLocks/>
          </p:cNvSpPr>
          <p:nvPr/>
        </p:nvSpPr>
        <p:spPr>
          <a:xfrm>
            <a:off x="0" y="1409076"/>
            <a:ext cx="8064708" cy="1651000"/>
          </a:xfrm>
          <a:prstGeom prst="rect">
            <a:avLst/>
          </a:prstGeom>
        </p:spPr>
        <p:txBody>
          <a:bodyPr vert="horz" lIns="90000" tIns="45720" rIns="91440" bIns="45720" rtlCol="0" anchor="ctr" anchorCtr="1">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ja-JP" sz="2800" b="1">
                <a:latin typeface="Calibri" panose="020F0502020204030204" pitchFamily="34" charset="0"/>
                <a:cs typeface="Calibri" panose="020F0502020204030204" pitchFamily="34" charset="0"/>
              </a:rPr>
              <a:t>On the Structure of Address in Multi-Party Dialogue:</a:t>
            </a:r>
            <a:endParaRPr lang="en-US" altLang="ja-JP" sz="2800" b="1" dirty="0">
              <a:latin typeface="Calibri" panose="020F0502020204030204" pitchFamily="34" charset="0"/>
              <a:cs typeface="Calibri" panose="020F0502020204030204" pitchFamily="34" charset="0"/>
            </a:endParaRPr>
          </a:p>
          <a:p>
            <a:pPr algn="l"/>
            <a:r>
              <a:rPr lang="ja-JP" altLang="ja-JP" sz="2800" b="1">
                <a:latin typeface="Calibri" panose="020F0502020204030204" pitchFamily="34" charset="0"/>
                <a:cs typeface="Calibri" panose="020F0502020204030204" pitchFamily="34" charset="0"/>
              </a:rPr>
              <a:t>From Discrete Labels to Continuous Levels</a:t>
            </a:r>
          </a:p>
        </p:txBody>
      </p:sp>
      <p:sp>
        <p:nvSpPr>
          <p:cNvPr id="5" name="字幕 2">
            <a:extLst>
              <a:ext uri="{FF2B5EF4-FFF2-40B4-BE49-F238E27FC236}">
                <a16:creationId xmlns:a16="http://schemas.microsoft.com/office/drawing/2014/main" id="{93FCE4CC-A73D-1BFD-9D09-6CCC03637D22}"/>
              </a:ext>
            </a:extLst>
          </p:cNvPr>
          <p:cNvSpPr txBox="1">
            <a:spLocks/>
          </p:cNvSpPr>
          <p:nvPr/>
        </p:nvSpPr>
        <p:spPr>
          <a:xfrm>
            <a:off x="1" y="3797925"/>
            <a:ext cx="5141626" cy="1905000"/>
          </a:xfrm>
          <a:prstGeom prst="rect">
            <a:avLst/>
          </a:prstGeom>
        </p:spPr>
        <p:txBody>
          <a:bodyPr vert="horz" lIns="91440" tIns="45720" rIns="91440" bIns="45720" rtlCol="0" anchorCtr="1">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1600" dirty="0">
                <a:latin typeface="Calibri" panose="020F0502020204030204" pitchFamily="34" charset="0"/>
                <a:ea typeface="Calibri" panose="020F0502020204030204" pitchFamily="34" charset="0"/>
                <a:cs typeface="Calibri" panose="020F0502020204030204" pitchFamily="34" charset="0"/>
              </a:rPr>
              <a:t>5th August 2026</a:t>
            </a:r>
          </a:p>
          <a:p>
            <a:pPr algn="l"/>
            <a:r>
              <a:rPr lang="en-US" altLang="ja-JP" sz="1600" dirty="0">
                <a:latin typeface="Calibri" panose="020F0502020204030204" pitchFamily="34" charset="0"/>
                <a:ea typeface="Calibri" panose="020F0502020204030204" pitchFamily="34" charset="0"/>
                <a:cs typeface="Calibri" panose="020F0502020204030204" pitchFamily="34" charset="0"/>
              </a:rPr>
              <a:t>SIGDIAL 2026 in Atlanta, USA</a:t>
            </a:r>
          </a:p>
          <a:p>
            <a:pPr algn="l"/>
            <a:r>
              <a:rPr lang="en-US" altLang="ja-JP" sz="1600" dirty="0">
                <a:latin typeface="Calibri" panose="020F0502020204030204" pitchFamily="34" charset="0"/>
                <a:ea typeface="Calibri" panose="020F0502020204030204" pitchFamily="34" charset="0"/>
                <a:cs typeface="Calibri" panose="020F0502020204030204" pitchFamily="34" charset="0"/>
              </a:rPr>
              <a:t>Taiga Mori, Koji Inoue, Divesh Lala, Tatsuya Kawahara</a:t>
            </a:r>
          </a:p>
          <a:p>
            <a:pPr algn="l"/>
            <a:r>
              <a:rPr lang="en-US" altLang="ja-JP" sz="1600" dirty="0">
                <a:latin typeface="Calibri" panose="020F0502020204030204" pitchFamily="34" charset="0"/>
                <a:ea typeface="Calibri" panose="020F0502020204030204" pitchFamily="34" charset="0"/>
                <a:cs typeface="Calibri" panose="020F0502020204030204" pitchFamily="34" charset="0"/>
              </a:rPr>
              <a:t>Graduate School of Informatics, Kyoto University, Japan</a:t>
            </a:r>
          </a:p>
        </p:txBody>
      </p:sp>
      <p:sp>
        <p:nvSpPr>
          <p:cNvPr id="3" name="正方形/長方形 2">
            <a:extLst>
              <a:ext uri="{FF2B5EF4-FFF2-40B4-BE49-F238E27FC236}">
                <a16:creationId xmlns:a16="http://schemas.microsoft.com/office/drawing/2014/main" id="{8DB89644-6233-09B0-0706-4701AF325C3A}"/>
              </a:ext>
            </a:extLst>
          </p:cNvPr>
          <p:cNvSpPr/>
          <p:nvPr/>
        </p:nvSpPr>
        <p:spPr>
          <a:xfrm>
            <a:off x="-1558977" y="779489"/>
            <a:ext cx="1124262"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12-13 mins</a:t>
            </a:r>
            <a:endParaRPr kumimoji="1" lang="ja-JP" altLang="en-US"/>
          </a:p>
        </p:txBody>
      </p:sp>
      <p:cxnSp>
        <p:nvCxnSpPr>
          <p:cNvPr id="16" name="直線コネクタ 15">
            <a:extLst>
              <a:ext uri="{FF2B5EF4-FFF2-40B4-BE49-F238E27FC236}">
                <a16:creationId xmlns:a16="http://schemas.microsoft.com/office/drawing/2014/main" id="{E3FDB660-56D0-EDB7-2FF4-C8A0B0FAAEA5}"/>
              </a:ext>
            </a:extLst>
          </p:cNvPr>
          <p:cNvCxnSpPr>
            <a:cxnSpLocks/>
          </p:cNvCxnSpPr>
          <p:nvPr/>
        </p:nvCxnSpPr>
        <p:spPr>
          <a:xfrm>
            <a:off x="269823" y="3674674"/>
            <a:ext cx="461697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5" name="Copied Picture 7">
            <a:extLst>
              <a:ext uri="{FF2B5EF4-FFF2-40B4-BE49-F238E27FC236}">
                <a16:creationId xmlns:a16="http://schemas.microsoft.com/office/drawing/2014/main" id="{B83E2D50-DF5C-7724-5BF2-361AA39117C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760866" y="5226321"/>
            <a:ext cx="1619895" cy="1619895"/>
          </a:xfrm>
          <a:prstGeom prst="rect">
            <a:avLst/>
          </a:prstGeom>
        </p:spPr>
      </p:pic>
    </p:spTree>
    <p:extLst>
      <p:ext uri="{BB962C8B-B14F-4D97-AF65-F5344CB8AC3E}">
        <p14:creationId xmlns:p14="http://schemas.microsoft.com/office/powerpoint/2010/main" val="510653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894760-6221-7D42-861D-2AFA1D7BDF8D}"/>
              </a:ext>
            </a:extLst>
          </p:cNvPr>
          <p:cNvSpPr>
            <a:spLocks noGrp="1"/>
          </p:cNvSpPr>
          <p:nvPr>
            <p:ph type="title"/>
          </p:nvPr>
        </p:nvSpPr>
        <p:spPr>
          <a:xfrm>
            <a:off x="838200" y="14288"/>
            <a:ext cx="9728200" cy="1311276"/>
          </a:xfrm>
        </p:spPr>
        <p:txBody>
          <a:bodyPr anchor="ctr" anchorCtr="0">
            <a:normAutofit/>
          </a:bodyPr>
          <a:lstStyle/>
          <a:p>
            <a:r>
              <a:rPr kumimoji="1" lang="en" altLang="ja-JP" sz="3000" b="1" dirty="0"/>
              <a:t>Addressee Detection: The Standard Formulation</a:t>
            </a:r>
            <a:endParaRPr kumimoji="1" lang="ja-JP" altLang="en-US" sz="3000" b="1"/>
          </a:p>
        </p:txBody>
      </p:sp>
      <p:sp>
        <p:nvSpPr>
          <p:cNvPr id="3" name="コンテンツ プレースホルダー 2">
            <a:extLst>
              <a:ext uri="{FF2B5EF4-FFF2-40B4-BE49-F238E27FC236}">
                <a16:creationId xmlns:a16="http://schemas.microsoft.com/office/drawing/2014/main" id="{76E2FC2B-2498-BDA6-FF37-8358AD70588E}"/>
              </a:ext>
            </a:extLst>
          </p:cNvPr>
          <p:cNvSpPr>
            <a:spLocks noGrp="1"/>
          </p:cNvSpPr>
          <p:nvPr>
            <p:ph idx="1"/>
          </p:nvPr>
        </p:nvSpPr>
        <p:spPr>
          <a:xfrm>
            <a:off x="838200" y="2492375"/>
            <a:ext cx="10515600" cy="3886200"/>
          </a:xfrm>
        </p:spPr>
        <p:txBody>
          <a:bodyPr>
            <a:normAutofit/>
          </a:bodyPr>
          <a:lstStyle/>
          <a:p>
            <a:pPr marL="342900" indent="-342900">
              <a:spcBef>
                <a:spcPts val="2000"/>
              </a:spcBef>
              <a:buFont typeface="Arial"/>
              <a:buChar char="•"/>
            </a:pPr>
            <a:r>
              <a:rPr lang="en-US" sz="2400" dirty="0"/>
              <a:t>Human–human–computer: binary — system, or another human?</a:t>
            </a:r>
          </a:p>
          <a:p>
            <a:pPr marL="342900" indent="0">
              <a:spcBef>
                <a:spcPts val="500"/>
              </a:spcBef>
              <a:buNone/>
            </a:pPr>
            <a:r>
              <a:rPr lang="en-US" sz="2400" i="1" dirty="0">
                <a:solidFill>
                  <a:srgbClr val="3F3F3F"/>
                </a:solidFill>
              </a:rPr>
              <a:t>Baba+ 2011; Shriberg+ 2012; Tsai+ 2015</a:t>
            </a:r>
          </a:p>
          <a:p>
            <a:pPr marL="342900" indent="-342900">
              <a:spcBef>
                <a:spcPts val="2000"/>
              </a:spcBef>
              <a:buFont typeface="Arial"/>
              <a:buChar char="•"/>
            </a:pPr>
            <a:r>
              <a:rPr lang="en-US" sz="2400" dirty="0"/>
              <a:t>Multi-party human dialogue: pick ONE label — A / B / C, or “group”</a:t>
            </a:r>
          </a:p>
          <a:p>
            <a:pPr marL="342900" indent="0">
              <a:spcBef>
                <a:spcPts val="500"/>
              </a:spcBef>
              <a:buNone/>
            </a:pPr>
            <a:r>
              <a:rPr lang="en-US" sz="2400" i="1" dirty="0">
                <a:solidFill>
                  <a:srgbClr val="3F3F3F"/>
                </a:solidFill>
              </a:rPr>
              <a:t>Jovanovic+ 2006; Ouchi &amp; Tsuboi 2016; Gu+ 2021</a:t>
            </a:r>
          </a:p>
          <a:p>
            <a:pPr marL="342900" indent="-342900">
              <a:spcBef>
                <a:spcPts val="2000"/>
              </a:spcBef>
              <a:buFont typeface="Arial"/>
              <a:buChar char="•"/>
            </a:pPr>
            <a:r>
              <a:rPr lang="en-US" sz="2400" dirty="0"/>
              <a:t>Predicted after the turn ends — post-hoc, utterance level</a:t>
            </a:r>
          </a:p>
          <a:p>
            <a:pPr marL="342900" indent="-342900">
              <a:spcBef>
                <a:spcPts val="2000"/>
              </a:spcBef>
              <a:buFont typeface="Arial"/>
              <a:buChar char="•"/>
            </a:pPr>
            <a:r>
              <a:rPr lang="en-US" sz="2400" dirty="0"/>
              <a:t>Mainly an auxiliary task for turn-taking / response selection</a:t>
            </a:r>
          </a:p>
        </p:txBody>
      </p:sp>
      <p:sp>
        <p:nvSpPr>
          <p:cNvPr id="4" name="KeyMsg">
            <a:extLst>
              <a:ext uri="{FF2B5EF4-FFF2-40B4-BE49-F238E27FC236}">
                <a16:creationId xmlns:a16="http://schemas.microsoft.com/office/drawing/2014/main" id="{1344C0E5-4633-F942-95F9-B99BF2747D05}"/>
              </a:ext>
            </a:extLst>
          </p:cNvPr>
          <p:cNvSpPr/>
          <p:nvPr/>
        </p:nvSpPr>
        <p:spPr>
          <a:xfrm>
            <a:off x="838200" y="1604168"/>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Prior work assumes address is DISCRETE: one label per utterance</a:t>
            </a:r>
          </a:p>
        </p:txBody>
      </p:sp>
      <p:sp>
        <p:nvSpPr>
          <p:cNvPr id="8" name="PageNum">
            <a:extLst>
              <a:ext uri="{FF2B5EF4-FFF2-40B4-BE49-F238E27FC236}">
                <a16:creationId xmlns:a16="http://schemas.microsoft.com/office/drawing/2014/main" id="{45A09E9C-7F74-CF47-9EFC-595F68E8F90B}"/>
              </a:ext>
            </a:extLst>
          </p:cNvPr>
          <p:cNvSpPr txBox="1"/>
          <p:nvPr/>
        </p:nvSpPr>
        <p:spPr>
          <a:xfrm>
            <a:off x="11353799" y="6389461"/>
            <a:ext cx="838201" cy="454252"/>
          </a:xfrm>
          <a:prstGeom prst="rect">
            <a:avLst/>
          </a:prstGeom>
          <a:noFill/>
        </p:spPr>
        <p:txBody>
          <a:bodyPr vertOverflow="overflow" vert="horz" wrap="none" rtlCol="0" anchor="ctr" anchorCtr="0">
            <a:noAutofit/>
          </a:bodyPr>
          <a:lstStyle/>
          <a:p>
            <a:pPr algn="ctr"/>
            <a:r>
              <a:rPr lang="en-US" altLang="ja-JP" sz="1600" dirty="0">
                <a:solidFill>
                  <a:srgbClr val="7F7F7F"/>
                </a:solidFill>
              </a:rPr>
              <a:t>1 / 14</a:t>
            </a:r>
            <a:endParaRPr lang="ja-JP" altLang="en-US" sz="1600">
              <a:solidFill>
                <a:srgbClr val="7F7F7F"/>
              </a:solidFill>
            </a:endParaRPr>
          </a:p>
        </p:txBody>
      </p:sp>
    </p:spTree>
    <p:extLst>
      <p:ext uri="{BB962C8B-B14F-4D97-AF65-F5344CB8AC3E}">
        <p14:creationId xmlns:p14="http://schemas.microsoft.com/office/powerpoint/2010/main" val="3187498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202013-FA28-618C-2D48-32AD75BDF52C}"/>
              </a:ext>
            </a:extLst>
          </p:cNvPr>
          <p:cNvSpPr>
            <a:spLocks noGrp="1"/>
          </p:cNvSpPr>
          <p:nvPr>
            <p:ph type="title"/>
          </p:nvPr>
        </p:nvSpPr>
        <p:spPr>
          <a:xfrm>
            <a:off x="838200" y="13970"/>
            <a:ext cx="9728200" cy="1311910"/>
          </a:xfrm>
        </p:spPr>
        <p:txBody>
          <a:bodyPr anchor="ctr" anchorCtr="0">
            <a:noAutofit/>
          </a:bodyPr>
          <a:lstStyle/>
          <a:p>
            <a:r>
              <a:rPr kumimoji="1" lang="en" altLang="ja-JP" sz="3000" b="1"/>
              <a:t>But Is Address Really Discrete?</a:t>
            </a:r>
            <a:endParaRPr kumimoji="1" lang="ja-JP" altLang="en-US" sz="3000" b="1"/>
          </a:p>
        </p:txBody>
      </p:sp>
      <p:sp>
        <p:nvSpPr>
          <p:cNvPr id="3" name="コンテンツ プレースホルダー 2">
            <a:extLst>
              <a:ext uri="{FF2B5EF4-FFF2-40B4-BE49-F238E27FC236}">
                <a16:creationId xmlns:a16="http://schemas.microsoft.com/office/drawing/2014/main" id="{69E634AF-04FE-8C2B-42B2-6A2B04B3625E}"/>
              </a:ext>
            </a:extLst>
          </p:cNvPr>
          <p:cNvSpPr>
            <a:spLocks noGrp="1"/>
          </p:cNvSpPr>
          <p:nvPr>
            <p:ph idx="1"/>
          </p:nvPr>
        </p:nvSpPr>
        <p:spPr>
          <a:xfrm>
            <a:off x="838200" y="2493010"/>
            <a:ext cx="10515600" cy="3886200"/>
          </a:xfrm>
        </p:spPr>
        <p:txBody>
          <a:bodyPr/>
          <a:lstStyle/>
          <a:p>
            <a:pPr marL="342900" indent="-342900">
              <a:spcBef>
                <a:spcPts val="4400"/>
              </a:spcBef>
              <a:buFont typeface="Arial"/>
              <a:buChar char="•"/>
            </a:pPr>
            <a:r>
              <a:rPr lang="en-US" sz="2400" dirty="0"/>
              <a:t>One utterance can address several listeners to different degrees</a:t>
            </a:r>
          </a:p>
          <a:p>
            <a:pPr marL="342900" indent="-342900">
              <a:spcBef>
                <a:spcPts val="4400"/>
              </a:spcBef>
              <a:buFont typeface="Arial"/>
              <a:buChar char="•"/>
            </a:pPr>
            <a:r>
              <a:rPr lang="en-US" sz="2400" dirty="0"/>
              <a:t>Under a single-label scheme, disagreement is discarded as noise</a:t>
            </a:r>
          </a:p>
          <a:p>
            <a:pPr marL="342900" indent="-342900">
              <a:spcBef>
                <a:spcPts val="4400"/>
              </a:spcBef>
              <a:buFont typeface="Arial"/>
              <a:buChar char="•"/>
            </a:pPr>
            <a:r>
              <a:rPr lang="en-US" sz="2400" dirty="0"/>
              <a:t>Address is modeled in isolation, apart from listener behavior</a:t>
            </a:r>
          </a:p>
          <a:p>
            <a:pPr marL="342900" indent="-342900">
              <a:spcBef>
                <a:spcPts val="4400"/>
              </a:spcBef>
              <a:buFont typeface="Arial"/>
              <a:buChar char="•"/>
            </a:pPr>
            <a:r>
              <a:rPr lang="en-US" sz="2400" dirty="0"/>
              <a:t>Prediction happens only after the turn is complete</a:t>
            </a:r>
          </a:p>
        </p:txBody>
      </p:sp>
      <p:sp>
        <p:nvSpPr>
          <p:cNvPr id="4" name="角丸四角形 3">
            <a:extLst>
              <a:ext uri="{FF2B5EF4-FFF2-40B4-BE49-F238E27FC236}">
                <a16:creationId xmlns:a16="http://schemas.microsoft.com/office/drawing/2014/main" id="{E763C162-F293-9C4A-B720-A206F50C658C}"/>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RQ: Is address graded, and does it relate to listener behavior?</a:t>
            </a:r>
          </a:p>
        </p:txBody>
      </p:sp>
      <p:sp>
        <p:nvSpPr>
          <p:cNvPr id="6" name="PageNum">
            <a:extLst>
              <a:ext uri="{FF2B5EF4-FFF2-40B4-BE49-F238E27FC236}">
                <a16:creationId xmlns:a16="http://schemas.microsoft.com/office/drawing/2014/main" id="{15F313A2-5BA3-8646-B165-E701B42B0D56}"/>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2 / 14</a:t>
            </a:r>
            <a:endParaRPr lang="ja-JP" altLang="en-US" sz="1600">
              <a:solidFill>
                <a:srgbClr val="7F7F7F"/>
              </a:solidFill>
            </a:endParaRPr>
          </a:p>
        </p:txBody>
      </p:sp>
    </p:spTree>
    <p:extLst>
      <p:ext uri="{BB962C8B-B14F-4D97-AF65-F5344CB8AC3E}">
        <p14:creationId xmlns:p14="http://schemas.microsoft.com/office/powerpoint/2010/main" val="260668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030DE5-CF67-9BBD-7C91-32206AE8EA5A}"/>
              </a:ext>
            </a:extLst>
          </p:cNvPr>
          <p:cNvSpPr>
            <a:spLocks noGrp="1"/>
          </p:cNvSpPr>
          <p:nvPr>
            <p:ph type="title"/>
          </p:nvPr>
        </p:nvSpPr>
        <p:spPr>
          <a:xfrm>
            <a:off x="838200" y="13970"/>
            <a:ext cx="9728200" cy="1311910"/>
          </a:xfrm>
        </p:spPr>
        <p:txBody>
          <a:bodyPr anchor="ctr" anchorCtr="0">
            <a:noAutofit/>
          </a:bodyPr>
          <a:lstStyle/>
          <a:p>
            <a:r>
              <a:rPr kumimoji="1" lang="en" altLang="ja-JP" sz="3000" b="1"/>
              <a:t>This Work: Three Contributions</a:t>
            </a:r>
            <a:endParaRPr kumimoji="1" lang="ja-JP" altLang="en-US" sz="3000" b="1"/>
          </a:p>
        </p:txBody>
      </p:sp>
      <p:sp>
        <p:nvSpPr>
          <p:cNvPr id="3" name="コンテンツ プレースホルダー 2">
            <a:extLst>
              <a:ext uri="{FF2B5EF4-FFF2-40B4-BE49-F238E27FC236}">
                <a16:creationId xmlns:a16="http://schemas.microsoft.com/office/drawing/2014/main" id="{85AAEE71-202A-9EDC-F3C4-E4FB36C7ECE5}"/>
              </a:ext>
            </a:extLst>
          </p:cNvPr>
          <p:cNvSpPr>
            <a:spLocks noGrp="1"/>
          </p:cNvSpPr>
          <p:nvPr>
            <p:ph idx="1"/>
          </p:nvPr>
        </p:nvSpPr>
        <p:spPr>
          <a:xfrm>
            <a:off x="838200" y="2493010"/>
            <a:ext cx="10515600" cy="3886200"/>
          </a:xfrm>
        </p:spPr>
        <p:txBody>
          <a:bodyPr/>
          <a:lstStyle/>
          <a:p>
            <a:pPr marL="457200" indent="-457200">
              <a:spcBef>
                <a:spcPts val="4900"/>
              </a:spcBef>
              <a:buNone/>
            </a:pPr>
            <a:r>
              <a:rPr lang="en-US" sz="2400" b="1" dirty="0">
                <a:solidFill>
                  <a:srgbClr val="156082"/>
                </a:solidFill>
              </a:rPr>
              <a:t>1.	</a:t>
            </a:r>
            <a:r>
              <a:rPr lang="en-US" sz="2400" dirty="0"/>
              <a:t>Evidence that address has graded structure</a:t>
            </a:r>
          </a:p>
          <a:p>
            <a:pPr marL="457200" indent="0">
              <a:spcBef>
                <a:spcPts val="500"/>
              </a:spcBef>
              <a:buNone/>
            </a:pPr>
            <a:r>
              <a:rPr lang="en-US" sz="2400" dirty="0">
                <a:solidFill>
                  <a:srgbClr val="3F3F3F"/>
                </a:solidFill>
              </a:rPr>
              <a:t>→ estimate it continuously, do not classify it</a:t>
            </a:r>
          </a:p>
          <a:p>
            <a:pPr marL="457200" indent="-457200">
              <a:spcBef>
                <a:spcPts val="4900"/>
              </a:spcBef>
              <a:buNone/>
            </a:pPr>
            <a:r>
              <a:rPr lang="en-US" sz="2400" b="1" dirty="0">
                <a:solidFill>
                  <a:srgbClr val="156082"/>
                </a:solidFill>
              </a:rPr>
              <a:t>2.	</a:t>
            </a:r>
            <a:r>
              <a:rPr lang="en-US" sz="2400" dirty="0"/>
              <a:t>An operationalization: the address level</a:t>
            </a:r>
          </a:p>
          <a:p>
            <a:pPr marL="457200" indent="0">
              <a:spcBef>
                <a:spcPts val="500"/>
              </a:spcBef>
              <a:buNone/>
            </a:pPr>
            <a:r>
              <a:rPr lang="en-US" sz="2400" dirty="0">
                <a:solidFill>
                  <a:srgbClr val="3F3F3F"/>
                </a:solidFill>
              </a:rPr>
              <a:t>→ a latent value per listener, from categorical labels</a:t>
            </a:r>
          </a:p>
          <a:p>
            <a:pPr marL="457200" indent="-457200">
              <a:spcBef>
                <a:spcPts val="4900"/>
              </a:spcBef>
              <a:buNone/>
            </a:pPr>
            <a:r>
              <a:rPr lang="en-US" sz="2400" b="1" dirty="0">
                <a:solidFill>
                  <a:srgbClr val="156082"/>
                </a:solidFill>
              </a:rPr>
              <a:t>3.	</a:t>
            </a:r>
            <a:r>
              <a:rPr lang="en-US" sz="2400" dirty="0"/>
              <a:t>It relates to turn-taking, gaze and backchannels</a:t>
            </a:r>
          </a:p>
          <a:p>
            <a:pPr marL="457200" indent="0">
              <a:spcBef>
                <a:spcPts val="500"/>
              </a:spcBef>
              <a:buNone/>
            </a:pPr>
            <a:r>
              <a:rPr lang="en-US" sz="2400" dirty="0">
                <a:solidFill>
                  <a:srgbClr val="3F3F3F"/>
                </a:solidFill>
              </a:rPr>
              <a:t>→ evidence for its validity</a:t>
            </a:r>
          </a:p>
        </p:txBody>
      </p:sp>
      <p:sp>
        <p:nvSpPr>
          <p:cNvPr id="4" name="角丸四角形 3">
            <a:extLst>
              <a:ext uri="{FF2B5EF4-FFF2-40B4-BE49-F238E27FC236}">
                <a16:creationId xmlns:a16="http://schemas.microsoft.com/office/drawing/2014/main" id="{4DA169E1-5AB1-C948-B492-2561F2223CEB}"/>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Discrete label  →  continuous, per-listener address level</a:t>
            </a:r>
          </a:p>
        </p:txBody>
      </p:sp>
      <p:sp>
        <p:nvSpPr>
          <p:cNvPr id="5" name="PageNum">
            <a:extLst>
              <a:ext uri="{FF2B5EF4-FFF2-40B4-BE49-F238E27FC236}">
                <a16:creationId xmlns:a16="http://schemas.microsoft.com/office/drawing/2014/main" id="{1E7EC12C-2342-F547-9075-B3555C74307E}"/>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3 / 14</a:t>
            </a:r>
            <a:endParaRPr lang="ja-JP" altLang="en-US" sz="1600">
              <a:solidFill>
                <a:srgbClr val="7F7F7F"/>
              </a:solidFill>
            </a:endParaRPr>
          </a:p>
        </p:txBody>
      </p:sp>
    </p:spTree>
    <p:extLst>
      <p:ext uri="{BB962C8B-B14F-4D97-AF65-F5344CB8AC3E}">
        <p14:creationId xmlns:p14="http://schemas.microsoft.com/office/powerpoint/2010/main" val="283040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1A0B6E-F4D2-7EA5-7BB4-BD67BA8F90C1}"/>
              </a:ext>
            </a:extLst>
          </p:cNvPr>
          <p:cNvSpPr>
            <a:spLocks noGrp="1"/>
          </p:cNvSpPr>
          <p:nvPr>
            <p:ph type="title"/>
          </p:nvPr>
        </p:nvSpPr>
        <p:spPr>
          <a:xfrm>
            <a:off x="838200" y="13970"/>
            <a:ext cx="9728200" cy="1311910"/>
          </a:xfrm>
        </p:spPr>
        <p:txBody>
          <a:bodyPr anchor="ctr" anchorCtr="0">
            <a:noAutofit/>
          </a:bodyPr>
          <a:lstStyle/>
          <a:p>
            <a:r>
              <a:rPr kumimoji="1" lang="en" altLang="ja-JP" sz="3000" b="1"/>
              <a:t>Dataset: Teidan Corpus</a:t>
            </a:r>
            <a:endParaRPr kumimoji="1" lang="ja-JP" altLang="en-US" sz="3000" b="1"/>
          </a:p>
        </p:txBody>
      </p:sp>
      <p:sp>
        <p:nvSpPr>
          <p:cNvPr id="3" name="コンテンツ プレースホルダー 2">
            <a:extLst>
              <a:ext uri="{FF2B5EF4-FFF2-40B4-BE49-F238E27FC236}">
                <a16:creationId xmlns:a16="http://schemas.microsoft.com/office/drawing/2014/main" id="{ED128CF6-3FF6-2306-5107-D2770B888C80}"/>
              </a:ext>
            </a:extLst>
          </p:cNvPr>
          <p:cNvSpPr>
            <a:spLocks noGrp="1"/>
          </p:cNvSpPr>
          <p:nvPr>
            <p:ph idx="1"/>
          </p:nvPr>
        </p:nvSpPr>
        <p:spPr>
          <a:xfrm>
            <a:off x="838200" y="2493010"/>
            <a:ext cx="5969000" cy="3810000"/>
          </a:xfrm>
        </p:spPr>
        <p:txBody>
          <a:bodyPr/>
          <a:lstStyle/>
          <a:p>
            <a:pPr marL="285750" indent="-285750">
              <a:spcBef>
                <a:spcPts val="4400"/>
              </a:spcBef>
              <a:buFont typeface="Arial"/>
              <a:buChar char="•"/>
            </a:pPr>
            <a:r>
              <a:rPr lang="en-US" sz="2400" dirty="0"/>
              <a:t>12 groups × 3 topics</a:t>
            </a:r>
          </a:p>
          <a:p>
            <a:pPr marL="285750" indent="-285750">
              <a:spcBef>
                <a:spcPts val="4400"/>
              </a:spcBef>
              <a:buFont typeface="Arial"/>
              <a:buChar char="•"/>
            </a:pPr>
            <a:r>
              <a:rPr lang="en-US" sz="2400" dirty="0"/>
              <a:t>Total 3 h 38 min</a:t>
            </a:r>
          </a:p>
          <a:p>
            <a:pPr marL="285750" indent="-285750">
              <a:spcBef>
                <a:spcPts val="4400"/>
              </a:spcBef>
              <a:buFont typeface="Arial"/>
              <a:buChar char="•"/>
            </a:pPr>
            <a:r>
              <a:rPr lang="en-US" sz="2400" dirty="0"/>
              <a:t>86.7 turns per dialogue</a:t>
            </a:r>
          </a:p>
          <a:p>
            <a:pPr marL="285750" indent="-285750">
              <a:spcBef>
                <a:spcPts val="4400"/>
              </a:spcBef>
              <a:buFont typeface="Arial"/>
              <a:buChar char="•"/>
            </a:pPr>
            <a:r>
              <a:rPr lang="en-US" sz="2400" dirty="0"/>
              <a:t>Annotated: turns, backchannels, gaze</a:t>
            </a:r>
          </a:p>
        </p:txBody>
      </p:sp>
      <p:sp>
        <p:nvSpPr>
          <p:cNvPr id="4" name="角丸四角形 3">
            <a:extLst>
              <a:ext uri="{FF2B5EF4-FFF2-40B4-BE49-F238E27FC236}">
                <a16:creationId xmlns:a16="http://schemas.microsoft.com/office/drawing/2014/main" id="{6440118E-9C0C-9245-A913-AEAD291E259E}"/>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Teidan corpus: 36 Japanese triadic dialogues, 3,121 turns</a:t>
            </a:r>
          </a:p>
        </p:txBody>
      </p:sp>
      <p:pic>
        <p:nvPicPr>
          <p:cNvPr id="5" name="図 4">
            <a:extLst>
              <a:ext uri="{FF2B5EF4-FFF2-40B4-BE49-F238E27FC236}">
                <a16:creationId xmlns:a16="http://schemas.microsoft.com/office/drawing/2014/main" id="{DED21C2E-39F6-9F63-B56B-47C656456A2A}"/>
              </a:ext>
            </a:extLst>
          </p:cNvPr>
          <p:cNvPicPr>
            <a:picLocks noChangeAspect="1"/>
          </p:cNvPicPr>
          <p:nvPr/>
        </p:nvPicPr>
        <p:blipFill>
          <a:blip r:embed="rId3"/>
          <a:stretch>
            <a:fillRect/>
          </a:stretch>
        </p:blipFill>
        <p:spPr>
          <a:xfrm>
            <a:off x="7162800" y="2514600"/>
            <a:ext cx="4191000" cy="3810000"/>
          </a:xfrm>
          <a:prstGeom prst="rect">
            <a:avLst/>
          </a:prstGeom>
        </p:spPr>
      </p:pic>
      <p:sp>
        <p:nvSpPr>
          <p:cNvPr id="6" name="PageNum">
            <a:extLst>
              <a:ext uri="{FF2B5EF4-FFF2-40B4-BE49-F238E27FC236}">
                <a16:creationId xmlns:a16="http://schemas.microsoft.com/office/drawing/2014/main" id="{1E738491-C41C-F747-AB82-E742B817685D}"/>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4 / 14</a:t>
            </a:r>
            <a:endParaRPr lang="ja-JP" altLang="en-US" sz="1600">
              <a:solidFill>
                <a:srgbClr val="7F7F7F"/>
              </a:solidFill>
            </a:endParaRPr>
          </a:p>
        </p:txBody>
      </p:sp>
    </p:spTree>
    <p:extLst>
      <p:ext uri="{BB962C8B-B14F-4D97-AF65-F5344CB8AC3E}">
        <p14:creationId xmlns:p14="http://schemas.microsoft.com/office/powerpoint/2010/main" val="1411655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62E102-B86E-B686-67D8-AD1E0685F548}"/>
              </a:ext>
            </a:extLst>
          </p:cNvPr>
          <p:cNvSpPr>
            <a:spLocks noGrp="1"/>
          </p:cNvSpPr>
          <p:nvPr>
            <p:ph type="title"/>
          </p:nvPr>
        </p:nvSpPr>
        <p:spPr>
          <a:xfrm>
            <a:off x="838200" y="13970"/>
            <a:ext cx="9728200" cy="1311910"/>
          </a:xfrm>
        </p:spPr>
        <p:txBody>
          <a:bodyPr anchor="ctr" anchorCtr="0">
            <a:noAutofit/>
          </a:bodyPr>
          <a:lstStyle/>
          <a:p>
            <a:r>
              <a:rPr kumimoji="1" lang="en" altLang="ja-JP" sz="3000" b="1"/>
              <a:t>Addressee Annotation</a:t>
            </a:r>
            <a:endParaRPr kumimoji="1" lang="ja-JP" altLang="en-US" sz="3000" b="1"/>
          </a:p>
        </p:txBody>
      </p:sp>
      <p:sp>
        <p:nvSpPr>
          <p:cNvPr id="3" name="コンテンツ プレースホルダー 2">
            <a:extLst>
              <a:ext uri="{FF2B5EF4-FFF2-40B4-BE49-F238E27FC236}">
                <a16:creationId xmlns:a16="http://schemas.microsoft.com/office/drawing/2014/main" id="{B24310CD-24D8-EB48-9F85-13765D7A798C}"/>
              </a:ext>
            </a:extLst>
          </p:cNvPr>
          <p:cNvSpPr>
            <a:spLocks noGrp="1"/>
          </p:cNvSpPr>
          <p:nvPr>
            <p:ph idx="1"/>
          </p:nvPr>
        </p:nvSpPr>
        <p:spPr>
          <a:xfrm>
            <a:off x="838200" y="2493010"/>
            <a:ext cx="4826000" cy="3810000"/>
          </a:xfrm>
        </p:spPr>
        <p:txBody>
          <a:bodyPr/>
          <a:lstStyle/>
          <a:p>
            <a:pPr marL="285750" indent="-285750">
              <a:spcBef>
                <a:spcPts val="2600"/>
              </a:spcBef>
              <a:buFont typeface="Arial"/>
              <a:buChar char="•"/>
            </a:pPr>
            <a:r>
              <a:rPr lang="en-US" sz="2400" dirty="0"/>
              <a:t>Label set from Kadota+ 2024</a:t>
            </a:r>
          </a:p>
          <a:p>
            <a:pPr marL="285750" indent="-285750">
              <a:spcBef>
                <a:spcPts val="2600"/>
              </a:spcBef>
              <a:buFont typeface="Arial"/>
              <a:buChar char="•"/>
            </a:pPr>
            <a:r>
              <a:rPr lang="en-US" sz="2400" dirty="0"/>
              <a:t>3,078 turns, 3 annotators each</a:t>
            </a:r>
          </a:p>
          <a:p>
            <a:pPr marL="285750" indent="-285750">
              <a:spcBef>
                <a:spcPts val="2600"/>
              </a:spcBef>
              <a:buFont typeface="Arial"/>
              <a:buChar char="•"/>
            </a:pPr>
            <a:r>
              <a:rPr lang="en-US" sz="2400" dirty="0"/>
              <a:t>Multimodal cues allowed</a:t>
            </a:r>
          </a:p>
          <a:p>
            <a:pPr marL="285750" indent="-285750">
              <a:spcBef>
                <a:spcPts val="2600"/>
              </a:spcBef>
              <a:buFont typeface="Arial"/>
              <a:buChar char="•"/>
            </a:pPr>
            <a:r>
              <a:rPr lang="en-US" sz="2400" dirty="0"/>
              <a:t>No information after the turn</a:t>
            </a:r>
          </a:p>
        </p:txBody>
      </p:sp>
      <p:sp>
        <p:nvSpPr>
          <p:cNvPr id="4" name="角丸四角形 3">
            <a:extLst>
              <a:ext uri="{FF2B5EF4-FFF2-40B4-BE49-F238E27FC236}">
                <a16:creationId xmlns:a16="http://schemas.microsoft.com/office/drawing/2014/main" id="{2B3E82AC-9F4F-DF48-AB5D-5C8294196882}"/>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3 annotators, 8 labels — agreement is only moderate (κ = 0.52)</a:t>
            </a:r>
          </a:p>
        </p:txBody>
      </p:sp>
      <p:graphicFrame>
        <p:nvGraphicFramePr>
          <p:cNvPr id="6" name="表 5">
            <a:extLst>
              <a:ext uri="{FF2B5EF4-FFF2-40B4-BE49-F238E27FC236}">
                <a16:creationId xmlns:a16="http://schemas.microsoft.com/office/drawing/2014/main" id="{77F8F93B-0EB3-974E-B067-05558687C40F}"/>
              </a:ext>
            </a:extLst>
          </p:cNvPr>
          <p:cNvGraphicFramePr>
            <a:graphicFrameLocks noGrp="1"/>
          </p:cNvGraphicFramePr>
          <p:nvPr/>
        </p:nvGraphicFramePr>
        <p:xfrm>
          <a:off x="6045200" y="2514600"/>
          <a:ext cx="5308600" cy="377190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2396141051"/>
                    </a:ext>
                  </a:extLst>
                </a:gridCol>
                <a:gridCol w="2743200">
                  <a:extLst>
                    <a:ext uri="{9D8B030D-6E8A-4147-A177-3AD203B41FA5}">
                      <a16:colId xmlns:a16="http://schemas.microsoft.com/office/drawing/2014/main" val="4098516967"/>
                    </a:ext>
                  </a:extLst>
                </a:gridCol>
                <a:gridCol w="1600200">
                  <a:extLst>
                    <a:ext uri="{9D8B030D-6E8A-4147-A177-3AD203B41FA5}">
                      <a16:colId xmlns:a16="http://schemas.microsoft.com/office/drawing/2014/main" val="3147856516"/>
                    </a:ext>
                  </a:extLst>
                </a:gridCol>
              </a:tblGrid>
              <a:tr h="419100">
                <a:tc>
                  <a:txBody>
                    <a:bodyPr/>
                    <a:lstStyle/>
                    <a:p>
                      <a:pPr algn="ctr"/>
                      <a:r>
                        <a:rPr lang="ja-JP" altLang="en-US" sz="2400" b="1">
                          <a:solidFill>
                            <a:srgbClr val="FFFFFF"/>
                          </a:solidFill>
                        </a:rPr>
                        <a:t>Label</a:t>
                      </a:r>
                    </a:p>
                  </a:txBody>
                  <a:tcPr marL="76200" marR="76200" marT="12700" marB="12700" anchor="ctr">
                    <a:solidFill>
                      <a:srgbClr val="156082"/>
                    </a:solidFill>
                  </a:tcPr>
                </a:tc>
                <a:tc>
                  <a:txBody>
                    <a:bodyPr/>
                    <a:lstStyle/>
                    <a:p>
                      <a:pPr algn="ctr"/>
                      <a:r>
                        <a:rPr lang="ja-JP" altLang="en-US" sz="2400" b="1">
                          <a:solidFill>
                            <a:srgbClr val="FFFFFF"/>
                          </a:solidFill>
                        </a:rPr>
                        <a:t>Meaning</a:t>
                      </a:r>
                    </a:p>
                  </a:txBody>
                  <a:tcPr marL="76200" marR="76200" marT="12700" marB="12700" anchor="ctr">
                    <a:solidFill>
                      <a:srgbClr val="156082"/>
                    </a:solidFill>
                  </a:tcPr>
                </a:tc>
                <a:tc>
                  <a:txBody>
                    <a:bodyPr/>
                    <a:lstStyle/>
                    <a:p>
                      <a:pPr algn="ctr"/>
                      <a:r>
                        <a:rPr lang="ja-JP" altLang="en-US" sz="2400" b="1">
                          <a:solidFill>
                            <a:srgbClr val="FFFFFF"/>
                          </a:solidFill>
                        </a:rPr>
                        <a:t>Count</a:t>
                      </a:r>
                    </a:p>
                  </a:txBody>
                  <a:tcPr marL="76200" marR="76200" marT="12700" marB="12700" anchor="ctr">
                    <a:solidFill>
                      <a:srgbClr val="156082"/>
                    </a:solidFill>
                  </a:tcPr>
                </a:tc>
                <a:extLst>
                  <a:ext uri="{0D108BD9-81ED-4DB2-BD59-A6C34878D82A}">
                    <a16:rowId xmlns:a16="http://schemas.microsoft.com/office/drawing/2014/main" val="951423518"/>
                  </a:ext>
                </a:extLst>
              </a:tr>
              <a:tr h="419100">
                <a:tc>
                  <a:txBody>
                    <a:bodyPr/>
                    <a:lstStyle/>
                    <a:p>
                      <a:pPr algn="ctr"/>
                      <a:r>
                        <a:rPr lang="ja-JP" altLang="en-US" sz="2400" b="1"/>
                        <a:t>A</a:t>
                      </a:r>
                    </a:p>
                  </a:txBody>
                  <a:tcPr marL="76200" marR="76200" marT="12700" marB="12700" anchor="ctr"/>
                </a:tc>
                <a:tc>
                  <a:txBody>
                    <a:bodyPr/>
                    <a:lstStyle/>
                    <a:p>
                      <a:pPr algn="l"/>
                      <a:r>
                        <a:rPr lang="ja-JP" altLang="en-US" sz="2400"/>
                        <a:t>participant A</a:t>
                      </a:r>
                    </a:p>
                  </a:txBody>
                  <a:tcPr marL="76200" marR="76200" marT="12700" marB="12700" anchor="ctr"/>
                </a:tc>
                <a:tc>
                  <a:txBody>
                    <a:bodyPr/>
                    <a:lstStyle/>
                    <a:p>
                      <a:pPr algn="r"/>
                      <a:r>
                        <a:rPr lang="ja-JP" altLang="en-US" sz="2400"/>
                        <a:t>1,932</a:t>
                      </a:r>
                    </a:p>
                  </a:txBody>
                  <a:tcPr marL="76200" marR="76200" marT="12700" marB="12700" anchor="ctr"/>
                </a:tc>
                <a:extLst>
                  <a:ext uri="{0D108BD9-81ED-4DB2-BD59-A6C34878D82A}">
                    <a16:rowId xmlns:a16="http://schemas.microsoft.com/office/drawing/2014/main" val="688476024"/>
                  </a:ext>
                </a:extLst>
              </a:tr>
              <a:tr h="419100">
                <a:tc>
                  <a:txBody>
                    <a:bodyPr/>
                    <a:lstStyle/>
                    <a:p>
                      <a:pPr algn="ctr"/>
                      <a:r>
                        <a:rPr lang="ja-JP" altLang="en-US" sz="2400" b="1"/>
                        <a:t>B</a:t>
                      </a:r>
                    </a:p>
                  </a:txBody>
                  <a:tcPr marL="76200" marR="76200" marT="12700" marB="12700" anchor="ctr"/>
                </a:tc>
                <a:tc>
                  <a:txBody>
                    <a:bodyPr/>
                    <a:lstStyle/>
                    <a:p>
                      <a:pPr algn="l"/>
                      <a:r>
                        <a:rPr lang="ja-JP" altLang="en-US" sz="2400"/>
                        <a:t>participant B</a:t>
                      </a:r>
                    </a:p>
                  </a:txBody>
                  <a:tcPr marL="76200" marR="76200" marT="12700" marB="12700" anchor="ctr"/>
                </a:tc>
                <a:tc>
                  <a:txBody>
                    <a:bodyPr/>
                    <a:lstStyle/>
                    <a:p>
                      <a:pPr algn="r"/>
                      <a:r>
                        <a:rPr lang="ja-JP" altLang="en-US" sz="2400"/>
                        <a:t>1,390</a:t>
                      </a:r>
                    </a:p>
                  </a:txBody>
                  <a:tcPr marL="76200" marR="76200" marT="12700" marB="12700" anchor="ctr"/>
                </a:tc>
                <a:extLst>
                  <a:ext uri="{0D108BD9-81ED-4DB2-BD59-A6C34878D82A}">
                    <a16:rowId xmlns:a16="http://schemas.microsoft.com/office/drawing/2014/main" val="1712305138"/>
                  </a:ext>
                </a:extLst>
              </a:tr>
              <a:tr h="419100">
                <a:tc>
                  <a:txBody>
                    <a:bodyPr/>
                    <a:lstStyle/>
                    <a:p>
                      <a:pPr algn="ctr"/>
                      <a:r>
                        <a:rPr lang="ja-JP" altLang="en-US" sz="2400" b="1"/>
                        <a:t>C</a:t>
                      </a:r>
                    </a:p>
                  </a:txBody>
                  <a:tcPr marL="76200" marR="76200" marT="12700" marB="12700" anchor="ctr"/>
                </a:tc>
                <a:tc>
                  <a:txBody>
                    <a:bodyPr/>
                    <a:lstStyle/>
                    <a:p>
                      <a:pPr algn="l"/>
                      <a:r>
                        <a:rPr lang="ja-JP" altLang="en-US" sz="2400"/>
                        <a:t>participant C</a:t>
                      </a:r>
                    </a:p>
                  </a:txBody>
                  <a:tcPr marL="76200" marR="76200" marT="12700" marB="12700" anchor="ctr"/>
                </a:tc>
                <a:tc>
                  <a:txBody>
                    <a:bodyPr/>
                    <a:lstStyle/>
                    <a:p>
                      <a:pPr algn="r"/>
                      <a:r>
                        <a:rPr lang="ja-JP" altLang="en-US" sz="2400"/>
                        <a:t>1,751</a:t>
                      </a:r>
                    </a:p>
                  </a:txBody>
                  <a:tcPr marL="76200" marR="76200" marT="12700" marB="12700" anchor="ctr"/>
                </a:tc>
                <a:extLst>
                  <a:ext uri="{0D108BD9-81ED-4DB2-BD59-A6C34878D82A}">
                    <a16:rowId xmlns:a16="http://schemas.microsoft.com/office/drawing/2014/main" val="2929512440"/>
                  </a:ext>
                </a:extLst>
              </a:tr>
              <a:tr h="419100">
                <a:tc>
                  <a:txBody>
                    <a:bodyPr/>
                    <a:lstStyle/>
                    <a:p>
                      <a:pPr algn="ctr"/>
                      <a:r>
                        <a:rPr lang="ja-JP" altLang="en-US" sz="2400" b="1"/>
                        <a:t>E</a:t>
                      </a:r>
                    </a:p>
                  </a:txBody>
                  <a:tcPr marL="76200" marR="76200" marT="12700" marB="12700" anchor="ctr"/>
                </a:tc>
                <a:tc>
                  <a:txBody>
                    <a:bodyPr/>
                    <a:lstStyle/>
                    <a:p>
                      <a:pPr algn="l"/>
                      <a:r>
                        <a:rPr lang="ja-JP" altLang="en-US" sz="2400"/>
                        <a:t>everyone</a:t>
                      </a:r>
                    </a:p>
                  </a:txBody>
                  <a:tcPr marL="76200" marR="76200" marT="12700" marB="12700" anchor="ctr"/>
                </a:tc>
                <a:tc>
                  <a:txBody>
                    <a:bodyPr/>
                    <a:lstStyle/>
                    <a:p>
                      <a:pPr algn="r"/>
                      <a:r>
                        <a:rPr lang="ja-JP" altLang="en-US" sz="2400"/>
                        <a:t>3,529</a:t>
                      </a:r>
                    </a:p>
                  </a:txBody>
                  <a:tcPr marL="76200" marR="76200" marT="12700" marB="12700" anchor="ctr"/>
                </a:tc>
                <a:extLst>
                  <a:ext uri="{0D108BD9-81ED-4DB2-BD59-A6C34878D82A}">
                    <a16:rowId xmlns:a16="http://schemas.microsoft.com/office/drawing/2014/main" val="3817211612"/>
                  </a:ext>
                </a:extLst>
              </a:tr>
              <a:tr h="419100">
                <a:tc>
                  <a:txBody>
                    <a:bodyPr/>
                    <a:lstStyle/>
                    <a:p>
                      <a:pPr algn="ctr"/>
                      <a:r>
                        <a:rPr lang="ja-JP" altLang="en-US" sz="2400" b="1"/>
                        <a:t>W</a:t>
                      </a:r>
                    </a:p>
                  </a:txBody>
                  <a:tcPr marL="76200" marR="76200" marT="12700" marB="12700" anchor="ctr"/>
                </a:tc>
                <a:tc>
                  <a:txBody>
                    <a:bodyPr/>
                    <a:lstStyle/>
                    <a:p>
                      <a:pPr algn="l"/>
                      <a:r>
                        <a:rPr lang="ja-JP" altLang="en-US" sz="2400"/>
                        <a:t>whoever</a:t>
                      </a:r>
                    </a:p>
                  </a:txBody>
                  <a:tcPr marL="76200" marR="76200" marT="12700" marB="12700" anchor="ctr"/>
                </a:tc>
                <a:tc>
                  <a:txBody>
                    <a:bodyPr/>
                    <a:lstStyle/>
                    <a:p>
                      <a:pPr algn="r"/>
                      <a:r>
                        <a:rPr lang="ja-JP" altLang="en-US" sz="2400"/>
                        <a:t>334</a:t>
                      </a:r>
                    </a:p>
                  </a:txBody>
                  <a:tcPr marL="76200" marR="76200" marT="12700" marB="12700" anchor="ctr"/>
                </a:tc>
                <a:extLst>
                  <a:ext uri="{0D108BD9-81ED-4DB2-BD59-A6C34878D82A}">
                    <a16:rowId xmlns:a16="http://schemas.microsoft.com/office/drawing/2014/main" val="189679033"/>
                  </a:ext>
                </a:extLst>
              </a:tr>
              <a:tr h="419100">
                <a:tc>
                  <a:txBody>
                    <a:bodyPr/>
                    <a:lstStyle/>
                    <a:p>
                      <a:pPr algn="ctr"/>
                      <a:r>
                        <a:rPr lang="ja-JP" altLang="en-US" sz="2400" b="1"/>
                        <a:t>N</a:t>
                      </a:r>
                    </a:p>
                  </a:txBody>
                  <a:tcPr marL="76200" marR="76200" marT="12700" marB="12700" anchor="ctr"/>
                </a:tc>
                <a:tc>
                  <a:txBody>
                    <a:bodyPr/>
                    <a:lstStyle/>
                    <a:p>
                      <a:pPr algn="l"/>
                      <a:r>
                        <a:rPr lang="ja-JP" altLang="en-US" sz="2400"/>
                        <a:t>none (monologue)</a:t>
                      </a:r>
                    </a:p>
                  </a:txBody>
                  <a:tcPr marL="76200" marR="76200" marT="12700" marB="12700" anchor="ctr"/>
                </a:tc>
                <a:tc>
                  <a:txBody>
                    <a:bodyPr/>
                    <a:lstStyle/>
                    <a:p>
                      <a:pPr algn="r"/>
                      <a:r>
                        <a:rPr lang="ja-JP" altLang="en-US" sz="2400"/>
                        <a:t>247</a:t>
                      </a:r>
                    </a:p>
                  </a:txBody>
                  <a:tcPr marL="76200" marR="76200" marT="12700" marB="12700" anchor="ctr"/>
                </a:tc>
                <a:extLst>
                  <a:ext uri="{0D108BD9-81ED-4DB2-BD59-A6C34878D82A}">
                    <a16:rowId xmlns:a16="http://schemas.microsoft.com/office/drawing/2014/main" val="3214579011"/>
                  </a:ext>
                </a:extLst>
              </a:tr>
              <a:tr h="419100">
                <a:tc>
                  <a:txBody>
                    <a:bodyPr/>
                    <a:lstStyle/>
                    <a:p>
                      <a:pPr algn="ctr"/>
                      <a:r>
                        <a:rPr lang="ja-JP" altLang="en-US" sz="2400" b="1"/>
                        <a:t>O</a:t>
                      </a:r>
                    </a:p>
                  </a:txBody>
                  <a:tcPr marL="76200" marR="76200" marT="12700" marB="12700" anchor="ctr"/>
                </a:tc>
                <a:tc>
                  <a:txBody>
                    <a:bodyPr/>
                    <a:lstStyle/>
                    <a:p>
                      <a:pPr algn="l"/>
                      <a:r>
                        <a:rPr lang="ja-JP" altLang="en-US" sz="2400"/>
                        <a:t>other (outside)</a:t>
                      </a:r>
                    </a:p>
                  </a:txBody>
                  <a:tcPr marL="76200" marR="76200" marT="12700" marB="12700" anchor="ctr"/>
                </a:tc>
                <a:tc>
                  <a:txBody>
                    <a:bodyPr/>
                    <a:lstStyle/>
                    <a:p>
                      <a:pPr algn="r"/>
                      <a:r>
                        <a:rPr lang="ja-JP" altLang="en-US" sz="2400"/>
                        <a:t>3</a:t>
                      </a:r>
                    </a:p>
                  </a:txBody>
                  <a:tcPr marL="76200" marR="76200" marT="12700" marB="12700" anchor="ctr"/>
                </a:tc>
                <a:extLst>
                  <a:ext uri="{0D108BD9-81ED-4DB2-BD59-A6C34878D82A}">
                    <a16:rowId xmlns:a16="http://schemas.microsoft.com/office/drawing/2014/main" val="4187452198"/>
                  </a:ext>
                </a:extLst>
              </a:tr>
              <a:tr h="419100">
                <a:tc>
                  <a:txBody>
                    <a:bodyPr/>
                    <a:lstStyle/>
                    <a:p>
                      <a:pPr algn="ctr"/>
                      <a:r>
                        <a:rPr lang="ja-JP" altLang="en-US" sz="2400" b="1"/>
                        <a:t>U</a:t>
                      </a:r>
                    </a:p>
                  </a:txBody>
                  <a:tcPr marL="76200" marR="76200" marT="12700" marB="12700" anchor="ctr"/>
                </a:tc>
                <a:tc>
                  <a:txBody>
                    <a:bodyPr/>
                    <a:lstStyle/>
                    <a:p>
                      <a:pPr algn="l"/>
                      <a:r>
                        <a:rPr lang="ja-JP" altLang="en-US" sz="2400"/>
                        <a:t>unknown</a:t>
                      </a:r>
                    </a:p>
                  </a:txBody>
                  <a:tcPr marL="76200" marR="76200" marT="12700" marB="12700" anchor="ctr"/>
                </a:tc>
                <a:tc>
                  <a:txBody>
                    <a:bodyPr/>
                    <a:lstStyle/>
                    <a:p>
                      <a:pPr algn="r"/>
                      <a:r>
                        <a:rPr lang="ja-JP" altLang="en-US" sz="2400"/>
                        <a:t>48</a:t>
                      </a:r>
                    </a:p>
                  </a:txBody>
                  <a:tcPr marL="76200" marR="76200" marT="12700" marB="12700" anchor="ctr"/>
                </a:tc>
                <a:extLst>
                  <a:ext uri="{0D108BD9-81ED-4DB2-BD59-A6C34878D82A}">
                    <a16:rowId xmlns:a16="http://schemas.microsoft.com/office/drawing/2014/main" val="3455924360"/>
                  </a:ext>
                </a:extLst>
              </a:tr>
            </a:tbl>
          </a:graphicData>
        </a:graphic>
      </p:graphicFrame>
      <p:sp>
        <p:nvSpPr>
          <p:cNvPr id="5" name="PageNum">
            <a:extLst>
              <a:ext uri="{FF2B5EF4-FFF2-40B4-BE49-F238E27FC236}">
                <a16:creationId xmlns:a16="http://schemas.microsoft.com/office/drawing/2014/main" id="{440CDE57-6126-3542-8722-0FA0B046C98E}"/>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5 / 14</a:t>
            </a:r>
            <a:endParaRPr lang="ja-JP" altLang="en-US" sz="1600">
              <a:solidFill>
                <a:srgbClr val="7F7F7F"/>
              </a:solidFill>
            </a:endParaRPr>
          </a:p>
        </p:txBody>
      </p:sp>
    </p:spTree>
    <p:extLst>
      <p:ext uri="{BB962C8B-B14F-4D97-AF65-F5344CB8AC3E}">
        <p14:creationId xmlns:p14="http://schemas.microsoft.com/office/powerpoint/2010/main" val="1593465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5DE88F-ADC5-0A2E-F4B5-AAAC0C81B1BE}"/>
              </a:ext>
            </a:extLst>
          </p:cNvPr>
          <p:cNvSpPr>
            <a:spLocks noGrp="1"/>
          </p:cNvSpPr>
          <p:nvPr>
            <p:ph type="title"/>
          </p:nvPr>
        </p:nvSpPr>
        <p:spPr>
          <a:xfrm>
            <a:off x="838200" y="13970"/>
            <a:ext cx="9728200" cy="1311910"/>
          </a:xfrm>
        </p:spPr>
        <p:txBody>
          <a:bodyPr anchor="ctr" anchorCtr="0">
            <a:noAutofit/>
          </a:bodyPr>
          <a:lstStyle/>
          <a:p>
            <a:r>
              <a:rPr kumimoji="1" lang="en" altLang="ja-JP" sz="3000" b="1"/>
              <a:t>Annotators Disagree — Systematically</a:t>
            </a:r>
            <a:endParaRPr kumimoji="1" lang="ja-JP" altLang="en-US" sz="3000" b="1"/>
          </a:p>
        </p:txBody>
      </p:sp>
      <p:sp>
        <p:nvSpPr>
          <p:cNvPr id="3" name="コンテンツ プレースホルダー 2">
            <a:extLst>
              <a:ext uri="{FF2B5EF4-FFF2-40B4-BE49-F238E27FC236}">
                <a16:creationId xmlns:a16="http://schemas.microsoft.com/office/drawing/2014/main" id="{6C763611-ABE3-B75F-F831-9065EAF23AEB}"/>
              </a:ext>
            </a:extLst>
          </p:cNvPr>
          <p:cNvSpPr>
            <a:spLocks noGrp="1"/>
          </p:cNvSpPr>
          <p:nvPr>
            <p:ph idx="1"/>
          </p:nvPr>
        </p:nvSpPr>
        <p:spPr>
          <a:xfrm>
            <a:off x="838200" y="2493010"/>
            <a:ext cx="5588000" cy="3810000"/>
          </a:xfrm>
        </p:spPr>
        <p:txBody>
          <a:bodyPr/>
          <a:lstStyle/>
          <a:p>
            <a:pPr marL="285750" indent="-285750">
              <a:spcBef>
                <a:spcPts val="4400"/>
              </a:spcBef>
              <a:buFont typeface="Arial"/>
              <a:buChar char="•"/>
            </a:pPr>
            <a:r>
              <a:rPr lang="en-US" sz="2400" dirty="0"/>
              <a:t>A / B / C agree with themselves &gt; 50%</a:t>
            </a:r>
          </a:p>
          <a:p>
            <a:pPr marL="285750" indent="-285750">
              <a:spcBef>
                <a:spcPts val="4400"/>
              </a:spcBef>
              <a:buFont typeface="Arial"/>
              <a:buChar char="•"/>
            </a:pPr>
            <a:r>
              <a:rPr lang="en-US" sz="2400" dirty="0"/>
              <a:t>2nd partner is always E (~30%)</a:t>
            </a:r>
          </a:p>
          <a:p>
            <a:pPr marL="285750" indent="-285750">
              <a:spcBef>
                <a:spcPts val="4400"/>
              </a:spcBef>
              <a:buFont typeface="Arial"/>
              <a:buChar char="•"/>
            </a:pPr>
            <a:r>
              <a:rPr lang="en-US" sz="2400" dirty="0"/>
              <a:t>E with itself 45.6%; A/B/C ~15%</a:t>
            </a:r>
          </a:p>
          <a:p>
            <a:pPr marL="285750" indent="-285750">
              <a:spcBef>
                <a:spcPts val="4400"/>
              </a:spcBef>
              <a:buFont typeface="Arial"/>
              <a:buChar char="•"/>
            </a:pPr>
            <a:r>
              <a:rPr lang="en-US" sz="2400" dirty="0"/>
              <a:t>W co-occurs with E, not with itself</a:t>
            </a:r>
          </a:p>
        </p:txBody>
      </p:sp>
      <p:sp>
        <p:nvSpPr>
          <p:cNvPr id="4" name="角丸四角形 3">
            <a:extLst>
              <a:ext uri="{FF2B5EF4-FFF2-40B4-BE49-F238E27FC236}">
                <a16:creationId xmlns:a16="http://schemas.microsoft.com/office/drawing/2014/main" id="{465AE61D-0A86-9043-934B-C3EC53120A40}"/>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Individual vs. group is not a clean line: labels leak into E</a:t>
            </a:r>
          </a:p>
        </p:txBody>
      </p:sp>
      <p:pic>
        <p:nvPicPr>
          <p:cNvPr id="5" name="図 4">
            <a:extLst>
              <a:ext uri="{FF2B5EF4-FFF2-40B4-BE49-F238E27FC236}">
                <a16:creationId xmlns:a16="http://schemas.microsoft.com/office/drawing/2014/main" id="{39339479-D7F3-2F9B-F4D7-FC069F8FBD9B}"/>
              </a:ext>
            </a:extLst>
          </p:cNvPr>
          <p:cNvPicPr>
            <a:picLocks noChangeAspect="1"/>
          </p:cNvPicPr>
          <p:nvPr/>
        </p:nvPicPr>
        <p:blipFill>
          <a:blip r:embed="rId3"/>
          <a:stretch>
            <a:fillRect/>
          </a:stretch>
        </p:blipFill>
        <p:spPr>
          <a:xfrm>
            <a:off x="6540500" y="2514600"/>
            <a:ext cx="4813300" cy="3810000"/>
          </a:xfrm>
          <a:prstGeom prst="rect">
            <a:avLst/>
          </a:prstGeom>
        </p:spPr>
      </p:pic>
      <p:sp>
        <p:nvSpPr>
          <p:cNvPr id="6" name="PageNum">
            <a:extLst>
              <a:ext uri="{FF2B5EF4-FFF2-40B4-BE49-F238E27FC236}">
                <a16:creationId xmlns:a16="http://schemas.microsoft.com/office/drawing/2014/main" id="{012A50D8-95DF-6B42-BAFA-6C177E485880}"/>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6 / 14</a:t>
            </a:r>
            <a:endParaRPr lang="ja-JP" altLang="en-US" sz="1600">
              <a:solidFill>
                <a:srgbClr val="7F7F7F"/>
              </a:solidFill>
            </a:endParaRPr>
          </a:p>
        </p:txBody>
      </p:sp>
    </p:spTree>
    <p:extLst>
      <p:ext uri="{BB962C8B-B14F-4D97-AF65-F5344CB8AC3E}">
        <p14:creationId xmlns:p14="http://schemas.microsoft.com/office/powerpoint/2010/main" val="1406129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rdRBg">
            <a:extLst>
              <a:ext uri="{FF2B5EF4-FFF2-40B4-BE49-F238E27FC236}">
                <a16:creationId xmlns:a16="http://schemas.microsoft.com/office/drawing/2014/main" id="{2563AD88-4C7E-5549-A7C4-1A753110F87F}"/>
              </a:ext>
            </a:extLst>
          </p:cNvPr>
          <p:cNvSpPr/>
          <p:nvPr/>
        </p:nvSpPr>
        <p:spPr>
          <a:xfrm>
            <a:off x="6324600" y="2493010"/>
            <a:ext cx="5029200" cy="3810000"/>
          </a:xfrm>
          <a:prstGeom prst="roundRect">
            <a:avLst>
              <a:gd name="adj" fmla="val 14846"/>
            </a:avLst>
          </a:prstGeom>
          <a:solidFill>
            <a:srgbClr val="F2F5F7"/>
          </a:solidFill>
          <a:ln w="12700" cap="flat" cmpd="sng" algn="ctr">
            <a:solidFill>
              <a:srgbClr val="BFCB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solidFill>
                <a:srgbClr val="1A1A1A"/>
              </a:solidFill>
            </a:endParaRPr>
          </a:p>
        </p:txBody>
      </p:sp>
      <p:sp>
        <p:nvSpPr>
          <p:cNvPr id="4" name="CardLBg">
            <a:extLst>
              <a:ext uri="{FF2B5EF4-FFF2-40B4-BE49-F238E27FC236}">
                <a16:creationId xmlns:a16="http://schemas.microsoft.com/office/drawing/2014/main" id="{69487D66-5193-4547-8AC5-6D28BD12FAC9}"/>
              </a:ext>
            </a:extLst>
          </p:cNvPr>
          <p:cNvSpPr/>
          <p:nvPr/>
        </p:nvSpPr>
        <p:spPr>
          <a:xfrm>
            <a:off x="838200" y="2493010"/>
            <a:ext cx="5029200" cy="3810000"/>
          </a:xfrm>
          <a:prstGeom prst="roundRect">
            <a:avLst>
              <a:gd name="adj" fmla="val 14846"/>
            </a:avLst>
          </a:prstGeom>
          <a:solidFill>
            <a:srgbClr val="F2F5F7"/>
          </a:solidFill>
          <a:ln w="12700" cap="flat" cmpd="sng" algn="ctr">
            <a:solidFill>
              <a:srgbClr val="BFCB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solidFill>
                <a:srgbClr val="1A1A1A"/>
              </a:solidFill>
            </a:endParaRPr>
          </a:p>
        </p:txBody>
      </p:sp>
      <p:sp>
        <p:nvSpPr>
          <p:cNvPr id="2" name="タイトル 1">
            <a:extLst>
              <a:ext uri="{FF2B5EF4-FFF2-40B4-BE49-F238E27FC236}">
                <a16:creationId xmlns:a16="http://schemas.microsoft.com/office/drawing/2014/main" id="{D04B13C7-D12E-99D2-312A-8F922C497CB0}"/>
              </a:ext>
            </a:extLst>
          </p:cNvPr>
          <p:cNvSpPr>
            <a:spLocks noGrp="1"/>
          </p:cNvSpPr>
          <p:nvPr>
            <p:ph type="title"/>
          </p:nvPr>
        </p:nvSpPr>
        <p:spPr>
          <a:xfrm>
            <a:off x="838200" y="13970"/>
            <a:ext cx="9728200" cy="1311910"/>
          </a:xfrm>
        </p:spPr>
        <p:txBody>
          <a:bodyPr anchor="ctr" anchorCtr="0">
            <a:noAutofit/>
          </a:bodyPr>
          <a:lstStyle/>
          <a:p>
            <a:r>
              <a:rPr kumimoji="1" lang="en" altLang="ja-JP" sz="3000" b="1"/>
              <a:t>Two Representations of Addressivity</a:t>
            </a:r>
            <a:endParaRPr kumimoji="1" lang="ja-JP" altLang="en-US" sz="3000" b="1"/>
          </a:p>
        </p:txBody>
      </p:sp>
      <p:sp>
        <p:nvSpPr>
          <p:cNvPr id="3" name="KeyMsg">
            <a:extLst>
              <a:ext uri="{FF2B5EF4-FFF2-40B4-BE49-F238E27FC236}">
                <a16:creationId xmlns:a16="http://schemas.microsoft.com/office/drawing/2014/main" id="{5BADE83F-E8E3-3949-B573-5F6C226AE3C2}"/>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The label gives 0 or 1; the level gives anything in between</a:t>
            </a:r>
          </a:p>
        </p:txBody>
      </p:sp>
      <p:sp>
        <p:nvSpPr>
          <p:cNvPr id="5" name="CardLHdr">
            <a:extLst>
              <a:ext uri="{FF2B5EF4-FFF2-40B4-BE49-F238E27FC236}">
                <a16:creationId xmlns:a16="http://schemas.microsoft.com/office/drawing/2014/main" id="{04B7A8E3-4C7B-7E42-A870-5F90005C4331}"/>
              </a:ext>
            </a:extLst>
          </p:cNvPr>
          <p:cNvSpPr/>
          <p:nvPr/>
        </p:nvSpPr>
        <p:spPr>
          <a:xfrm>
            <a:off x="838200" y="2493010"/>
            <a:ext cx="5029200" cy="584200"/>
          </a:xfrm>
          <a:prstGeom prst="rect">
            <a:avLst/>
          </a:prstGeom>
          <a:solidFill>
            <a:srgbClr val="63636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2400" b="1">
                <a:solidFill>
                  <a:srgbClr val="FFFFFF"/>
                </a:solidFill>
              </a:rPr>
              <a:t>Address LABEL  —  0 or 1</a:t>
            </a:r>
            <a:endParaRPr lang="ja-JP" altLang="en-US" sz="2400" b="1">
              <a:solidFill>
                <a:srgbClr val="FFFFFF"/>
              </a:solidFill>
            </a:endParaRPr>
          </a:p>
        </p:txBody>
      </p:sp>
      <p:sp>
        <p:nvSpPr>
          <p:cNvPr id="6" name="CardLTxt">
            <a:extLst>
              <a:ext uri="{FF2B5EF4-FFF2-40B4-BE49-F238E27FC236}">
                <a16:creationId xmlns:a16="http://schemas.microsoft.com/office/drawing/2014/main" id="{C049DD70-F90D-7E4E-82B7-82C68EB2762A}"/>
              </a:ext>
            </a:extLst>
          </p:cNvPr>
          <p:cNvSpPr txBox="1"/>
          <p:nvPr/>
        </p:nvSpPr>
        <p:spPr>
          <a:xfrm>
            <a:off x="990600" y="3225800"/>
            <a:ext cx="4724400" cy="2971800"/>
          </a:xfrm>
          <a:prstGeom prst="rect">
            <a:avLst/>
          </a:prstGeom>
          <a:noFill/>
        </p:spPr>
        <p:txBody>
          <a:bodyPr vertOverflow="overflow" vert="horz" wrap="square" rtlCol="0" anchor="t">
            <a:noAutofit/>
          </a:bodyPr>
          <a:lstStyle/>
          <a:p>
            <a:pPr marL="285750" indent="-285750">
              <a:spcBef>
                <a:spcPts val="3400"/>
              </a:spcBef>
              <a:buFont typeface="Arial"/>
              <a:buChar char="•"/>
            </a:pPr>
            <a:r>
              <a:rPr lang="en-US" sz="2400" dirty="0">
                <a:solidFill>
                  <a:srgbClr val="1A1A1A"/>
                </a:solidFill>
              </a:rPr>
              <a:t>Merge W into E; drop U</a:t>
            </a:r>
          </a:p>
          <a:p>
            <a:pPr marL="285750" indent="-285750">
              <a:spcBef>
                <a:spcPts val="3400"/>
              </a:spcBef>
              <a:buFont typeface="Arial"/>
              <a:buChar char="•"/>
            </a:pPr>
            <a:r>
              <a:rPr lang="en-US" sz="2400" dirty="0">
                <a:solidFill>
                  <a:srgbClr val="1A1A1A"/>
                </a:solidFill>
              </a:rPr>
              <a:t>Majority vote per turn</a:t>
            </a:r>
          </a:p>
          <a:p>
            <a:pPr marL="285750" indent="-285750">
              <a:spcBef>
                <a:spcPts val="3400"/>
              </a:spcBef>
              <a:buFont typeface="Arial"/>
              <a:buChar char="•"/>
            </a:pPr>
            <a:r>
              <a:rPr lang="en-US" sz="2400" dirty="0">
                <a:solidFill>
                  <a:srgbClr val="1A1A1A"/>
                </a:solidFill>
              </a:rPr>
              <a:t>Listener or E → addressed; otherwise → not addressed</a:t>
            </a:r>
          </a:p>
        </p:txBody>
      </p:sp>
      <p:sp>
        <p:nvSpPr>
          <p:cNvPr id="8" name="CardRHdr">
            <a:extLst>
              <a:ext uri="{FF2B5EF4-FFF2-40B4-BE49-F238E27FC236}">
                <a16:creationId xmlns:a16="http://schemas.microsoft.com/office/drawing/2014/main" id="{531924EE-2A30-5649-B108-20F67B6B5704}"/>
              </a:ext>
            </a:extLst>
          </p:cNvPr>
          <p:cNvSpPr/>
          <p:nvPr/>
        </p:nvSpPr>
        <p:spPr>
          <a:xfrm>
            <a:off x="6324600" y="2493010"/>
            <a:ext cx="5029200" cy="584200"/>
          </a:xfrm>
          <a:prstGeom prst="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 altLang="ja-JP" sz="2400" b="1" dirty="0">
                <a:solidFill>
                  <a:srgbClr val="FFFFFF"/>
                </a:solidFill>
              </a:rPr>
              <a:t>Address LEVEL  —  0 to 1</a:t>
            </a:r>
            <a:endParaRPr lang="ja-JP" altLang="en-US" sz="2400" b="1">
              <a:solidFill>
                <a:srgbClr val="FFFFFF"/>
              </a:solidFill>
            </a:endParaRPr>
          </a:p>
        </p:txBody>
      </p:sp>
      <p:sp>
        <p:nvSpPr>
          <p:cNvPr id="9" name="CardRTxt">
            <a:extLst>
              <a:ext uri="{FF2B5EF4-FFF2-40B4-BE49-F238E27FC236}">
                <a16:creationId xmlns:a16="http://schemas.microsoft.com/office/drawing/2014/main" id="{53887253-5338-614C-8BAB-F6C6A5B603A0}"/>
              </a:ext>
            </a:extLst>
          </p:cNvPr>
          <p:cNvSpPr txBox="1"/>
          <p:nvPr/>
        </p:nvSpPr>
        <p:spPr>
          <a:xfrm>
            <a:off x="6477000" y="3225800"/>
            <a:ext cx="4724400" cy="2971800"/>
          </a:xfrm>
          <a:prstGeom prst="rect">
            <a:avLst/>
          </a:prstGeom>
          <a:noFill/>
        </p:spPr>
        <p:txBody>
          <a:bodyPr vertOverflow="overflow" vert="horz" wrap="square" rtlCol="0" anchor="t">
            <a:noAutofit/>
          </a:bodyPr>
          <a:lstStyle/>
          <a:p>
            <a:pPr marL="285750" indent="-285750">
              <a:spcBef>
                <a:spcPts val="3400"/>
              </a:spcBef>
              <a:buFont typeface="Arial"/>
              <a:buChar char="•"/>
            </a:pPr>
            <a:r>
              <a:rPr lang="en-US" sz="2400" dirty="0">
                <a:solidFill>
                  <a:srgbClr val="1A1A1A"/>
                </a:solidFill>
              </a:rPr>
              <a:t>Latent θ ∈ (0, 1) per listener</a:t>
            </a:r>
          </a:p>
          <a:p>
            <a:pPr marL="285750" indent="-285750">
              <a:spcBef>
                <a:spcPts val="3400"/>
              </a:spcBef>
              <a:buFont typeface="Arial"/>
              <a:buChar char="•"/>
            </a:pPr>
            <a:r>
              <a:rPr lang="en-US" sz="2400" dirty="0">
                <a:solidFill>
                  <a:srgbClr val="1A1A1A"/>
                </a:solidFill>
              </a:rPr>
              <a:t>Ideal points: L1 (1,0), L2 (0,1), E (1,1), N (0,0)</a:t>
            </a:r>
          </a:p>
          <a:p>
            <a:pPr marL="285750" indent="-285750">
              <a:spcBef>
                <a:spcPts val="3400"/>
              </a:spcBef>
              <a:buFont typeface="Arial"/>
              <a:buChar char="•"/>
            </a:pPr>
            <a:r>
              <a:rPr lang="en-US" sz="2400" dirty="0">
                <a:solidFill>
                  <a:srgbClr val="1A1A1A"/>
                </a:solidFill>
              </a:rPr>
              <a:t>Pr = softmax( α − λ ‖θ − v‖² )</a:t>
            </a:r>
          </a:p>
        </p:txBody>
      </p:sp>
      <p:sp>
        <p:nvSpPr>
          <p:cNvPr id="10" name="PageNum">
            <a:extLst>
              <a:ext uri="{FF2B5EF4-FFF2-40B4-BE49-F238E27FC236}">
                <a16:creationId xmlns:a16="http://schemas.microsoft.com/office/drawing/2014/main" id="{1FF7373C-76CA-3941-B769-F6EB3F8DE50E}"/>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7 / 14</a:t>
            </a:r>
            <a:endParaRPr lang="ja-JP" altLang="en-US" sz="1600">
              <a:solidFill>
                <a:srgbClr val="7F7F7F"/>
              </a:solidFill>
            </a:endParaRPr>
          </a:p>
        </p:txBody>
      </p:sp>
    </p:spTree>
    <p:extLst>
      <p:ext uri="{BB962C8B-B14F-4D97-AF65-F5344CB8AC3E}">
        <p14:creationId xmlns:p14="http://schemas.microsoft.com/office/powerpoint/2010/main" val="134962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A15794-0BA6-2B73-FECB-4EC1CAA19CF2}"/>
              </a:ext>
            </a:extLst>
          </p:cNvPr>
          <p:cNvSpPr>
            <a:spLocks noGrp="1"/>
          </p:cNvSpPr>
          <p:nvPr>
            <p:ph type="title"/>
          </p:nvPr>
        </p:nvSpPr>
        <p:spPr>
          <a:xfrm>
            <a:off x="838200" y="13970"/>
            <a:ext cx="9728200" cy="1311910"/>
          </a:xfrm>
        </p:spPr>
        <p:txBody>
          <a:bodyPr anchor="ctr" anchorCtr="0">
            <a:noAutofit/>
          </a:bodyPr>
          <a:lstStyle/>
          <a:p>
            <a:r>
              <a:rPr kumimoji="1" lang="en" altLang="ja-JP" sz="3000" b="1"/>
              <a:t>Distributions of Label and Level</a:t>
            </a:r>
            <a:endParaRPr kumimoji="1" lang="ja-JP" altLang="en-US" sz="3000" b="1"/>
          </a:p>
        </p:txBody>
      </p:sp>
      <p:sp>
        <p:nvSpPr>
          <p:cNvPr id="3" name="角丸四角形 2">
            <a:extLst>
              <a:ext uri="{FF2B5EF4-FFF2-40B4-BE49-F238E27FC236}">
                <a16:creationId xmlns:a16="http://schemas.microsoft.com/office/drawing/2014/main" id="{45F6E171-A751-8B48-96E8-BD7B959F2EB4}"/>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Partially addressed states exist — not only 0 or 1</a:t>
            </a:r>
          </a:p>
        </p:txBody>
      </p:sp>
      <p:sp>
        <p:nvSpPr>
          <p:cNvPr id="4" name="SideTxt">
            <a:extLst>
              <a:ext uri="{FF2B5EF4-FFF2-40B4-BE49-F238E27FC236}">
                <a16:creationId xmlns:a16="http://schemas.microsoft.com/office/drawing/2014/main" id="{1255A658-7CA9-134F-AAA1-1342D8279C42}"/>
              </a:ext>
            </a:extLst>
          </p:cNvPr>
          <p:cNvSpPr txBox="1"/>
          <p:nvPr/>
        </p:nvSpPr>
        <p:spPr>
          <a:xfrm>
            <a:off x="7112000" y="2514600"/>
            <a:ext cx="4241800" cy="3810000"/>
          </a:xfrm>
          <a:prstGeom prst="rect">
            <a:avLst/>
          </a:prstGeom>
          <a:noFill/>
        </p:spPr>
        <p:txBody>
          <a:bodyPr vertOverflow="overflow" vert="horz" wrap="square" rtlCol="0" anchor="t">
            <a:noAutofit/>
          </a:bodyPr>
          <a:lstStyle/>
          <a:p>
            <a:pPr marL="285750" indent="-285750">
              <a:spcBef>
                <a:spcPts val="4600"/>
              </a:spcBef>
              <a:buFont typeface="Arial"/>
              <a:buChar char="•"/>
            </a:pPr>
            <a:r>
              <a:rPr lang="en-US" sz="2400" dirty="0"/>
              <a:t>Label: addressed ≈ 2× not addressed</a:t>
            </a:r>
          </a:p>
          <a:p>
            <a:pPr marL="285750" indent="-285750">
              <a:spcBef>
                <a:spcPts val="4600"/>
              </a:spcBef>
              <a:buFont typeface="Arial"/>
              <a:buChar char="•"/>
            </a:pPr>
            <a:r>
              <a:rPr lang="en-US" sz="2400" dirty="0"/>
              <a:t>Level: mass at 0 and at 1 …</a:t>
            </a:r>
          </a:p>
          <a:p>
            <a:pPr marL="285750" indent="-285750">
              <a:spcBef>
                <a:spcPts val="4600"/>
              </a:spcBef>
              <a:buFont typeface="Arial"/>
              <a:buChar char="•"/>
            </a:pPr>
            <a:r>
              <a:rPr lang="en-US" sz="2400" dirty="0"/>
              <a:t>… but the middle is not empty</a:t>
            </a:r>
          </a:p>
        </p:txBody>
      </p:sp>
      <p:pic>
        <p:nvPicPr>
          <p:cNvPr id="5" name="図 4">
            <a:extLst>
              <a:ext uri="{FF2B5EF4-FFF2-40B4-BE49-F238E27FC236}">
                <a16:creationId xmlns:a16="http://schemas.microsoft.com/office/drawing/2014/main" id="{7B853730-FBCB-1596-1D38-DAF0DA0439F2}"/>
              </a:ext>
            </a:extLst>
          </p:cNvPr>
          <p:cNvPicPr>
            <a:picLocks noChangeAspect="1"/>
          </p:cNvPicPr>
          <p:nvPr/>
        </p:nvPicPr>
        <p:blipFill>
          <a:blip r:embed="rId3"/>
          <a:stretch>
            <a:fillRect/>
          </a:stretch>
        </p:blipFill>
        <p:spPr>
          <a:xfrm>
            <a:off x="787400" y="2540000"/>
            <a:ext cx="6096000" cy="3708400"/>
          </a:xfrm>
          <a:prstGeom prst="rect">
            <a:avLst/>
          </a:prstGeom>
        </p:spPr>
      </p:pic>
      <p:sp>
        <p:nvSpPr>
          <p:cNvPr id="6" name="PageNum">
            <a:extLst>
              <a:ext uri="{FF2B5EF4-FFF2-40B4-BE49-F238E27FC236}">
                <a16:creationId xmlns:a16="http://schemas.microsoft.com/office/drawing/2014/main" id="{7E11C47A-21DF-8C4C-93BB-4AF6EA68ECF5}"/>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8 / 14</a:t>
            </a:r>
            <a:endParaRPr lang="ja-JP" altLang="en-US" sz="1600">
              <a:solidFill>
                <a:srgbClr val="7F7F7F"/>
              </a:solidFill>
            </a:endParaRPr>
          </a:p>
        </p:txBody>
      </p:sp>
    </p:spTree>
    <p:extLst>
      <p:ext uri="{BB962C8B-B14F-4D97-AF65-F5344CB8AC3E}">
        <p14:creationId xmlns:p14="http://schemas.microsoft.com/office/powerpoint/2010/main" val="3771212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3954DA-5683-2665-54B7-98C07D8D6B99}"/>
              </a:ext>
            </a:extLst>
          </p:cNvPr>
          <p:cNvSpPr>
            <a:spLocks noGrp="1"/>
          </p:cNvSpPr>
          <p:nvPr>
            <p:ph type="title"/>
          </p:nvPr>
        </p:nvSpPr>
        <p:spPr>
          <a:xfrm>
            <a:off x="838200" y="13970"/>
            <a:ext cx="9728200" cy="1311910"/>
          </a:xfrm>
        </p:spPr>
        <p:txBody>
          <a:bodyPr anchor="ctr" anchorCtr="0">
            <a:noAutofit/>
          </a:bodyPr>
          <a:lstStyle/>
          <a:p>
            <a:r>
              <a:rPr kumimoji="1" lang="en" altLang="ja-JP" sz="3000" b="1"/>
              <a:t>Statistical Models</a:t>
            </a:r>
            <a:endParaRPr kumimoji="1" lang="ja-JP" altLang="en-US" sz="3000" b="1"/>
          </a:p>
        </p:txBody>
      </p:sp>
      <p:sp>
        <p:nvSpPr>
          <p:cNvPr id="3" name="コンテンツ プレースホルダー 2">
            <a:extLst>
              <a:ext uri="{FF2B5EF4-FFF2-40B4-BE49-F238E27FC236}">
                <a16:creationId xmlns:a16="http://schemas.microsoft.com/office/drawing/2014/main" id="{84BC69F8-1239-766A-E61D-E508E971449D}"/>
              </a:ext>
            </a:extLst>
          </p:cNvPr>
          <p:cNvSpPr>
            <a:spLocks noGrp="1"/>
          </p:cNvSpPr>
          <p:nvPr>
            <p:ph idx="1"/>
          </p:nvPr>
        </p:nvSpPr>
        <p:spPr>
          <a:xfrm>
            <a:off x="838200" y="2493010"/>
            <a:ext cx="10515600" cy="1422400"/>
          </a:xfrm>
        </p:spPr>
        <p:txBody>
          <a:bodyPr/>
          <a:lstStyle/>
          <a:p>
            <a:pPr marL="285750" indent="-285750">
              <a:spcBef>
                <a:spcPts val="900"/>
              </a:spcBef>
              <a:buFont typeface="Arial"/>
              <a:buChar char="•"/>
            </a:pPr>
            <a:r>
              <a:rPr lang="en-US" sz="2400" dirty="0"/>
              <a:t>Bayesian GLMM (brms); fixed effect: address label OR level</a:t>
            </a:r>
          </a:p>
          <a:p>
            <a:pPr marL="285750" indent="-285750">
              <a:spcBef>
                <a:spcPts val="900"/>
              </a:spcBef>
              <a:buFont typeface="Arial"/>
              <a:buChar char="•"/>
            </a:pPr>
            <a:r>
              <a:rPr lang="en-US" sz="2400" dirty="0"/>
              <a:t>Random intercepts: turn, session, speaker, listener</a:t>
            </a:r>
          </a:p>
          <a:p>
            <a:pPr marL="285750" indent="-285750">
              <a:spcBef>
                <a:spcPts val="900"/>
              </a:spcBef>
              <a:buFont typeface="Arial"/>
              <a:buChar char="•"/>
            </a:pPr>
            <a:r>
              <a:rPr lang="en-US" sz="2400" dirty="0"/>
              <a:t>Compared by leave-one-out cross-validation</a:t>
            </a:r>
          </a:p>
        </p:txBody>
      </p:sp>
      <p:sp>
        <p:nvSpPr>
          <p:cNvPr id="4" name="角丸四角形 3">
            <a:extLst>
              <a:ext uri="{FF2B5EF4-FFF2-40B4-BE49-F238E27FC236}">
                <a16:creationId xmlns:a16="http://schemas.microsoft.com/office/drawing/2014/main" id="{CE1D1794-99E1-584F-AAE3-019BAD4E7629}"/>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Label vs. level: same data, compared by predictive fit (ELPD)</a:t>
            </a:r>
          </a:p>
        </p:txBody>
      </p:sp>
      <p:graphicFrame>
        <p:nvGraphicFramePr>
          <p:cNvPr id="6" name="表 5">
            <a:extLst>
              <a:ext uri="{FF2B5EF4-FFF2-40B4-BE49-F238E27FC236}">
                <a16:creationId xmlns:a16="http://schemas.microsoft.com/office/drawing/2014/main" id="{CB581E05-4B33-1045-9A29-04CF165DE318}"/>
              </a:ext>
            </a:extLst>
          </p:cNvPr>
          <p:cNvGraphicFramePr>
            <a:graphicFrameLocks noGrp="1"/>
          </p:cNvGraphicFramePr>
          <p:nvPr/>
        </p:nvGraphicFramePr>
        <p:xfrm>
          <a:off x="838200" y="4064000"/>
          <a:ext cx="10515600" cy="2133600"/>
        </p:xfrm>
        <a:graphic>
          <a:graphicData uri="http://schemas.openxmlformats.org/drawingml/2006/table">
            <a:tbl>
              <a:tblPr firstRow="1" bandRow="1">
                <a:tableStyleId>{5C22544A-7EE6-4342-B048-85BDC9FD1C3A}</a:tableStyleId>
              </a:tblPr>
              <a:tblGrid>
                <a:gridCol w="4521200">
                  <a:extLst>
                    <a:ext uri="{9D8B030D-6E8A-4147-A177-3AD203B41FA5}">
                      <a16:colId xmlns:a16="http://schemas.microsoft.com/office/drawing/2014/main" val="1796996208"/>
                    </a:ext>
                  </a:extLst>
                </a:gridCol>
                <a:gridCol w="3708400">
                  <a:extLst>
                    <a:ext uri="{9D8B030D-6E8A-4147-A177-3AD203B41FA5}">
                      <a16:colId xmlns:a16="http://schemas.microsoft.com/office/drawing/2014/main" val="4141384676"/>
                    </a:ext>
                  </a:extLst>
                </a:gridCol>
                <a:gridCol w="2286000">
                  <a:extLst>
                    <a:ext uri="{9D8B030D-6E8A-4147-A177-3AD203B41FA5}">
                      <a16:colId xmlns:a16="http://schemas.microsoft.com/office/drawing/2014/main" val="1114046639"/>
                    </a:ext>
                  </a:extLst>
                </a:gridCol>
              </a:tblGrid>
              <a:tr h="533400">
                <a:tc>
                  <a:txBody>
                    <a:bodyPr/>
                    <a:lstStyle/>
                    <a:p>
                      <a:pPr algn="l"/>
                      <a:r>
                        <a:rPr lang="ja-JP" altLang="en-US" sz="2400" b="1">
                          <a:solidFill>
                            <a:srgbClr val="FFFFFF"/>
                          </a:solidFill>
                        </a:rPr>
                        <a:t>Outcome (per listener, per turn)</a:t>
                      </a:r>
                    </a:p>
                  </a:txBody>
                  <a:tcPr marL="101600" marR="101600" marT="38100" marB="38100" anchor="ctr">
                    <a:solidFill>
                      <a:srgbClr val="156082"/>
                    </a:solidFill>
                  </a:tcPr>
                </a:tc>
                <a:tc>
                  <a:txBody>
                    <a:bodyPr/>
                    <a:lstStyle/>
                    <a:p>
                      <a:pPr algn="l"/>
                      <a:r>
                        <a:rPr lang="ja-JP" altLang="en-US" sz="2400" b="1">
                          <a:solidFill>
                            <a:srgbClr val="FFFFFF"/>
                          </a:solidFill>
                        </a:rPr>
                        <a:t>Model</a:t>
                      </a:r>
                    </a:p>
                  </a:txBody>
                  <a:tcPr marL="101600" marR="101600" marT="38100" marB="38100" anchor="ctr">
                    <a:solidFill>
                      <a:srgbClr val="156082"/>
                    </a:solidFill>
                  </a:tcPr>
                </a:tc>
                <a:tc>
                  <a:txBody>
                    <a:bodyPr/>
                    <a:lstStyle/>
                    <a:p>
                      <a:pPr algn="r"/>
                      <a:r>
                        <a:rPr lang="ja-JP" altLang="en-US" sz="2400" b="1">
                          <a:solidFill>
                            <a:srgbClr val="FFFFFF"/>
                          </a:solidFill>
                        </a:rPr>
                        <a:t>Observations</a:t>
                      </a:r>
                    </a:p>
                  </a:txBody>
                  <a:tcPr marL="101600" marR="101600" marT="38100" marB="38100" anchor="ctr">
                    <a:solidFill>
                      <a:srgbClr val="156082"/>
                    </a:solidFill>
                  </a:tcPr>
                </a:tc>
                <a:extLst>
                  <a:ext uri="{0D108BD9-81ED-4DB2-BD59-A6C34878D82A}">
                    <a16:rowId xmlns:a16="http://schemas.microsoft.com/office/drawing/2014/main" val="3474260694"/>
                  </a:ext>
                </a:extLst>
              </a:tr>
              <a:tr h="533400">
                <a:tc>
                  <a:txBody>
                    <a:bodyPr/>
                    <a:lstStyle/>
                    <a:p>
                      <a:pPr algn="l"/>
                      <a:r>
                        <a:rPr lang="ja-JP" altLang="en-US" sz="2400"/>
                        <a:t>Became the next speaker</a:t>
                      </a:r>
                    </a:p>
                  </a:txBody>
                  <a:tcPr marL="101600" marR="101600" marT="38100" marB="38100" anchor="ctr"/>
                </a:tc>
                <a:tc>
                  <a:txBody>
                    <a:bodyPr/>
                    <a:lstStyle/>
                    <a:p>
                      <a:pPr algn="l"/>
                      <a:r>
                        <a:rPr lang="ja-JP" altLang="en-US" sz="2400"/>
                        <a:t>Bernoulli (logit)</a:t>
                      </a:r>
                    </a:p>
                  </a:txBody>
                  <a:tcPr marL="101600" marR="101600" marT="38100" marB="38100" anchor="ctr"/>
                </a:tc>
                <a:tc>
                  <a:txBody>
                    <a:bodyPr/>
                    <a:lstStyle/>
                    <a:p>
                      <a:pPr algn="r"/>
                      <a:r>
                        <a:rPr lang="ja-JP" altLang="en-US" sz="2400"/>
                        <a:t>5,820</a:t>
                      </a:r>
                    </a:p>
                  </a:txBody>
                  <a:tcPr marL="101600" marR="101600" marT="38100" marB="38100" anchor="ctr"/>
                </a:tc>
                <a:extLst>
                  <a:ext uri="{0D108BD9-81ED-4DB2-BD59-A6C34878D82A}">
                    <a16:rowId xmlns:a16="http://schemas.microsoft.com/office/drawing/2014/main" val="1910142024"/>
                  </a:ext>
                </a:extLst>
              </a:tr>
              <a:tr h="533400">
                <a:tc>
                  <a:txBody>
                    <a:bodyPr/>
                    <a:lstStyle/>
                    <a:p>
                      <a:pPr algn="l"/>
                      <a:r>
                        <a:rPr lang="ja-JP" altLang="en-US" sz="2400"/>
                        <a:t>Gaze at the current speaker</a:t>
                      </a:r>
                    </a:p>
                  </a:txBody>
                  <a:tcPr marL="101600" marR="101600" marT="38100" marB="38100" anchor="ctr"/>
                </a:tc>
                <a:tc>
                  <a:txBody>
                    <a:bodyPr/>
                    <a:lstStyle/>
                    <a:p>
                      <a:pPr algn="l"/>
                      <a:r>
                        <a:rPr lang="ja-JP" altLang="en-US" sz="2400"/>
                        <a:t>Beta (proportion)</a:t>
                      </a:r>
                    </a:p>
                  </a:txBody>
                  <a:tcPr marL="101600" marR="101600" marT="38100" marB="38100" anchor="ctr"/>
                </a:tc>
                <a:tc>
                  <a:txBody>
                    <a:bodyPr/>
                    <a:lstStyle/>
                    <a:p>
                      <a:pPr algn="r"/>
                      <a:r>
                        <a:rPr lang="ja-JP" altLang="en-US" sz="2400"/>
                        <a:t>5,744</a:t>
                      </a:r>
                    </a:p>
                  </a:txBody>
                  <a:tcPr marL="101600" marR="101600" marT="38100" marB="38100" anchor="ctr"/>
                </a:tc>
                <a:extLst>
                  <a:ext uri="{0D108BD9-81ED-4DB2-BD59-A6C34878D82A}">
                    <a16:rowId xmlns:a16="http://schemas.microsoft.com/office/drawing/2014/main" val="3871210953"/>
                  </a:ext>
                </a:extLst>
              </a:tr>
              <a:tr h="533400">
                <a:tc>
                  <a:txBody>
                    <a:bodyPr/>
                    <a:lstStyle/>
                    <a:p>
                      <a:pPr algn="l"/>
                      <a:r>
                        <a:rPr lang="ja-JP" altLang="en-US" sz="2400"/>
                        <a:t>Number of backchannels</a:t>
                      </a:r>
                    </a:p>
                  </a:txBody>
                  <a:tcPr marL="101600" marR="101600" marT="38100" marB="38100" anchor="ctr"/>
                </a:tc>
                <a:tc>
                  <a:txBody>
                    <a:bodyPr/>
                    <a:lstStyle/>
                    <a:p>
                      <a:pPr algn="l"/>
                      <a:r>
                        <a:rPr lang="ja-JP" altLang="en-US" sz="2400"/>
                        <a:t>Poisson + log(duration)</a:t>
                      </a:r>
                    </a:p>
                  </a:txBody>
                  <a:tcPr marL="101600" marR="101600" marT="38100" marB="38100" anchor="ctr"/>
                </a:tc>
                <a:tc>
                  <a:txBody>
                    <a:bodyPr/>
                    <a:lstStyle/>
                    <a:p>
                      <a:pPr algn="r"/>
                      <a:r>
                        <a:rPr lang="ja-JP" altLang="en-US" sz="2400"/>
                        <a:t>4,920</a:t>
                      </a:r>
                    </a:p>
                  </a:txBody>
                  <a:tcPr marL="101600" marR="101600" marT="38100" marB="38100" anchor="ctr"/>
                </a:tc>
                <a:extLst>
                  <a:ext uri="{0D108BD9-81ED-4DB2-BD59-A6C34878D82A}">
                    <a16:rowId xmlns:a16="http://schemas.microsoft.com/office/drawing/2014/main" val="1446659027"/>
                  </a:ext>
                </a:extLst>
              </a:tr>
            </a:tbl>
          </a:graphicData>
        </a:graphic>
      </p:graphicFrame>
      <p:sp>
        <p:nvSpPr>
          <p:cNvPr id="5" name="PageNum">
            <a:extLst>
              <a:ext uri="{FF2B5EF4-FFF2-40B4-BE49-F238E27FC236}">
                <a16:creationId xmlns:a16="http://schemas.microsoft.com/office/drawing/2014/main" id="{69D5D398-C275-3F4F-9F96-DB9520225999}"/>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9 / 14</a:t>
            </a:r>
            <a:endParaRPr lang="ja-JP" altLang="en-US" sz="1600">
              <a:solidFill>
                <a:srgbClr val="7F7F7F"/>
              </a:solidFill>
            </a:endParaRPr>
          </a:p>
        </p:txBody>
      </p:sp>
    </p:spTree>
    <p:extLst>
      <p:ext uri="{BB962C8B-B14F-4D97-AF65-F5344CB8AC3E}">
        <p14:creationId xmlns:p14="http://schemas.microsoft.com/office/powerpoint/2010/main" val="3780849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B7F277-8F0B-FF8D-FAE3-426A6E76D8B9}"/>
              </a:ext>
            </a:extLst>
          </p:cNvPr>
          <p:cNvSpPr>
            <a:spLocks noGrp="1"/>
          </p:cNvSpPr>
          <p:nvPr>
            <p:ph type="title"/>
          </p:nvPr>
        </p:nvSpPr>
        <p:spPr>
          <a:xfrm>
            <a:off x="838200" y="13970"/>
            <a:ext cx="9728200" cy="1311910"/>
          </a:xfrm>
        </p:spPr>
        <p:txBody>
          <a:bodyPr anchor="ctr" anchorCtr="0">
            <a:noAutofit/>
          </a:bodyPr>
          <a:lstStyle/>
          <a:p>
            <a:r>
              <a:rPr kumimoji="1" lang="en" altLang="ja-JP" sz="3000" b="1"/>
              <a:t>Result 1: Next Speaker</a:t>
            </a:r>
            <a:endParaRPr kumimoji="1" lang="ja-JP" altLang="en-US" sz="3000" b="1"/>
          </a:p>
        </p:txBody>
      </p:sp>
      <p:sp>
        <p:nvSpPr>
          <p:cNvPr id="3" name="角丸四角形 2">
            <a:extLst>
              <a:ext uri="{FF2B5EF4-FFF2-40B4-BE49-F238E27FC236}">
                <a16:creationId xmlns:a16="http://schemas.microsoft.com/office/drawing/2014/main" id="{051B87D0-8663-6B47-81E9-AF390CD5A82A}"/>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Higher addressivity → next speaker; the level fits better</a:t>
            </a:r>
          </a:p>
        </p:txBody>
      </p:sp>
      <p:sp>
        <p:nvSpPr>
          <p:cNvPr id="4" name="SideTxt">
            <a:extLst>
              <a:ext uri="{FF2B5EF4-FFF2-40B4-BE49-F238E27FC236}">
                <a16:creationId xmlns:a16="http://schemas.microsoft.com/office/drawing/2014/main" id="{A55102E6-AA83-D84A-A8CE-2B9D668212E4}"/>
              </a:ext>
            </a:extLst>
          </p:cNvPr>
          <p:cNvSpPr txBox="1"/>
          <p:nvPr/>
        </p:nvSpPr>
        <p:spPr>
          <a:xfrm>
            <a:off x="6705600" y="2514599"/>
            <a:ext cx="4648200" cy="4082143"/>
          </a:xfrm>
          <a:prstGeom prst="rect">
            <a:avLst/>
          </a:prstGeom>
          <a:noFill/>
        </p:spPr>
        <p:txBody>
          <a:bodyPr vertOverflow="overflow" vert="horz" wrap="square" rtlCol="0" anchor="t">
            <a:noAutofit/>
          </a:bodyPr>
          <a:lstStyle/>
          <a:p>
            <a:pPr marL="0" indent="0">
              <a:spcBef>
                <a:spcPts val="0"/>
              </a:spcBef>
              <a:buNone/>
            </a:pPr>
            <a:r>
              <a:rPr lang="en-US" sz="2400" i="1" dirty="0">
                <a:solidFill>
                  <a:srgbClr val="3F3F3F"/>
                </a:solidFill>
              </a:rPr>
              <a:t>left: label  /  right: level</a:t>
            </a:r>
          </a:p>
          <a:p>
            <a:pPr marL="0" indent="0">
              <a:spcBef>
                <a:spcPts val="2600"/>
              </a:spcBef>
              <a:buNone/>
            </a:pPr>
            <a:r>
              <a:rPr lang="en-US" sz="2400" b="1" dirty="0">
                <a:solidFill>
                  <a:srgbClr val="3F3F3F"/>
                </a:solidFill>
              </a:rPr>
              <a:t>Address label</a:t>
            </a:r>
          </a:p>
          <a:p>
            <a:pPr marL="171450" indent="0">
              <a:spcBef>
                <a:spcPts val="300"/>
              </a:spcBef>
              <a:buNone/>
            </a:pPr>
            <a:r>
              <a:rPr lang="en-US" sz="2400" dirty="0"/>
              <a:t>β = 0.72  [0.59, 0.84]</a:t>
            </a:r>
          </a:p>
          <a:p>
            <a:pPr marL="0" indent="0">
              <a:spcBef>
                <a:spcPts val="2600"/>
              </a:spcBef>
              <a:buNone/>
            </a:pPr>
            <a:r>
              <a:rPr lang="en-US" sz="2400" b="1" dirty="0">
                <a:solidFill>
                  <a:srgbClr val="156082"/>
                </a:solidFill>
              </a:rPr>
              <a:t>Address level</a:t>
            </a:r>
          </a:p>
          <a:p>
            <a:pPr marL="171450" indent="0">
              <a:spcBef>
                <a:spcPts val="300"/>
              </a:spcBef>
              <a:buNone/>
            </a:pPr>
            <a:r>
              <a:rPr lang="en-US" sz="2400" dirty="0"/>
              <a:t>β = 1.06  [0.89, 1.23]</a:t>
            </a:r>
          </a:p>
          <a:p>
            <a:pPr marL="0" indent="0">
              <a:spcBef>
                <a:spcPts val="2600"/>
              </a:spcBef>
              <a:buNone/>
            </a:pPr>
            <a:r>
              <a:rPr lang="en-US" sz="2400" dirty="0"/>
              <a:t>ELPD: +14.4 (SE 4.9)</a:t>
            </a:r>
          </a:p>
        </p:txBody>
      </p:sp>
      <p:pic>
        <p:nvPicPr>
          <p:cNvPr id="5" name="図 4">
            <a:extLst>
              <a:ext uri="{FF2B5EF4-FFF2-40B4-BE49-F238E27FC236}">
                <a16:creationId xmlns:a16="http://schemas.microsoft.com/office/drawing/2014/main" id="{E75E7894-D2DF-5187-AB5E-B91E7EEDAE7C}"/>
              </a:ext>
            </a:extLst>
          </p:cNvPr>
          <p:cNvPicPr>
            <a:picLocks noChangeAspect="1"/>
          </p:cNvPicPr>
          <p:nvPr/>
        </p:nvPicPr>
        <p:blipFill>
          <a:blip r:embed="rId3"/>
          <a:stretch>
            <a:fillRect/>
          </a:stretch>
        </p:blipFill>
        <p:spPr>
          <a:xfrm>
            <a:off x="838200" y="2603500"/>
            <a:ext cx="5689600" cy="3467100"/>
          </a:xfrm>
          <a:prstGeom prst="rect">
            <a:avLst/>
          </a:prstGeom>
        </p:spPr>
      </p:pic>
      <p:sp>
        <p:nvSpPr>
          <p:cNvPr id="6" name="PageNum">
            <a:extLst>
              <a:ext uri="{FF2B5EF4-FFF2-40B4-BE49-F238E27FC236}">
                <a16:creationId xmlns:a16="http://schemas.microsoft.com/office/drawing/2014/main" id="{228FA1F2-B5F1-FF48-A5A7-82C0AF3F2E29}"/>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10 / 14</a:t>
            </a:r>
            <a:endParaRPr lang="ja-JP" altLang="en-US" sz="1600">
              <a:solidFill>
                <a:srgbClr val="7F7F7F"/>
              </a:solidFill>
            </a:endParaRPr>
          </a:p>
        </p:txBody>
      </p:sp>
    </p:spTree>
    <p:extLst>
      <p:ext uri="{BB962C8B-B14F-4D97-AF65-F5344CB8AC3E}">
        <p14:creationId xmlns:p14="http://schemas.microsoft.com/office/powerpoint/2010/main" val="1026248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4732D1-65AA-5DBF-6B44-289F09F981BA}"/>
              </a:ext>
            </a:extLst>
          </p:cNvPr>
          <p:cNvSpPr>
            <a:spLocks noGrp="1"/>
          </p:cNvSpPr>
          <p:nvPr>
            <p:ph type="title"/>
          </p:nvPr>
        </p:nvSpPr>
        <p:spPr>
          <a:xfrm>
            <a:off x="838200" y="13970"/>
            <a:ext cx="9728200" cy="1311910"/>
          </a:xfrm>
        </p:spPr>
        <p:txBody>
          <a:bodyPr anchor="ctr" anchorCtr="0">
            <a:noAutofit/>
          </a:bodyPr>
          <a:lstStyle/>
          <a:p>
            <a:r>
              <a:rPr kumimoji="1" lang="en" altLang="ja-JP" sz="3000" b="1"/>
              <a:t>Result 2: Listener Gaze</a:t>
            </a:r>
            <a:endParaRPr kumimoji="1" lang="ja-JP" altLang="en-US" sz="3000" b="1"/>
          </a:p>
        </p:txBody>
      </p:sp>
      <p:sp>
        <p:nvSpPr>
          <p:cNvPr id="3" name="角丸四角形 2">
            <a:extLst>
              <a:ext uri="{FF2B5EF4-FFF2-40B4-BE49-F238E27FC236}">
                <a16:creationId xmlns:a16="http://schemas.microsoft.com/office/drawing/2014/main" id="{720997EC-5E68-C746-A815-463327579D70}"/>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Higher addressivity → longer gaze; the largest gain of the three</a:t>
            </a:r>
          </a:p>
        </p:txBody>
      </p:sp>
      <p:sp>
        <p:nvSpPr>
          <p:cNvPr id="4" name="SideTxt">
            <a:extLst>
              <a:ext uri="{FF2B5EF4-FFF2-40B4-BE49-F238E27FC236}">
                <a16:creationId xmlns:a16="http://schemas.microsoft.com/office/drawing/2014/main" id="{91F7A6A9-A2C9-934E-AC5E-EE4B347B377F}"/>
              </a:ext>
            </a:extLst>
          </p:cNvPr>
          <p:cNvSpPr txBox="1"/>
          <p:nvPr/>
        </p:nvSpPr>
        <p:spPr>
          <a:xfrm>
            <a:off x="6705600" y="2514600"/>
            <a:ext cx="4648200" cy="3810000"/>
          </a:xfrm>
          <a:prstGeom prst="rect">
            <a:avLst/>
          </a:prstGeom>
          <a:noFill/>
        </p:spPr>
        <p:txBody>
          <a:bodyPr vertOverflow="overflow" vert="horz" wrap="square" rtlCol="0" anchor="t">
            <a:noAutofit/>
          </a:bodyPr>
          <a:lstStyle/>
          <a:p>
            <a:pPr marL="0" indent="0">
              <a:spcBef>
                <a:spcPts val="0"/>
              </a:spcBef>
              <a:buNone/>
            </a:pPr>
            <a:r>
              <a:rPr lang="en-US" sz="2400" i="1" dirty="0">
                <a:solidFill>
                  <a:srgbClr val="3F3F3F"/>
                </a:solidFill>
              </a:rPr>
              <a:t>left: label  /  right: level</a:t>
            </a:r>
          </a:p>
          <a:p>
            <a:pPr marL="0" indent="0">
              <a:spcBef>
                <a:spcPts val="2600"/>
              </a:spcBef>
              <a:buNone/>
            </a:pPr>
            <a:r>
              <a:rPr lang="en-US" sz="2400" b="1" dirty="0">
                <a:solidFill>
                  <a:srgbClr val="3F3F3F"/>
                </a:solidFill>
              </a:rPr>
              <a:t>Address label</a:t>
            </a:r>
          </a:p>
          <a:p>
            <a:pPr marL="171450" indent="0">
              <a:spcBef>
                <a:spcPts val="300"/>
              </a:spcBef>
              <a:buNone/>
            </a:pPr>
            <a:r>
              <a:rPr lang="en-US" sz="2400" dirty="0"/>
              <a:t>β = 0.77  [0.69, 0.85]</a:t>
            </a:r>
          </a:p>
          <a:p>
            <a:pPr marL="0" indent="0">
              <a:spcBef>
                <a:spcPts val="2600"/>
              </a:spcBef>
              <a:buNone/>
            </a:pPr>
            <a:r>
              <a:rPr lang="en-US" sz="2400" b="1" dirty="0">
                <a:solidFill>
                  <a:srgbClr val="156082"/>
                </a:solidFill>
              </a:rPr>
              <a:t>Address level</a:t>
            </a:r>
          </a:p>
          <a:p>
            <a:pPr marL="171450" indent="0">
              <a:spcBef>
                <a:spcPts val="300"/>
              </a:spcBef>
              <a:buNone/>
            </a:pPr>
            <a:r>
              <a:rPr lang="en-US" sz="2400" dirty="0"/>
              <a:t>β = 1.15  [1.04, 1.26]</a:t>
            </a:r>
          </a:p>
          <a:p>
            <a:pPr marL="0" indent="0">
              <a:spcBef>
                <a:spcPts val="2600"/>
              </a:spcBef>
              <a:buNone/>
            </a:pPr>
            <a:r>
              <a:rPr lang="en-US" sz="2400" dirty="0"/>
              <a:t>ELPD: +39.2 (SE 7.9)</a:t>
            </a:r>
          </a:p>
        </p:txBody>
      </p:sp>
      <p:pic>
        <p:nvPicPr>
          <p:cNvPr id="5" name="図 4">
            <a:extLst>
              <a:ext uri="{FF2B5EF4-FFF2-40B4-BE49-F238E27FC236}">
                <a16:creationId xmlns:a16="http://schemas.microsoft.com/office/drawing/2014/main" id="{9760F2B6-0F83-2E42-43F9-B7E70BB0554E}"/>
              </a:ext>
            </a:extLst>
          </p:cNvPr>
          <p:cNvPicPr>
            <a:picLocks noChangeAspect="1"/>
          </p:cNvPicPr>
          <p:nvPr/>
        </p:nvPicPr>
        <p:blipFill>
          <a:blip r:embed="rId3"/>
          <a:stretch>
            <a:fillRect/>
          </a:stretch>
        </p:blipFill>
        <p:spPr>
          <a:xfrm>
            <a:off x="838200" y="2603500"/>
            <a:ext cx="5689600" cy="3467100"/>
          </a:xfrm>
          <a:prstGeom prst="rect">
            <a:avLst/>
          </a:prstGeom>
        </p:spPr>
      </p:pic>
      <p:sp>
        <p:nvSpPr>
          <p:cNvPr id="6" name="PageNum">
            <a:extLst>
              <a:ext uri="{FF2B5EF4-FFF2-40B4-BE49-F238E27FC236}">
                <a16:creationId xmlns:a16="http://schemas.microsoft.com/office/drawing/2014/main" id="{9530B713-13FF-5148-841D-005ABCCFCBD4}"/>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11 / 14</a:t>
            </a:r>
            <a:endParaRPr lang="ja-JP" altLang="en-US" sz="1600">
              <a:solidFill>
                <a:srgbClr val="7F7F7F"/>
              </a:solidFill>
            </a:endParaRPr>
          </a:p>
        </p:txBody>
      </p:sp>
    </p:spTree>
    <p:extLst>
      <p:ext uri="{BB962C8B-B14F-4D97-AF65-F5344CB8AC3E}">
        <p14:creationId xmlns:p14="http://schemas.microsoft.com/office/powerpoint/2010/main" val="513737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5BACFD-EF4C-D84B-476B-E7DF0656F0C8}"/>
              </a:ext>
            </a:extLst>
          </p:cNvPr>
          <p:cNvSpPr>
            <a:spLocks noGrp="1"/>
          </p:cNvSpPr>
          <p:nvPr>
            <p:ph type="title"/>
          </p:nvPr>
        </p:nvSpPr>
        <p:spPr>
          <a:xfrm>
            <a:off x="838200" y="13970"/>
            <a:ext cx="9728200" cy="1311910"/>
          </a:xfrm>
        </p:spPr>
        <p:txBody>
          <a:bodyPr anchor="ctr" anchorCtr="0">
            <a:noAutofit/>
          </a:bodyPr>
          <a:lstStyle/>
          <a:p>
            <a:r>
              <a:rPr kumimoji="1" lang="en" altLang="ja-JP" sz="3000" b="1"/>
              <a:t>Result 3: Backchannels</a:t>
            </a:r>
            <a:endParaRPr kumimoji="1" lang="ja-JP" altLang="en-US" sz="3000" b="1"/>
          </a:p>
        </p:txBody>
      </p:sp>
      <p:sp>
        <p:nvSpPr>
          <p:cNvPr id="3" name="角丸四角形 2">
            <a:extLst>
              <a:ext uri="{FF2B5EF4-FFF2-40B4-BE49-F238E27FC236}">
                <a16:creationId xmlns:a16="http://schemas.microsoft.com/office/drawing/2014/main" id="{F2B2F1EE-0BC0-2D41-895B-E9A42952F75C}"/>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Higher addressivity → more backchannels, but other factors too</a:t>
            </a:r>
          </a:p>
        </p:txBody>
      </p:sp>
      <p:sp>
        <p:nvSpPr>
          <p:cNvPr id="4" name="SideTxt">
            <a:extLst>
              <a:ext uri="{FF2B5EF4-FFF2-40B4-BE49-F238E27FC236}">
                <a16:creationId xmlns:a16="http://schemas.microsoft.com/office/drawing/2014/main" id="{F0500657-5DAA-B443-A173-8970188794E9}"/>
              </a:ext>
            </a:extLst>
          </p:cNvPr>
          <p:cNvSpPr txBox="1"/>
          <p:nvPr/>
        </p:nvSpPr>
        <p:spPr>
          <a:xfrm>
            <a:off x="6705600" y="2514600"/>
            <a:ext cx="4648200" cy="3810000"/>
          </a:xfrm>
          <a:prstGeom prst="rect">
            <a:avLst/>
          </a:prstGeom>
          <a:noFill/>
        </p:spPr>
        <p:txBody>
          <a:bodyPr vertOverflow="overflow" vert="horz" wrap="square" rtlCol="0" anchor="t">
            <a:noAutofit/>
          </a:bodyPr>
          <a:lstStyle/>
          <a:p>
            <a:pPr marL="0" indent="0">
              <a:spcBef>
                <a:spcPts val="0"/>
              </a:spcBef>
              <a:buNone/>
            </a:pPr>
            <a:r>
              <a:rPr lang="en-US" sz="2400" i="1" dirty="0">
                <a:solidFill>
                  <a:srgbClr val="3F3F3F"/>
                </a:solidFill>
              </a:rPr>
              <a:t>left: label  /  right: level</a:t>
            </a:r>
          </a:p>
          <a:p>
            <a:pPr marL="0" indent="0">
              <a:spcBef>
                <a:spcPts val="2600"/>
              </a:spcBef>
              <a:buNone/>
            </a:pPr>
            <a:r>
              <a:rPr lang="en-US" sz="2400" b="1" dirty="0">
                <a:solidFill>
                  <a:srgbClr val="3F3F3F"/>
                </a:solidFill>
              </a:rPr>
              <a:t>Address label</a:t>
            </a:r>
          </a:p>
          <a:p>
            <a:pPr marL="171450" indent="0">
              <a:spcBef>
                <a:spcPts val="300"/>
              </a:spcBef>
              <a:buNone/>
            </a:pPr>
            <a:r>
              <a:rPr lang="en-US" sz="2400" dirty="0"/>
              <a:t>β = 0.18  [0.08, 0.28]</a:t>
            </a:r>
          </a:p>
          <a:p>
            <a:pPr marL="0" indent="0">
              <a:spcBef>
                <a:spcPts val="2600"/>
              </a:spcBef>
              <a:buNone/>
            </a:pPr>
            <a:r>
              <a:rPr lang="en-US" sz="2400" b="1" dirty="0">
                <a:solidFill>
                  <a:srgbClr val="156082"/>
                </a:solidFill>
              </a:rPr>
              <a:t>Address level</a:t>
            </a:r>
          </a:p>
          <a:p>
            <a:pPr marL="171450" indent="0">
              <a:spcBef>
                <a:spcPts val="300"/>
              </a:spcBef>
              <a:buNone/>
            </a:pPr>
            <a:r>
              <a:rPr lang="en-US" sz="2400" dirty="0"/>
              <a:t>β = 0.31  [0.17, 0.45]</a:t>
            </a:r>
          </a:p>
          <a:p>
            <a:pPr marL="0" indent="0">
              <a:spcBef>
                <a:spcPts val="2600"/>
              </a:spcBef>
              <a:buNone/>
            </a:pPr>
            <a:r>
              <a:rPr lang="en-US" sz="2400" dirty="0"/>
              <a:t>ELPD: +3.5 (SE 1.6)  — smallest</a:t>
            </a:r>
          </a:p>
        </p:txBody>
      </p:sp>
      <p:pic>
        <p:nvPicPr>
          <p:cNvPr id="5" name="図 4">
            <a:extLst>
              <a:ext uri="{FF2B5EF4-FFF2-40B4-BE49-F238E27FC236}">
                <a16:creationId xmlns:a16="http://schemas.microsoft.com/office/drawing/2014/main" id="{1E481A76-7291-E974-C07B-ECCC97D11587}"/>
              </a:ext>
            </a:extLst>
          </p:cNvPr>
          <p:cNvPicPr>
            <a:picLocks noChangeAspect="1"/>
          </p:cNvPicPr>
          <p:nvPr/>
        </p:nvPicPr>
        <p:blipFill>
          <a:blip r:embed="rId3"/>
          <a:stretch>
            <a:fillRect/>
          </a:stretch>
        </p:blipFill>
        <p:spPr>
          <a:xfrm>
            <a:off x="838200" y="2603500"/>
            <a:ext cx="5689600" cy="3467100"/>
          </a:xfrm>
          <a:prstGeom prst="rect">
            <a:avLst/>
          </a:prstGeom>
        </p:spPr>
      </p:pic>
      <p:sp>
        <p:nvSpPr>
          <p:cNvPr id="6" name="PageNum">
            <a:extLst>
              <a:ext uri="{FF2B5EF4-FFF2-40B4-BE49-F238E27FC236}">
                <a16:creationId xmlns:a16="http://schemas.microsoft.com/office/drawing/2014/main" id="{9E653F08-5A18-5F43-82B2-54A7A225FAE2}"/>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12 / 14</a:t>
            </a:r>
            <a:endParaRPr lang="ja-JP" altLang="en-US" sz="1600">
              <a:solidFill>
                <a:srgbClr val="7F7F7F"/>
              </a:solidFill>
            </a:endParaRPr>
          </a:p>
        </p:txBody>
      </p:sp>
    </p:spTree>
    <p:extLst>
      <p:ext uri="{BB962C8B-B14F-4D97-AF65-F5344CB8AC3E}">
        <p14:creationId xmlns:p14="http://schemas.microsoft.com/office/powerpoint/2010/main" val="2266416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9A0759-DDAB-1319-D76A-4FE6637415D4}"/>
              </a:ext>
            </a:extLst>
          </p:cNvPr>
          <p:cNvSpPr>
            <a:spLocks noGrp="1"/>
          </p:cNvSpPr>
          <p:nvPr>
            <p:ph type="title"/>
          </p:nvPr>
        </p:nvSpPr>
        <p:spPr>
          <a:xfrm>
            <a:off x="838200" y="13970"/>
            <a:ext cx="9728200" cy="1311910"/>
          </a:xfrm>
        </p:spPr>
        <p:txBody>
          <a:bodyPr anchor="ctr" anchorCtr="0">
            <a:noAutofit/>
          </a:bodyPr>
          <a:lstStyle/>
          <a:p>
            <a:r>
              <a:rPr kumimoji="1" lang="en" altLang="ja-JP" sz="3000" b="1"/>
              <a:t>Qualitative Example: Double Address</a:t>
            </a:r>
            <a:endParaRPr kumimoji="1" lang="ja-JP" altLang="en-US" sz="3000" b="1"/>
          </a:p>
        </p:txBody>
      </p:sp>
      <p:sp>
        <p:nvSpPr>
          <p:cNvPr id="3" name="角丸四角形 2">
            <a:extLst>
              <a:ext uri="{FF2B5EF4-FFF2-40B4-BE49-F238E27FC236}">
                <a16:creationId xmlns:a16="http://schemas.microsoft.com/office/drawing/2014/main" id="{C5C42DBD-73DC-2546-B0D8-05E948AD95DE}"/>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One answer serves two questions: primary C, weaker B</a:t>
            </a:r>
          </a:p>
        </p:txBody>
      </p:sp>
      <p:sp>
        <p:nvSpPr>
          <p:cNvPr id="4" name="L1Bg">
            <a:extLst>
              <a:ext uri="{FF2B5EF4-FFF2-40B4-BE49-F238E27FC236}">
                <a16:creationId xmlns:a16="http://schemas.microsoft.com/office/drawing/2014/main" id="{E4D991A3-FC5F-B846-BF49-BFAF711C1D59}"/>
              </a:ext>
            </a:extLst>
          </p:cNvPr>
          <p:cNvSpPr/>
          <p:nvPr/>
        </p:nvSpPr>
        <p:spPr>
          <a:xfrm>
            <a:off x="838200" y="2514600"/>
            <a:ext cx="6019800" cy="1168400"/>
          </a:xfrm>
          <a:prstGeom prst="roundRect">
            <a:avLst/>
          </a:prstGeom>
          <a:solidFill>
            <a:srgbClr val="F2F5F7"/>
          </a:solidFill>
          <a:ln w="12700" cap="flat" cmpd="sng" algn="ctr">
            <a:solidFill>
              <a:srgbClr val="1F618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solidFill>
                <a:srgbClr val="1A1A1A"/>
              </a:solidFill>
            </a:endParaRPr>
          </a:p>
        </p:txBody>
      </p:sp>
      <p:sp>
        <p:nvSpPr>
          <p:cNvPr id="5" name="L1Txt">
            <a:extLst>
              <a:ext uri="{FF2B5EF4-FFF2-40B4-BE49-F238E27FC236}">
                <a16:creationId xmlns:a16="http://schemas.microsoft.com/office/drawing/2014/main" id="{BDEBA61F-276C-F14A-BB9F-36D907BE4423}"/>
              </a:ext>
            </a:extLst>
          </p:cNvPr>
          <p:cNvSpPr txBox="1"/>
          <p:nvPr/>
        </p:nvSpPr>
        <p:spPr>
          <a:xfrm>
            <a:off x="1016000" y="2616200"/>
            <a:ext cx="5664200" cy="965200"/>
          </a:xfrm>
          <a:prstGeom prst="rect">
            <a:avLst/>
          </a:prstGeom>
          <a:noFill/>
        </p:spPr>
        <p:txBody>
          <a:bodyPr vertOverflow="overflow" vert="horz" wrap="square" rtlCol="0" anchor="ctr" anchorCtr="0">
            <a:noAutofit/>
          </a:bodyPr>
          <a:lstStyle/>
          <a:p>
            <a:pPr>
              <a:spcBef>
                <a:spcPts val="0"/>
              </a:spcBef>
            </a:pPr>
            <a:r>
              <a:rPr lang="en-US" sz="2400" b="1" dirty="0">
                <a:solidFill>
                  <a:srgbClr val="1F6182"/>
                </a:solidFill>
              </a:rPr>
              <a:t>01  C:</a:t>
            </a:r>
            <a:r>
              <a:rPr lang="en-US" sz="2400" b="1" i="1" dirty="0">
                <a:solidFill>
                  <a:srgbClr val="1F6182"/>
                </a:solidFill>
              </a:rPr>
              <a:t>  </a:t>
            </a:r>
            <a:r>
              <a:rPr lang="en-US" sz="2400" b="1" dirty="0">
                <a:solidFill>
                  <a:srgbClr val="1F6182"/>
                </a:solidFill>
              </a:rPr>
              <a:t>What were we to do in Tokyo?</a:t>
            </a:r>
          </a:p>
          <a:p>
            <a:pPr>
              <a:spcBef>
                <a:spcPts val="0"/>
              </a:spcBef>
            </a:pPr>
            <a:r>
              <a:rPr lang="en-US" altLang="ja-JP" sz="2400" i="1" dirty="0">
                <a:solidFill>
                  <a:srgbClr val="3F3F3F"/>
                </a:solidFill>
              </a:rPr>
              <a:t>            gazing at B</a:t>
            </a:r>
            <a:endParaRPr lang="en-US" sz="2400" dirty="0">
              <a:solidFill>
                <a:srgbClr val="1A1A1A"/>
              </a:solidFill>
            </a:endParaRPr>
          </a:p>
        </p:txBody>
      </p:sp>
      <p:sp>
        <p:nvSpPr>
          <p:cNvPr id="6" name="L2Bg">
            <a:extLst>
              <a:ext uri="{FF2B5EF4-FFF2-40B4-BE49-F238E27FC236}">
                <a16:creationId xmlns:a16="http://schemas.microsoft.com/office/drawing/2014/main" id="{FBC1BC03-409D-9546-97E1-380B4B174F18}"/>
              </a:ext>
            </a:extLst>
          </p:cNvPr>
          <p:cNvSpPr/>
          <p:nvPr/>
        </p:nvSpPr>
        <p:spPr>
          <a:xfrm>
            <a:off x="838200" y="3784600"/>
            <a:ext cx="6019800" cy="1168400"/>
          </a:xfrm>
          <a:prstGeom prst="roundRect">
            <a:avLst/>
          </a:prstGeom>
          <a:solidFill>
            <a:srgbClr val="F2F5F7"/>
          </a:solidFill>
          <a:ln w="12700" cap="flat" cmpd="sng" algn="ctr">
            <a:solidFill>
              <a:srgbClr val="1F618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solidFill>
                <a:srgbClr val="1A1A1A"/>
              </a:solidFill>
            </a:endParaRPr>
          </a:p>
        </p:txBody>
      </p:sp>
      <p:sp>
        <p:nvSpPr>
          <p:cNvPr id="7" name="L2Txt">
            <a:extLst>
              <a:ext uri="{FF2B5EF4-FFF2-40B4-BE49-F238E27FC236}">
                <a16:creationId xmlns:a16="http://schemas.microsoft.com/office/drawing/2014/main" id="{D18BD74F-5705-0445-8A56-1C0FAB24A674}"/>
              </a:ext>
            </a:extLst>
          </p:cNvPr>
          <p:cNvSpPr txBox="1"/>
          <p:nvPr/>
        </p:nvSpPr>
        <p:spPr>
          <a:xfrm>
            <a:off x="1016000" y="3886200"/>
            <a:ext cx="5664200" cy="965200"/>
          </a:xfrm>
          <a:prstGeom prst="rect">
            <a:avLst/>
          </a:prstGeom>
          <a:noFill/>
        </p:spPr>
        <p:txBody>
          <a:bodyPr vertOverflow="overflow" vert="horz" wrap="square" rtlCol="0" anchor="ctr" anchorCtr="0">
            <a:noAutofit/>
          </a:bodyPr>
          <a:lstStyle/>
          <a:p>
            <a:pPr>
              <a:spcBef>
                <a:spcPts val="0"/>
              </a:spcBef>
            </a:pPr>
            <a:r>
              <a:rPr lang="en-US" sz="2400" b="1" dirty="0">
                <a:solidFill>
                  <a:srgbClr val="1F6182"/>
                </a:solidFill>
              </a:rPr>
              <a:t>02  B:  Was there something to do?</a:t>
            </a:r>
          </a:p>
          <a:p>
            <a:pPr>
              <a:spcBef>
                <a:spcPts val="0"/>
              </a:spcBef>
            </a:pPr>
            <a:r>
              <a:rPr lang="en-US" altLang="ja-JP" sz="2400" i="1" dirty="0">
                <a:solidFill>
                  <a:srgbClr val="3F3F3F"/>
                </a:solidFill>
              </a:rPr>
              <a:t>            gazing at A</a:t>
            </a:r>
            <a:endParaRPr lang="en-US" sz="2400" dirty="0">
              <a:solidFill>
                <a:srgbClr val="1A1A1A"/>
              </a:solidFill>
            </a:endParaRPr>
          </a:p>
        </p:txBody>
      </p:sp>
      <p:sp>
        <p:nvSpPr>
          <p:cNvPr id="8" name="L3Bg">
            <a:extLst>
              <a:ext uri="{FF2B5EF4-FFF2-40B4-BE49-F238E27FC236}">
                <a16:creationId xmlns:a16="http://schemas.microsoft.com/office/drawing/2014/main" id="{D148AB2C-61D2-8C49-874F-AEC94ADDFB6B}"/>
              </a:ext>
            </a:extLst>
          </p:cNvPr>
          <p:cNvSpPr/>
          <p:nvPr/>
        </p:nvSpPr>
        <p:spPr>
          <a:xfrm>
            <a:off x="838200" y="5054600"/>
            <a:ext cx="6019800" cy="1168400"/>
          </a:xfrm>
          <a:prstGeom prst="roundRect">
            <a:avLst/>
          </a:prstGeom>
          <a:solidFill>
            <a:schemeClr val="accent2">
              <a:lumMod val="20000"/>
              <a:lumOff val="80000"/>
            </a:schemeClr>
          </a:solidFill>
          <a:ln w="12700" cap="flat" cmpd="sng" algn="ctr">
            <a:solidFill>
              <a:srgbClr val="EA713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solidFill>
                <a:srgbClr val="1A1A1A"/>
              </a:solidFill>
            </a:endParaRPr>
          </a:p>
        </p:txBody>
      </p:sp>
      <p:sp>
        <p:nvSpPr>
          <p:cNvPr id="9" name="L3Txt">
            <a:extLst>
              <a:ext uri="{FF2B5EF4-FFF2-40B4-BE49-F238E27FC236}">
                <a16:creationId xmlns:a16="http://schemas.microsoft.com/office/drawing/2014/main" id="{2FCAD64E-E228-744D-B89F-2E5870292B47}"/>
              </a:ext>
            </a:extLst>
          </p:cNvPr>
          <p:cNvSpPr txBox="1"/>
          <p:nvPr/>
        </p:nvSpPr>
        <p:spPr>
          <a:xfrm>
            <a:off x="1016000" y="5156200"/>
            <a:ext cx="5664200" cy="965200"/>
          </a:xfrm>
          <a:prstGeom prst="rect">
            <a:avLst/>
          </a:prstGeom>
          <a:noFill/>
        </p:spPr>
        <p:txBody>
          <a:bodyPr vertOverflow="overflow" vert="horz" wrap="square" rtlCol="0" anchor="ctr" anchorCtr="0">
            <a:noAutofit/>
          </a:bodyPr>
          <a:lstStyle/>
          <a:p>
            <a:r>
              <a:rPr lang="en-US" sz="2400" b="1" dirty="0">
                <a:solidFill>
                  <a:srgbClr val="EA7131"/>
                </a:solidFill>
              </a:rPr>
              <a:t>03  A:  </a:t>
            </a:r>
            <a:r>
              <a:rPr lang="en-US" altLang="ja-JP" sz="2400" b="1" dirty="0">
                <a:solidFill>
                  <a:srgbClr val="EA7131"/>
                </a:solidFill>
              </a:rPr>
              <a:t>Shopping.</a:t>
            </a:r>
            <a:endParaRPr lang="en-US" sz="2400" b="1" dirty="0">
              <a:solidFill>
                <a:srgbClr val="EA7131"/>
              </a:solidFill>
            </a:endParaRPr>
          </a:p>
          <a:p>
            <a:pPr marL="0" indent="0">
              <a:spcBef>
                <a:spcPts val="0"/>
              </a:spcBef>
              <a:buNone/>
            </a:pPr>
            <a:r>
              <a:rPr lang="en-US" sz="2400" i="1" dirty="0">
                <a:solidFill>
                  <a:srgbClr val="3F3F3F"/>
                </a:solidFill>
              </a:rPr>
              <a:t>            gazing at C</a:t>
            </a:r>
          </a:p>
        </p:txBody>
      </p:sp>
      <p:sp>
        <p:nvSpPr>
          <p:cNvPr id="10" name="SideTxt">
            <a:extLst>
              <a:ext uri="{FF2B5EF4-FFF2-40B4-BE49-F238E27FC236}">
                <a16:creationId xmlns:a16="http://schemas.microsoft.com/office/drawing/2014/main" id="{C163C905-E84A-8747-B9C8-0FB5E8E77B79}"/>
              </a:ext>
            </a:extLst>
          </p:cNvPr>
          <p:cNvSpPr txBox="1"/>
          <p:nvPr/>
        </p:nvSpPr>
        <p:spPr>
          <a:xfrm>
            <a:off x="7188200" y="2514600"/>
            <a:ext cx="4165600" cy="3708400"/>
          </a:xfrm>
          <a:prstGeom prst="rect">
            <a:avLst/>
          </a:prstGeom>
          <a:noFill/>
        </p:spPr>
        <p:txBody>
          <a:bodyPr vertOverflow="overflow" vert="horz" wrap="square" rtlCol="0" anchor="t">
            <a:noAutofit/>
          </a:bodyPr>
          <a:lstStyle/>
          <a:p>
            <a:pPr marL="285750" indent="-285750">
              <a:spcBef>
                <a:spcPts val="4600"/>
              </a:spcBef>
              <a:buFont typeface="Arial"/>
              <a:buChar char="•"/>
            </a:pPr>
            <a:r>
              <a:rPr lang="en-US" sz="2400" dirty="0"/>
              <a:t>03 answers B in sequence, but C in content</a:t>
            </a:r>
          </a:p>
          <a:p>
            <a:pPr marL="285750" indent="-285750">
              <a:spcBef>
                <a:spcPts val="4600"/>
              </a:spcBef>
              <a:buFont typeface="Arial"/>
              <a:buChar char="•"/>
            </a:pPr>
            <a:r>
              <a:rPr lang="en-US" sz="2400" dirty="0"/>
              <a:t>2 annotators: C, C, E</a:t>
            </a:r>
          </a:p>
          <a:p>
            <a:pPr marL="285750" indent="-285750">
              <a:spcBef>
                <a:spcPts val="4600"/>
              </a:spcBef>
              <a:buFont typeface="Arial"/>
              <a:buChar char="•"/>
            </a:pPr>
            <a:r>
              <a:rPr lang="en-US" sz="2400" dirty="0"/>
              <a:t>So C is primary, B is weaker</a:t>
            </a:r>
          </a:p>
        </p:txBody>
      </p:sp>
      <p:sp>
        <p:nvSpPr>
          <p:cNvPr id="11" name="PageNum">
            <a:extLst>
              <a:ext uri="{FF2B5EF4-FFF2-40B4-BE49-F238E27FC236}">
                <a16:creationId xmlns:a16="http://schemas.microsoft.com/office/drawing/2014/main" id="{5954D973-EE28-E547-8A8A-1E647D297CA0}"/>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13 / 14</a:t>
            </a:r>
            <a:endParaRPr lang="ja-JP" altLang="en-US" sz="1600">
              <a:solidFill>
                <a:srgbClr val="7F7F7F"/>
              </a:solidFill>
            </a:endParaRPr>
          </a:p>
        </p:txBody>
      </p:sp>
    </p:spTree>
    <p:extLst>
      <p:ext uri="{BB962C8B-B14F-4D97-AF65-F5344CB8AC3E}">
        <p14:creationId xmlns:p14="http://schemas.microsoft.com/office/powerpoint/2010/main" val="3313367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CECE7-2064-9D6B-F4B6-E72ED08170E3}"/>
              </a:ext>
            </a:extLst>
          </p:cNvPr>
          <p:cNvSpPr>
            <a:spLocks noGrp="1"/>
          </p:cNvSpPr>
          <p:nvPr>
            <p:ph type="title"/>
          </p:nvPr>
        </p:nvSpPr>
        <p:spPr>
          <a:xfrm>
            <a:off x="838200" y="13970"/>
            <a:ext cx="9728200" cy="1311910"/>
          </a:xfrm>
        </p:spPr>
        <p:txBody>
          <a:bodyPr anchor="ctr" anchorCtr="0">
            <a:noAutofit/>
          </a:bodyPr>
          <a:lstStyle/>
          <a:p>
            <a:r>
              <a:rPr kumimoji="1" lang="en" altLang="ja-JP" sz="3000" b="1"/>
              <a:t>Conclusions &amp; Future Work</a:t>
            </a:r>
            <a:endParaRPr kumimoji="1" lang="ja-JP" altLang="en-US" sz="3000" b="1"/>
          </a:p>
        </p:txBody>
      </p:sp>
      <p:sp>
        <p:nvSpPr>
          <p:cNvPr id="3" name="コンテンツ プレースホルダー 2">
            <a:extLst>
              <a:ext uri="{FF2B5EF4-FFF2-40B4-BE49-F238E27FC236}">
                <a16:creationId xmlns:a16="http://schemas.microsoft.com/office/drawing/2014/main" id="{EE0E6DBE-3037-7BD2-E203-BAEBC98F887A}"/>
              </a:ext>
            </a:extLst>
          </p:cNvPr>
          <p:cNvSpPr>
            <a:spLocks noGrp="1"/>
          </p:cNvSpPr>
          <p:nvPr>
            <p:ph idx="1"/>
          </p:nvPr>
        </p:nvSpPr>
        <p:spPr>
          <a:xfrm>
            <a:off x="838200" y="2493010"/>
            <a:ext cx="10515600" cy="3886200"/>
          </a:xfrm>
        </p:spPr>
        <p:txBody>
          <a:bodyPr/>
          <a:lstStyle/>
          <a:p>
            <a:pPr marL="285750" indent="-285750">
              <a:spcBef>
                <a:spcPts val="5600"/>
              </a:spcBef>
              <a:buFont typeface="Arial"/>
              <a:buChar char="•"/>
            </a:pPr>
            <a:r>
              <a:rPr lang="en-US" sz="2400" dirty="0"/>
              <a:t>Per-listener levels keep what majority votes discard</a:t>
            </a:r>
          </a:p>
          <a:p>
            <a:pPr marL="285750" indent="-285750">
              <a:spcBef>
                <a:spcPts val="5600"/>
              </a:spcBef>
              <a:buFont typeface="Arial"/>
              <a:buChar char="•"/>
            </a:pPr>
            <a:r>
              <a:rPr lang="en-US" sz="2400" dirty="0"/>
              <a:t>Scalable: independent of the number of participants</a:t>
            </a:r>
          </a:p>
          <a:p>
            <a:pPr marL="285750" indent="-285750">
              <a:spcBef>
                <a:spcPts val="5600"/>
              </a:spcBef>
              <a:buFont typeface="Arial"/>
              <a:buChar char="•"/>
            </a:pPr>
            <a:r>
              <a:rPr lang="en-US" sz="2400" dirty="0"/>
              <a:t>Future: online joint modeling of gaze, backchannels, turn-taking</a:t>
            </a:r>
          </a:p>
          <a:p>
            <a:pPr marL="285750" indent="-285750">
              <a:spcBef>
                <a:spcPts val="5600"/>
              </a:spcBef>
              <a:buFont typeface="Arial"/>
              <a:buChar char="•"/>
            </a:pPr>
            <a:r>
              <a:rPr lang="en-US" sz="2400" dirty="0"/>
              <a:t>Limits: Japanese triads; 3 annotations per turn</a:t>
            </a:r>
          </a:p>
        </p:txBody>
      </p:sp>
      <p:sp>
        <p:nvSpPr>
          <p:cNvPr id="4" name="角丸四角形 3">
            <a:extLst>
              <a:ext uri="{FF2B5EF4-FFF2-40B4-BE49-F238E27FC236}">
                <a16:creationId xmlns:a16="http://schemas.microsoft.com/office/drawing/2014/main" id="{B7E61EA7-B666-6143-B48C-E4C033E3A594}"/>
              </a:ext>
            </a:extLst>
          </p:cNvPr>
          <p:cNvSpPr/>
          <p:nvPr/>
        </p:nvSpPr>
        <p:spPr>
          <a:xfrm>
            <a:off x="838200" y="1604010"/>
            <a:ext cx="10515600" cy="609600"/>
          </a:xfrm>
          <a:prstGeom prst="roundRect">
            <a:avLst/>
          </a:prstGeom>
          <a:solidFill>
            <a:srgbClr val="15608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indent="0" algn="ctr">
              <a:buNone/>
            </a:pPr>
            <a:r>
              <a:rPr lang="en-US" sz="2400" b="1" dirty="0">
                <a:solidFill>
                  <a:srgbClr val="FFFFFF"/>
                </a:solidFill>
              </a:rPr>
              <a:t>Estimate address continuously and online, with listener behavior</a:t>
            </a:r>
          </a:p>
        </p:txBody>
      </p:sp>
      <p:sp>
        <p:nvSpPr>
          <p:cNvPr id="5" name="PageNum">
            <a:extLst>
              <a:ext uri="{FF2B5EF4-FFF2-40B4-BE49-F238E27FC236}">
                <a16:creationId xmlns:a16="http://schemas.microsoft.com/office/drawing/2014/main" id="{AD3A563F-3C13-144B-AFA4-E358263F7A1D}"/>
              </a:ext>
            </a:extLst>
          </p:cNvPr>
          <p:cNvSpPr txBox="1"/>
          <p:nvPr/>
        </p:nvSpPr>
        <p:spPr>
          <a:xfrm>
            <a:off x="11353800" y="6389370"/>
            <a:ext cx="838200" cy="454659"/>
          </a:xfrm>
          <a:prstGeom prst="rect">
            <a:avLst/>
          </a:prstGeom>
          <a:noFill/>
        </p:spPr>
        <p:txBody>
          <a:bodyPr vertOverflow="overflow" vert="horz" wrap="none" rtlCol="0" anchor="ctr" anchorCtr="0">
            <a:noAutofit/>
          </a:bodyPr>
          <a:lstStyle/>
          <a:p>
            <a:pPr algn="l"/>
            <a:r>
              <a:rPr lang="en-US" altLang="ja-JP" sz="1600">
                <a:solidFill>
                  <a:srgbClr val="7F7F7F"/>
                </a:solidFill>
              </a:rPr>
              <a:t>14 / 14</a:t>
            </a:r>
            <a:endParaRPr lang="ja-JP" altLang="en-US" sz="1600">
              <a:solidFill>
                <a:srgbClr val="7F7F7F"/>
              </a:solidFill>
            </a:endParaRPr>
          </a:p>
        </p:txBody>
      </p:sp>
    </p:spTree>
    <p:extLst>
      <p:ext uri="{BB962C8B-B14F-4D97-AF65-F5344CB8AC3E}">
        <p14:creationId xmlns:p14="http://schemas.microsoft.com/office/powerpoint/2010/main" val="412652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B7B82-EFC4-8F1D-CE41-2503403EBA9C}"/>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981956C-9D5E-2D9B-9575-2B1C8516E5C2}"/>
              </a:ext>
            </a:extLst>
          </p:cNvPr>
          <p:cNvSpPr>
            <a:spLocks noGrp="1"/>
          </p:cNvSpPr>
          <p:nvPr>
            <p:ph idx="1"/>
          </p:nvPr>
        </p:nvSpPr>
        <p:spPr>
          <a:xfrm>
            <a:off x="838200" y="2932737"/>
            <a:ext cx="10515600" cy="992526"/>
          </a:xfrm>
        </p:spPr>
        <p:txBody>
          <a:bodyPr>
            <a:noAutofit/>
          </a:bodyPr>
          <a:lstStyle/>
          <a:p>
            <a:pPr marL="0" indent="0" algn="ctr">
              <a:spcBef>
                <a:spcPts val="2000"/>
              </a:spcBef>
              <a:buNone/>
            </a:pPr>
            <a:r>
              <a:rPr lang="en-US" sz="2400" dirty="0"/>
              <a:t>Thank you!  </a:t>
            </a:r>
          </a:p>
          <a:p>
            <a:pPr marL="0" indent="0" algn="ctr">
              <a:spcBef>
                <a:spcPts val="2000"/>
              </a:spcBef>
              <a:buNone/>
            </a:pPr>
            <a:r>
              <a:rPr lang="en-US" sz="2400" dirty="0"/>
              <a:t>Contact: </a:t>
            </a:r>
            <a:r>
              <a:rPr lang="en-US" sz="2400" dirty="0" err="1"/>
              <a:t>mori@sap.ist.i.kyoto-u.ac.jp</a:t>
            </a:r>
            <a:endParaRPr lang="en-US" sz="2400" dirty="0"/>
          </a:p>
        </p:txBody>
      </p:sp>
    </p:spTree>
    <p:extLst>
      <p:ext uri="{BB962C8B-B14F-4D97-AF65-F5344CB8AC3E}">
        <p14:creationId xmlns:p14="http://schemas.microsoft.com/office/powerpoint/2010/main" val="120726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16FDF7-9D04-6A12-9EF4-73B82EAF8A6A}"/>
              </a:ext>
            </a:extLst>
          </p:cNvPr>
          <p:cNvSpPr>
            <a:spLocks noGrp="1"/>
          </p:cNvSpPr>
          <p:nvPr>
            <p:ph type="title"/>
          </p:nvPr>
        </p:nvSpPr>
        <p:spPr>
          <a:xfrm>
            <a:off x="838200" y="13970"/>
            <a:ext cx="9728200" cy="1311910"/>
          </a:xfrm>
        </p:spPr>
        <p:txBody>
          <a:bodyPr anchor="ctr" anchorCtr="0">
            <a:noAutofit/>
          </a:bodyPr>
          <a:lstStyle/>
          <a:p>
            <a:r>
              <a:rPr kumimoji="1" lang="en" altLang="ja-JP" sz="3000" b="1"/>
              <a:t>Backup: Q&amp;A (1 / 4)</a:t>
            </a:r>
            <a:endParaRPr kumimoji="1" lang="ja-JP" altLang="en-US" sz="3000" b="1"/>
          </a:p>
        </p:txBody>
      </p:sp>
      <p:sp>
        <p:nvSpPr>
          <p:cNvPr id="3" name="コンテンツ プレースホルダー 2">
            <a:extLst>
              <a:ext uri="{FF2B5EF4-FFF2-40B4-BE49-F238E27FC236}">
                <a16:creationId xmlns:a16="http://schemas.microsoft.com/office/drawing/2014/main" id="{0E0B29D1-085A-559E-FFE2-9C6AD3D9B61B}"/>
              </a:ext>
            </a:extLst>
          </p:cNvPr>
          <p:cNvSpPr>
            <a:spLocks noGrp="1"/>
          </p:cNvSpPr>
          <p:nvPr>
            <p:ph idx="1"/>
          </p:nvPr>
        </p:nvSpPr>
        <p:spPr>
          <a:xfrm>
            <a:off x="838200" y="1604010"/>
            <a:ext cx="10515600" cy="4775200"/>
          </a:xfrm>
        </p:spPr>
        <p:txBody>
          <a:bodyPr/>
          <a:lstStyle/>
          <a:p>
            <a:pPr marL="342900" indent="-342900">
              <a:spcBef>
                <a:spcPts val="3600"/>
              </a:spcBef>
              <a:buNone/>
            </a:pPr>
            <a:r>
              <a:rPr lang="en-US" sz="2400" b="1" dirty="0">
                <a:solidFill>
                  <a:srgbClr val="156082"/>
                </a:solidFill>
              </a:rPr>
              <a:t>Q. Isn’t address level just annotator disagreement?</a:t>
            </a:r>
          </a:p>
          <a:p>
            <a:pPr marL="342900" indent="-342900">
              <a:spcBef>
                <a:spcPts val="400"/>
              </a:spcBef>
              <a:buNone/>
            </a:pPr>
            <a:r>
              <a:rPr lang="en-US" sz="2400" dirty="0"/>
              <a:t>A. Not error — it is latent, and it predicts behavior better.</a:t>
            </a:r>
          </a:p>
          <a:p>
            <a:pPr marL="342900" indent="-342900">
              <a:spcBef>
                <a:spcPts val="3600"/>
              </a:spcBef>
              <a:buNone/>
            </a:pPr>
            <a:r>
              <a:rPr lang="en-US" sz="2400" b="1" dirty="0">
                <a:solidFill>
                  <a:srgbClr val="156082"/>
                </a:solidFill>
              </a:rPr>
              <a:t>Q. Why is E (everyone) = (1,1), not (0.5, 0.5)?</a:t>
            </a:r>
          </a:p>
          <a:p>
            <a:pPr marL="342900" indent="-342900">
              <a:spcBef>
                <a:spcPts val="400"/>
              </a:spcBef>
              <a:buNone/>
            </a:pPr>
            <a:r>
              <a:rPr lang="en-US" sz="2400" dirty="0"/>
              <a:t>A. Addressivity is directedness to each listener, not a share.</a:t>
            </a:r>
          </a:p>
          <a:p>
            <a:pPr marL="342900" indent="-342900">
              <a:spcBef>
                <a:spcPts val="3600"/>
              </a:spcBef>
              <a:buNone/>
            </a:pPr>
            <a:r>
              <a:rPr lang="en-US" sz="2400" b="1" dirty="0">
                <a:solidFill>
                  <a:srgbClr val="156082"/>
                </a:solidFill>
              </a:rPr>
              <a:t>Q. Annotators saw gaze — is the gaze result circular?</a:t>
            </a:r>
          </a:p>
          <a:p>
            <a:pPr marL="342900" indent="-342900">
              <a:spcBef>
                <a:spcPts val="400"/>
              </a:spcBef>
              <a:buNone/>
            </a:pPr>
            <a:r>
              <a:rPr lang="en-US" sz="2400" dirty="0"/>
              <a:t>A. They used speaker gaze; we analyze listener gaze.</a:t>
            </a:r>
          </a:p>
          <a:p>
            <a:pPr marL="342900" indent="-342900">
              <a:spcBef>
                <a:spcPts val="3600"/>
              </a:spcBef>
              <a:buNone/>
            </a:pPr>
            <a:r>
              <a:rPr lang="en-US" sz="2400" b="1" dirty="0">
                <a:solidFill>
                  <a:srgbClr val="156082"/>
                </a:solidFill>
              </a:rPr>
              <a:t>Q. The backchannel gain is only 3.5. Is it meaningful?</a:t>
            </a:r>
          </a:p>
          <a:p>
            <a:pPr marL="342900" indent="-342900">
              <a:spcBef>
                <a:spcPts val="400"/>
              </a:spcBef>
              <a:buNone/>
            </a:pPr>
            <a:r>
              <a:rPr lang="en-US" sz="2400" dirty="0"/>
              <a:t>A. Smallest of the three. Backchannels have other causes too.</a:t>
            </a:r>
          </a:p>
        </p:txBody>
      </p:sp>
    </p:spTree>
    <p:extLst>
      <p:ext uri="{BB962C8B-B14F-4D97-AF65-F5344CB8AC3E}">
        <p14:creationId xmlns:p14="http://schemas.microsoft.com/office/powerpoint/2010/main" val="85133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21EA9A-9299-FC2F-3AC3-30FB07D3ADFA}"/>
              </a:ext>
            </a:extLst>
          </p:cNvPr>
          <p:cNvSpPr>
            <a:spLocks noGrp="1"/>
          </p:cNvSpPr>
          <p:nvPr>
            <p:ph type="title"/>
          </p:nvPr>
        </p:nvSpPr>
        <p:spPr>
          <a:xfrm>
            <a:off x="838200" y="13970"/>
            <a:ext cx="9728200" cy="1311910"/>
          </a:xfrm>
        </p:spPr>
        <p:txBody>
          <a:bodyPr anchor="ctr" anchorCtr="0">
            <a:noAutofit/>
          </a:bodyPr>
          <a:lstStyle/>
          <a:p>
            <a:r>
              <a:rPr kumimoji="1" lang="en" altLang="ja-JP" sz="3000" b="1"/>
              <a:t>Backup: Q&amp;A (2 / 4)</a:t>
            </a:r>
            <a:endParaRPr kumimoji="1" lang="ja-JP" altLang="en-US" sz="3000" b="1"/>
          </a:p>
        </p:txBody>
      </p:sp>
      <p:sp>
        <p:nvSpPr>
          <p:cNvPr id="3" name="コンテンツ プレースホルダー 2">
            <a:extLst>
              <a:ext uri="{FF2B5EF4-FFF2-40B4-BE49-F238E27FC236}">
                <a16:creationId xmlns:a16="http://schemas.microsoft.com/office/drawing/2014/main" id="{20E6E8C2-3CF3-7DEC-72F8-6DDC08970F99}"/>
              </a:ext>
            </a:extLst>
          </p:cNvPr>
          <p:cNvSpPr>
            <a:spLocks noGrp="1"/>
          </p:cNvSpPr>
          <p:nvPr>
            <p:ph idx="1"/>
          </p:nvPr>
        </p:nvSpPr>
        <p:spPr>
          <a:xfrm>
            <a:off x="838200" y="1604010"/>
            <a:ext cx="10515600" cy="4775200"/>
          </a:xfrm>
        </p:spPr>
        <p:txBody>
          <a:bodyPr/>
          <a:lstStyle/>
          <a:p>
            <a:pPr marL="342900" indent="-342900">
              <a:spcBef>
                <a:spcPts val="5600"/>
              </a:spcBef>
              <a:buNone/>
            </a:pPr>
            <a:r>
              <a:rPr lang="en-US" sz="2400" b="1" dirty="0">
                <a:solidFill>
                  <a:srgbClr val="156082"/>
                </a:solidFill>
              </a:rPr>
              <a:t>Q. Only 3 annotations per turn — is θ identifiable?</a:t>
            </a:r>
          </a:p>
          <a:p>
            <a:pPr marL="342900" indent="-342900">
              <a:spcBef>
                <a:spcPts val="400"/>
              </a:spcBef>
              <a:buNone/>
            </a:pPr>
            <a:r>
              <a:rPr lang="en-US" sz="2400" dirty="0"/>
              <a:t>A. Weakly. Discrimination is shared across annotators.</a:t>
            </a:r>
          </a:p>
          <a:p>
            <a:pPr marL="342900" indent="-342900">
              <a:spcBef>
                <a:spcPts val="5600"/>
              </a:spcBef>
              <a:buNone/>
            </a:pPr>
            <a:r>
              <a:rPr lang="en-US" sz="2400" b="1" dirty="0">
                <a:solidFill>
                  <a:srgbClr val="156082"/>
                </a:solidFill>
              </a:rPr>
              <a:t>Q. You used posterior medians, not full uncertainty.</a:t>
            </a:r>
          </a:p>
          <a:p>
            <a:pPr marL="342900" indent="-342900">
              <a:spcBef>
                <a:spcPts val="400"/>
              </a:spcBef>
              <a:buNone/>
            </a:pPr>
            <a:r>
              <a:rPr lang="en-US" sz="2400" dirty="0"/>
              <a:t>A. Yes, a limitation. The direction of effects should hold.</a:t>
            </a:r>
          </a:p>
          <a:p>
            <a:pPr marL="342900" indent="-342900">
              <a:spcBef>
                <a:spcPts val="5600"/>
              </a:spcBef>
              <a:buNone/>
            </a:pPr>
            <a:r>
              <a:rPr lang="en-US" sz="2400" b="1" dirty="0">
                <a:solidFill>
                  <a:srgbClr val="156082"/>
                </a:solidFill>
              </a:rPr>
              <a:t>Q. You excluded 134 turns with no majority label.</a:t>
            </a:r>
          </a:p>
          <a:p>
            <a:pPr marL="342900" indent="-342900">
              <a:spcBef>
                <a:spcPts val="400"/>
              </a:spcBef>
              <a:buNone/>
            </a:pPr>
            <a:r>
              <a:rPr lang="en-US" sz="2400" dirty="0"/>
              <a:t>A. To fit both models to the same data. It does not help us.</a:t>
            </a:r>
          </a:p>
        </p:txBody>
      </p:sp>
    </p:spTree>
    <p:extLst>
      <p:ext uri="{BB962C8B-B14F-4D97-AF65-F5344CB8AC3E}">
        <p14:creationId xmlns:p14="http://schemas.microsoft.com/office/powerpoint/2010/main" val="1126282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67E55F-8F8D-66F1-F8A0-E66CF68A9FB8}"/>
              </a:ext>
            </a:extLst>
          </p:cNvPr>
          <p:cNvSpPr>
            <a:spLocks noGrp="1"/>
          </p:cNvSpPr>
          <p:nvPr>
            <p:ph type="title"/>
          </p:nvPr>
        </p:nvSpPr>
        <p:spPr>
          <a:xfrm>
            <a:off x="838200" y="13970"/>
            <a:ext cx="9728200" cy="1311910"/>
          </a:xfrm>
        </p:spPr>
        <p:txBody>
          <a:bodyPr anchor="ctr" anchorCtr="0">
            <a:noAutofit/>
          </a:bodyPr>
          <a:lstStyle/>
          <a:p>
            <a:r>
              <a:rPr kumimoji="1" lang="en" altLang="ja-JP" sz="3000" b="1"/>
              <a:t>Backup: Q&amp;A (3 / 4)</a:t>
            </a:r>
            <a:endParaRPr kumimoji="1" lang="ja-JP" altLang="en-US" sz="3000" b="1"/>
          </a:p>
        </p:txBody>
      </p:sp>
      <p:sp>
        <p:nvSpPr>
          <p:cNvPr id="3" name="コンテンツ プレースホルダー 2">
            <a:extLst>
              <a:ext uri="{FF2B5EF4-FFF2-40B4-BE49-F238E27FC236}">
                <a16:creationId xmlns:a16="http://schemas.microsoft.com/office/drawing/2014/main" id="{3608C064-75E4-06F9-2D8A-4CC4C7A51A1E}"/>
              </a:ext>
            </a:extLst>
          </p:cNvPr>
          <p:cNvSpPr>
            <a:spLocks noGrp="1"/>
          </p:cNvSpPr>
          <p:nvPr>
            <p:ph idx="1"/>
          </p:nvPr>
        </p:nvSpPr>
        <p:spPr>
          <a:xfrm>
            <a:off x="838200" y="1604010"/>
            <a:ext cx="10515600" cy="4775200"/>
          </a:xfrm>
        </p:spPr>
        <p:txBody>
          <a:bodyPr/>
          <a:lstStyle/>
          <a:p>
            <a:pPr marL="342900" indent="-342900">
              <a:spcBef>
                <a:spcPts val="5600"/>
              </a:spcBef>
              <a:buNone/>
            </a:pPr>
            <a:r>
              <a:rPr lang="en-US" sz="2400" b="1" dirty="0">
                <a:solidFill>
                  <a:srgbClr val="156082"/>
                </a:solidFill>
              </a:rPr>
              <a:t>Q. You merged W into E and dropped U — removing ambiguity?</a:t>
            </a:r>
          </a:p>
          <a:p>
            <a:pPr marL="342900" indent="-342900">
              <a:spcBef>
                <a:spcPts val="400"/>
              </a:spcBef>
              <a:buNone/>
            </a:pPr>
            <a:r>
              <a:rPr lang="en-US" sz="2400" dirty="0"/>
              <a:t>A. W behaves like E; U has no direction. Key ambiguity is kept.</a:t>
            </a:r>
          </a:p>
          <a:p>
            <a:pPr marL="342900" indent="-342900">
              <a:spcBef>
                <a:spcPts val="5600"/>
              </a:spcBef>
              <a:buNone/>
            </a:pPr>
            <a:r>
              <a:rPr lang="en-US" sz="2400" b="1" dirty="0">
                <a:solidFill>
                  <a:srgbClr val="156082"/>
                </a:solidFill>
              </a:rPr>
              <a:t>Q. How would a system estimate the level online?</a:t>
            </a:r>
          </a:p>
          <a:p>
            <a:pPr marL="342900" indent="-342900">
              <a:spcBef>
                <a:spcPts val="400"/>
              </a:spcBef>
              <a:buNone/>
            </a:pPr>
            <a:r>
              <a:rPr lang="en-US" sz="2400" dirty="0"/>
              <a:t>A. Regress it from multimodal input, incrementally. Next step.</a:t>
            </a:r>
          </a:p>
          <a:p>
            <a:pPr marL="342900" indent="-342900">
              <a:spcBef>
                <a:spcPts val="5600"/>
              </a:spcBef>
              <a:buNone/>
            </a:pPr>
            <a:r>
              <a:rPr lang="en-US" sz="2400" b="1" dirty="0">
                <a:solidFill>
                  <a:srgbClr val="156082"/>
                </a:solidFill>
              </a:rPr>
              <a:t>Q. Why not use a classifier’s softmax probability?</a:t>
            </a:r>
          </a:p>
          <a:p>
            <a:pPr marL="342900" indent="-342900">
              <a:spcBef>
                <a:spcPts val="400"/>
              </a:spcBef>
              <a:buNone/>
            </a:pPr>
            <a:r>
              <a:rPr lang="en-US" sz="2400" dirty="0"/>
              <a:t>A. That is confidence in one label. Ours is per listener.</a:t>
            </a:r>
          </a:p>
        </p:txBody>
      </p:sp>
    </p:spTree>
    <p:extLst>
      <p:ext uri="{BB962C8B-B14F-4D97-AF65-F5344CB8AC3E}">
        <p14:creationId xmlns:p14="http://schemas.microsoft.com/office/powerpoint/2010/main" val="2062281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55427A-CDF5-E572-8945-5D9DD6AE2F13}"/>
              </a:ext>
            </a:extLst>
          </p:cNvPr>
          <p:cNvSpPr>
            <a:spLocks noGrp="1"/>
          </p:cNvSpPr>
          <p:nvPr>
            <p:ph type="title"/>
          </p:nvPr>
        </p:nvSpPr>
        <p:spPr>
          <a:xfrm>
            <a:off x="838200" y="13970"/>
            <a:ext cx="9728200" cy="1311910"/>
          </a:xfrm>
        </p:spPr>
        <p:txBody>
          <a:bodyPr anchor="ctr" anchorCtr="0">
            <a:noAutofit/>
          </a:bodyPr>
          <a:lstStyle/>
          <a:p>
            <a:r>
              <a:rPr kumimoji="1" lang="en" altLang="ja-JP" sz="3000" b="1"/>
              <a:t>Backup: Q&amp;A (4 / 4)</a:t>
            </a:r>
            <a:endParaRPr kumimoji="1" lang="ja-JP" altLang="en-US" sz="3000" b="1"/>
          </a:p>
        </p:txBody>
      </p:sp>
      <p:sp>
        <p:nvSpPr>
          <p:cNvPr id="3" name="コンテンツ プレースホルダー 2">
            <a:extLst>
              <a:ext uri="{FF2B5EF4-FFF2-40B4-BE49-F238E27FC236}">
                <a16:creationId xmlns:a16="http://schemas.microsoft.com/office/drawing/2014/main" id="{680C3E9D-7C41-9389-E42B-0AAC1AF9A0D8}"/>
              </a:ext>
            </a:extLst>
          </p:cNvPr>
          <p:cNvSpPr>
            <a:spLocks noGrp="1"/>
          </p:cNvSpPr>
          <p:nvPr>
            <p:ph idx="1"/>
          </p:nvPr>
        </p:nvSpPr>
        <p:spPr>
          <a:xfrm>
            <a:off x="838200" y="1604010"/>
            <a:ext cx="10515600" cy="4775200"/>
          </a:xfrm>
        </p:spPr>
        <p:txBody>
          <a:bodyPr/>
          <a:lstStyle/>
          <a:p>
            <a:pPr marL="342900" indent="-342900">
              <a:spcBef>
                <a:spcPts val="5600"/>
              </a:spcBef>
              <a:buNone/>
            </a:pPr>
            <a:r>
              <a:rPr lang="en-US" sz="2400" b="1" dirty="0">
                <a:solidFill>
                  <a:srgbClr val="156082"/>
                </a:solidFill>
              </a:rPr>
              <a:t>Q. Japanese triads only — does it generalize?</a:t>
            </a:r>
          </a:p>
          <a:p>
            <a:pPr marL="342900" indent="-342900">
              <a:spcBef>
                <a:spcPts val="400"/>
              </a:spcBef>
              <a:buNone/>
            </a:pPr>
            <a:r>
              <a:rPr lang="en-US" sz="2400" dirty="0"/>
              <a:t>A. Unknown. Norms differ by culture. But it is size-independent.</a:t>
            </a:r>
          </a:p>
          <a:p>
            <a:pPr marL="342900" indent="-342900">
              <a:spcBef>
                <a:spcPts val="5600"/>
              </a:spcBef>
              <a:buNone/>
            </a:pPr>
            <a:r>
              <a:rPr lang="en-US" sz="2400" b="1" dirty="0">
                <a:solidFill>
                  <a:srgbClr val="156082"/>
                </a:solidFill>
              </a:rPr>
              <a:t>Q. How does a system act on a continuous value?</a:t>
            </a:r>
          </a:p>
          <a:p>
            <a:pPr marL="342900" indent="-342900">
              <a:spcBef>
                <a:spcPts val="400"/>
              </a:spcBef>
              <a:buNone/>
            </a:pPr>
            <a:r>
              <a:rPr lang="en-US" sz="2400" dirty="0"/>
              <a:t>A. Weight timing or gaze. Threshold only if a decision is needed.</a:t>
            </a:r>
          </a:p>
          <a:p>
            <a:pPr marL="342900" indent="-342900">
              <a:spcBef>
                <a:spcPts val="5600"/>
              </a:spcBef>
              <a:buNone/>
            </a:pPr>
            <a:r>
              <a:rPr lang="en-US" sz="2400" b="1" dirty="0">
                <a:solidFill>
                  <a:srgbClr val="156082"/>
                </a:solidFill>
              </a:rPr>
              <a:t>Q. Why turn-level, if you argue for online estimation?</a:t>
            </a:r>
          </a:p>
          <a:p>
            <a:pPr marL="342900" indent="-342900">
              <a:spcBef>
                <a:spcPts val="400"/>
              </a:spcBef>
              <a:buNone/>
            </a:pPr>
            <a:r>
              <a:rPr lang="en-US" sz="2400" dirty="0"/>
              <a:t>A. This paper is the motivation. Time-resolved work is next.</a:t>
            </a:r>
          </a:p>
        </p:txBody>
      </p:sp>
    </p:spTree>
    <p:extLst>
      <p:ext uri="{BB962C8B-B14F-4D97-AF65-F5344CB8AC3E}">
        <p14:creationId xmlns:p14="http://schemas.microsoft.com/office/powerpoint/2010/main" val="3784870554"/>
      </p:ext>
    </p:extLst>
  </p:cSld>
  <p:clrMapOvr>
    <a:masterClrMapping/>
  </p:clrMapOvr>
</p:sld>
</file>

<file path=ppt/theme/theme1.xml><?xml version="1.0" encoding="utf-8"?>
<a:theme xmlns:a="http://schemas.openxmlformats.org/drawingml/2006/main" name="Office テーマ [178531104818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panose="020F0502020204030204"/>
        <a:ea typeface=""/>
        <a:cs typeface="Calibri"/>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Calibri"/>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AFDAB23-95D1-5845-9012-9812037E0C46}">
  <we:reference id="wa200010001" version="1.0.0.1" store="ja-JP" storeType="OMEX"/>
  <we:alternateReferences>
    <we:reference id="WA200010001" version="1.0.0.1" store="WA200010001" storeType="OMEX"/>
  </we:alternateReferences>
  <we:properties>
    <we:property name="claude.fileId" value="&quot;3f1b095b-f8a5-4290-8e5d-e6428a8d8ba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1565</TotalTime>
  <Words>5062</Words>
  <Application>Microsoft Macintosh PowerPoint</Application>
  <PresentationFormat>ワイド画面</PresentationFormat>
  <Paragraphs>389</Paragraphs>
  <Slides>20</Slides>
  <Notes>16</Notes>
  <HiddenSlides>4</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游ゴシック</vt:lpstr>
      <vt:lpstr>Arial</vt:lpstr>
      <vt:lpstr>Calibri</vt:lpstr>
      <vt:lpstr>Office テーマ [1785311048181]</vt:lpstr>
      <vt:lpstr>PowerPoint プレゼンテーション</vt:lpstr>
      <vt:lpstr>Addressee Detection: The Standard Formulation</vt:lpstr>
      <vt:lpstr>But Is Address Really Discrete?</vt:lpstr>
      <vt:lpstr>This Work: Three Contributions</vt:lpstr>
      <vt:lpstr>Dataset: Teidan Corpus</vt:lpstr>
      <vt:lpstr>Addressee Annotation</vt:lpstr>
      <vt:lpstr>Annotators Disagree — Systematically</vt:lpstr>
      <vt:lpstr>Two Representations of Addressivity</vt:lpstr>
      <vt:lpstr>Distributions of Label and Level</vt:lpstr>
      <vt:lpstr>Statistical Models</vt:lpstr>
      <vt:lpstr>Result 1: Next Speaker</vt:lpstr>
      <vt:lpstr>Result 2: Listener Gaze</vt:lpstr>
      <vt:lpstr>Result 3: Backchannels</vt:lpstr>
      <vt:lpstr>Qualitative Example: Double Address</vt:lpstr>
      <vt:lpstr>Conclusions &amp; Future Work</vt:lpstr>
      <vt:lpstr>PowerPoint プレゼンテーション</vt:lpstr>
      <vt:lpstr>Backup: Q&amp;A (1 / 4)</vt:lpstr>
      <vt:lpstr>Backup: Q&amp;A (2 / 4)</vt:lpstr>
      <vt:lpstr>Backup: Q&amp;A (3 / 4)</vt:lpstr>
      <vt:lpstr>Backup: Q&amp;A (4 /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mori.taiga.5h@ms.c.kyoto-u.ac.jp</dc:creator>
  <cp:lastModifiedBy>mori.taiga.5h@ms.c.kyoto-u.ac.jp</cp:lastModifiedBy>
  <cp:revision>12</cp:revision>
  <dcterms:created xsi:type="dcterms:W3CDTF">2026-07-29T06:58:17Z</dcterms:created>
  <dcterms:modified xsi:type="dcterms:W3CDTF">2026-07-30T09:03:49Z</dcterms:modified>
</cp:coreProperties>
</file>