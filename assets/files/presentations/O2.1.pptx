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6" r:id="rId1"/>
  </p:sldMasterIdLst>
  <p:notesMasterIdLst>
    <p:notesMasterId r:id="rId26"/>
  </p:notesMasterIdLst>
  <p:sldIdLst>
    <p:sldId id="256" r:id="rId2"/>
    <p:sldId id="258" r:id="rId3"/>
    <p:sldId id="257" r:id="rId4"/>
    <p:sldId id="274" r:id="rId5"/>
    <p:sldId id="276" r:id="rId6"/>
    <p:sldId id="270" r:id="rId7"/>
    <p:sldId id="259" r:id="rId8"/>
    <p:sldId id="268" r:id="rId9"/>
    <p:sldId id="261" r:id="rId10"/>
    <p:sldId id="262" r:id="rId11"/>
    <p:sldId id="271" r:id="rId12"/>
    <p:sldId id="264" r:id="rId13"/>
    <p:sldId id="263" r:id="rId14"/>
    <p:sldId id="273" r:id="rId15"/>
    <p:sldId id="265" r:id="rId16"/>
    <p:sldId id="266" r:id="rId17"/>
    <p:sldId id="267" r:id="rId18"/>
    <p:sldId id="275" r:id="rId19"/>
    <p:sldId id="269" r:id="rId20"/>
    <p:sldId id="277" r:id="rId21"/>
    <p:sldId id="278" r:id="rId22"/>
    <p:sldId id="279" r:id="rId23"/>
    <p:sldId id="260" r:id="rId24"/>
    <p:sldId id="2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p:restoredTop sz="79795"/>
  </p:normalViewPr>
  <p:slideViewPr>
    <p:cSldViewPr snapToGrid="0">
      <p:cViewPr varScale="1">
        <p:scale>
          <a:sx n="100" d="100"/>
          <a:sy n="100" d="100"/>
        </p:scale>
        <p:origin x="61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170355932157987"/>
          <c:y val="0.15893852759173227"/>
          <c:w val="0.63510323699638749"/>
          <c:h val="0.7867737662517349"/>
        </c:manualLayout>
      </c:layout>
      <c:doughnutChart>
        <c:varyColors val="1"/>
        <c:ser>
          <c:idx val="0"/>
          <c:order val="0"/>
          <c:tx>
            <c:strRef>
              <c:f>Sheet1!$B$1</c:f>
              <c:strCache>
                <c:ptCount val="1"/>
                <c:pt idx="0">
                  <c:v>Column1</c:v>
                </c:pt>
              </c:strCache>
            </c:strRef>
          </c:tx>
          <c:dPt>
            <c:idx val="0"/>
            <c:bubble3D val="0"/>
            <c:spPr>
              <a:solidFill>
                <a:schemeClr val="accent2">
                  <a:lumMod val="60000"/>
                  <a:lumOff val="40000"/>
                </a:schemeClr>
              </a:solidFill>
              <a:ln w="19050">
                <a:noFill/>
              </a:ln>
              <a:effectLst/>
            </c:spPr>
            <c:extLst>
              <c:ext xmlns:c16="http://schemas.microsoft.com/office/drawing/2014/chart" uri="{C3380CC4-5D6E-409C-BE32-E72D297353CC}">
                <c16:uniqueId val="{00000002-DBF5-8C40-A5F2-CB223AD8175F}"/>
              </c:ext>
            </c:extLst>
          </c:dPt>
          <c:dPt>
            <c:idx val="1"/>
            <c:bubble3D val="0"/>
            <c:spPr>
              <a:solidFill>
                <a:schemeClr val="accent6">
                  <a:lumMod val="60000"/>
                  <a:lumOff val="40000"/>
                </a:schemeClr>
              </a:solidFill>
              <a:ln w="19050">
                <a:noFill/>
              </a:ln>
              <a:effectLst/>
            </c:spPr>
            <c:extLst>
              <c:ext xmlns:c16="http://schemas.microsoft.com/office/drawing/2014/chart" uri="{C3380CC4-5D6E-409C-BE32-E72D297353CC}">
                <c16:uniqueId val="{00000003-DBF5-8C40-A5F2-CB223AD8175F}"/>
              </c:ext>
            </c:extLst>
          </c:dPt>
          <c:dPt>
            <c:idx val="2"/>
            <c:bubble3D val="0"/>
            <c:spPr>
              <a:solidFill>
                <a:schemeClr val="accent4">
                  <a:lumMod val="60000"/>
                  <a:lumOff val="40000"/>
                </a:schemeClr>
              </a:solidFill>
              <a:ln w="19050">
                <a:noFill/>
              </a:ln>
              <a:effectLst/>
            </c:spPr>
            <c:extLst>
              <c:ext xmlns:c16="http://schemas.microsoft.com/office/drawing/2014/chart" uri="{C3380CC4-5D6E-409C-BE32-E72D297353CC}">
                <c16:uniqueId val="{00000001-DBF5-8C40-A5F2-CB223AD8175F}"/>
              </c:ext>
            </c:extLst>
          </c:dPt>
          <c:dLbls>
            <c:dLbl>
              <c:idx val="0"/>
              <c:layout>
                <c:manualLayout>
                  <c:x val="9.1595414912805082E-2"/>
                  <c:y val="-7.7807681772708137E-2"/>
                </c:manualLayout>
              </c:layout>
              <c:spPr>
                <a:solidFill>
                  <a:schemeClr val="bg1"/>
                </a:solidFill>
                <a:ln w="12700">
                  <a:solidFill>
                    <a:schemeClr val="accent2">
                      <a:lumMod val="75000"/>
                    </a:schemeClr>
                  </a:solidFill>
                </a:ln>
                <a:effectLst/>
              </c:spPr>
              <c:txPr>
                <a:bodyPr rot="0" spcFirstLastPara="1" vertOverflow="ellipsis" vert="horz" wrap="square" anchor="ctr" anchorCtr="1"/>
                <a:lstStyle/>
                <a:p>
                  <a:pPr>
                    <a:defRPr sz="25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2-DBF5-8C40-A5F2-CB223AD8175F}"/>
                </c:ext>
              </c:extLst>
            </c:dLbl>
            <c:dLbl>
              <c:idx val="1"/>
              <c:layout>
                <c:manualLayout>
                  <c:x val="-0.19365887724421649"/>
                  <c:y val="1.6209933702647412E-2"/>
                </c:manualLayout>
              </c:layout>
              <c:spPr>
                <a:solidFill>
                  <a:schemeClr val="bg1"/>
                </a:solidFill>
                <a:ln w="12700">
                  <a:solidFill>
                    <a:schemeClr val="accent6">
                      <a:lumMod val="75000"/>
                    </a:schemeClr>
                  </a:solidFill>
                </a:ln>
                <a:effectLst/>
              </c:spPr>
              <c:txPr>
                <a:bodyPr rot="0" spcFirstLastPara="1" vertOverflow="ellipsis" vert="horz" wrap="square" anchor="ctr" anchorCtr="1"/>
                <a:lstStyle/>
                <a:p>
                  <a:pPr>
                    <a:defRPr sz="25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3-DBF5-8C40-A5F2-CB223AD8175F}"/>
                </c:ext>
              </c:extLst>
            </c:dLbl>
            <c:dLbl>
              <c:idx val="2"/>
              <c:layout>
                <c:manualLayout>
                  <c:x val="-0.12561656902327556"/>
                  <c:y val="-3.2419867405295059E-2"/>
                </c:manualLayout>
              </c:layout>
              <c:spPr>
                <a:solidFill>
                  <a:schemeClr val="bg1"/>
                </a:solidFill>
                <a:ln w="12700">
                  <a:solidFill>
                    <a:schemeClr val="accent4">
                      <a:lumMod val="75000"/>
                    </a:schemeClr>
                  </a:solidFill>
                </a:ln>
                <a:effectLst/>
              </c:spPr>
              <c:txPr>
                <a:bodyPr rot="0" spcFirstLastPara="1" vertOverflow="ellipsis" vert="horz" wrap="square" anchor="ctr" anchorCtr="1"/>
                <a:lstStyle/>
                <a:p>
                  <a:pPr>
                    <a:defRPr sz="25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DBF5-8C40-A5F2-CB223AD8175F}"/>
                </c:ext>
              </c:extLst>
            </c:dLbl>
            <c:spPr>
              <a:solidFill>
                <a:schemeClr val="bg1"/>
              </a:solidFill>
              <a:ln>
                <a:noFill/>
              </a:ln>
              <a:effectLst/>
            </c:spPr>
            <c:txPr>
              <a:bodyPr rot="0" spcFirstLastPara="1" vertOverflow="ellipsis" vert="horz" wrap="square" anchor="ctr" anchorCtr="1"/>
              <a:lstStyle/>
              <a:p>
                <a:pPr>
                  <a:defRPr sz="25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Sheet1!$A$2:$A$4</c:f>
              <c:strCache>
                <c:ptCount val="3"/>
                <c:pt idx="0">
                  <c:v>Auditory</c:v>
                </c:pt>
                <c:pt idx="1">
                  <c:v>Visual</c:v>
                </c:pt>
                <c:pt idx="2">
                  <c:v>Kinesthtic</c:v>
                </c:pt>
              </c:strCache>
            </c:strRef>
          </c:cat>
          <c:val>
            <c:numRef>
              <c:f>Sheet1!$B$2:$B$4</c:f>
              <c:numCache>
                <c:formatCode>0</c:formatCode>
                <c:ptCount val="3"/>
                <c:pt idx="0">
                  <c:v>125</c:v>
                </c:pt>
                <c:pt idx="1">
                  <c:v>220</c:v>
                </c:pt>
                <c:pt idx="2">
                  <c:v>100</c:v>
                </c:pt>
              </c:numCache>
            </c:numRef>
          </c:val>
          <c:extLst>
            <c:ext xmlns:c16="http://schemas.microsoft.com/office/drawing/2014/chart" uri="{C3380CC4-5D6E-409C-BE32-E72D297353CC}">
              <c16:uniqueId val="{00000000-DBF5-8C40-A5F2-CB223AD8175F}"/>
            </c:ext>
          </c:extLst>
        </c:ser>
        <c:dLbls>
          <c:showLegendKey val="0"/>
          <c:showVal val="0"/>
          <c:showCatName val="0"/>
          <c:showSerName val="0"/>
          <c:showPercent val="1"/>
          <c:showBubbleSize val="0"/>
          <c:showLeaderLines val="0"/>
        </c:dLbls>
        <c:firstSliceAng val="0"/>
        <c:holeSize val="50"/>
      </c:doughnutChart>
      <c:spPr>
        <a:noFill/>
        <a:ln>
          <a:noFill/>
        </a:ln>
        <a:effectLst/>
      </c:spPr>
    </c:plotArea>
    <c:legend>
      <c:legendPos val="t"/>
      <c:overlay val="0"/>
      <c:spPr>
        <a:noFill/>
        <a:ln>
          <a:noFill/>
        </a:ln>
        <a:effectLst/>
      </c:spPr>
      <c:txPr>
        <a:bodyPr rot="0" spcFirstLastPara="1" vertOverflow="ellipsis" vert="horz" wrap="square" anchor="ctr" anchorCtr="1"/>
        <a:lstStyle/>
        <a:p>
          <a:pPr>
            <a:defRPr sz="25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500" b="0">
          <a:latin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79C7E9-164D-5443-9300-A9F8732E2C51}" type="doc">
      <dgm:prSet loTypeId="urn:microsoft.com/office/officeart/2005/8/layout/hProcess10" loCatId="" qsTypeId="urn:microsoft.com/office/officeart/2005/8/quickstyle/simple1" qsCatId="simple" csTypeId="urn:microsoft.com/office/officeart/2005/8/colors/colorful5" csCatId="colorful" phldr="1"/>
      <dgm:spPr/>
      <dgm:t>
        <a:bodyPr/>
        <a:lstStyle/>
        <a:p>
          <a:endParaRPr lang="en-US"/>
        </a:p>
      </dgm:t>
    </dgm:pt>
    <dgm:pt modelId="{92AB5824-7FC2-F44D-9089-823E11A6EDEB}">
      <dgm:prSet phldrT="[Text]" custT="1"/>
      <dgm:spPr/>
      <dgm:t>
        <a:bodyPr/>
        <a:lstStyle/>
        <a:p>
          <a:r>
            <a:rPr lang="en-US" sz="3000" dirty="0">
              <a:latin typeface="Calibri" panose="020F0502020204030204" pitchFamily="34" charset="0"/>
              <a:cs typeface="Calibri" panose="020F0502020204030204" pitchFamily="34" charset="0"/>
            </a:rPr>
            <a:t>ClarVis Dataset</a:t>
          </a:r>
        </a:p>
      </dgm:t>
    </dgm:pt>
    <dgm:pt modelId="{BC601D0E-1744-9840-8DF6-396F3DF6ACC7}" type="parTrans" cxnId="{6696A2C0-C9EA-CD44-A836-CB058F150DD3}">
      <dgm:prSet/>
      <dgm:spPr/>
      <dgm:t>
        <a:bodyPr/>
        <a:lstStyle/>
        <a:p>
          <a:endParaRPr lang="en-US" sz="3000">
            <a:latin typeface="Calibri" panose="020F0502020204030204" pitchFamily="34" charset="0"/>
            <a:cs typeface="Calibri" panose="020F0502020204030204" pitchFamily="34" charset="0"/>
          </a:endParaRPr>
        </a:p>
      </dgm:t>
    </dgm:pt>
    <dgm:pt modelId="{553BC61C-8A35-A44E-93B2-A09541084941}" type="sibTrans" cxnId="{6696A2C0-C9EA-CD44-A836-CB058F150DD3}">
      <dgm:prSet phldrT="1" phldr="0"/>
      <dgm:spPr/>
      <dgm:t>
        <a:bodyPr/>
        <a:lstStyle/>
        <a:p>
          <a:endParaRPr sz="3000" dirty="0">
            <a:latin typeface="Calibri" panose="020F0502020204030204" pitchFamily="34" charset="0"/>
            <a:cs typeface="Calibri" panose="020F0502020204030204" pitchFamily="34" charset="0"/>
          </a:endParaRPr>
        </a:p>
      </dgm:t>
    </dgm:pt>
    <dgm:pt modelId="{1756AAAC-2826-134A-AFCB-1C451691A397}">
      <dgm:prSet phldrT="[Text]" custT="1"/>
      <dgm:spPr/>
      <dgm:t>
        <a:bodyPr/>
        <a:lstStyle/>
        <a:p>
          <a:r>
            <a:rPr lang="en-US" sz="3000" dirty="0">
              <a:latin typeface="Calibri" panose="020F0502020204030204" pitchFamily="34" charset="0"/>
              <a:cs typeface="Calibri" panose="020F0502020204030204" pitchFamily="34" charset="0"/>
            </a:rPr>
            <a:t>Grounded Clarification Request Annotation</a:t>
          </a:r>
        </a:p>
      </dgm:t>
    </dgm:pt>
    <dgm:pt modelId="{BAEEDBF5-7D82-9349-A584-FD666B9639BB}" type="parTrans" cxnId="{08F32358-0127-DE4A-B88A-EC837626F501}">
      <dgm:prSet/>
      <dgm:spPr/>
      <dgm:t>
        <a:bodyPr/>
        <a:lstStyle/>
        <a:p>
          <a:endParaRPr lang="en-US" sz="3000">
            <a:latin typeface="Calibri" panose="020F0502020204030204" pitchFamily="34" charset="0"/>
            <a:cs typeface="Calibri" panose="020F0502020204030204" pitchFamily="34" charset="0"/>
          </a:endParaRPr>
        </a:p>
      </dgm:t>
    </dgm:pt>
    <dgm:pt modelId="{155C3B76-31AB-1143-97C8-A565A75C5379}" type="sibTrans" cxnId="{08F32358-0127-DE4A-B88A-EC837626F501}">
      <dgm:prSet phldrT="2" phldr="0"/>
      <dgm:spPr>
        <a:solidFill>
          <a:schemeClr val="bg2">
            <a:lumMod val="25000"/>
          </a:schemeClr>
        </a:solidFill>
      </dgm:spPr>
      <dgm:t>
        <a:bodyPr/>
        <a:lstStyle/>
        <a:p>
          <a:endParaRPr sz="3000" dirty="0">
            <a:latin typeface="Calibri" panose="020F0502020204030204" pitchFamily="34" charset="0"/>
            <a:cs typeface="Calibri" panose="020F0502020204030204" pitchFamily="34" charset="0"/>
          </a:endParaRPr>
        </a:p>
      </dgm:t>
    </dgm:pt>
    <dgm:pt modelId="{2864F304-0334-EF48-AE8A-F8786E3D6411}">
      <dgm:prSet phldrT="[Text]" custT="1"/>
      <dgm:spPr>
        <a:solidFill>
          <a:schemeClr val="bg2">
            <a:lumMod val="25000"/>
          </a:schemeClr>
        </a:solidFill>
      </dgm:spPr>
      <dgm:t>
        <a:bodyPr/>
        <a:lstStyle/>
        <a:p>
          <a:r>
            <a:rPr lang="en-US" sz="3000" dirty="0">
              <a:latin typeface="Calibri" panose="020F0502020204030204" pitchFamily="34" charset="0"/>
              <a:cs typeface="Calibri" panose="020F0502020204030204" pitchFamily="34" charset="0"/>
            </a:rPr>
            <a:t>Prediction Task and Baselines</a:t>
          </a:r>
        </a:p>
      </dgm:t>
    </dgm:pt>
    <dgm:pt modelId="{AE674C1C-3FB7-8548-9AD7-BFC2760E5A40}" type="parTrans" cxnId="{573DFC24-F77E-C048-BD8C-3D131D127CD0}">
      <dgm:prSet/>
      <dgm:spPr/>
      <dgm:t>
        <a:bodyPr/>
        <a:lstStyle/>
        <a:p>
          <a:endParaRPr lang="en-US" sz="3000">
            <a:latin typeface="Calibri" panose="020F0502020204030204" pitchFamily="34" charset="0"/>
            <a:cs typeface="Calibri" panose="020F0502020204030204" pitchFamily="34" charset="0"/>
          </a:endParaRPr>
        </a:p>
      </dgm:t>
    </dgm:pt>
    <dgm:pt modelId="{E4789EF2-E7A5-0844-9218-0EBAC5F81D90}" type="sibTrans" cxnId="{573DFC24-F77E-C048-BD8C-3D131D127CD0}">
      <dgm:prSet phldrT="3" phldr="0"/>
      <dgm:spPr/>
    </dgm:pt>
    <dgm:pt modelId="{DD5F9416-10A4-904D-BE82-8EB9D7779F21}" type="pres">
      <dgm:prSet presAssocID="{5F79C7E9-164D-5443-9300-A9F8732E2C51}" presName="Name0" presStyleCnt="0">
        <dgm:presLayoutVars>
          <dgm:dir/>
          <dgm:resizeHandles val="exact"/>
        </dgm:presLayoutVars>
      </dgm:prSet>
      <dgm:spPr/>
    </dgm:pt>
    <dgm:pt modelId="{5BD41F9D-E4AF-654B-B0AA-CCC7C72F35FE}" type="pres">
      <dgm:prSet presAssocID="{92AB5824-7FC2-F44D-9089-823E11A6EDEB}" presName="composite" presStyleCnt="0"/>
      <dgm:spPr/>
    </dgm:pt>
    <dgm:pt modelId="{197E7B84-BA0A-464A-9C39-69BC16DAA4C8}" type="pres">
      <dgm:prSet presAssocID="{92AB5824-7FC2-F44D-9089-823E11A6EDEB}" presName="imagSh" presStyleLbl="bgImgPlac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Database with solid fill"/>
        </a:ext>
      </dgm:extLst>
    </dgm:pt>
    <dgm:pt modelId="{E874EC5C-E5C3-3D45-995D-FF673707B7D7}" type="pres">
      <dgm:prSet presAssocID="{92AB5824-7FC2-F44D-9089-823E11A6EDEB}" presName="txNode" presStyleLbl="node1" presStyleIdx="0" presStyleCnt="3">
        <dgm:presLayoutVars>
          <dgm:bulletEnabled val="1"/>
        </dgm:presLayoutVars>
      </dgm:prSet>
      <dgm:spPr/>
    </dgm:pt>
    <dgm:pt modelId="{32F649A5-14A2-4842-9792-3FA9527E7730}" type="pres">
      <dgm:prSet presAssocID="{553BC61C-8A35-A44E-93B2-A09541084941}" presName="sibTrans" presStyleLbl="sibTrans2D1" presStyleIdx="0" presStyleCnt="2" custLinFactNeighborX="82956"/>
      <dgm:spPr/>
    </dgm:pt>
    <dgm:pt modelId="{B29B8265-4C70-FF45-89CB-0C960F2C3CCD}" type="pres">
      <dgm:prSet presAssocID="{553BC61C-8A35-A44E-93B2-A09541084941}" presName="connTx" presStyleLbl="sibTrans2D1" presStyleIdx="0" presStyleCnt="2"/>
      <dgm:spPr/>
    </dgm:pt>
    <dgm:pt modelId="{9D6E58F0-A086-8A4C-80A8-020304A8DB68}" type="pres">
      <dgm:prSet presAssocID="{1756AAAC-2826-134A-AFCB-1C451691A397}" presName="composite" presStyleCnt="0"/>
      <dgm:spPr/>
    </dgm:pt>
    <dgm:pt modelId="{D7ADED36-F6F4-054A-B98A-D81C347457B4}" type="pres">
      <dgm:prSet presAssocID="{1756AAAC-2826-134A-AFCB-1C451691A397}" presName="imagSh" presStyleLbl="bgImgPlac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Label outline"/>
        </a:ext>
      </dgm:extLst>
    </dgm:pt>
    <dgm:pt modelId="{D85206A6-4049-D64A-9F91-DF6C2499E582}" type="pres">
      <dgm:prSet presAssocID="{1756AAAC-2826-134A-AFCB-1C451691A397}" presName="txNode" presStyleLbl="node1" presStyleIdx="1" presStyleCnt="3">
        <dgm:presLayoutVars>
          <dgm:bulletEnabled val="1"/>
        </dgm:presLayoutVars>
      </dgm:prSet>
      <dgm:spPr/>
    </dgm:pt>
    <dgm:pt modelId="{9E089A58-4437-6C4E-BE95-63FDD745BBDA}" type="pres">
      <dgm:prSet presAssocID="{155C3B76-31AB-1143-97C8-A565A75C5379}" presName="sibTrans" presStyleLbl="sibTrans2D1" presStyleIdx="1" presStyleCnt="2" custLinFactNeighborX="66900"/>
      <dgm:spPr/>
    </dgm:pt>
    <dgm:pt modelId="{1E4AB03E-0B11-4949-8BB8-F0C7E0799ABC}" type="pres">
      <dgm:prSet presAssocID="{155C3B76-31AB-1143-97C8-A565A75C5379}" presName="connTx" presStyleLbl="sibTrans2D1" presStyleIdx="1" presStyleCnt="2"/>
      <dgm:spPr/>
    </dgm:pt>
    <dgm:pt modelId="{7ED14F14-299C-1D40-9666-71E76CCA6ADE}" type="pres">
      <dgm:prSet presAssocID="{2864F304-0334-EF48-AE8A-F8786E3D6411}" presName="composite" presStyleCnt="0"/>
      <dgm:spPr/>
    </dgm:pt>
    <dgm:pt modelId="{B4EB1DE7-4D11-4F4F-A660-B71F236F45CB}" type="pres">
      <dgm:prSet presAssocID="{2864F304-0334-EF48-AE8A-F8786E3D6411}" presName="imagSh" presStyleLbl="bgImgPlac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Clipboard Mixed with solid fill"/>
        </a:ext>
      </dgm:extLst>
    </dgm:pt>
    <dgm:pt modelId="{C834A054-C6A3-1447-A6BF-D6BAFF4B14BD}" type="pres">
      <dgm:prSet presAssocID="{2864F304-0334-EF48-AE8A-F8786E3D6411}" presName="txNode" presStyleLbl="node1" presStyleIdx="2" presStyleCnt="3">
        <dgm:presLayoutVars>
          <dgm:bulletEnabled val="1"/>
        </dgm:presLayoutVars>
      </dgm:prSet>
      <dgm:spPr/>
    </dgm:pt>
  </dgm:ptLst>
  <dgm:cxnLst>
    <dgm:cxn modelId="{573DFC24-F77E-C048-BD8C-3D131D127CD0}" srcId="{5F79C7E9-164D-5443-9300-A9F8732E2C51}" destId="{2864F304-0334-EF48-AE8A-F8786E3D6411}" srcOrd="2" destOrd="0" parTransId="{AE674C1C-3FB7-8548-9AD7-BFC2760E5A40}" sibTransId="{E4789EF2-E7A5-0844-9218-0EBAC5F81D90}"/>
    <dgm:cxn modelId="{508B7535-87C1-3748-9A02-89B7C2BB038A}" type="presOf" srcId="{1756AAAC-2826-134A-AFCB-1C451691A397}" destId="{D85206A6-4049-D64A-9F91-DF6C2499E582}" srcOrd="0" destOrd="0" presId="urn:microsoft.com/office/officeart/2005/8/layout/hProcess10"/>
    <dgm:cxn modelId="{B4C96A3F-6EA1-E04E-AF47-30B91FC73A91}" type="presOf" srcId="{5F79C7E9-164D-5443-9300-A9F8732E2C51}" destId="{DD5F9416-10A4-904D-BE82-8EB9D7779F21}" srcOrd="0" destOrd="0" presId="urn:microsoft.com/office/officeart/2005/8/layout/hProcess10"/>
    <dgm:cxn modelId="{08F32358-0127-DE4A-B88A-EC837626F501}" srcId="{5F79C7E9-164D-5443-9300-A9F8732E2C51}" destId="{1756AAAC-2826-134A-AFCB-1C451691A397}" srcOrd="1" destOrd="0" parTransId="{BAEEDBF5-7D82-9349-A584-FD666B9639BB}" sibTransId="{155C3B76-31AB-1143-97C8-A565A75C5379}"/>
    <dgm:cxn modelId="{377C675B-E0A2-1C47-9DE7-9E150FD9E894}" type="presOf" srcId="{92AB5824-7FC2-F44D-9089-823E11A6EDEB}" destId="{E874EC5C-E5C3-3D45-995D-FF673707B7D7}" srcOrd="0" destOrd="0" presId="urn:microsoft.com/office/officeart/2005/8/layout/hProcess10"/>
    <dgm:cxn modelId="{28A31B61-0E2C-1244-8F3F-76F0A3A46997}" type="presOf" srcId="{155C3B76-31AB-1143-97C8-A565A75C5379}" destId="{9E089A58-4437-6C4E-BE95-63FDD745BBDA}" srcOrd="0" destOrd="0" presId="urn:microsoft.com/office/officeart/2005/8/layout/hProcess10"/>
    <dgm:cxn modelId="{3C132C74-FB3E-3642-B98E-6FB474B7F044}" type="presOf" srcId="{155C3B76-31AB-1143-97C8-A565A75C5379}" destId="{1E4AB03E-0B11-4949-8BB8-F0C7E0799ABC}" srcOrd="1" destOrd="0" presId="urn:microsoft.com/office/officeart/2005/8/layout/hProcess10"/>
    <dgm:cxn modelId="{59CA73A5-A89B-1F4E-836D-13226C9BD681}" type="presOf" srcId="{553BC61C-8A35-A44E-93B2-A09541084941}" destId="{32F649A5-14A2-4842-9792-3FA9527E7730}" srcOrd="0" destOrd="0" presId="urn:microsoft.com/office/officeart/2005/8/layout/hProcess10"/>
    <dgm:cxn modelId="{6696A2C0-C9EA-CD44-A836-CB058F150DD3}" srcId="{5F79C7E9-164D-5443-9300-A9F8732E2C51}" destId="{92AB5824-7FC2-F44D-9089-823E11A6EDEB}" srcOrd="0" destOrd="0" parTransId="{BC601D0E-1744-9840-8DF6-396F3DF6ACC7}" sibTransId="{553BC61C-8A35-A44E-93B2-A09541084941}"/>
    <dgm:cxn modelId="{EACE14EB-6440-1F40-993F-DCA9AE359E97}" type="presOf" srcId="{553BC61C-8A35-A44E-93B2-A09541084941}" destId="{B29B8265-4C70-FF45-89CB-0C960F2C3CCD}" srcOrd="1" destOrd="0" presId="urn:microsoft.com/office/officeart/2005/8/layout/hProcess10"/>
    <dgm:cxn modelId="{EA8121EF-5183-D14A-B224-04D42B43334B}" type="presOf" srcId="{2864F304-0334-EF48-AE8A-F8786E3D6411}" destId="{C834A054-C6A3-1447-A6BF-D6BAFF4B14BD}" srcOrd="0" destOrd="0" presId="urn:microsoft.com/office/officeart/2005/8/layout/hProcess10"/>
    <dgm:cxn modelId="{C6A707AC-ED0C-D641-ACF3-ECABDFD2164B}" type="presParOf" srcId="{DD5F9416-10A4-904D-BE82-8EB9D7779F21}" destId="{5BD41F9D-E4AF-654B-B0AA-CCC7C72F35FE}" srcOrd="0" destOrd="0" presId="urn:microsoft.com/office/officeart/2005/8/layout/hProcess10"/>
    <dgm:cxn modelId="{B21C1E75-3A5B-7F48-A391-C1D639569A6E}" type="presParOf" srcId="{5BD41F9D-E4AF-654B-B0AA-CCC7C72F35FE}" destId="{197E7B84-BA0A-464A-9C39-69BC16DAA4C8}" srcOrd="0" destOrd="0" presId="urn:microsoft.com/office/officeart/2005/8/layout/hProcess10"/>
    <dgm:cxn modelId="{5A4D9D9D-DA13-2549-B1A7-A8B2BCA5BAC9}" type="presParOf" srcId="{5BD41F9D-E4AF-654B-B0AA-CCC7C72F35FE}" destId="{E874EC5C-E5C3-3D45-995D-FF673707B7D7}" srcOrd="1" destOrd="0" presId="urn:microsoft.com/office/officeart/2005/8/layout/hProcess10"/>
    <dgm:cxn modelId="{C791E073-9B42-3F45-AC32-5075B83AC30D}" type="presParOf" srcId="{DD5F9416-10A4-904D-BE82-8EB9D7779F21}" destId="{32F649A5-14A2-4842-9792-3FA9527E7730}" srcOrd="1" destOrd="0" presId="urn:microsoft.com/office/officeart/2005/8/layout/hProcess10"/>
    <dgm:cxn modelId="{D5EE3D4C-40B6-DF41-B406-836352C1A222}" type="presParOf" srcId="{32F649A5-14A2-4842-9792-3FA9527E7730}" destId="{B29B8265-4C70-FF45-89CB-0C960F2C3CCD}" srcOrd="0" destOrd="0" presId="urn:microsoft.com/office/officeart/2005/8/layout/hProcess10"/>
    <dgm:cxn modelId="{84E8B8D1-5FE2-A847-A822-166ACCE85CB1}" type="presParOf" srcId="{DD5F9416-10A4-904D-BE82-8EB9D7779F21}" destId="{9D6E58F0-A086-8A4C-80A8-020304A8DB68}" srcOrd="2" destOrd="0" presId="urn:microsoft.com/office/officeart/2005/8/layout/hProcess10"/>
    <dgm:cxn modelId="{A739010C-DEFB-7549-9BB2-4B9EB480FE03}" type="presParOf" srcId="{9D6E58F0-A086-8A4C-80A8-020304A8DB68}" destId="{D7ADED36-F6F4-054A-B98A-D81C347457B4}" srcOrd="0" destOrd="0" presId="urn:microsoft.com/office/officeart/2005/8/layout/hProcess10"/>
    <dgm:cxn modelId="{9D05B2D6-C223-B243-A7B4-3C1CA5C21CB3}" type="presParOf" srcId="{9D6E58F0-A086-8A4C-80A8-020304A8DB68}" destId="{D85206A6-4049-D64A-9F91-DF6C2499E582}" srcOrd="1" destOrd="0" presId="urn:microsoft.com/office/officeart/2005/8/layout/hProcess10"/>
    <dgm:cxn modelId="{D1082B24-4FA6-9A4B-B454-6FB915E95026}" type="presParOf" srcId="{DD5F9416-10A4-904D-BE82-8EB9D7779F21}" destId="{9E089A58-4437-6C4E-BE95-63FDD745BBDA}" srcOrd="3" destOrd="0" presId="urn:microsoft.com/office/officeart/2005/8/layout/hProcess10"/>
    <dgm:cxn modelId="{2FEBE349-8EC8-CC46-A631-3EC17ADE0534}" type="presParOf" srcId="{9E089A58-4437-6C4E-BE95-63FDD745BBDA}" destId="{1E4AB03E-0B11-4949-8BB8-F0C7E0799ABC}" srcOrd="0" destOrd="0" presId="urn:microsoft.com/office/officeart/2005/8/layout/hProcess10"/>
    <dgm:cxn modelId="{2FB69C0E-5D0B-8C41-B661-8D55428949F3}" type="presParOf" srcId="{DD5F9416-10A4-904D-BE82-8EB9D7779F21}" destId="{7ED14F14-299C-1D40-9666-71E76CCA6ADE}" srcOrd="4" destOrd="0" presId="urn:microsoft.com/office/officeart/2005/8/layout/hProcess10"/>
    <dgm:cxn modelId="{C8727DFB-8BFC-0946-9A65-39ECEAF80E82}" type="presParOf" srcId="{7ED14F14-299C-1D40-9666-71E76CCA6ADE}" destId="{B4EB1DE7-4D11-4F4F-A660-B71F236F45CB}" srcOrd="0" destOrd="0" presId="urn:microsoft.com/office/officeart/2005/8/layout/hProcess10"/>
    <dgm:cxn modelId="{3FB83401-820B-F849-9F1F-FB42B270B673}" type="presParOf" srcId="{7ED14F14-299C-1D40-9666-71E76CCA6ADE}" destId="{C834A054-C6A3-1447-A6BF-D6BAFF4B14BD}"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7E7B84-BA0A-464A-9C39-69BC16DAA4C8}">
      <dsp:nvSpPr>
        <dsp:cNvPr id="0" name=""/>
        <dsp:cNvSpPr/>
      </dsp:nvSpPr>
      <dsp:spPr>
        <a:xfrm>
          <a:off x="5230" y="612482"/>
          <a:ext cx="2464025" cy="246402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74EC5C-E5C3-3D45-995D-FF673707B7D7}">
      <dsp:nvSpPr>
        <dsp:cNvPr id="0" name=""/>
        <dsp:cNvSpPr/>
      </dsp:nvSpPr>
      <dsp:spPr>
        <a:xfrm>
          <a:off x="406350" y="2090898"/>
          <a:ext cx="2464025" cy="246402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Calibri" panose="020F0502020204030204" pitchFamily="34" charset="0"/>
              <a:cs typeface="Calibri" panose="020F0502020204030204" pitchFamily="34" charset="0"/>
            </a:rPr>
            <a:t>ClarVis Dataset</a:t>
          </a:r>
        </a:p>
      </dsp:txBody>
      <dsp:txXfrm>
        <a:off x="478519" y="2163067"/>
        <a:ext cx="2319687" cy="2319687"/>
      </dsp:txXfrm>
    </dsp:sp>
    <dsp:sp modelId="{32F649A5-14A2-4842-9792-3FA9527E7730}">
      <dsp:nvSpPr>
        <dsp:cNvPr id="0" name=""/>
        <dsp:cNvSpPr/>
      </dsp:nvSpPr>
      <dsp:spPr>
        <a:xfrm>
          <a:off x="3337612" y="1548460"/>
          <a:ext cx="474625" cy="59207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sz="2500" kern="1200" dirty="0">
            <a:latin typeface="Calibri" panose="020F0502020204030204" pitchFamily="34" charset="0"/>
            <a:cs typeface="Calibri" panose="020F0502020204030204" pitchFamily="34" charset="0"/>
          </a:endParaRPr>
        </a:p>
      </dsp:txBody>
      <dsp:txXfrm>
        <a:off x="3337612" y="1666874"/>
        <a:ext cx="332238" cy="355243"/>
      </dsp:txXfrm>
    </dsp:sp>
    <dsp:sp modelId="{D7ADED36-F6F4-054A-B98A-D81C347457B4}">
      <dsp:nvSpPr>
        <dsp:cNvPr id="0" name=""/>
        <dsp:cNvSpPr/>
      </dsp:nvSpPr>
      <dsp:spPr>
        <a:xfrm>
          <a:off x="3825329" y="612482"/>
          <a:ext cx="2464025" cy="246402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5206A6-4049-D64A-9F91-DF6C2499E582}">
      <dsp:nvSpPr>
        <dsp:cNvPr id="0" name=""/>
        <dsp:cNvSpPr/>
      </dsp:nvSpPr>
      <dsp:spPr>
        <a:xfrm>
          <a:off x="4226450" y="2090898"/>
          <a:ext cx="2464025" cy="2464025"/>
        </a:xfrm>
        <a:prstGeom prst="roundRect">
          <a:avLst>
            <a:gd name="adj" fmla="val 10000"/>
          </a:avLst>
        </a:prstGeom>
        <a:solidFill>
          <a:schemeClr val="accent5">
            <a:hueOff val="-7619157"/>
            <a:satOff val="-11294"/>
            <a:lumOff val="-450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Calibri" panose="020F0502020204030204" pitchFamily="34" charset="0"/>
              <a:cs typeface="Calibri" panose="020F0502020204030204" pitchFamily="34" charset="0"/>
            </a:rPr>
            <a:t>Grounded Clarification Request Annotation</a:t>
          </a:r>
        </a:p>
      </dsp:txBody>
      <dsp:txXfrm>
        <a:off x="4298619" y="2163067"/>
        <a:ext cx="2319687" cy="2319687"/>
      </dsp:txXfrm>
    </dsp:sp>
    <dsp:sp modelId="{9E089A58-4437-6C4E-BE95-63FDD745BBDA}">
      <dsp:nvSpPr>
        <dsp:cNvPr id="0" name=""/>
        <dsp:cNvSpPr/>
      </dsp:nvSpPr>
      <dsp:spPr>
        <a:xfrm>
          <a:off x="7081506" y="1548460"/>
          <a:ext cx="474625" cy="592071"/>
        </a:xfrm>
        <a:prstGeom prst="rightArrow">
          <a:avLst>
            <a:gd name="adj1" fmla="val 60000"/>
            <a:gd name="adj2" fmla="val 50000"/>
          </a:avLst>
        </a:prstGeom>
        <a:solidFill>
          <a:schemeClr val="bg2">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sz="2500" kern="1200" dirty="0">
            <a:latin typeface="Calibri" panose="020F0502020204030204" pitchFamily="34" charset="0"/>
            <a:cs typeface="Calibri" panose="020F0502020204030204" pitchFamily="34" charset="0"/>
          </a:endParaRPr>
        </a:p>
      </dsp:txBody>
      <dsp:txXfrm>
        <a:off x="7081506" y="1666874"/>
        <a:ext cx="332238" cy="355243"/>
      </dsp:txXfrm>
    </dsp:sp>
    <dsp:sp modelId="{B4EB1DE7-4D11-4F4F-A660-B71F236F45CB}">
      <dsp:nvSpPr>
        <dsp:cNvPr id="0" name=""/>
        <dsp:cNvSpPr/>
      </dsp:nvSpPr>
      <dsp:spPr>
        <a:xfrm>
          <a:off x="7645429" y="612482"/>
          <a:ext cx="2464025" cy="246402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34A054-C6A3-1447-A6BF-D6BAFF4B14BD}">
      <dsp:nvSpPr>
        <dsp:cNvPr id="0" name=""/>
        <dsp:cNvSpPr/>
      </dsp:nvSpPr>
      <dsp:spPr>
        <a:xfrm>
          <a:off x="8046549" y="2090898"/>
          <a:ext cx="2464025" cy="2464025"/>
        </a:xfrm>
        <a:prstGeom prst="roundRect">
          <a:avLst>
            <a:gd name="adj" fmla="val 10000"/>
          </a:avLst>
        </a:prstGeom>
        <a:solidFill>
          <a:schemeClr val="bg2">
            <a:lumMod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Calibri" panose="020F0502020204030204" pitchFamily="34" charset="0"/>
              <a:cs typeface="Calibri" panose="020F0502020204030204" pitchFamily="34" charset="0"/>
            </a:rPr>
            <a:t>Prediction Task and Baselines</a:t>
          </a:r>
        </a:p>
      </dsp:txBody>
      <dsp:txXfrm>
        <a:off x="8118718" y="2163067"/>
        <a:ext cx="2319687" cy="231968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72B5D-D004-D948-A6D8-1571B85EC917}" type="datetimeFigureOut">
              <a:rPr lang="en-US" smtClean="0"/>
              <a:t>8/1/26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E31D6-A967-7146-9D04-8F9251B3DABF}" type="slidenum">
              <a:rPr lang="en-US" smtClean="0"/>
              <a:t>‹#›</a:t>
            </a:fld>
            <a:endParaRPr lang="en-US"/>
          </a:p>
        </p:txBody>
      </p:sp>
    </p:spTree>
    <p:extLst>
      <p:ext uri="{BB962C8B-B14F-4D97-AF65-F5344CB8AC3E}">
        <p14:creationId xmlns:p14="http://schemas.microsoft.com/office/powerpoint/2010/main" val="1898062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a:t>
            </a:fld>
            <a:endParaRPr lang="en-US"/>
          </a:p>
        </p:txBody>
      </p:sp>
    </p:spTree>
    <p:extLst>
      <p:ext uri="{BB962C8B-B14F-4D97-AF65-F5344CB8AC3E}">
        <p14:creationId xmlns:p14="http://schemas.microsoft.com/office/powerpoint/2010/main" val="3755390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Building on this framing, we introduce </a:t>
            </a:r>
            <a:r>
              <a:rPr lang="en-US" b="1" dirty="0"/>
              <a:t>ClarVis</a:t>
            </a:r>
            <a:r>
              <a:rPr lang="en-US" dirty="0"/>
              <a:t>, a dataset for studying clarification requests in collaborative data visualization dialogues. The data comes from real-time multi-user data-exploration sessions, where two users analyzed data together while interacting with a conversational assistant that generated visualizations.</a:t>
            </a:r>
          </a:p>
          <a:p>
            <a:r>
              <a:rPr lang="en-US" dirty="0"/>
              <a:t>The first part of the contribution is the dataset and annotation. We identify naturally occurring clarification requests in these dialogues, and for each CR we annotate the grounding modality: whether the clarification is grounded in auditory, visual, or kinesthetic uncertainty.</a:t>
            </a:r>
          </a:p>
          <a:p>
            <a:r>
              <a:rPr lang="en-US" dirty="0"/>
              <a:t>The second part is the modeling setup. We define two prediction tasks over this resource. The first is </a:t>
            </a:r>
            <a:r>
              <a:rPr lang="en-US" b="1" dirty="0"/>
              <a:t>CR identification</a:t>
            </a:r>
            <a:r>
              <a:rPr lang="en-US" dirty="0"/>
              <a:t>, where the goal is to distinguish clarification requests from the rest of the dialogue. The second is </a:t>
            </a:r>
            <a:r>
              <a:rPr lang="en-US" b="1" dirty="0"/>
              <a:t>grounding-modality classification</a:t>
            </a:r>
            <a:r>
              <a:rPr lang="en-US" dirty="0"/>
              <a:t>, where the goal is to classify a CR as Auditory, Visual, or Kinesthetic.</a:t>
            </a:r>
          </a:p>
          <a:p>
            <a:r>
              <a:rPr lang="en-US" dirty="0"/>
              <a:t>Finally, we report baseline results using both traditional models and an instruction-tuned language model.</a:t>
            </a:r>
          </a:p>
          <a:p>
            <a:endParaRPr lang="en-US" dirty="0"/>
          </a:p>
          <a:p>
            <a:r>
              <a:rPr lang="en-US" dirty="0"/>
              <a:t> The purpose is to examine how far these distinctions can be recovered from dialogue text and limited context, rather than to claim a final state-of-the-art model </a:t>
            </a:r>
          </a:p>
        </p:txBody>
      </p:sp>
      <p:sp>
        <p:nvSpPr>
          <p:cNvPr id="4" name="Slide Number Placeholder 3"/>
          <p:cNvSpPr>
            <a:spLocks noGrp="1"/>
          </p:cNvSpPr>
          <p:nvPr>
            <p:ph type="sldNum" sz="quarter" idx="5"/>
          </p:nvPr>
        </p:nvSpPr>
        <p:spPr/>
        <p:txBody>
          <a:bodyPr/>
          <a:lstStyle/>
          <a:p>
            <a:fld id="{456E31D6-A967-7146-9D04-8F9251B3DABF}" type="slidenum">
              <a:rPr lang="en-US" smtClean="0"/>
              <a:t>2</a:t>
            </a:fld>
            <a:endParaRPr lang="en-US"/>
          </a:p>
        </p:txBody>
      </p:sp>
    </p:spTree>
    <p:extLst>
      <p:ext uri="{BB962C8B-B14F-4D97-AF65-F5344CB8AC3E}">
        <p14:creationId xmlns:p14="http://schemas.microsoft.com/office/powerpoint/2010/main" val="2810386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Given a prior utterance </a:t>
            </a:r>
            <a:r>
              <a:rPr lang="en-US" b="1" dirty="0">
                <a:latin typeface="Calibri" panose="020F0502020204030204" pitchFamily="34" charset="0"/>
                <a:cs typeface="Calibri" panose="020F0502020204030204" pitchFamily="34" charset="0"/>
              </a:rPr>
              <a:t>U</a:t>
            </a:r>
            <a:r>
              <a:rPr lang="en-US" dirty="0">
                <a:latin typeface="Calibri" panose="020F0502020204030204" pitchFamily="34" charset="0"/>
                <a:cs typeface="Calibri" panose="020F0502020204030204" pitchFamily="34" charset="0"/>
              </a:rPr>
              <a:t>, a later turn </a:t>
            </a:r>
            <a:r>
              <a:rPr lang="en-US" b="1" dirty="0">
                <a:latin typeface="Calibri" panose="020F0502020204030204" pitchFamily="34" charset="0"/>
                <a:cs typeface="Calibri" panose="020F0502020204030204" pitchFamily="34" charset="0"/>
              </a:rPr>
              <a:t>U′</a:t>
            </a:r>
            <a:r>
              <a:rPr lang="en-US" dirty="0">
                <a:latin typeface="Calibri" panose="020F0502020204030204" pitchFamily="34" charset="0"/>
                <a:cs typeface="Calibri" panose="020F0502020204030204" pitchFamily="34" charset="0"/>
              </a:rPr>
              <a:t> is a clarification request when it signals that the listener does </a:t>
            </a:r>
            <a:r>
              <a:rPr lang="en-US" b="1" dirty="0">
                <a:latin typeface="Calibri" panose="020F0502020204030204" pitchFamily="34" charset="0"/>
                <a:cs typeface="Calibri" panose="020F0502020204030204" pitchFamily="34" charset="0"/>
              </a:rPr>
              <a:t>not yet have positive evidence of understanding U</a:t>
            </a:r>
            <a:r>
              <a:rPr lang="en-US" dirty="0">
                <a:latin typeface="Calibri" panose="020F0502020204030204" pitchFamily="34" charset="0"/>
                <a:cs typeface="Calibri" panose="020F0502020204030204" pitchFamily="34" charset="0"/>
              </a:rPr>
              <a:t>.</a:t>
            </a:r>
          </a:p>
          <a:p>
            <a:endParaRPr lang="en-US" dirty="0"/>
          </a:p>
          <a:p>
            <a:r>
              <a:rPr lang="en-US" dirty="0"/>
              <a:t>Before introducing ClarVis, I want to start with the concept the paper builds on. Clarification requests are not just questions. They are repair moves that help speakers resolve uncertainty and maintain common ground. In collaborative settings, this becomes especially important because people need to stay aligned not only on what was said, but also on the shared task context and possible next actions.</a:t>
            </a:r>
          </a:p>
          <a:p>
            <a:r>
              <a:rPr lang="en-US" dirty="0"/>
              <a:t>This paper follows Benotti and Blackburn’s framing of clarification requests as modality-grounded. In other words, a clarification request can arise because of a problem in hearing or wording, in visual interpretation, or in action and interaction. ClarVis applies this idea to collaborative data visualization dialogues.</a:t>
            </a:r>
          </a:p>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3</a:t>
            </a:fld>
            <a:endParaRPr lang="en-US"/>
          </a:p>
        </p:txBody>
      </p:sp>
    </p:spTree>
    <p:extLst>
      <p:ext uri="{BB962C8B-B14F-4D97-AF65-F5344CB8AC3E}">
        <p14:creationId xmlns:p14="http://schemas.microsoft.com/office/powerpoint/2010/main" val="66879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03B4C-BEE8-EAA2-8BE5-4928680E8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7F6E4-2368-13B5-4A07-65301CAF04A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491AD4-E8BF-6A4B-614D-BAC7D5BF9141}"/>
              </a:ext>
            </a:extLst>
          </p:cNvPr>
          <p:cNvSpPr>
            <a:spLocks noGrp="1"/>
          </p:cNvSpPr>
          <p:nvPr>
            <p:ph type="body" idx="1"/>
          </p:nvPr>
        </p:nvSpPr>
        <p:spPr/>
        <p:txBody>
          <a:bodyPr/>
          <a:lstStyle/>
          <a:p>
            <a:r>
              <a:rPr lang="en-US" dirty="0"/>
              <a:t>Before introducing ClarVis, I want to start with the concept the paper builds on. Clarification requests are not just questions. They are repair moves that help speakers resolve uncertainty and maintain common ground. In collaborative settings, this becomes especially important because people need to stay aligned not only on what was said, but also on the shared task context and possible next actions.</a:t>
            </a:r>
          </a:p>
          <a:p>
            <a:r>
              <a:rPr lang="en-US" dirty="0"/>
              <a:t>This paper follows Benotti and Blackburn’s framing of clarification requests as modality-grounded. In other words, a clarification request can arise because of a problem in hearing or wording, in visual interpretation, or in action and interaction. ClarVis applies this idea to collaborative data visualization dialogues.</a:t>
            </a:r>
          </a:p>
          <a:p>
            <a:endParaRPr lang="en-US" dirty="0"/>
          </a:p>
        </p:txBody>
      </p:sp>
      <p:sp>
        <p:nvSpPr>
          <p:cNvPr id="4" name="Slide Number Placeholder 3">
            <a:extLst>
              <a:ext uri="{FF2B5EF4-FFF2-40B4-BE49-F238E27FC236}">
                <a16:creationId xmlns:a16="http://schemas.microsoft.com/office/drawing/2014/main" id="{B402DFE3-B79E-0B04-729F-D27278B1497F}"/>
              </a:ext>
            </a:extLst>
          </p:cNvPr>
          <p:cNvSpPr>
            <a:spLocks noGrp="1"/>
          </p:cNvSpPr>
          <p:nvPr>
            <p:ph type="sldNum" sz="quarter" idx="5"/>
          </p:nvPr>
        </p:nvSpPr>
        <p:spPr/>
        <p:txBody>
          <a:bodyPr/>
          <a:lstStyle/>
          <a:p>
            <a:fld id="{456E31D6-A967-7146-9D04-8F9251B3DABF}" type="slidenum">
              <a:rPr lang="en-US" smtClean="0"/>
              <a:t>4</a:t>
            </a:fld>
            <a:endParaRPr lang="en-US"/>
          </a:p>
        </p:txBody>
      </p:sp>
    </p:spTree>
    <p:extLst>
      <p:ext uri="{BB962C8B-B14F-4D97-AF65-F5344CB8AC3E}">
        <p14:creationId xmlns:p14="http://schemas.microsoft.com/office/powerpoint/2010/main" val="2525154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5</a:t>
            </a:fld>
            <a:endParaRPr lang="en-US"/>
          </a:p>
        </p:txBody>
      </p:sp>
    </p:spTree>
    <p:extLst>
      <p:ext uri="{BB962C8B-B14F-4D97-AF65-F5344CB8AC3E}">
        <p14:creationId xmlns:p14="http://schemas.microsoft.com/office/powerpoint/2010/main" val="405414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6</a:t>
            </a:fld>
            <a:endParaRPr lang="en-US"/>
          </a:p>
        </p:txBody>
      </p:sp>
    </p:spTree>
    <p:extLst>
      <p:ext uri="{BB962C8B-B14F-4D97-AF65-F5344CB8AC3E}">
        <p14:creationId xmlns:p14="http://schemas.microsoft.com/office/powerpoint/2010/main" val="2466985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Slide 1 gives the theoretical framing. Now I want to show what that looks like in the actual dialogues. These are not isolated questions, each one depends on the preceding dialogue or the shared visual or action context.</a:t>
            </a:r>
          </a:p>
        </p:txBody>
      </p:sp>
      <p:sp>
        <p:nvSpPr>
          <p:cNvPr id="4" name="Slide Number Placeholder 3"/>
          <p:cNvSpPr>
            <a:spLocks noGrp="1"/>
          </p:cNvSpPr>
          <p:nvPr>
            <p:ph type="sldNum" sz="quarter" idx="5"/>
          </p:nvPr>
        </p:nvSpPr>
        <p:spPr/>
        <p:txBody>
          <a:bodyPr/>
          <a:lstStyle/>
          <a:p>
            <a:fld id="{456E31D6-A967-7146-9D04-8F9251B3DABF}" type="slidenum">
              <a:rPr lang="en-US" smtClean="0"/>
              <a:t>7</a:t>
            </a:fld>
            <a:endParaRPr lang="en-US"/>
          </a:p>
        </p:txBody>
      </p:sp>
    </p:spTree>
    <p:extLst>
      <p:ext uri="{BB962C8B-B14F-4D97-AF65-F5344CB8AC3E}">
        <p14:creationId xmlns:p14="http://schemas.microsoft.com/office/powerpoint/2010/main" val="4013446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44225-D2DA-6731-CA17-275E3B126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DA2AA-BDBD-7BEC-2896-DCB10D540B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40F8A2-4855-3416-1C40-F7EC8B45B4C3}"/>
              </a:ext>
            </a:extLst>
          </p:cNvPr>
          <p:cNvSpPr>
            <a:spLocks noGrp="1"/>
          </p:cNvSpPr>
          <p:nvPr>
            <p:ph type="body" idx="1"/>
          </p:nvPr>
        </p:nvSpPr>
        <p:spPr/>
        <p:txBody>
          <a:bodyPr/>
          <a:lstStyle/>
          <a:p>
            <a:r>
              <a:rPr lang="en-US" dirty="0"/>
              <a:t>The key annotation issue was that surface form was not enough. We did not label an utterance as a CR just because it looked like a question. The annotators considered what the utterance was doing in the ongoing dialogue. For example, asking for a graph or map is a new visualization request, so it is Rest. Asking what other factors are available is task planning, also Rest. In contrast, ‘Which one do you want?’ was resolved as Kinesthetic because it involved action coordination. After independent annotation, disagreements were resolved through adjudication to produce the final gold labels..</a:t>
            </a:r>
          </a:p>
        </p:txBody>
      </p:sp>
      <p:sp>
        <p:nvSpPr>
          <p:cNvPr id="4" name="Slide Number Placeholder 3">
            <a:extLst>
              <a:ext uri="{FF2B5EF4-FFF2-40B4-BE49-F238E27FC236}">
                <a16:creationId xmlns:a16="http://schemas.microsoft.com/office/drawing/2014/main" id="{50B59A54-2E85-3CE6-574D-350461A79EFC}"/>
              </a:ext>
            </a:extLst>
          </p:cNvPr>
          <p:cNvSpPr>
            <a:spLocks noGrp="1"/>
          </p:cNvSpPr>
          <p:nvPr>
            <p:ph type="sldNum" sz="quarter" idx="5"/>
          </p:nvPr>
        </p:nvSpPr>
        <p:spPr/>
        <p:txBody>
          <a:bodyPr/>
          <a:lstStyle/>
          <a:p>
            <a:fld id="{456E31D6-A967-7146-9D04-8F9251B3DABF}" type="slidenum">
              <a:rPr lang="en-US" smtClean="0"/>
              <a:t>8</a:t>
            </a:fld>
            <a:endParaRPr lang="en-US"/>
          </a:p>
        </p:txBody>
      </p:sp>
    </p:spTree>
    <p:extLst>
      <p:ext uri="{BB962C8B-B14F-4D97-AF65-F5344CB8AC3E}">
        <p14:creationId xmlns:p14="http://schemas.microsoft.com/office/powerpoint/2010/main" val="2313882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understand how much context may be useful for interpreting CRs, we did a small context-distance analysis. In a separate sample of 440 utterances, there were 34 CRs. For each one, we manually inspected up to ten preceding turns and identified the nearest plausible source of uncertainty.</a:t>
            </a:r>
          </a:p>
          <a:p>
            <a:r>
              <a:rPr lang="en-US" dirty="0"/>
              <a:t>Most of these clarifications were local: 15 were grounded within one turn and 10 within two turns, so 73.5 percent fell within the previous two turns. But visual CRs sometimes extended farther back, up to six turns. So the takeaway is that short dialogue context is often useful, but for visual grounding the relevant context may persist across several turns.</a:t>
            </a:r>
          </a:p>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9</a:t>
            </a:fld>
            <a:endParaRPr lang="en-US"/>
          </a:p>
        </p:txBody>
      </p:sp>
    </p:spTree>
    <p:extLst>
      <p:ext uri="{BB962C8B-B14F-4D97-AF65-F5344CB8AC3E}">
        <p14:creationId xmlns:p14="http://schemas.microsoft.com/office/powerpoint/2010/main" val="2437522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final ClarVis dataset contains 29 dialogues, with 6,927 total turns. Of these, 6,377 are user utterances, and 550 are system-generated visualizations.</a:t>
            </a:r>
          </a:p>
          <a:p>
            <a:r>
              <a:rPr lang="en-US" dirty="0"/>
              <a:t>Within this corpus, we identify 445 clarification requests. That is 6.4 percent of all turns, or 7 percent of user utterances. So CRs are not frequent, but they mark specific moments where the interaction needs repair.</a:t>
            </a:r>
          </a:p>
          <a:p>
            <a:r>
              <a:rPr lang="en-US" dirty="0"/>
              <a:t>The modality distribution shows where those repairs occur. Visual CRs are the largest group, with 220 cases, or 49.3 percent. Auditory CRs account for 28.2 percent, and Kinesthetic CRs account for 22.5 percent.</a:t>
            </a:r>
          </a:p>
          <a:p>
            <a:r>
              <a:rPr lang="en-US" dirty="0"/>
              <a:t>So the key point is that ClarVis does not only capture clarifications about charts. It captures grounding breakdowns across the collaborative interaction: what was said, what was shown, and what action or system behavior should happen next.</a:t>
            </a:r>
          </a:p>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10</a:t>
            </a:fld>
            <a:endParaRPr lang="en-US"/>
          </a:p>
        </p:txBody>
      </p:sp>
    </p:spTree>
    <p:extLst>
      <p:ext uri="{BB962C8B-B14F-4D97-AF65-F5344CB8AC3E}">
        <p14:creationId xmlns:p14="http://schemas.microsoft.com/office/powerpoint/2010/main" val="2249681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9D24-309E-8F1D-6319-3FC08C2ED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DEE4B-9B55-F9F9-1154-082CC01F12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044E83-D7ED-3426-7692-D5A73041E965}"/>
              </a:ext>
            </a:extLst>
          </p:cNvPr>
          <p:cNvSpPr>
            <a:spLocks noGrp="1"/>
          </p:cNvSpPr>
          <p:nvPr>
            <p:ph type="body" idx="1"/>
          </p:nvPr>
        </p:nvSpPr>
        <p:spPr/>
        <p:txBody>
          <a:bodyPr/>
          <a:lstStyle/>
          <a:p>
            <a:r>
              <a:rPr lang="en-US" dirty="0"/>
              <a:t>From the ClarVis annotations, we define two text-based prediction tasks. The first is CR identification, where the model predicts whether a user utterance is a clarification request or not. For this task, we compare reference baselines, TF-IDF with Logistic Regression, DistilBERT, and Llama-3.2-3B-Instruct in zero-shot and few-shot settings.</a:t>
            </a:r>
          </a:p>
          <a:p>
            <a:r>
              <a:rPr lang="en-US" dirty="0"/>
              <a:t>The second task is grounding-modality classification. Here, the input is a clarification request, and the model predicts whether its grounding modality is Auditory, Visual, or Kinesthetic. We evaluate this in two ways: first, in a Gold-CR setting where modality is classified only for gold clarification requests, and second, in a pipeline setting, CR-to-GMOD, where the model first predicts CR and then assigns the modality.</a:t>
            </a:r>
          </a:p>
          <a:p>
            <a:r>
              <a:rPr lang="en-US" dirty="0"/>
              <a:t>For both tasks, we compare three context settings: the current utterance alone, the previous turn plus the current utterance, and the previous two turns plus the current utterance.</a:t>
            </a:r>
          </a:p>
          <a:p>
            <a:endParaRPr lang="en-US" dirty="0"/>
          </a:p>
        </p:txBody>
      </p:sp>
      <p:sp>
        <p:nvSpPr>
          <p:cNvPr id="4" name="Slide Number Placeholder 3">
            <a:extLst>
              <a:ext uri="{FF2B5EF4-FFF2-40B4-BE49-F238E27FC236}">
                <a16:creationId xmlns:a16="http://schemas.microsoft.com/office/drawing/2014/main" id="{A351406E-C532-9031-5F56-669DA02217AD}"/>
              </a:ext>
            </a:extLst>
          </p:cNvPr>
          <p:cNvSpPr>
            <a:spLocks noGrp="1"/>
          </p:cNvSpPr>
          <p:nvPr>
            <p:ph type="sldNum" sz="quarter" idx="5"/>
          </p:nvPr>
        </p:nvSpPr>
        <p:spPr/>
        <p:txBody>
          <a:bodyPr/>
          <a:lstStyle/>
          <a:p>
            <a:fld id="{456E31D6-A967-7146-9D04-8F9251B3DABF}" type="slidenum">
              <a:rPr lang="en-US" smtClean="0"/>
              <a:t>11</a:t>
            </a:fld>
            <a:endParaRPr lang="en-US"/>
          </a:p>
        </p:txBody>
      </p:sp>
    </p:spTree>
    <p:extLst>
      <p:ext uri="{BB962C8B-B14F-4D97-AF65-F5344CB8AC3E}">
        <p14:creationId xmlns:p14="http://schemas.microsoft.com/office/powerpoint/2010/main" val="2897875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 this slide, I summarize the main modeling results. We compare reference baselines, TF-IDF with Logistic Regression, DistilBERT, and Llama-3.2-3B-Instruct.</a:t>
            </a:r>
          </a:p>
          <a:p>
            <a:r>
              <a:rPr lang="en-US" dirty="0"/>
              <a:t>For CR identification, the strongest result comes from DistilBERT with the previous turn included. It reaches the best CR F1 of 0.66. This suggests that CRs in ClarVis are distinguishable from surrounding task dialogue, but the task is not simply a surface-form question detection problem. The immediately preceding turn helps, which is consistent with the earlier context analysis showing that many CRs are grounded in recent dialogue context.</a:t>
            </a:r>
          </a:p>
          <a:p>
            <a:r>
              <a:rPr lang="en-US" dirty="0"/>
              <a:t>The Llama results show a different pattern. Llama has very high recall, especially in the zero-shot and few-shot settings, but much lower precision. So it identifies many possible CRs, but it also tends to overpredict CRs, likely because surface cues such as ‘what,’ ‘how,’ or ‘can’ are not enough to distinguish clarification requests from other task-oriented questions.</a:t>
            </a:r>
          </a:p>
          <a:p>
            <a:r>
              <a:rPr lang="en-US" dirty="0"/>
              <a:t>For grounding-modality classification, I show the Gold-CR setting first, where the model is given the true CRs and only predicts Auditory, Visual, or Kinesthetic modality. In this setting, TF-IDF with Logistic Regression gives the best overall macro F1 of 0.52. Visual grounding has the strongest F1, while Auditory is the hardest. This pattern suggests that some modality distinctions leave clearer textual cues than others.</a:t>
            </a:r>
          </a:p>
          <a:p>
            <a:r>
              <a:rPr lang="en-US" dirty="0"/>
              <a:t>The pipeline setting, CR-to-GMOD, is different. Here, the system first has to identify CRs and then assign a modality. Llama reaches around 0.50 macro F1 in this setting, but this number needs to be read together with its CR-ID behavior, because the pipeline result reflects both upstream CR selection and modality prediction. </a:t>
            </a:r>
          </a:p>
          <a:p>
            <a:r>
              <a:rPr lang="en-US" dirty="0"/>
              <a:t>Overall, the results show learnable signal in ClarVis: CR-ID is recoverable from dialogue text to a useful extent, and GMOD reveals structured differences in how Auditory, Visual, and Kinesthetic grounding are expressed in collaborative dialogue.</a:t>
            </a:r>
          </a:p>
          <a:p>
            <a:endParaRPr lang="en-US" dirty="0"/>
          </a:p>
          <a:p>
            <a:endParaRPr lang="en-US" dirty="0"/>
          </a:p>
          <a:p>
            <a:r>
              <a:rPr lang="en-US" dirty="0"/>
              <a:t>For </a:t>
            </a:r>
            <a:r>
              <a:rPr lang="en-US" b="1" dirty="0"/>
              <a:t>CR-ID</a:t>
            </a:r>
            <a:r>
              <a:rPr lang="en-US" dirty="0"/>
              <a:t>, the model is deciding whether an utterance is a CR at all. The most useful signal is often the </a:t>
            </a:r>
            <a:r>
              <a:rPr lang="en-US" b="1" dirty="0"/>
              <a:t>immediately preceding turn</a:t>
            </a:r>
            <a:r>
              <a:rPr lang="en-US" dirty="0"/>
              <a:t>, because a CR usually responds to a recent utterance or event. The context analysis supports that many CRs are grounded within the previous two turns, with many within one turn. </a:t>
            </a:r>
          </a:p>
          <a:p>
            <a:r>
              <a:rPr lang="en-US" dirty="0"/>
              <a:t>For </a:t>
            </a:r>
            <a:r>
              <a:rPr lang="en-US" b="1" dirty="0"/>
              <a:t>GMOD</a:t>
            </a:r>
            <a:r>
              <a:rPr lang="en-US" dirty="0"/>
              <a:t>, the model is not deciding “is this a CR?” It is deciding </a:t>
            </a:r>
            <a:r>
              <a:rPr lang="en-US" b="1" dirty="0"/>
              <a:t>what kind of grounding the CR depends on</a:t>
            </a:r>
            <a:r>
              <a:rPr lang="en-US" dirty="0"/>
              <a:t>. For that, a slightly wider context can help reveal whether the uncertainty is tied to speech/hearing, a visual display, or action/interface flow. So +Prev2 helping A and V in the Gold-CR TF-IDF result is plausible, even though +Prev2 does not help CR-ID. The paper’s task setup explicitly says context settings were used to compare how incremental dialogue context affects both CR identification and modality grounding. </a:t>
            </a:r>
          </a:p>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12</a:t>
            </a:fld>
            <a:endParaRPr lang="en-US"/>
          </a:p>
        </p:txBody>
      </p:sp>
    </p:spTree>
    <p:extLst>
      <p:ext uri="{BB962C8B-B14F-4D97-AF65-F5344CB8AC3E}">
        <p14:creationId xmlns:p14="http://schemas.microsoft.com/office/powerpoint/2010/main" val="1208612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From the ClarVis annotations, we define two text-based prediction tasks. The first is CR identification, where the model predicts whether a user utterance is a clarification request or not. For this task, we compare reference baselines, TF-IDF with Logistic Regression, DistilBERT, and Llama-3.2-3B-Instruct in zero-shot and few-shot settings.</a:t>
            </a:r>
          </a:p>
          <a:p>
            <a:r>
              <a:rPr lang="en-US" dirty="0"/>
              <a:t>The second task is grounding-modality classification. Here, the input is a clarification request, and the model predicts whether its grounding modality is Auditory, Visual, or Kinesthetic. We evaluate this in two ways: first, in a Gold-CR setting where modality is classified only for gold clarification requests, and second, in a pipeline setting, CR-to-GMOD, where the model first predicts CR and then assigns the modality.</a:t>
            </a:r>
          </a:p>
          <a:p>
            <a:r>
              <a:rPr lang="en-US" dirty="0"/>
              <a:t>For both tasks, we compare three context settings: the current utterance alone, the previous turn plus the current utterance, and the previous two turns plus the current utterance.</a:t>
            </a:r>
          </a:p>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13</a:t>
            </a:fld>
            <a:endParaRPr lang="en-US"/>
          </a:p>
        </p:txBody>
      </p:sp>
    </p:spTree>
    <p:extLst>
      <p:ext uri="{BB962C8B-B14F-4D97-AF65-F5344CB8AC3E}">
        <p14:creationId xmlns:p14="http://schemas.microsoft.com/office/powerpoint/2010/main" val="1827958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BC6EF-B984-BE2D-4B42-2640258B8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AE6A4-419C-51C6-FE38-1E37D0C87F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FC937D-EB39-9E4D-E053-BC4A5BA7948D}"/>
              </a:ext>
            </a:extLst>
          </p:cNvPr>
          <p:cNvSpPr>
            <a:spLocks noGrp="1"/>
          </p:cNvSpPr>
          <p:nvPr>
            <p:ph type="body" idx="1"/>
          </p:nvPr>
        </p:nvSpPr>
        <p:spPr/>
        <p:txBody>
          <a:bodyPr/>
          <a:lstStyle/>
          <a:p>
            <a:r>
              <a:rPr lang="en-US" dirty="0"/>
              <a:t>On this slide, I summarize the main modeling results. We compare reference baselines, TF-IDF with Logistic Regression, DistilBERT, and Llama-3.2-3B-Instruct.</a:t>
            </a:r>
          </a:p>
          <a:p>
            <a:r>
              <a:rPr lang="en-US" dirty="0"/>
              <a:t>For CR identification, the strongest result comes from DistilBERT with the previous turn included. It reaches the best CR F1 of 0.66. This suggests that CRs in ClarVis are distinguishable from surrounding task dialogue, but the task is not simply a surface-form question detection problem. The immediately preceding turn helps, which is consistent with the earlier context analysis showing that many CRs are grounded in recent dialogue context.</a:t>
            </a:r>
          </a:p>
          <a:p>
            <a:r>
              <a:rPr lang="en-US" dirty="0"/>
              <a:t>The Llama results show a different pattern. Llama has very high recall, especially in the zero-shot and few-shot settings, but much lower precision. So it identifies many possible CRs, but it also tends to overpredict CRs, likely because surface cues such as ‘what,’ ‘how,’ or ‘can’ are not enough to distinguish clarification requests from other task-oriented questions.</a:t>
            </a:r>
          </a:p>
          <a:p>
            <a:r>
              <a:rPr lang="en-US" dirty="0"/>
              <a:t>For grounding-modality classification, I show the Gold-CR setting first, where the model is given the true CRs and only predicts Auditory, Visual, or Kinesthetic modality. In this setting, TF-IDF with Logistic Regression gives the best overall macro F1 of 0.52. Visual grounding has the strongest F1, while Auditory is the hardest. This pattern suggests that some modality distinctions leave clearer textual cues than others.</a:t>
            </a:r>
          </a:p>
          <a:p>
            <a:r>
              <a:rPr lang="en-US" dirty="0"/>
              <a:t>The pipeline setting, CR-to-GMOD, is different. Here, the system first has to identify CRs and then assign a modality. Llama reaches around 0.50 macro F1 in this setting, but this number needs to be read together with its CR-ID behavior, because the pipeline result reflects both upstream CR selection and modality prediction. </a:t>
            </a:r>
          </a:p>
          <a:p>
            <a:r>
              <a:rPr lang="en-US" dirty="0"/>
              <a:t>Overall, the results show learnable signal in ClarVis: CR-ID is recoverable from dialogue text to a useful extent, and GMOD reveals structured differences in how Auditory, Visual, and Kinesthetic grounding are expressed in collaborative dialogue.</a:t>
            </a:r>
          </a:p>
          <a:p>
            <a:endParaRPr lang="en-US" dirty="0"/>
          </a:p>
          <a:p>
            <a:endParaRPr lang="en-US" dirty="0"/>
          </a:p>
          <a:p>
            <a:r>
              <a:rPr lang="en-US" dirty="0"/>
              <a:t>For </a:t>
            </a:r>
            <a:r>
              <a:rPr lang="en-US" b="1" dirty="0"/>
              <a:t>CR-ID</a:t>
            </a:r>
            <a:r>
              <a:rPr lang="en-US" dirty="0"/>
              <a:t>, the model is deciding whether an utterance is a CR at all. The most useful signal is often the </a:t>
            </a:r>
            <a:r>
              <a:rPr lang="en-US" b="1" dirty="0"/>
              <a:t>immediately preceding turn</a:t>
            </a:r>
            <a:r>
              <a:rPr lang="en-US" dirty="0"/>
              <a:t>, because a CR usually responds to a recent utterance or event. The context analysis supports that many CRs are grounded within the previous two turns, with many within one turn. </a:t>
            </a:r>
          </a:p>
          <a:p>
            <a:r>
              <a:rPr lang="en-US" dirty="0"/>
              <a:t>For </a:t>
            </a:r>
            <a:r>
              <a:rPr lang="en-US" b="1" dirty="0"/>
              <a:t>GMOD</a:t>
            </a:r>
            <a:r>
              <a:rPr lang="en-US" dirty="0"/>
              <a:t>, the model is not deciding “is this a CR?” It is deciding </a:t>
            </a:r>
            <a:r>
              <a:rPr lang="en-US" b="1" dirty="0"/>
              <a:t>what kind of grounding the CR depends on</a:t>
            </a:r>
            <a:r>
              <a:rPr lang="en-US" dirty="0"/>
              <a:t>. For that, a slightly wider context can help reveal whether the uncertainty is tied to speech/hearing, a visual display, or action/interface flow. So +Prev2 helping A and V in the Gold-CR TF-IDF result is plausible, even though +Prev2 does not help CR-ID. The paper’s task setup explicitly says context settings were used to compare how incremental dialogue context affects both CR identification and modality grounding. </a:t>
            </a:r>
          </a:p>
          <a:p>
            <a:endParaRPr lang="en-US" dirty="0"/>
          </a:p>
        </p:txBody>
      </p:sp>
      <p:sp>
        <p:nvSpPr>
          <p:cNvPr id="4" name="Slide Number Placeholder 3">
            <a:extLst>
              <a:ext uri="{FF2B5EF4-FFF2-40B4-BE49-F238E27FC236}">
                <a16:creationId xmlns:a16="http://schemas.microsoft.com/office/drawing/2014/main" id="{FE8AD0A6-CB97-1511-72DB-072DDBE87576}"/>
              </a:ext>
            </a:extLst>
          </p:cNvPr>
          <p:cNvSpPr>
            <a:spLocks noGrp="1"/>
          </p:cNvSpPr>
          <p:nvPr>
            <p:ph type="sldNum" sz="quarter" idx="5"/>
          </p:nvPr>
        </p:nvSpPr>
        <p:spPr/>
        <p:txBody>
          <a:bodyPr/>
          <a:lstStyle/>
          <a:p>
            <a:fld id="{456E31D6-A967-7146-9D04-8F9251B3DABF}" type="slidenum">
              <a:rPr lang="en-US" smtClean="0"/>
              <a:t>14</a:t>
            </a:fld>
            <a:endParaRPr lang="en-US"/>
          </a:p>
        </p:txBody>
      </p:sp>
    </p:spTree>
    <p:extLst>
      <p:ext uri="{BB962C8B-B14F-4D97-AF65-F5344CB8AC3E}">
        <p14:creationId xmlns:p14="http://schemas.microsoft.com/office/powerpoint/2010/main" val="1136747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15</a:t>
            </a:fld>
            <a:endParaRPr lang="en-US"/>
          </a:p>
        </p:txBody>
      </p:sp>
    </p:spTree>
    <p:extLst>
      <p:ext uri="{BB962C8B-B14F-4D97-AF65-F5344CB8AC3E}">
        <p14:creationId xmlns:p14="http://schemas.microsoft.com/office/powerpoint/2010/main" val="1911892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conclude, ClarVis contributes a dataset of naturally occurring clarification requests from collaborative data visualization dialogues. The key annotation layer is grounding modality: whether a CR is grounded in auditory, visual, or kinesthetic evidence.</a:t>
            </a:r>
          </a:p>
          <a:p>
            <a:r>
              <a:rPr lang="en-US" dirty="0"/>
              <a:t>The baseline experiments show that CR identification is learnable from dialogue text and local context, while grounding-modality classification is more modality-dependent. Visual CRs are easier to recover, Auditory CRs are harder, and Kinesthetic cases vary more by model family.</a:t>
            </a:r>
          </a:p>
          <a:p>
            <a:r>
              <a:rPr lang="en-US" dirty="0"/>
              <a:t>The error analysis helps explain this pattern through cross-modal ambiguity, underspecified references, and sparse auditory cues.</a:t>
            </a:r>
          </a:p>
          <a:p>
            <a:r>
              <a:rPr lang="en-US" dirty="0"/>
              <a:t>We release ClarVis with de-identified dialogue transcripts, visualization captions, CR and grounding-modality labels, and fixed train, validation, and test splits.</a:t>
            </a:r>
          </a:p>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16</a:t>
            </a:fld>
            <a:endParaRPr lang="en-US"/>
          </a:p>
        </p:txBody>
      </p:sp>
    </p:spTree>
    <p:extLst>
      <p:ext uri="{BB962C8B-B14F-4D97-AF65-F5344CB8AC3E}">
        <p14:creationId xmlns:p14="http://schemas.microsoft.com/office/powerpoint/2010/main" val="3528337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17</a:t>
            </a:fld>
            <a:endParaRPr lang="en-US"/>
          </a:p>
        </p:txBody>
      </p:sp>
    </p:spTree>
    <p:extLst>
      <p:ext uri="{BB962C8B-B14F-4D97-AF65-F5344CB8AC3E}">
        <p14:creationId xmlns:p14="http://schemas.microsoft.com/office/powerpoint/2010/main" val="29761471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C5D2D-D3AE-6365-F3B1-23CCFBEDC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FB48A-7524-EA83-A522-51529D2D0D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DD0E8B-7DB9-2C43-5EC8-60D07DD343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4D71FB-4324-CD3F-A2BC-DBE0B0ABE635}"/>
              </a:ext>
            </a:extLst>
          </p:cNvPr>
          <p:cNvSpPr>
            <a:spLocks noGrp="1"/>
          </p:cNvSpPr>
          <p:nvPr>
            <p:ph type="sldNum" sz="quarter" idx="5"/>
          </p:nvPr>
        </p:nvSpPr>
        <p:spPr/>
        <p:txBody>
          <a:bodyPr/>
          <a:lstStyle/>
          <a:p>
            <a:fld id="{456E31D6-A967-7146-9D04-8F9251B3DABF}" type="slidenum">
              <a:rPr lang="en-US" smtClean="0"/>
              <a:t>18</a:t>
            </a:fld>
            <a:endParaRPr lang="en-US"/>
          </a:p>
        </p:txBody>
      </p:sp>
    </p:spTree>
    <p:extLst>
      <p:ext uri="{BB962C8B-B14F-4D97-AF65-F5344CB8AC3E}">
        <p14:creationId xmlns:p14="http://schemas.microsoft.com/office/powerpoint/2010/main" val="2140199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19</a:t>
            </a:fld>
            <a:endParaRPr lang="en-US"/>
          </a:p>
        </p:txBody>
      </p:sp>
    </p:spTree>
    <p:extLst>
      <p:ext uri="{BB962C8B-B14F-4D97-AF65-F5344CB8AC3E}">
        <p14:creationId xmlns:p14="http://schemas.microsoft.com/office/powerpoint/2010/main" val="1617644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E31D6-A967-7146-9D04-8F9251B3DABF}" type="slidenum">
              <a:rPr lang="en-US" smtClean="0"/>
              <a:t>20</a:t>
            </a:fld>
            <a:endParaRPr lang="en-US"/>
          </a:p>
        </p:txBody>
      </p:sp>
    </p:spTree>
    <p:extLst>
      <p:ext uri="{BB962C8B-B14F-4D97-AF65-F5344CB8AC3E}">
        <p14:creationId xmlns:p14="http://schemas.microsoft.com/office/powerpoint/2010/main" val="3705983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key annotation issue was that surface form was not enough. We did not label an utterance as a CR just because it looked like a question. The annotators considered what the utterance was doing in the ongoing dialogue. For example, asking for a graph or map is a new visualization request, so it is Rest. Asking what other factors are available is task planning, also Rest. In contrast, ‘Which one do you want?’ was resolved as Kinesthetic because it involved action coordination. After independent annotation, disagreements were resolved through adjudication to produce the final gold labels..</a:t>
            </a:r>
          </a:p>
        </p:txBody>
      </p:sp>
      <p:sp>
        <p:nvSpPr>
          <p:cNvPr id="4" name="Slide Number Placeholder 3"/>
          <p:cNvSpPr>
            <a:spLocks noGrp="1"/>
          </p:cNvSpPr>
          <p:nvPr>
            <p:ph type="sldNum" sz="quarter" idx="5"/>
          </p:nvPr>
        </p:nvSpPr>
        <p:spPr/>
        <p:txBody>
          <a:bodyPr/>
          <a:lstStyle/>
          <a:p>
            <a:fld id="{456E31D6-A967-7146-9D04-8F9251B3DABF}" type="slidenum">
              <a:rPr lang="en-US" smtClean="0"/>
              <a:t>23</a:t>
            </a:fld>
            <a:endParaRPr lang="en-US"/>
          </a:p>
        </p:txBody>
      </p:sp>
    </p:spTree>
    <p:extLst>
      <p:ext uri="{BB962C8B-B14F-4D97-AF65-F5344CB8AC3E}">
        <p14:creationId xmlns:p14="http://schemas.microsoft.com/office/powerpoint/2010/main" val="1053756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C261-39E6-631B-8D28-920C5B904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CDD07-E016-10D5-0476-706B8CB841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1DF1FD-05C4-F35B-AD34-D5BEB836EA7C}"/>
              </a:ext>
            </a:extLst>
          </p:cNvPr>
          <p:cNvSpPr>
            <a:spLocks noGrp="1"/>
          </p:cNvSpPr>
          <p:nvPr>
            <p:ph type="body" idx="1"/>
          </p:nvPr>
        </p:nvSpPr>
        <p:spPr/>
        <p:txBody>
          <a:bodyPr/>
          <a:lstStyle/>
          <a:p>
            <a:r>
              <a:rPr lang="en-US" dirty="0"/>
              <a:t>On this slide, I summarize the main modeling results. We compare reference baselines, TF-IDF with Logistic Regression, DistilBERT, and Llama-3.2-3B-Instruct.</a:t>
            </a:r>
          </a:p>
          <a:p>
            <a:r>
              <a:rPr lang="en-US" dirty="0"/>
              <a:t>For CR identification, the strongest result comes from DistilBERT with the previous turn included. It reaches the best CR F1 of 0.66. This suggests that CRs in ClarVis are distinguishable from surrounding task dialogue, but the task is not simply a surface-form question detection problem. The immediately preceding turn helps, which is consistent with the earlier context analysis showing that many CRs are grounded in recent dialogue context.</a:t>
            </a:r>
          </a:p>
          <a:p>
            <a:r>
              <a:rPr lang="en-US" dirty="0"/>
              <a:t>The Llama results show a different pattern. Llama has very high recall, especially in the zero-shot and few-shot settings, but much lower precision. So it identifies many possible CRs, but it also tends to overpredict CRs, likely because surface cues such as ‘what,’ ‘how,’ or ‘can’ are not enough to distinguish clarification requests from other task-oriented questions.</a:t>
            </a:r>
          </a:p>
          <a:p>
            <a:r>
              <a:rPr lang="en-US" dirty="0"/>
              <a:t>For grounding-modality classification, I show the Gold-CR setting first, where the model is given the true CRs and only predicts Auditory, Visual, or Kinesthetic modality. In this setting, TF-IDF with Logistic Regression gives the best overall macro F1 of 0.52. Visual grounding has the strongest F1, while Auditory is the hardest. This pattern suggests that some modality distinctions leave clearer textual cues than others.</a:t>
            </a:r>
          </a:p>
          <a:p>
            <a:r>
              <a:rPr lang="en-US" dirty="0"/>
              <a:t>The pipeline setting, CR-to-GMOD, is different. Here, the system first has to identify CRs and then assign a modality. Llama reaches around 0.50 macro F1 in this setting, but this number needs to be read together with its CR-ID behavior, because the pipeline result reflects both upstream CR selection and modality prediction. </a:t>
            </a:r>
          </a:p>
          <a:p>
            <a:r>
              <a:rPr lang="en-US" dirty="0"/>
              <a:t>Overall, the results show learnable signal in ClarVis: CR-ID is recoverable from dialogue text to a useful extent, and GMOD reveals structured differences in how Auditory, Visual, and Kinesthetic grounding are expressed in collaborative dialogue.</a:t>
            </a:r>
          </a:p>
          <a:p>
            <a:endParaRPr lang="en-US" dirty="0"/>
          </a:p>
          <a:p>
            <a:endParaRPr lang="en-US" dirty="0"/>
          </a:p>
          <a:p>
            <a:r>
              <a:rPr lang="en-US" dirty="0"/>
              <a:t>For </a:t>
            </a:r>
            <a:r>
              <a:rPr lang="en-US" b="1" dirty="0"/>
              <a:t>CR-ID</a:t>
            </a:r>
            <a:r>
              <a:rPr lang="en-US" dirty="0"/>
              <a:t>, the model is deciding whether an utterance is a CR at all. The most useful signal is often the </a:t>
            </a:r>
            <a:r>
              <a:rPr lang="en-US" b="1" dirty="0"/>
              <a:t>immediately preceding turn</a:t>
            </a:r>
            <a:r>
              <a:rPr lang="en-US" dirty="0"/>
              <a:t>, because a CR usually responds to a recent utterance or event. The context analysis supports that many CRs are grounded within the previous two turns, with many within one turn. </a:t>
            </a:r>
          </a:p>
          <a:p>
            <a:r>
              <a:rPr lang="en-US" dirty="0"/>
              <a:t>For </a:t>
            </a:r>
            <a:r>
              <a:rPr lang="en-US" b="1" dirty="0"/>
              <a:t>GMOD</a:t>
            </a:r>
            <a:r>
              <a:rPr lang="en-US" dirty="0"/>
              <a:t>, the model is not deciding “is this a CR?” It is deciding </a:t>
            </a:r>
            <a:r>
              <a:rPr lang="en-US" b="1" dirty="0"/>
              <a:t>what kind of grounding the CR depends on</a:t>
            </a:r>
            <a:r>
              <a:rPr lang="en-US" dirty="0"/>
              <a:t>. For that, a slightly wider context can help reveal whether the uncertainty is tied to speech/hearing, a visual display, or action/interface flow. So +Prev2 helping A and V in the Gold-CR TF-IDF result is plausible, even though +Prev2 does not help CR-ID. The paper’s task setup explicitly says context settings were used to compare how incremental dialogue context affects both CR identification and modality grounding. </a:t>
            </a:r>
          </a:p>
          <a:p>
            <a:endParaRPr lang="en-US" dirty="0"/>
          </a:p>
        </p:txBody>
      </p:sp>
      <p:sp>
        <p:nvSpPr>
          <p:cNvPr id="4" name="Slide Number Placeholder 3">
            <a:extLst>
              <a:ext uri="{FF2B5EF4-FFF2-40B4-BE49-F238E27FC236}">
                <a16:creationId xmlns:a16="http://schemas.microsoft.com/office/drawing/2014/main" id="{4DB0DC43-0CF7-109D-8575-C8C90BD7B062}"/>
              </a:ext>
            </a:extLst>
          </p:cNvPr>
          <p:cNvSpPr>
            <a:spLocks noGrp="1"/>
          </p:cNvSpPr>
          <p:nvPr>
            <p:ph type="sldNum" sz="quarter" idx="5"/>
          </p:nvPr>
        </p:nvSpPr>
        <p:spPr/>
        <p:txBody>
          <a:bodyPr/>
          <a:lstStyle/>
          <a:p>
            <a:fld id="{456E31D6-A967-7146-9D04-8F9251B3DABF}" type="slidenum">
              <a:rPr lang="en-US" smtClean="0"/>
              <a:t>24</a:t>
            </a:fld>
            <a:endParaRPr lang="en-US"/>
          </a:p>
        </p:txBody>
      </p:sp>
    </p:spTree>
    <p:extLst>
      <p:ext uri="{BB962C8B-B14F-4D97-AF65-F5344CB8AC3E}">
        <p14:creationId xmlns:p14="http://schemas.microsoft.com/office/powerpoint/2010/main" val="3882986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6A35EAA-ED80-4FF1-942C-82B1D483AF60}"/>
              </a:ext>
            </a:extLst>
          </p:cNvPr>
          <p:cNvSpPr/>
          <p:nvPr/>
        </p:nvSpPr>
        <p:spPr>
          <a:xfrm rot="21133683" flipH="1">
            <a:off x="977627" y="481134"/>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D415F49B-3CBC-46CF-AFB5-988852D0479E}"/>
              </a:ext>
            </a:extLst>
          </p:cNvPr>
          <p:cNvSpPr/>
          <p:nvPr/>
        </p:nvSpPr>
        <p:spPr>
          <a:xfrm rot="21133683" flipH="1">
            <a:off x="1010574" y="456230"/>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D80FF0C0-FC1A-4C5B-9FE5-09BA33FF7EE3}"/>
              </a:ext>
            </a:extLst>
          </p:cNvPr>
          <p:cNvSpPr>
            <a:spLocks noGrp="1"/>
          </p:cNvSpPr>
          <p:nvPr>
            <p:ph type="ctrTitle"/>
          </p:nvPr>
        </p:nvSpPr>
        <p:spPr>
          <a:xfrm>
            <a:off x="1956392" y="1398181"/>
            <a:ext cx="7134446" cy="2870791"/>
          </a:xfrm>
        </p:spPr>
        <p:txBody>
          <a:bodyPr anchor="ctr">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E989092-15F8-4341-8D94-9E799301C51A}"/>
              </a:ext>
            </a:extLst>
          </p:cNvPr>
          <p:cNvSpPr>
            <a:spLocks noGrp="1"/>
          </p:cNvSpPr>
          <p:nvPr>
            <p:ph type="subTitle" idx="1"/>
          </p:nvPr>
        </p:nvSpPr>
        <p:spPr>
          <a:xfrm>
            <a:off x="6270835" y="5135527"/>
            <a:ext cx="4397164" cy="1057938"/>
          </a:xfrm>
        </p:spPr>
        <p:txBody>
          <a:bodyPr anchor="ctr">
            <a:normAutofit/>
          </a:bodyPr>
          <a:lstStyle>
            <a:lvl1pPr marL="0" indent="0" algn="l">
              <a:lnSpc>
                <a:spcPct val="100000"/>
              </a:lnSpc>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97328B-E858-4921-99C2-3B0BE1724C6F}"/>
              </a:ext>
            </a:extLst>
          </p:cNvPr>
          <p:cNvSpPr>
            <a:spLocks noGrp="1"/>
          </p:cNvSpPr>
          <p:nvPr>
            <p:ph type="dt" sz="half" idx="10"/>
          </p:nvPr>
        </p:nvSpPr>
        <p:spPr/>
        <p:txBody>
          <a:bodyPr/>
          <a:lstStyle/>
          <a:p>
            <a:fld id="{9A573A47-8775-C54F-865C-E32E14D683DD}" type="datetime1">
              <a:rPr lang="en-US" smtClean="0"/>
              <a:t>8/1/26</a:t>
            </a:fld>
            <a:endParaRPr lang="en-US"/>
          </a:p>
        </p:txBody>
      </p:sp>
      <p:sp>
        <p:nvSpPr>
          <p:cNvPr id="5" name="Footer Placeholder 4">
            <a:extLst>
              <a:ext uri="{FF2B5EF4-FFF2-40B4-BE49-F238E27FC236}">
                <a16:creationId xmlns:a16="http://schemas.microsoft.com/office/drawing/2014/main" id="{ED381296-9B7B-4EF3-89B3-8B33E6070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2FE59-6CD1-4D0F-8A06-10CA2D3836CD}"/>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739809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C77D-9BA0-4A3B-B823-2059DC3C3D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811DB-C16F-4CED-97C6-73ABD71F33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14D3C-7343-4DD7-B816-0D4D66BD61BF}"/>
              </a:ext>
            </a:extLst>
          </p:cNvPr>
          <p:cNvSpPr>
            <a:spLocks noGrp="1"/>
          </p:cNvSpPr>
          <p:nvPr>
            <p:ph type="dt" sz="half" idx="10"/>
          </p:nvPr>
        </p:nvSpPr>
        <p:spPr/>
        <p:txBody>
          <a:bodyPr/>
          <a:lstStyle/>
          <a:p>
            <a:fld id="{B3F6F547-4B2E-B046-B876-E64AAC7C9842}" type="datetime1">
              <a:rPr lang="en-US" smtClean="0"/>
              <a:t>8/1/26</a:t>
            </a:fld>
            <a:endParaRPr lang="en-US"/>
          </a:p>
        </p:txBody>
      </p:sp>
      <p:sp>
        <p:nvSpPr>
          <p:cNvPr id="5" name="Footer Placeholder 4">
            <a:extLst>
              <a:ext uri="{FF2B5EF4-FFF2-40B4-BE49-F238E27FC236}">
                <a16:creationId xmlns:a16="http://schemas.microsoft.com/office/drawing/2014/main" id="{BE2409C8-4D7C-40EE-A12E-59CB555C7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222D5-7193-4F59-83B4-3C19E8B1495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155389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BEFA1-A4AB-4CF4-B02E-57AAED5719D6}"/>
              </a:ext>
            </a:extLst>
          </p:cNvPr>
          <p:cNvSpPr>
            <a:spLocks noGrp="1"/>
          </p:cNvSpPr>
          <p:nvPr>
            <p:ph type="title"/>
          </p:nvPr>
        </p:nvSpPr>
        <p:spPr>
          <a:xfrm>
            <a:off x="1621971" y="1709738"/>
            <a:ext cx="9165772" cy="2963271"/>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0AB406C-F19A-4393-9AD1-A300A7E452E8}"/>
              </a:ext>
            </a:extLst>
          </p:cNvPr>
          <p:cNvSpPr>
            <a:spLocks noGrp="1"/>
          </p:cNvSpPr>
          <p:nvPr>
            <p:ph type="body" idx="1"/>
          </p:nvPr>
        </p:nvSpPr>
        <p:spPr>
          <a:xfrm>
            <a:off x="1621971" y="4875028"/>
            <a:ext cx="9165772" cy="1052623"/>
          </a:xfrm>
        </p:spPr>
        <p:txBody>
          <a:bodyPr>
            <a:normAutofit/>
          </a:bodyPr>
          <a:lstStyle>
            <a:lvl1pPr marL="0" indent="0" algn="ctr">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7D7AE7-47F6-4023-8D44-8BA1DAB05FF2}"/>
              </a:ext>
            </a:extLst>
          </p:cNvPr>
          <p:cNvSpPr>
            <a:spLocks noGrp="1"/>
          </p:cNvSpPr>
          <p:nvPr>
            <p:ph type="dt" sz="half" idx="10"/>
          </p:nvPr>
        </p:nvSpPr>
        <p:spPr/>
        <p:txBody>
          <a:bodyPr/>
          <a:lstStyle/>
          <a:p>
            <a:fld id="{A7D71888-51EE-0D45-929E-F56327DF2B7C}" type="datetime1">
              <a:rPr lang="en-US" smtClean="0"/>
              <a:t>8/1/26</a:t>
            </a:fld>
            <a:endParaRPr lang="en-US"/>
          </a:p>
        </p:txBody>
      </p:sp>
      <p:sp>
        <p:nvSpPr>
          <p:cNvPr id="5" name="Footer Placeholder 4">
            <a:extLst>
              <a:ext uri="{FF2B5EF4-FFF2-40B4-BE49-F238E27FC236}">
                <a16:creationId xmlns:a16="http://schemas.microsoft.com/office/drawing/2014/main" id="{57AB32FC-A974-44FC-9804-F871EE51D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9ADE9-F40E-4E3B-AB8D-68CB1F4854A5}"/>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104543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D816-3E01-4EFD-AD9C-783D674DA6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F53D69-34A7-451D-A902-5F6CD13343FE}"/>
              </a:ext>
            </a:extLst>
          </p:cNvPr>
          <p:cNvSpPr>
            <a:spLocks noGrp="1"/>
          </p:cNvSpPr>
          <p:nvPr>
            <p:ph sz="half" idx="1"/>
          </p:nvPr>
        </p:nvSpPr>
        <p:spPr>
          <a:xfrm>
            <a:off x="1020722" y="2095500"/>
            <a:ext cx="4999077"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6E1E0E2-7D34-48E0-8795-546D2F00E2CF}"/>
              </a:ext>
            </a:extLst>
          </p:cNvPr>
          <p:cNvSpPr>
            <a:spLocks noGrp="1"/>
          </p:cNvSpPr>
          <p:nvPr>
            <p:ph sz="half" idx="2"/>
          </p:nvPr>
        </p:nvSpPr>
        <p:spPr>
          <a:xfrm>
            <a:off x="6281056" y="2095500"/>
            <a:ext cx="5072743"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E005476-6B6D-4BA3-919B-5335D6429852}"/>
              </a:ext>
            </a:extLst>
          </p:cNvPr>
          <p:cNvSpPr>
            <a:spLocks noGrp="1"/>
          </p:cNvSpPr>
          <p:nvPr>
            <p:ph type="dt" sz="half" idx="10"/>
          </p:nvPr>
        </p:nvSpPr>
        <p:spPr/>
        <p:txBody>
          <a:bodyPr/>
          <a:lstStyle/>
          <a:p>
            <a:fld id="{03D1A6D8-C8C2-0C43-9A9D-84FC933EA412}" type="datetime1">
              <a:rPr lang="en-US" smtClean="0"/>
              <a:t>8/1/26</a:t>
            </a:fld>
            <a:endParaRPr lang="en-US"/>
          </a:p>
        </p:txBody>
      </p:sp>
      <p:sp>
        <p:nvSpPr>
          <p:cNvPr id="6" name="Footer Placeholder 5">
            <a:extLst>
              <a:ext uri="{FF2B5EF4-FFF2-40B4-BE49-F238E27FC236}">
                <a16:creationId xmlns:a16="http://schemas.microsoft.com/office/drawing/2014/main" id="{F5DB6D41-07E2-4F6D-BB39-217957FE76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0CA9C-BFED-484F-B765-EA8CE4B4B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36332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4AD2-5208-4201-90A7-F961876195F8}"/>
              </a:ext>
            </a:extLst>
          </p:cNvPr>
          <p:cNvSpPr>
            <a:spLocks noGrp="1"/>
          </p:cNvSpPr>
          <p:nvPr>
            <p:ph type="title"/>
          </p:nvPr>
        </p:nvSpPr>
        <p:spPr>
          <a:xfrm>
            <a:off x="1028700" y="702129"/>
            <a:ext cx="10326688" cy="11256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3A3FF53-BE24-42E9-BA12-BC5863CBFF1B}"/>
              </a:ext>
            </a:extLst>
          </p:cNvPr>
          <p:cNvSpPr>
            <a:spLocks noGrp="1"/>
          </p:cNvSpPr>
          <p:nvPr>
            <p:ph type="body" idx="1"/>
          </p:nvPr>
        </p:nvSpPr>
        <p:spPr>
          <a:xfrm>
            <a:off x="1028700" y="1827804"/>
            <a:ext cx="4968875"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7A84776-6678-4D27-9BE9-5D83FC9E884F}"/>
              </a:ext>
            </a:extLst>
          </p:cNvPr>
          <p:cNvSpPr>
            <a:spLocks noGrp="1"/>
          </p:cNvSpPr>
          <p:nvPr>
            <p:ph sz="half" idx="2"/>
          </p:nvPr>
        </p:nvSpPr>
        <p:spPr>
          <a:xfrm>
            <a:off x="1028700" y="2642191"/>
            <a:ext cx="4968875" cy="34024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8BCA2E2-5B30-43B4-8FCD-23015451F221}"/>
              </a:ext>
            </a:extLst>
          </p:cNvPr>
          <p:cNvSpPr>
            <a:spLocks noGrp="1"/>
          </p:cNvSpPr>
          <p:nvPr>
            <p:ph type="body" sz="quarter" idx="3"/>
          </p:nvPr>
        </p:nvSpPr>
        <p:spPr>
          <a:xfrm>
            <a:off x="6281054" y="1827804"/>
            <a:ext cx="5087034"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CDA7B7A1-E670-4E7E-AEBA-340893DE8EE5}"/>
              </a:ext>
            </a:extLst>
          </p:cNvPr>
          <p:cNvSpPr>
            <a:spLocks noGrp="1"/>
          </p:cNvSpPr>
          <p:nvPr>
            <p:ph sz="quarter" idx="4"/>
          </p:nvPr>
        </p:nvSpPr>
        <p:spPr>
          <a:xfrm>
            <a:off x="6281054" y="2642191"/>
            <a:ext cx="5087034" cy="34024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3244D3AE-982A-4CC3-8456-4D4B0E35D993}"/>
              </a:ext>
            </a:extLst>
          </p:cNvPr>
          <p:cNvSpPr>
            <a:spLocks noGrp="1"/>
          </p:cNvSpPr>
          <p:nvPr>
            <p:ph type="dt" sz="half" idx="10"/>
          </p:nvPr>
        </p:nvSpPr>
        <p:spPr/>
        <p:txBody>
          <a:bodyPr/>
          <a:lstStyle/>
          <a:p>
            <a:fld id="{B2DFCDE4-C300-7045-9DDC-29702F9A60F8}" type="datetime1">
              <a:rPr lang="en-US" smtClean="0"/>
              <a:t>8/1/26</a:t>
            </a:fld>
            <a:endParaRPr lang="en-US"/>
          </a:p>
        </p:txBody>
      </p:sp>
      <p:sp>
        <p:nvSpPr>
          <p:cNvPr id="8" name="Footer Placeholder 7">
            <a:extLst>
              <a:ext uri="{FF2B5EF4-FFF2-40B4-BE49-F238E27FC236}">
                <a16:creationId xmlns:a16="http://schemas.microsoft.com/office/drawing/2014/main" id="{56FE3087-09F9-4436-8236-8693EA4984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8413CB-0E24-4F96-AF8C-EE269ACCE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45024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55CAD1C-D319-4A48-8DF9-50699231C977}"/>
              </a:ext>
            </a:extLst>
          </p:cNvPr>
          <p:cNvSpPr>
            <a:spLocks noGrp="1"/>
          </p:cNvSpPr>
          <p:nvPr>
            <p:ph type="dt" sz="half" idx="10"/>
          </p:nvPr>
        </p:nvSpPr>
        <p:spPr/>
        <p:txBody>
          <a:bodyPr/>
          <a:lstStyle/>
          <a:p>
            <a:fld id="{8B632C8A-4C3C-1C49-822B-B56D5DDBD5E4}" type="datetime1">
              <a:rPr lang="en-US" smtClean="0"/>
              <a:t>8/1/26</a:t>
            </a:fld>
            <a:endParaRPr lang="en-US"/>
          </a:p>
        </p:txBody>
      </p:sp>
      <p:sp>
        <p:nvSpPr>
          <p:cNvPr id="4" name="Footer Placeholder 3">
            <a:extLst>
              <a:ext uri="{FF2B5EF4-FFF2-40B4-BE49-F238E27FC236}">
                <a16:creationId xmlns:a16="http://schemas.microsoft.com/office/drawing/2014/main" id="{FE3D0181-83E0-4AB1-B372-24D6C075B0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50352C-6317-4DD0-84C4-AE7DDAC55F0A}"/>
              </a:ext>
            </a:extLst>
          </p:cNvPr>
          <p:cNvSpPr>
            <a:spLocks noGrp="1"/>
          </p:cNvSpPr>
          <p:nvPr>
            <p:ph type="sldNum" sz="quarter" idx="12"/>
          </p:nvPr>
        </p:nvSpPr>
        <p:spPr/>
        <p:txBody>
          <a:bodyPr/>
          <a:lstStyle/>
          <a:p>
            <a:fld id="{7C7FAD9F-AEE9-406E-B720-57D2B9DB2816}" type="slidenum">
              <a:rPr lang="en-US" smtClean="0"/>
              <a:t>‹#›</a:t>
            </a:fld>
            <a:endParaRPr lang="en-US"/>
          </a:p>
        </p:txBody>
      </p:sp>
      <p:sp>
        <p:nvSpPr>
          <p:cNvPr id="6" name="Freeform: Shape 5">
            <a:extLst>
              <a:ext uri="{FF2B5EF4-FFF2-40B4-BE49-F238E27FC236}">
                <a16:creationId xmlns:a16="http://schemas.microsoft.com/office/drawing/2014/main" id="{48F340C5-9EBB-43D9-91F5-F767DBD59BBF}"/>
              </a:ext>
              <a:ext uri="{C183D7F6-B498-43B3-948B-1728B52AA6E4}">
                <adec:decorative xmlns:adec="http://schemas.microsoft.com/office/drawing/2017/decorative" val="1"/>
              </a:ext>
            </a:extLst>
          </p:cNvPr>
          <p:cNvSpPr/>
          <p:nvPr/>
        </p:nvSpPr>
        <p:spPr>
          <a:xfrm rot="492880">
            <a:off x="2401240" y="1130240"/>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solidFill>
            <a:schemeClr val="bg1"/>
          </a:solidFill>
          <a:ln w="1905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9ECC812-F2A9-46D4-9B78-6659C68ED4EE}"/>
              </a:ext>
            </a:extLst>
          </p:cNvPr>
          <p:cNvSpPr>
            <a:spLocks noGrp="1"/>
          </p:cNvSpPr>
          <p:nvPr>
            <p:ph type="title"/>
          </p:nvPr>
        </p:nvSpPr>
        <p:spPr>
          <a:xfrm>
            <a:off x="3412671" y="1932214"/>
            <a:ext cx="6966858" cy="3091544"/>
          </a:xfrm>
        </p:spPr>
        <p:txBody>
          <a:bodyPr/>
          <a:lstStyle>
            <a:lvl1pPr algn="ctr">
              <a:defRPr/>
            </a:lvl1pPr>
          </a:lstStyle>
          <a:p>
            <a:r>
              <a:rPr lang="en-US"/>
              <a:t>Click to edit Master title style</a:t>
            </a:r>
            <a:endParaRPr lang="en-US" dirty="0"/>
          </a:p>
        </p:txBody>
      </p:sp>
      <p:sp>
        <p:nvSpPr>
          <p:cNvPr id="7" name="Freeform: Shape 6">
            <a:extLst>
              <a:ext uri="{FF2B5EF4-FFF2-40B4-BE49-F238E27FC236}">
                <a16:creationId xmlns:a16="http://schemas.microsoft.com/office/drawing/2014/main" id="{B7A37F60-69E7-41AC-BC9A-9DBC3B577269}"/>
              </a:ext>
              <a:ext uri="{C183D7F6-B498-43B3-948B-1728B52AA6E4}">
                <adec:decorative xmlns:adec="http://schemas.microsoft.com/office/drawing/2017/decorative" val="1"/>
              </a:ext>
            </a:extLst>
          </p:cNvPr>
          <p:cNvSpPr/>
          <p:nvPr/>
        </p:nvSpPr>
        <p:spPr>
          <a:xfrm rot="492880">
            <a:off x="2455668" y="1103025"/>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noFill/>
          <a:ln w="19050" cap="flat">
            <a:solidFill>
              <a:schemeClr val="tx1"/>
            </a:solidFill>
            <a:prstDash val="solid"/>
            <a:miter/>
          </a:ln>
        </p:spPr>
        <p:txBody>
          <a:bodyPr rtlCol="0" anchor="ctr"/>
          <a:lstStyle/>
          <a:p>
            <a:endParaRPr lang="en-US"/>
          </a:p>
        </p:txBody>
      </p:sp>
    </p:spTree>
    <p:extLst>
      <p:ext uri="{BB962C8B-B14F-4D97-AF65-F5344CB8AC3E}">
        <p14:creationId xmlns:p14="http://schemas.microsoft.com/office/powerpoint/2010/main" val="1654544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6D441F-9FBB-4F90-987A-39793DE0E7A0}"/>
              </a:ext>
            </a:extLst>
          </p:cNvPr>
          <p:cNvSpPr>
            <a:spLocks noGrp="1"/>
          </p:cNvSpPr>
          <p:nvPr>
            <p:ph type="dt" sz="half" idx="10"/>
          </p:nvPr>
        </p:nvSpPr>
        <p:spPr/>
        <p:txBody>
          <a:bodyPr/>
          <a:lstStyle/>
          <a:p>
            <a:fld id="{C7397AC2-4032-3747-9EDC-86F08555687C}" type="datetime1">
              <a:rPr lang="en-US" smtClean="0"/>
              <a:t>8/1/26</a:t>
            </a:fld>
            <a:endParaRPr lang="en-US"/>
          </a:p>
        </p:txBody>
      </p:sp>
      <p:sp>
        <p:nvSpPr>
          <p:cNvPr id="3" name="Footer Placeholder 2">
            <a:extLst>
              <a:ext uri="{FF2B5EF4-FFF2-40B4-BE49-F238E27FC236}">
                <a16:creationId xmlns:a16="http://schemas.microsoft.com/office/drawing/2014/main" id="{53C92B1E-8D5D-45CA-9A8B-53E3B7FEC4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489E71-49A9-4CE9-AD1D-780A876BC35A}"/>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099097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053A-B2EE-4E20-9723-6BB0BBD500FD}"/>
              </a:ext>
            </a:extLst>
          </p:cNvPr>
          <p:cNvSpPr>
            <a:spLocks noGrp="1"/>
          </p:cNvSpPr>
          <p:nvPr>
            <p:ph type="title"/>
          </p:nvPr>
        </p:nvSpPr>
        <p:spPr>
          <a:xfrm>
            <a:off x="839788" y="553272"/>
            <a:ext cx="3932237" cy="1732727"/>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7B065AB-0DF3-4C86-AB5F-EB65021FDB99}"/>
              </a:ext>
            </a:extLst>
          </p:cNvPr>
          <p:cNvSpPr>
            <a:spLocks noGrp="1"/>
          </p:cNvSpPr>
          <p:nvPr>
            <p:ph idx="1"/>
          </p:nvPr>
        </p:nvSpPr>
        <p:spPr>
          <a:xfrm>
            <a:off x="5415642" y="987425"/>
            <a:ext cx="593974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2D99FAE-8825-466D-9F1E-3B7BAED2C05B}"/>
              </a:ext>
            </a:extLst>
          </p:cNvPr>
          <p:cNvSpPr>
            <a:spLocks noGrp="1"/>
          </p:cNvSpPr>
          <p:nvPr>
            <p:ph type="body" sz="half" idx="2"/>
          </p:nvPr>
        </p:nvSpPr>
        <p:spPr>
          <a:xfrm>
            <a:off x="839788" y="2368550"/>
            <a:ext cx="3932237" cy="350043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3A6375-677F-4A58-B98D-18F3DEF8E623}"/>
              </a:ext>
            </a:extLst>
          </p:cNvPr>
          <p:cNvSpPr>
            <a:spLocks noGrp="1"/>
          </p:cNvSpPr>
          <p:nvPr>
            <p:ph type="dt" sz="half" idx="10"/>
          </p:nvPr>
        </p:nvSpPr>
        <p:spPr/>
        <p:txBody>
          <a:bodyPr/>
          <a:lstStyle/>
          <a:p>
            <a:fld id="{6B8EE09C-2BEF-E34B-A6BE-DE788006E397}" type="datetime1">
              <a:rPr lang="en-US" smtClean="0"/>
              <a:t>8/1/26</a:t>
            </a:fld>
            <a:endParaRPr lang="en-US"/>
          </a:p>
        </p:txBody>
      </p:sp>
      <p:sp>
        <p:nvSpPr>
          <p:cNvPr id="6" name="Footer Placeholder 5">
            <a:extLst>
              <a:ext uri="{FF2B5EF4-FFF2-40B4-BE49-F238E27FC236}">
                <a16:creationId xmlns:a16="http://schemas.microsoft.com/office/drawing/2014/main" id="{E6B40F2C-7AE7-481B-856A-B3E26AE8B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E7C48C-9BD9-41CB-915E-A905B8869B70}"/>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4083805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6DE4-025D-4D93-A5D0-FB45897207DA}"/>
              </a:ext>
            </a:extLst>
          </p:cNvPr>
          <p:cNvSpPr>
            <a:spLocks noGrp="1"/>
          </p:cNvSpPr>
          <p:nvPr>
            <p:ph type="title"/>
          </p:nvPr>
        </p:nvSpPr>
        <p:spPr>
          <a:xfrm>
            <a:off x="839788" y="615915"/>
            <a:ext cx="3932237" cy="16700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993EE21-471F-4B7B-B7AF-192243A12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146B769-8E40-42E6-8F62-C4347B0CE929}"/>
              </a:ext>
            </a:extLst>
          </p:cNvPr>
          <p:cNvSpPr>
            <a:spLocks noGrp="1"/>
          </p:cNvSpPr>
          <p:nvPr>
            <p:ph type="body" sz="half" idx="2"/>
          </p:nvPr>
        </p:nvSpPr>
        <p:spPr>
          <a:xfrm>
            <a:off x="839788" y="2365744"/>
            <a:ext cx="3932237" cy="35032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4DC6-1AA3-4779-8EDF-F4A877508EE3}"/>
              </a:ext>
            </a:extLst>
          </p:cNvPr>
          <p:cNvSpPr>
            <a:spLocks noGrp="1"/>
          </p:cNvSpPr>
          <p:nvPr>
            <p:ph type="dt" sz="half" idx="10"/>
          </p:nvPr>
        </p:nvSpPr>
        <p:spPr/>
        <p:txBody>
          <a:bodyPr/>
          <a:lstStyle/>
          <a:p>
            <a:fld id="{1423BC5C-6515-EE48-851B-C5D822E60BD5}" type="datetime1">
              <a:rPr lang="en-US" smtClean="0"/>
              <a:t>8/1/26</a:t>
            </a:fld>
            <a:endParaRPr lang="en-US"/>
          </a:p>
        </p:txBody>
      </p:sp>
      <p:sp>
        <p:nvSpPr>
          <p:cNvPr id="6" name="Footer Placeholder 5">
            <a:extLst>
              <a:ext uri="{FF2B5EF4-FFF2-40B4-BE49-F238E27FC236}">
                <a16:creationId xmlns:a16="http://schemas.microsoft.com/office/drawing/2014/main" id="{CD47F83E-FAF9-43E1-95CC-6F4EDD76B3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D8C7B-B211-4BAF-9C05-09CF993B0DA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630799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39E3-FB89-4585-A22D-15851E8DE0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94B498-70D2-4956-A576-83345B38DC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A84CB-FF9E-43D6-8805-B4ABB520D60C}"/>
              </a:ext>
            </a:extLst>
          </p:cNvPr>
          <p:cNvSpPr>
            <a:spLocks noGrp="1"/>
          </p:cNvSpPr>
          <p:nvPr>
            <p:ph type="dt" sz="half" idx="10"/>
          </p:nvPr>
        </p:nvSpPr>
        <p:spPr/>
        <p:txBody>
          <a:bodyPr/>
          <a:lstStyle/>
          <a:p>
            <a:fld id="{69950B9B-8AB8-6342-A76D-5FA233268D30}" type="datetime1">
              <a:rPr lang="en-US" smtClean="0"/>
              <a:t>8/1/26</a:t>
            </a:fld>
            <a:endParaRPr lang="en-US"/>
          </a:p>
        </p:txBody>
      </p:sp>
      <p:sp>
        <p:nvSpPr>
          <p:cNvPr id="5" name="Footer Placeholder 4">
            <a:extLst>
              <a:ext uri="{FF2B5EF4-FFF2-40B4-BE49-F238E27FC236}">
                <a16:creationId xmlns:a16="http://schemas.microsoft.com/office/drawing/2014/main" id="{BCA7EE14-0A60-428B-BC0E-A50951E0E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A9A22-BBF2-4B23-B17F-B32AC87D290F}"/>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863030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CC51B-E0BE-4D50-A04A-571F8BCAE2A7}"/>
              </a:ext>
            </a:extLst>
          </p:cNvPr>
          <p:cNvSpPr>
            <a:spLocks noGrp="1"/>
          </p:cNvSpPr>
          <p:nvPr>
            <p:ph type="title" orient="vert"/>
          </p:nvPr>
        </p:nvSpPr>
        <p:spPr>
          <a:xfrm>
            <a:off x="9099550" y="692150"/>
            <a:ext cx="2254250" cy="530993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41F5607-7A89-4981-87F4-98BC7CE0A921}"/>
              </a:ext>
            </a:extLst>
          </p:cNvPr>
          <p:cNvSpPr>
            <a:spLocks noGrp="1"/>
          </p:cNvSpPr>
          <p:nvPr>
            <p:ph type="body" orient="vert" idx="1"/>
          </p:nvPr>
        </p:nvSpPr>
        <p:spPr>
          <a:xfrm>
            <a:off x="838200" y="692150"/>
            <a:ext cx="8108950" cy="53099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820D5BE-275A-42D5-BCE1-357D53FC50C3}"/>
              </a:ext>
            </a:extLst>
          </p:cNvPr>
          <p:cNvSpPr>
            <a:spLocks noGrp="1"/>
          </p:cNvSpPr>
          <p:nvPr>
            <p:ph type="dt" sz="half" idx="10"/>
          </p:nvPr>
        </p:nvSpPr>
        <p:spPr/>
        <p:txBody>
          <a:bodyPr/>
          <a:lstStyle/>
          <a:p>
            <a:fld id="{820AA6AF-9053-5D48-9380-4DE532C82E13}" type="datetime1">
              <a:rPr lang="en-US" smtClean="0"/>
              <a:t>8/1/26</a:t>
            </a:fld>
            <a:endParaRPr lang="en-US"/>
          </a:p>
        </p:txBody>
      </p:sp>
      <p:sp>
        <p:nvSpPr>
          <p:cNvPr id="5" name="Footer Placeholder 4">
            <a:extLst>
              <a:ext uri="{FF2B5EF4-FFF2-40B4-BE49-F238E27FC236}">
                <a16:creationId xmlns:a16="http://schemas.microsoft.com/office/drawing/2014/main" id="{11525F9A-B406-4028-AC92-D12450519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A70F0A-5147-4274-A0A1-BD21917945FE}"/>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171427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FAAE2DA9-9BAF-4D46-BC97-20425C5321FD}"/>
              </a:ext>
            </a:extLst>
          </p:cNvPr>
          <p:cNvSpPr/>
          <p:nvPr/>
        </p:nvSpPr>
        <p:spPr>
          <a:xfrm>
            <a:off x="372926" y="367993"/>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68807" y="-29564"/>
                  <a:pt x="11499601" y="84193"/>
                </a:cubicBezTo>
                <a:lnTo>
                  <a:pt x="11496115" y="333210"/>
                </a:lnTo>
                <a:cubicBezTo>
                  <a:pt x="11496285" y="48943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0C489E99-8A12-4C4F-92F9-95B01D8147E3}"/>
              </a:ext>
            </a:extLst>
          </p:cNvPr>
          <p:cNvSpPr>
            <a:spLocks noGrp="1"/>
          </p:cNvSpPr>
          <p:nvPr>
            <p:ph type="title"/>
          </p:nvPr>
        </p:nvSpPr>
        <p:spPr>
          <a:xfrm>
            <a:off x="1020724" y="558209"/>
            <a:ext cx="10333075" cy="141413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011B211-A6C3-4384-AA0B-7A8561A53C1B}"/>
              </a:ext>
            </a:extLst>
          </p:cNvPr>
          <p:cNvSpPr>
            <a:spLocks noGrp="1"/>
          </p:cNvSpPr>
          <p:nvPr>
            <p:ph type="body" idx="1"/>
          </p:nvPr>
        </p:nvSpPr>
        <p:spPr>
          <a:xfrm>
            <a:off x="1020726" y="2089298"/>
            <a:ext cx="10333074" cy="38277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6007E98-5ED3-41C2-BC39-EA8FB826AB1E}"/>
              </a:ext>
            </a:extLst>
          </p:cNvPr>
          <p:cNvSpPr>
            <a:spLocks noGrp="1"/>
          </p:cNvSpPr>
          <p:nvPr>
            <p:ph type="dt" sz="half" idx="2"/>
          </p:nvPr>
        </p:nvSpPr>
        <p:spPr>
          <a:xfrm>
            <a:off x="467834" y="6356350"/>
            <a:ext cx="2604976" cy="365125"/>
          </a:xfrm>
          <a:prstGeom prst="rect">
            <a:avLst/>
          </a:prstGeom>
        </p:spPr>
        <p:txBody>
          <a:bodyPr vert="horz" lIns="91440" tIns="45720" rIns="91440" bIns="45720" rtlCol="0" anchor="ctr"/>
          <a:lstStyle>
            <a:lvl1pPr algn="l">
              <a:defRPr sz="1200" b="1">
                <a:solidFill>
                  <a:schemeClr val="tx1"/>
                </a:solidFill>
              </a:defRPr>
            </a:lvl1pPr>
          </a:lstStyle>
          <a:p>
            <a:fld id="{726D8864-0C37-6A49-990E-5BEE0F98A39E}" type="datetime1">
              <a:rPr lang="en-US" smtClean="0"/>
              <a:t>8/1/26</a:t>
            </a:fld>
            <a:endParaRPr lang="en-US"/>
          </a:p>
        </p:txBody>
      </p:sp>
      <p:sp>
        <p:nvSpPr>
          <p:cNvPr id="5" name="Footer Placeholder 4">
            <a:extLst>
              <a:ext uri="{FF2B5EF4-FFF2-40B4-BE49-F238E27FC236}">
                <a16:creationId xmlns:a16="http://schemas.microsoft.com/office/drawing/2014/main" id="{B7493049-EC55-4ABD-8F77-F5A84AE384F5}"/>
              </a:ext>
            </a:extLst>
          </p:cNvPr>
          <p:cNvSpPr>
            <a:spLocks noGrp="1"/>
          </p:cNvSpPr>
          <p:nvPr>
            <p:ph type="ftr" sz="quarter" idx="3"/>
          </p:nvPr>
        </p:nvSpPr>
        <p:spPr>
          <a:xfrm>
            <a:off x="7756153" y="6356350"/>
            <a:ext cx="3444109" cy="365125"/>
          </a:xfrm>
          <a:prstGeom prst="rect">
            <a:avLst/>
          </a:prstGeom>
        </p:spPr>
        <p:txBody>
          <a:bodyPr vert="horz" lIns="91440" tIns="45720" rIns="91440" bIns="45720" rtlCol="0" anchor="ctr"/>
          <a:lstStyle>
            <a:lvl1pPr algn="r">
              <a:defRPr sz="1200" b="1" cap="all"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821B6DF-CCDC-4ED0-A4B2-1512B668F4E3}"/>
              </a:ext>
            </a:extLst>
          </p:cNvPr>
          <p:cNvSpPr>
            <a:spLocks noGrp="1"/>
          </p:cNvSpPr>
          <p:nvPr>
            <p:ph type="sldNum" sz="quarter" idx="4"/>
          </p:nvPr>
        </p:nvSpPr>
        <p:spPr>
          <a:xfrm>
            <a:off x="11200263" y="6356350"/>
            <a:ext cx="523902" cy="365125"/>
          </a:xfrm>
          <a:prstGeom prst="rect">
            <a:avLst/>
          </a:prstGeom>
        </p:spPr>
        <p:txBody>
          <a:bodyPr vert="horz" lIns="91440" tIns="45720" rIns="91440" bIns="45720" rtlCol="0" anchor="ctr"/>
          <a:lstStyle>
            <a:lvl1pPr algn="r">
              <a:defRPr sz="1200" b="1">
                <a:solidFill>
                  <a:schemeClr val="tx1"/>
                </a:solidFill>
              </a:defRPr>
            </a:lvl1pPr>
          </a:lstStyle>
          <a:p>
            <a:fld id="{7C7FAD9F-AEE9-406E-B720-57D2B9DB2816}" type="slidenum">
              <a:rPr lang="en-US" smtClean="0"/>
              <a:t>‹#›</a:t>
            </a:fld>
            <a:endParaRPr lang="en-US"/>
          </a:p>
        </p:txBody>
      </p:sp>
      <p:sp>
        <p:nvSpPr>
          <p:cNvPr id="14" name="Freeform: Shape 13">
            <a:extLst>
              <a:ext uri="{FF2B5EF4-FFF2-40B4-BE49-F238E27FC236}">
                <a16:creationId xmlns:a16="http://schemas.microsoft.com/office/drawing/2014/main" id="{42D2C6CA-56BB-4A08-A1E2-342F83955EDB}"/>
              </a:ext>
            </a:extLst>
          </p:cNvPr>
          <p:cNvSpPr/>
          <p:nvPr/>
        </p:nvSpPr>
        <p:spPr>
          <a:xfrm>
            <a:off x="403284" y="389461"/>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5500 h 6255974"/>
              <a:gd name="connsiteX1" fmla="*/ 11263634 w 11499601"/>
              <a:gd name="connsiteY1" fmla="*/ 16394 h 6255974"/>
              <a:gd name="connsiteX2" fmla="*/ 11499601 w 11499601"/>
              <a:gd name="connsiteY2" fmla="*/ 64794 h 6255974"/>
              <a:gd name="connsiteX3" fmla="*/ 11496115 w 11499601"/>
              <a:gd name="connsiteY3" fmla="*/ 338710 h 6255974"/>
              <a:gd name="connsiteX4" fmla="*/ 11496626 w 11499601"/>
              <a:gd name="connsiteY4" fmla="*/ 807372 h 6255974"/>
              <a:gd name="connsiteX5" fmla="*/ 11482477 w 11499601"/>
              <a:gd name="connsiteY5" fmla="*/ 1840079 h 6255974"/>
              <a:gd name="connsiteX6" fmla="*/ 11478714 w 11499601"/>
              <a:gd name="connsiteY6" fmla="*/ 3525714 h 6255974"/>
              <a:gd name="connsiteX7" fmla="*/ 11419375 w 11499601"/>
              <a:gd name="connsiteY7" fmla="*/ 5987933 h 6255974"/>
              <a:gd name="connsiteX8" fmla="*/ 5959453 w 11499601"/>
              <a:gd name="connsiteY8" fmla="*/ 5978886 h 6255974"/>
              <a:gd name="connsiteX9" fmla="*/ 4858766 w 11499601"/>
              <a:gd name="connsiteY9" fmla="*/ 6005062 h 6255974"/>
              <a:gd name="connsiteX10" fmla="*/ 3239306 w 11499601"/>
              <a:gd name="connsiteY10" fmla="*/ 5978241 h 6255974"/>
              <a:gd name="connsiteX11" fmla="*/ 3217554 w 11499601"/>
              <a:gd name="connsiteY11" fmla="*/ 6011412 h 6255974"/>
              <a:gd name="connsiteX12" fmla="*/ 3219866 w 11499601"/>
              <a:gd name="connsiteY12" fmla="*/ 6255974 h 6255974"/>
              <a:gd name="connsiteX13" fmla="*/ 2870715 w 11499601"/>
              <a:gd name="connsiteY13" fmla="*/ 6061661 h 6255974"/>
              <a:gd name="connsiteX14" fmla="*/ 2785655 w 11499601"/>
              <a:gd name="connsiteY14" fmla="*/ 5978241 h 6255974"/>
              <a:gd name="connsiteX15" fmla="*/ 2301504 w 11499601"/>
              <a:gd name="connsiteY15" fmla="*/ 5973147 h 6255974"/>
              <a:gd name="connsiteX16" fmla="*/ 666073 w 11499601"/>
              <a:gd name="connsiteY16" fmla="*/ 5964071 h 6255974"/>
              <a:gd name="connsiteX17" fmla="*/ 94741 w 11499601"/>
              <a:gd name="connsiteY17" fmla="*/ 5962915 h 6255974"/>
              <a:gd name="connsiteX18" fmla="*/ 37859 w 11499601"/>
              <a:gd name="connsiteY18" fmla="*/ 5881560 h 6255974"/>
              <a:gd name="connsiteX19" fmla="*/ 28975 w 11499601"/>
              <a:gd name="connsiteY19" fmla="*/ 2612388 h 6255974"/>
              <a:gd name="connsiteX20" fmla="*/ 33539 w 11499601"/>
              <a:gd name="connsiteY20" fmla="*/ 65360 h 6255974"/>
              <a:gd name="connsiteX21" fmla="*/ 39830 w 11499601"/>
              <a:gd name="connsiteY21" fmla="*/ 47528 h 6255974"/>
              <a:gd name="connsiteX22" fmla="*/ 88659 w 11499601"/>
              <a:gd name="connsiteY22" fmla="*/ 42782 h 6255974"/>
              <a:gd name="connsiteX23" fmla="*/ 301554 w 11499601"/>
              <a:gd name="connsiteY23" fmla="*/ 42782 h 6255974"/>
              <a:gd name="connsiteX24" fmla="*/ 416464 w 11499601"/>
              <a:gd name="connsiteY24" fmla="*/ 36225 h 6255974"/>
              <a:gd name="connsiteX25" fmla="*/ 907723 w 11499601"/>
              <a:gd name="connsiteY25" fmla="*/ 29769 h 6255974"/>
              <a:gd name="connsiteX26" fmla="*/ 3989089 w 11499601"/>
              <a:gd name="connsiteY26" fmla="*/ 35153 h 6255974"/>
              <a:gd name="connsiteX27" fmla="*/ 9680053 w 11499601"/>
              <a:gd name="connsiteY27" fmla="*/ 5500 h 6255974"/>
              <a:gd name="connsiteX0" fmla="*/ 9680053 w 11499601"/>
              <a:gd name="connsiteY0" fmla="*/ 0 h 6250474"/>
              <a:gd name="connsiteX1" fmla="*/ 11263634 w 11499601"/>
              <a:gd name="connsiteY1" fmla="*/ 10894 h 6250474"/>
              <a:gd name="connsiteX2" fmla="*/ 11499601 w 11499601"/>
              <a:gd name="connsiteY2" fmla="*/ 5929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1172 w 11499601"/>
              <a:gd name="connsiteY3" fmla="*/ 31329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83635" y="5293"/>
                  <a:pt x="11499601" y="39374"/>
                </a:cubicBezTo>
                <a:lnTo>
                  <a:pt x="11491172" y="313290"/>
                </a:lnTo>
                <a:cubicBezTo>
                  <a:pt x="11491342" y="46951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95666363"/>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5" r:id="rId6"/>
    <p:sldLayoutId id="2147483890" r:id="rId7"/>
    <p:sldLayoutId id="2147483891" r:id="rId8"/>
    <p:sldLayoutId id="2147483892" r:id="rId9"/>
    <p:sldLayoutId id="2147483894" r:id="rId10"/>
    <p:sldLayoutId id="2147483893" r:id="rId11"/>
  </p:sldLayoutIdLst>
  <p:hf hdr="0" ftr="0" dt="0"/>
  <p:txStyles>
    <p:titleStyle>
      <a:lvl1pPr algn="l" defTabSz="914400" rtl="0" eaLnBrk="1" latinLnBrk="0" hangingPunct="1">
        <a:lnSpc>
          <a:spcPct val="100000"/>
        </a:lnSpc>
        <a:spcBef>
          <a:spcPct val="0"/>
        </a:spcBef>
        <a:buNone/>
        <a:defRPr sz="4800" b="1" kern="1200" spc="10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SzPct val="73000"/>
        <a:buFontTx/>
        <a:buNone/>
        <a:defRPr sz="3200" b="1" kern="1200" spc="50" baseline="0">
          <a:solidFill>
            <a:schemeClr val="tx1"/>
          </a:solidFill>
          <a:latin typeface="+mn-lt"/>
          <a:ea typeface="+mn-ea"/>
          <a:cs typeface="+mn-cs"/>
        </a:defRPr>
      </a:lvl1pPr>
      <a:lvl2pPr marL="228600" indent="-182880" algn="l" defTabSz="914400" rtl="0" eaLnBrk="1" latinLnBrk="0" hangingPunct="1">
        <a:lnSpc>
          <a:spcPct val="100000"/>
        </a:lnSpc>
        <a:spcBef>
          <a:spcPts val="500"/>
        </a:spcBef>
        <a:buSzPct val="70000"/>
        <a:buFont typeface="Arial" panose="020B0604020202020204" pitchFamily="34" charset="0"/>
        <a:buChar char="•"/>
        <a:defRPr sz="2800" b="1" kern="1200" spc="50" baseline="0">
          <a:solidFill>
            <a:schemeClr val="tx1"/>
          </a:solidFill>
          <a:latin typeface="+mn-lt"/>
          <a:ea typeface="+mn-ea"/>
          <a:cs typeface="+mn-cs"/>
        </a:defRPr>
      </a:lvl2pPr>
      <a:lvl3pPr marL="274320" indent="0" algn="l" defTabSz="914400" rtl="0" eaLnBrk="1" latinLnBrk="0" hangingPunct="1">
        <a:lnSpc>
          <a:spcPct val="100000"/>
        </a:lnSpc>
        <a:spcBef>
          <a:spcPts val="500"/>
        </a:spcBef>
        <a:buSzPct val="73000"/>
        <a:buFontTx/>
        <a:buNone/>
        <a:defRPr sz="2400" b="1" kern="1200" spc="50" baseline="0">
          <a:solidFill>
            <a:schemeClr val="tx1"/>
          </a:solidFill>
          <a:latin typeface="+mn-lt"/>
          <a:ea typeface="+mn-ea"/>
          <a:cs typeface="+mn-cs"/>
        </a:defRPr>
      </a:lvl3pPr>
      <a:lvl4pPr marL="548640" indent="-182880" algn="l" defTabSz="914400" rtl="0" eaLnBrk="1" latinLnBrk="0" hangingPunct="1">
        <a:lnSpc>
          <a:spcPct val="100000"/>
        </a:lnSpc>
        <a:spcBef>
          <a:spcPts val="500"/>
        </a:spcBef>
        <a:buSzPct val="73000"/>
        <a:buFont typeface="Arial" panose="020B0604020202020204" pitchFamily="34" charset="0"/>
        <a:buChar char="•"/>
        <a:defRPr sz="2000" b="1" kern="1200" spc="50" baseline="0">
          <a:solidFill>
            <a:schemeClr val="tx1"/>
          </a:solidFill>
          <a:latin typeface="+mn-lt"/>
          <a:ea typeface="+mn-ea"/>
          <a:cs typeface="+mn-cs"/>
        </a:defRPr>
      </a:lvl4pPr>
      <a:lvl5pPr marL="548640" indent="0" algn="l" defTabSz="914400" rtl="0" eaLnBrk="1" latinLnBrk="0" hangingPunct="1">
        <a:lnSpc>
          <a:spcPct val="100000"/>
        </a:lnSpc>
        <a:spcBef>
          <a:spcPts val="500"/>
        </a:spcBef>
        <a:buSzPct val="73000"/>
        <a:buFontTx/>
        <a:buNone/>
        <a:defRPr sz="20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3.sv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8.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9.svg"/><Relationship Id="rId7"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120.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Freeform: Shape 74">
            <a:extLst>
              <a:ext uri="{FF2B5EF4-FFF2-40B4-BE49-F238E27FC236}">
                <a16:creationId xmlns:a16="http://schemas.microsoft.com/office/drawing/2014/main" id="{FAAE2DA9-9BAF-4D46-BC97-20425C532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2926" y="367993"/>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68807" y="-29564"/>
                  <a:pt x="11499601" y="84193"/>
                </a:cubicBezTo>
                <a:lnTo>
                  <a:pt x="11496115" y="333210"/>
                </a:lnTo>
                <a:cubicBezTo>
                  <a:pt x="11496285" y="48943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Shape 76">
            <a:extLst>
              <a:ext uri="{FF2B5EF4-FFF2-40B4-BE49-F238E27FC236}">
                <a16:creationId xmlns:a16="http://schemas.microsoft.com/office/drawing/2014/main" id="{42D2C6CA-56BB-4A08-A1E2-342F83955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284" y="389461"/>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5500 h 6255974"/>
              <a:gd name="connsiteX1" fmla="*/ 11263634 w 11499601"/>
              <a:gd name="connsiteY1" fmla="*/ 16394 h 6255974"/>
              <a:gd name="connsiteX2" fmla="*/ 11499601 w 11499601"/>
              <a:gd name="connsiteY2" fmla="*/ 64794 h 6255974"/>
              <a:gd name="connsiteX3" fmla="*/ 11496115 w 11499601"/>
              <a:gd name="connsiteY3" fmla="*/ 338710 h 6255974"/>
              <a:gd name="connsiteX4" fmla="*/ 11496626 w 11499601"/>
              <a:gd name="connsiteY4" fmla="*/ 807372 h 6255974"/>
              <a:gd name="connsiteX5" fmla="*/ 11482477 w 11499601"/>
              <a:gd name="connsiteY5" fmla="*/ 1840079 h 6255974"/>
              <a:gd name="connsiteX6" fmla="*/ 11478714 w 11499601"/>
              <a:gd name="connsiteY6" fmla="*/ 3525714 h 6255974"/>
              <a:gd name="connsiteX7" fmla="*/ 11419375 w 11499601"/>
              <a:gd name="connsiteY7" fmla="*/ 5987933 h 6255974"/>
              <a:gd name="connsiteX8" fmla="*/ 5959453 w 11499601"/>
              <a:gd name="connsiteY8" fmla="*/ 5978886 h 6255974"/>
              <a:gd name="connsiteX9" fmla="*/ 4858766 w 11499601"/>
              <a:gd name="connsiteY9" fmla="*/ 6005062 h 6255974"/>
              <a:gd name="connsiteX10" fmla="*/ 3239306 w 11499601"/>
              <a:gd name="connsiteY10" fmla="*/ 5978241 h 6255974"/>
              <a:gd name="connsiteX11" fmla="*/ 3217554 w 11499601"/>
              <a:gd name="connsiteY11" fmla="*/ 6011412 h 6255974"/>
              <a:gd name="connsiteX12" fmla="*/ 3219866 w 11499601"/>
              <a:gd name="connsiteY12" fmla="*/ 6255974 h 6255974"/>
              <a:gd name="connsiteX13" fmla="*/ 2870715 w 11499601"/>
              <a:gd name="connsiteY13" fmla="*/ 6061661 h 6255974"/>
              <a:gd name="connsiteX14" fmla="*/ 2785655 w 11499601"/>
              <a:gd name="connsiteY14" fmla="*/ 5978241 h 6255974"/>
              <a:gd name="connsiteX15" fmla="*/ 2301504 w 11499601"/>
              <a:gd name="connsiteY15" fmla="*/ 5973147 h 6255974"/>
              <a:gd name="connsiteX16" fmla="*/ 666073 w 11499601"/>
              <a:gd name="connsiteY16" fmla="*/ 5964071 h 6255974"/>
              <a:gd name="connsiteX17" fmla="*/ 94741 w 11499601"/>
              <a:gd name="connsiteY17" fmla="*/ 5962915 h 6255974"/>
              <a:gd name="connsiteX18" fmla="*/ 37859 w 11499601"/>
              <a:gd name="connsiteY18" fmla="*/ 5881560 h 6255974"/>
              <a:gd name="connsiteX19" fmla="*/ 28975 w 11499601"/>
              <a:gd name="connsiteY19" fmla="*/ 2612388 h 6255974"/>
              <a:gd name="connsiteX20" fmla="*/ 33539 w 11499601"/>
              <a:gd name="connsiteY20" fmla="*/ 65360 h 6255974"/>
              <a:gd name="connsiteX21" fmla="*/ 39830 w 11499601"/>
              <a:gd name="connsiteY21" fmla="*/ 47528 h 6255974"/>
              <a:gd name="connsiteX22" fmla="*/ 88659 w 11499601"/>
              <a:gd name="connsiteY22" fmla="*/ 42782 h 6255974"/>
              <a:gd name="connsiteX23" fmla="*/ 301554 w 11499601"/>
              <a:gd name="connsiteY23" fmla="*/ 42782 h 6255974"/>
              <a:gd name="connsiteX24" fmla="*/ 416464 w 11499601"/>
              <a:gd name="connsiteY24" fmla="*/ 36225 h 6255974"/>
              <a:gd name="connsiteX25" fmla="*/ 907723 w 11499601"/>
              <a:gd name="connsiteY25" fmla="*/ 29769 h 6255974"/>
              <a:gd name="connsiteX26" fmla="*/ 3989089 w 11499601"/>
              <a:gd name="connsiteY26" fmla="*/ 35153 h 6255974"/>
              <a:gd name="connsiteX27" fmla="*/ 9680053 w 11499601"/>
              <a:gd name="connsiteY27" fmla="*/ 5500 h 6255974"/>
              <a:gd name="connsiteX0" fmla="*/ 9680053 w 11499601"/>
              <a:gd name="connsiteY0" fmla="*/ 0 h 6250474"/>
              <a:gd name="connsiteX1" fmla="*/ 11263634 w 11499601"/>
              <a:gd name="connsiteY1" fmla="*/ 10894 h 6250474"/>
              <a:gd name="connsiteX2" fmla="*/ 11499601 w 11499601"/>
              <a:gd name="connsiteY2" fmla="*/ 5929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1172 w 11499601"/>
              <a:gd name="connsiteY3" fmla="*/ 31329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83635" y="5293"/>
                  <a:pt x="11499601" y="39374"/>
                </a:cubicBezTo>
                <a:lnTo>
                  <a:pt x="11491172" y="313290"/>
                </a:lnTo>
                <a:cubicBezTo>
                  <a:pt x="11491342" y="46951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79" name="Rectangle 78">
            <a:extLst>
              <a:ext uri="{FF2B5EF4-FFF2-40B4-BE49-F238E27FC236}">
                <a16:creationId xmlns:a16="http://schemas.microsoft.com/office/drawing/2014/main" id="{E2A96188-384C-4341-9EEB-967A9341C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280331C3-DDF5-48A9-8947-D71EAAFFA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759171" y="-127077"/>
            <a:ext cx="6053827" cy="6948641"/>
          </a:xfrm>
          <a:custGeom>
            <a:avLst/>
            <a:gdLst>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34742 w 11603130"/>
              <a:gd name="connsiteY11" fmla="*/ 5912754 h 6362961"/>
              <a:gd name="connsiteX12" fmla="*/ 8343333 w 11603130"/>
              <a:gd name="connsiteY12" fmla="*/ 6362961 h 6362961"/>
              <a:gd name="connsiteX13" fmla="*/ 8951337 w 11603130"/>
              <a:gd name="connsiteY13" fmla="*/ 5912879 h 6362961"/>
              <a:gd name="connsiteX14" fmla="*/ 9710371 w 11603130"/>
              <a:gd name="connsiteY14" fmla="*/ 5911624 h 6362961"/>
              <a:gd name="connsiteX15" fmla="*/ 9804791 w 11603130"/>
              <a:gd name="connsiteY15" fmla="*/ 5908320 h 6362961"/>
              <a:gd name="connsiteX16" fmla="*/ 9863784 w 11603130"/>
              <a:gd name="connsiteY16" fmla="*/ 5909115 h 6362961"/>
              <a:gd name="connsiteX17" fmla="*/ 10007288 w 11603130"/>
              <a:gd name="connsiteY17" fmla="*/ 5914499 h 6362961"/>
              <a:gd name="connsiteX18" fmla="*/ 10927227 w 11603130"/>
              <a:gd name="connsiteY18" fmla="*/ 5922366 h 6362961"/>
              <a:gd name="connsiteX19" fmla="*/ 11562333 w 11603130"/>
              <a:gd name="connsiteY19" fmla="*/ 5906085 h 6362961"/>
              <a:gd name="connsiteX20" fmla="*/ 11571244 w 11603130"/>
              <a:gd name="connsiteY20" fmla="*/ 2621674 h 6362961"/>
              <a:gd name="connsiteX21" fmla="*/ 11561892 w 11603130"/>
              <a:gd name="connsiteY21" fmla="*/ 176313 h 6362961"/>
              <a:gd name="connsiteX22" fmla="*/ 11289537 w 11603130"/>
              <a:gd name="connsiteY22" fmla="*/ 107615 h 6362961"/>
              <a:gd name="connsiteX23" fmla="*/ 10689999 w 11603130"/>
              <a:gd name="connsiteY23" fmla="*/ 70591 h 6362961"/>
              <a:gd name="connsiteX24" fmla="*/ 7599878 w 11603130"/>
              <a:gd name="connsiteY24" fmla="*/ 7591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5045206 w 11603130"/>
              <a:gd name="connsiteY10" fmla="*/ 5927859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8951337 w 11603130"/>
              <a:gd name="connsiteY12" fmla="*/ 5912879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42722 w 11603130"/>
              <a:gd name="connsiteY12" fmla="*/ 5885506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098386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8972 w 11603130"/>
              <a:gd name="connsiteY5" fmla="*/ 3523848 h 6335587"/>
              <a:gd name="connsiteX6" fmla="*/ 148480 w 11603130"/>
              <a:gd name="connsiteY6" fmla="*/ 5930841 h 6335587"/>
              <a:gd name="connsiteX7" fmla="*/ 2638911 w 11603130"/>
              <a:gd name="connsiteY7" fmla="*/ 5933377 h 6335587"/>
              <a:gd name="connsiteX8" fmla="*/ 4080684 w 11603130"/>
              <a:gd name="connsiteY8" fmla="*/ 5926717 h 6335587"/>
              <a:gd name="connsiteX9" fmla="*/ 5045206 w 11603130"/>
              <a:gd name="connsiteY9" fmla="*/ 5927859 h 6335587"/>
              <a:gd name="connsiteX10" fmla="*/ 5855834 w 11603130"/>
              <a:gd name="connsiteY10" fmla="*/ 6335587 h 6335587"/>
              <a:gd name="connsiteX11" fmla="*/ 6274422 w 11603130"/>
              <a:gd name="connsiteY11" fmla="*/ 5903346 h 6335587"/>
              <a:gd name="connsiteX12" fmla="*/ 9098386 w 11603130"/>
              <a:gd name="connsiteY12" fmla="*/ 5911624 h 6335587"/>
              <a:gd name="connsiteX13" fmla="*/ 10007288 w 11603130"/>
              <a:gd name="connsiteY13" fmla="*/ 5914499 h 6335587"/>
              <a:gd name="connsiteX14" fmla="*/ 10927227 w 11603130"/>
              <a:gd name="connsiteY14" fmla="*/ 5922366 h 6335587"/>
              <a:gd name="connsiteX15" fmla="*/ 11562333 w 11603130"/>
              <a:gd name="connsiteY15" fmla="*/ 5906085 h 6335587"/>
              <a:gd name="connsiteX16" fmla="*/ 11571244 w 11603130"/>
              <a:gd name="connsiteY16" fmla="*/ 2621674 h 6335587"/>
              <a:gd name="connsiteX17" fmla="*/ 11561892 w 11603130"/>
              <a:gd name="connsiteY17" fmla="*/ 176313 h 6335587"/>
              <a:gd name="connsiteX18" fmla="*/ 11289537 w 11603130"/>
              <a:gd name="connsiteY18" fmla="*/ 107615 h 6335587"/>
              <a:gd name="connsiteX19" fmla="*/ 10689999 w 11603130"/>
              <a:gd name="connsiteY19" fmla="*/ 70591 h 6335587"/>
              <a:gd name="connsiteX20" fmla="*/ 7599878 w 11603130"/>
              <a:gd name="connsiteY20" fmla="*/ 75910 h 6335587"/>
              <a:gd name="connsiteX21" fmla="*/ 1892744 w 11603130"/>
              <a:gd name="connsiteY21" fmla="*/ 0 h 6335587"/>
              <a:gd name="connsiteX0" fmla="*/ 1892744 w 12087184"/>
              <a:gd name="connsiteY0" fmla="*/ 0 h 6335587"/>
              <a:gd name="connsiteX1" fmla="*/ 304663 w 12087184"/>
              <a:gd name="connsiteY1" fmla="*/ 10761 h 6335587"/>
              <a:gd name="connsiteX2" fmla="*/ 0 w 12087184"/>
              <a:gd name="connsiteY2" fmla="*/ 47942 h 6335587"/>
              <a:gd name="connsiteX3" fmla="*/ 0 w 12087184"/>
              <a:gd name="connsiteY3" fmla="*/ 909146 h 6335587"/>
              <a:gd name="connsiteX4" fmla="*/ 4597 w 12087184"/>
              <a:gd name="connsiteY4" fmla="*/ 909146 h 6335587"/>
              <a:gd name="connsiteX5" fmla="*/ 88972 w 12087184"/>
              <a:gd name="connsiteY5" fmla="*/ 3523848 h 6335587"/>
              <a:gd name="connsiteX6" fmla="*/ 148480 w 12087184"/>
              <a:gd name="connsiteY6" fmla="*/ 5930841 h 6335587"/>
              <a:gd name="connsiteX7" fmla="*/ 2638911 w 12087184"/>
              <a:gd name="connsiteY7" fmla="*/ 5933377 h 6335587"/>
              <a:gd name="connsiteX8" fmla="*/ 4080684 w 12087184"/>
              <a:gd name="connsiteY8" fmla="*/ 5926717 h 6335587"/>
              <a:gd name="connsiteX9" fmla="*/ 5045206 w 12087184"/>
              <a:gd name="connsiteY9" fmla="*/ 5927859 h 6335587"/>
              <a:gd name="connsiteX10" fmla="*/ 5855834 w 12087184"/>
              <a:gd name="connsiteY10" fmla="*/ 6335587 h 6335587"/>
              <a:gd name="connsiteX11" fmla="*/ 6274422 w 12087184"/>
              <a:gd name="connsiteY11" fmla="*/ 5903346 h 6335587"/>
              <a:gd name="connsiteX12" fmla="*/ 9098386 w 12087184"/>
              <a:gd name="connsiteY12" fmla="*/ 5911624 h 6335587"/>
              <a:gd name="connsiteX13" fmla="*/ 10007288 w 12087184"/>
              <a:gd name="connsiteY13" fmla="*/ 5914499 h 6335587"/>
              <a:gd name="connsiteX14" fmla="*/ 10927227 w 12087184"/>
              <a:gd name="connsiteY14" fmla="*/ 5922366 h 6335587"/>
              <a:gd name="connsiteX15" fmla="*/ 12085310 w 12087184"/>
              <a:gd name="connsiteY15" fmla="*/ 5921320 h 6335587"/>
              <a:gd name="connsiteX16" fmla="*/ 11571244 w 12087184"/>
              <a:gd name="connsiteY16" fmla="*/ 2621674 h 6335587"/>
              <a:gd name="connsiteX17" fmla="*/ 11561892 w 12087184"/>
              <a:gd name="connsiteY17" fmla="*/ 176313 h 6335587"/>
              <a:gd name="connsiteX18" fmla="*/ 11289537 w 12087184"/>
              <a:gd name="connsiteY18" fmla="*/ 107615 h 6335587"/>
              <a:gd name="connsiteX19" fmla="*/ 10689999 w 12087184"/>
              <a:gd name="connsiteY19" fmla="*/ 70591 h 6335587"/>
              <a:gd name="connsiteX20" fmla="*/ 7599878 w 12087184"/>
              <a:gd name="connsiteY20" fmla="*/ 75910 h 6335587"/>
              <a:gd name="connsiteX21" fmla="*/ 1892744 w 12087184"/>
              <a:gd name="connsiteY21" fmla="*/ 0 h 6335587"/>
              <a:gd name="connsiteX0" fmla="*/ 1892744 w 12096545"/>
              <a:gd name="connsiteY0" fmla="*/ 24998 h 6360585"/>
              <a:gd name="connsiteX1" fmla="*/ 304663 w 12096545"/>
              <a:gd name="connsiteY1" fmla="*/ 35759 h 6360585"/>
              <a:gd name="connsiteX2" fmla="*/ 0 w 12096545"/>
              <a:gd name="connsiteY2" fmla="*/ 72940 h 6360585"/>
              <a:gd name="connsiteX3" fmla="*/ 0 w 12096545"/>
              <a:gd name="connsiteY3" fmla="*/ 934144 h 6360585"/>
              <a:gd name="connsiteX4" fmla="*/ 4597 w 12096545"/>
              <a:gd name="connsiteY4" fmla="*/ 934144 h 6360585"/>
              <a:gd name="connsiteX5" fmla="*/ 88972 w 12096545"/>
              <a:gd name="connsiteY5" fmla="*/ 3548846 h 6360585"/>
              <a:gd name="connsiteX6" fmla="*/ 148480 w 12096545"/>
              <a:gd name="connsiteY6" fmla="*/ 5955839 h 6360585"/>
              <a:gd name="connsiteX7" fmla="*/ 2638911 w 12096545"/>
              <a:gd name="connsiteY7" fmla="*/ 5958375 h 6360585"/>
              <a:gd name="connsiteX8" fmla="*/ 4080684 w 12096545"/>
              <a:gd name="connsiteY8" fmla="*/ 5951715 h 6360585"/>
              <a:gd name="connsiteX9" fmla="*/ 5045206 w 12096545"/>
              <a:gd name="connsiteY9" fmla="*/ 5952857 h 6360585"/>
              <a:gd name="connsiteX10" fmla="*/ 5855834 w 12096545"/>
              <a:gd name="connsiteY10" fmla="*/ 6360585 h 6360585"/>
              <a:gd name="connsiteX11" fmla="*/ 6274422 w 12096545"/>
              <a:gd name="connsiteY11" fmla="*/ 5928344 h 6360585"/>
              <a:gd name="connsiteX12" fmla="*/ 9098386 w 12096545"/>
              <a:gd name="connsiteY12" fmla="*/ 5936622 h 6360585"/>
              <a:gd name="connsiteX13" fmla="*/ 10007288 w 12096545"/>
              <a:gd name="connsiteY13" fmla="*/ 5939497 h 6360585"/>
              <a:gd name="connsiteX14" fmla="*/ 10927227 w 12096545"/>
              <a:gd name="connsiteY14" fmla="*/ 5947364 h 6360585"/>
              <a:gd name="connsiteX15" fmla="*/ 12085310 w 12096545"/>
              <a:gd name="connsiteY15" fmla="*/ 5946318 h 6360585"/>
              <a:gd name="connsiteX16" fmla="*/ 12063456 w 12096545"/>
              <a:gd name="connsiteY16" fmla="*/ 2646672 h 6360585"/>
              <a:gd name="connsiteX17" fmla="*/ 11561892 w 12096545"/>
              <a:gd name="connsiteY17" fmla="*/ 201311 h 6360585"/>
              <a:gd name="connsiteX18" fmla="*/ 11289537 w 12096545"/>
              <a:gd name="connsiteY18" fmla="*/ 132613 h 6360585"/>
              <a:gd name="connsiteX19" fmla="*/ 10689999 w 12096545"/>
              <a:gd name="connsiteY19" fmla="*/ 95589 h 6360585"/>
              <a:gd name="connsiteX20" fmla="*/ 7599878 w 12096545"/>
              <a:gd name="connsiteY20" fmla="*/ 100908 h 6360585"/>
              <a:gd name="connsiteX21" fmla="*/ 1892744 w 12096545"/>
              <a:gd name="connsiteY21" fmla="*/ 24998 h 6360585"/>
              <a:gd name="connsiteX0" fmla="*/ 1892744 w 12127183"/>
              <a:gd name="connsiteY0" fmla="*/ 24998 h 6360585"/>
              <a:gd name="connsiteX1" fmla="*/ 304663 w 12127183"/>
              <a:gd name="connsiteY1" fmla="*/ 35759 h 6360585"/>
              <a:gd name="connsiteX2" fmla="*/ 0 w 12127183"/>
              <a:gd name="connsiteY2" fmla="*/ 72940 h 6360585"/>
              <a:gd name="connsiteX3" fmla="*/ 0 w 12127183"/>
              <a:gd name="connsiteY3" fmla="*/ 934144 h 6360585"/>
              <a:gd name="connsiteX4" fmla="*/ 4597 w 12127183"/>
              <a:gd name="connsiteY4" fmla="*/ 934144 h 6360585"/>
              <a:gd name="connsiteX5" fmla="*/ 88972 w 12127183"/>
              <a:gd name="connsiteY5" fmla="*/ 3548846 h 6360585"/>
              <a:gd name="connsiteX6" fmla="*/ 148480 w 12127183"/>
              <a:gd name="connsiteY6" fmla="*/ 5955839 h 6360585"/>
              <a:gd name="connsiteX7" fmla="*/ 2638911 w 12127183"/>
              <a:gd name="connsiteY7" fmla="*/ 5958375 h 6360585"/>
              <a:gd name="connsiteX8" fmla="*/ 4080684 w 12127183"/>
              <a:gd name="connsiteY8" fmla="*/ 5951715 h 6360585"/>
              <a:gd name="connsiteX9" fmla="*/ 5045206 w 12127183"/>
              <a:gd name="connsiteY9" fmla="*/ 5952857 h 6360585"/>
              <a:gd name="connsiteX10" fmla="*/ 5855834 w 12127183"/>
              <a:gd name="connsiteY10" fmla="*/ 6360585 h 6360585"/>
              <a:gd name="connsiteX11" fmla="*/ 6274422 w 12127183"/>
              <a:gd name="connsiteY11" fmla="*/ 5928344 h 6360585"/>
              <a:gd name="connsiteX12" fmla="*/ 9098386 w 12127183"/>
              <a:gd name="connsiteY12" fmla="*/ 5936622 h 6360585"/>
              <a:gd name="connsiteX13" fmla="*/ 10007288 w 12127183"/>
              <a:gd name="connsiteY13" fmla="*/ 5939497 h 6360585"/>
              <a:gd name="connsiteX14" fmla="*/ 10927227 w 12127183"/>
              <a:gd name="connsiteY14" fmla="*/ 5947364 h 6360585"/>
              <a:gd name="connsiteX15" fmla="*/ 12085310 w 12127183"/>
              <a:gd name="connsiteY15" fmla="*/ 5946318 h 6360585"/>
              <a:gd name="connsiteX16" fmla="*/ 12063456 w 12127183"/>
              <a:gd name="connsiteY16" fmla="*/ 2646672 h 6360585"/>
              <a:gd name="connsiteX17" fmla="*/ 12054104 w 12127183"/>
              <a:gd name="connsiteY17" fmla="*/ 201311 h 6360585"/>
              <a:gd name="connsiteX18" fmla="*/ 11289537 w 12127183"/>
              <a:gd name="connsiteY18" fmla="*/ 132613 h 6360585"/>
              <a:gd name="connsiteX19" fmla="*/ 10689999 w 12127183"/>
              <a:gd name="connsiteY19" fmla="*/ 95589 h 6360585"/>
              <a:gd name="connsiteX20" fmla="*/ 7599878 w 12127183"/>
              <a:gd name="connsiteY20" fmla="*/ 100908 h 6360585"/>
              <a:gd name="connsiteX21" fmla="*/ 1892744 w 12127183"/>
              <a:gd name="connsiteY21" fmla="*/ 24998 h 6360585"/>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689999 w 12114255"/>
              <a:gd name="connsiteY19" fmla="*/ 70591 h 6335587"/>
              <a:gd name="connsiteX20" fmla="*/ 7599878 w 12114255"/>
              <a:gd name="connsiteY20" fmla="*/ 75910 h 6335587"/>
              <a:gd name="connsiteX21" fmla="*/ 1892744 w 12114255"/>
              <a:gd name="connsiteY21" fmla="*/ 0 h 6335587"/>
              <a:gd name="connsiteX0" fmla="*/ 1892744 w 12114253"/>
              <a:gd name="connsiteY0" fmla="*/ 0 h 6335587"/>
              <a:gd name="connsiteX1" fmla="*/ 304663 w 12114253"/>
              <a:gd name="connsiteY1" fmla="*/ 10761 h 6335587"/>
              <a:gd name="connsiteX2" fmla="*/ 0 w 12114253"/>
              <a:gd name="connsiteY2" fmla="*/ 47942 h 6335587"/>
              <a:gd name="connsiteX3" fmla="*/ 0 w 12114253"/>
              <a:gd name="connsiteY3" fmla="*/ 909146 h 6335587"/>
              <a:gd name="connsiteX4" fmla="*/ 4597 w 12114253"/>
              <a:gd name="connsiteY4" fmla="*/ 909146 h 6335587"/>
              <a:gd name="connsiteX5" fmla="*/ 88972 w 12114253"/>
              <a:gd name="connsiteY5" fmla="*/ 3523848 h 6335587"/>
              <a:gd name="connsiteX6" fmla="*/ 148480 w 12114253"/>
              <a:gd name="connsiteY6" fmla="*/ 5930841 h 6335587"/>
              <a:gd name="connsiteX7" fmla="*/ 2638911 w 12114253"/>
              <a:gd name="connsiteY7" fmla="*/ 5933377 h 6335587"/>
              <a:gd name="connsiteX8" fmla="*/ 4080684 w 12114253"/>
              <a:gd name="connsiteY8" fmla="*/ 5926717 h 6335587"/>
              <a:gd name="connsiteX9" fmla="*/ 5045206 w 12114253"/>
              <a:gd name="connsiteY9" fmla="*/ 5927859 h 6335587"/>
              <a:gd name="connsiteX10" fmla="*/ 5855834 w 12114253"/>
              <a:gd name="connsiteY10" fmla="*/ 6335587 h 6335587"/>
              <a:gd name="connsiteX11" fmla="*/ 6274422 w 12114253"/>
              <a:gd name="connsiteY11" fmla="*/ 5903346 h 6335587"/>
              <a:gd name="connsiteX12" fmla="*/ 9098386 w 12114253"/>
              <a:gd name="connsiteY12" fmla="*/ 5911624 h 6335587"/>
              <a:gd name="connsiteX13" fmla="*/ 10007288 w 12114253"/>
              <a:gd name="connsiteY13" fmla="*/ 5914499 h 6335587"/>
              <a:gd name="connsiteX14" fmla="*/ 10927227 w 12114253"/>
              <a:gd name="connsiteY14" fmla="*/ 5922366 h 6335587"/>
              <a:gd name="connsiteX15" fmla="*/ 12085310 w 12114253"/>
              <a:gd name="connsiteY15" fmla="*/ 5921320 h 6335587"/>
              <a:gd name="connsiteX16" fmla="*/ 12063456 w 12114253"/>
              <a:gd name="connsiteY16" fmla="*/ 2621674 h 6335587"/>
              <a:gd name="connsiteX17" fmla="*/ 12054104 w 12114253"/>
              <a:gd name="connsiteY17" fmla="*/ 176313 h 6335587"/>
              <a:gd name="connsiteX18" fmla="*/ 11289537 w 12114253"/>
              <a:gd name="connsiteY18" fmla="*/ 107615 h 6335587"/>
              <a:gd name="connsiteX19" fmla="*/ 10259313 w 12114253"/>
              <a:gd name="connsiteY19" fmla="*/ 101059 h 6335587"/>
              <a:gd name="connsiteX20" fmla="*/ 7599878 w 12114253"/>
              <a:gd name="connsiteY20" fmla="*/ 75910 h 6335587"/>
              <a:gd name="connsiteX21" fmla="*/ 1892744 w 12114253"/>
              <a:gd name="connsiteY21" fmla="*/ 0 h 6335587"/>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259313 w 12114255"/>
              <a:gd name="connsiteY19" fmla="*/ 101059 h 6335587"/>
              <a:gd name="connsiteX20" fmla="*/ 7599878 w 12114255"/>
              <a:gd name="connsiteY20" fmla="*/ 75910 h 6335587"/>
              <a:gd name="connsiteX21" fmla="*/ 1892744 w 12114255"/>
              <a:gd name="connsiteY21" fmla="*/ 0 h 6335587"/>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274422 w 12114253"/>
              <a:gd name="connsiteY11" fmla="*/ 5903346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080684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308929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214933 w 12114253"/>
              <a:gd name="connsiteY9" fmla="*/ 5924178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308929 w 12114253"/>
              <a:gd name="connsiteY8" fmla="*/ 5926717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952198 w 12173707"/>
              <a:gd name="connsiteY0" fmla="*/ 0 h 6231137"/>
              <a:gd name="connsiteX1" fmla="*/ 364117 w 12173707"/>
              <a:gd name="connsiteY1" fmla="*/ 10761 h 6231137"/>
              <a:gd name="connsiteX2" fmla="*/ 59454 w 12173707"/>
              <a:gd name="connsiteY2" fmla="*/ 47942 h 6231137"/>
              <a:gd name="connsiteX3" fmla="*/ 59454 w 12173707"/>
              <a:gd name="connsiteY3" fmla="*/ 909146 h 6231137"/>
              <a:gd name="connsiteX4" fmla="*/ 64051 w 12173707"/>
              <a:gd name="connsiteY4" fmla="*/ 909146 h 6231137"/>
              <a:gd name="connsiteX5" fmla="*/ 148426 w 12173707"/>
              <a:gd name="connsiteY5" fmla="*/ 3523848 h 6231137"/>
              <a:gd name="connsiteX6" fmla="*/ 41689 w 12173707"/>
              <a:gd name="connsiteY6" fmla="*/ 5941555 h 6231137"/>
              <a:gd name="connsiteX7" fmla="*/ 2649391 w 12173707"/>
              <a:gd name="connsiteY7" fmla="*/ 5929698 h 6231137"/>
              <a:gd name="connsiteX8" fmla="*/ 4303086 w 12173707"/>
              <a:gd name="connsiteY8" fmla="*/ 5908315 h 6231137"/>
              <a:gd name="connsiteX9" fmla="*/ 5274387 w 12173707"/>
              <a:gd name="connsiteY9" fmla="*/ 5924178 h 6231137"/>
              <a:gd name="connsiteX10" fmla="*/ 5758145 w 12173707"/>
              <a:gd name="connsiteY10" fmla="*/ 6231137 h 6231137"/>
              <a:gd name="connsiteX11" fmla="*/ 6030648 w 12173707"/>
              <a:gd name="connsiteY11" fmla="*/ 5908409 h 6231137"/>
              <a:gd name="connsiteX12" fmla="*/ 9157840 w 12173707"/>
              <a:gd name="connsiteY12" fmla="*/ 5911624 h 6231137"/>
              <a:gd name="connsiteX13" fmla="*/ 10066742 w 12173707"/>
              <a:gd name="connsiteY13" fmla="*/ 5914499 h 6231137"/>
              <a:gd name="connsiteX14" fmla="*/ 10986681 w 12173707"/>
              <a:gd name="connsiteY14" fmla="*/ 5922366 h 6231137"/>
              <a:gd name="connsiteX15" fmla="*/ 12144764 w 12173707"/>
              <a:gd name="connsiteY15" fmla="*/ 5921320 h 6231137"/>
              <a:gd name="connsiteX16" fmla="*/ 12122910 w 12173707"/>
              <a:gd name="connsiteY16" fmla="*/ 2621674 h 6231137"/>
              <a:gd name="connsiteX17" fmla="*/ 12113558 w 12173707"/>
              <a:gd name="connsiteY17" fmla="*/ 176313 h 6231137"/>
              <a:gd name="connsiteX18" fmla="*/ 11348991 w 12173707"/>
              <a:gd name="connsiteY18" fmla="*/ 107615 h 6231137"/>
              <a:gd name="connsiteX19" fmla="*/ 10318767 w 12173707"/>
              <a:gd name="connsiteY19" fmla="*/ 101059 h 6231137"/>
              <a:gd name="connsiteX20" fmla="*/ 7659332 w 12173707"/>
              <a:gd name="connsiteY20" fmla="*/ 75910 h 6231137"/>
              <a:gd name="connsiteX21" fmla="*/ 1952198 w 12173707"/>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9 w 12201124"/>
              <a:gd name="connsiteY5" fmla="*/ 3534559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8 w 12201124"/>
              <a:gd name="connsiteY5" fmla="*/ 4337852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86334 w 12207843"/>
              <a:gd name="connsiteY0" fmla="*/ 0 h 6231137"/>
              <a:gd name="connsiteX1" fmla="*/ 398253 w 12207843"/>
              <a:gd name="connsiteY1" fmla="*/ 10761 h 6231137"/>
              <a:gd name="connsiteX2" fmla="*/ 93590 w 12207843"/>
              <a:gd name="connsiteY2" fmla="*/ 47942 h 6231137"/>
              <a:gd name="connsiteX3" fmla="*/ 93590 w 12207843"/>
              <a:gd name="connsiteY3" fmla="*/ 909146 h 6231137"/>
              <a:gd name="connsiteX4" fmla="*/ 98187 w 12207843"/>
              <a:gd name="connsiteY4" fmla="*/ 909146 h 6231137"/>
              <a:gd name="connsiteX5" fmla="*/ 40067 w 12207843"/>
              <a:gd name="connsiteY5" fmla="*/ 4337852 h 6231137"/>
              <a:gd name="connsiteX6" fmla="*/ 75825 w 12207843"/>
              <a:gd name="connsiteY6" fmla="*/ 5941555 h 6231137"/>
              <a:gd name="connsiteX7" fmla="*/ 2683527 w 12207843"/>
              <a:gd name="connsiteY7" fmla="*/ 5929698 h 6231137"/>
              <a:gd name="connsiteX8" fmla="*/ 4337222 w 12207843"/>
              <a:gd name="connsiteY8" fmla="*/ 5908315 h 6231137"/>
              <a:gd name="connsiteX9" fmla="*/ 5308523 w 12207843"/>
              <a:gd name="connsiteY9" fmla="*/ 5924178 h 6231137"/>
              <a:gd name="connsiteX10" fmla="*/ 5792281 w 12207843"/>
              <a:gd name="connsiteY10" fmla="*/ 6231137 h 6231137"/>
              <a:gd name="connsiteX11" fmla="*/ 6064784 w 12207843"/>
              <a:gd name="connsiteY11" fmla="*/ 5908409 h 6231137"/>
              <a:gd name="connsiteX12" fmla="*/ 9191976 w 12207843"/>
              <a:gd name="connsiteY12" fmla="*/ 5911624 h 6231137"/>
              <a:gd name="connsiteX13" fmla="*/ 10100878 w 12207843"/>
              <a:gd name="connsiteY13" fmla="*/ 5914499 h 6231137"/>
              <a:gd name="connsiteX14" fmla="*/ 11020817 w 12207843"/>
              <a:gd name="connsiteY14" fmla="*/ 5922366 h 6231137"/>
              <a:gd name="connsiteX15" fmla="*/ 12178900 w 12207843"/>
              <a:gd name="connsiteY15" fmla="*/ 5921320 h 6231137"/>
              <a:gd name="connsiteX16" fmla="*/ 12157046 w 12207843"/>
              <a:gd name="connsiteY16" fmla="*/ 2621674 h 6231137"/>
              <a:gd name="connsiteX17" fmla="*/ 12147694 w 12207843"/>
              <a:gd name="connsiteY17" fmla="*/ 176313 h 6231137"/>
              <a:gd name="connsiteX18" fmla="*/ 11383127 w 12207843"/>
              <a:gd name="connsiteY18" fmla="*/ 107615 h 6231137"/>
              <a:gd name="connsiteX19" fmla="*/ 10352903 w 12207843"/>
              <a:gd name="connsiteY19" fmla="*/ 101059 h 6231137"/>
              <a:gd name="connsiteX20" fmla="*/ 7693468 w 12207843"/>
              <a:gd name="connsiteY20" fmla="*/ 75910 h 6231137"/>
              <a:gd name="connsiteX21" fmla="*/ 1986334 w 12207843"/>
              <a:gd name="connsiteY21" fmla="*/ 0 h 6231137"/>
              <a:gd name="connsiteX0" fmla="*/ 1973709 w 12195218"/>
              <a:gd name="connsiteY0" fmla="*/ 0 h 6231137"/>
              <a:gd name="connsiteX1" fmla="*/ 385628 w 12195218"/>
              <a:gd name="connsiteY1" fmla="*/ 10761 h 6231137"/>
              <a:gd name="connsiteX2" fmla="*/ 80965 w 12195218"/>
              <a:gd name="connsiteY2" fmla="*/ 47942 h 6231137"/>
              <a:gd name="connsiteX3" fmla="*/ 80965 w 12195218"/>
              <a:gd name="connsiteY3" fmla="*/ 909146 h 6231137"/>
              <a:gd name="connsiteX4" fmla="*/ 85562 w 12195218"/>
              <a:gd name="connsiteY4" fmla="*/ 909146 h 6231137"/>
              <a:gd name="connsiteX5" fmla="*/ 27442 w 12195218"/>
              <a:gd name="connsiteY5" fmla="*/ 4337852 h 6231137"/>
              <a:gd name="connsiteX6" fmla="*/ 63200 w 12195218"/>
              <a:gd name="connsiteY6" fmla="*/ 5941555 h 6231137"/>
              <a:gd name="connsiteX7" fmla="*/ 2670902 w 12195218"/>
              <a:gd name="connsiteY7" fmla="*/ 5929698 h 6231137"/>
              <a:gd name="connsiteX8" fmla="*/ 4324597 w 12195218"/>
              <a:gd name="connsiteY8" fmla="*/ 5908315 h 6231137"/>
              <a:gd name="connsiteX9" fmla="*/ 5295898 w 12195218"/>
              <a:gd name="connsiteY9" fmla="*/ 5924178 h 6231137"/>
              <a:gd name="connsiteX10" fmla="*/ 5779656 w 12195218"/>
              <a:gd name="connsiteY10" fmla="*/ 6231137 h 6231137"/>
              <a:gd name="connsiteX11" fmla="*/ 6052159 w 12195218"/>
              <a:gd name="connsiteY11" fmla="*/ 5908409 h 6231137"/>
              <a:gd name="connsiteX12" fmla="*/ 9179351 w 12195218"/>
              <a:gd name="connsiteY12" fmla="*/ 5911624 h 6231137"/>
              <a:gd name="connsiteX13" fmla="*/ 10088253 w 12195218"/>
              <a:gd name="connsiteY13" fmla="*/ 5914499 h 6231137"/>
              <a:gd name="connsiteX14" fmla="*/ 11008192 w 12195218"/>
              <a:gd name="connsiteY14" fmla="*/ 5922366 h 6231137"/>
              <a:gd name="connsiteX15" fmla="*/ 12166275 w 12195218"/>
              <a:gd name="connsiteY15" fmla="*/ 5921320 h 6231137"/>
              <a:gd name="connsiteX16" fmla="*/ 12144421 w 12195218"/>
              <a:gd name="connsiteY16" fmla="*/ 2621674 h 6231137"/>
              <a:gd name="connsiteX17" fmla="*/ 12135069 w 12195218"/>
              <a:gd name="connsiteY17" fmla="*/ 176313 h 6231137"/>
              <a:gd name="connsiteX18" fmla="*/ 11370502 w 12195218"/>
              <a:gd name="connsiteY18" fmla="*/ 107615 h 6231137"/>
              <a:gd name="connsiteX19" fmla="*/ 10340278 w 12195218"/>
              <a:gd name="connsiteY19" fmla="*/ 101059 h 6231137"/>
              <a:gd name="connsiteX20" fmla="*/ 7680843 w 12195218"/>
              <a:gd name="connsiteY20" fmla="*/ 75910 h 6231137"/>
              <a:gd name="connsiteX21" fmla="*/ 1973709 w 12195218"/>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92826 w 12202482"/>
              <a:gd name="connsiteY4" fmla="*/ 909146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21578 w 12202482"/>
              <a:gd name="connsiteY4" fmla="*/ 994830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42494 w 12256747"/>
              <a:gd name="connsiteY3" fmla="*/ 909146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4594 w 12256747"/>
              <a:gd name="connsiteY4" fmla="*/ 1176912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54471 w 12275980"/>
              <a:gd name="connsiteY0" fmla="*/ 0 h 6231137"/>
              <a:gd name="connsiteX1" fmla="*/ 466390 w 12275980"/>
              <a:gd name="connsiteY1" fmla="*/ 10761 h 6231137"/>
              <a:gd name="connsiteX2" fmla="*/ 19233 w 12275980"/>
              <a:gd name="connsiteY2" fmla="*/ 26521 h 6231137"/>
              <a:gd name="connsiteX3" fmla="*/ 19232 w 12275980"/>
              <a:gd name="connsiteY3" fmla="*/ 844885 h 6231137"/>
              <a:gd name="connsiteX4" fmla="*/ 76 w 12275980"/>
              <a:gd name="connsiteY4" fmla="*/ 1369703 h 6231137"/>
              <a:gd name="connsiteX5" fmla="*/ 84455 w 12275980"/>
              <a:gd name="connsiteY5" fmla="*/ 4530644 h 6231137"/>
              <a:gd name="connsiteX6" fmla="*/ 143962 w 12275980"/>
              <a:gd name="connsiteY6" fmla="*/ 5941555 h 6231137"/>
              <a:gd name="connsiteX7" fmla="*/ 2751664 w 12275980"/>
              <a:gd name="connsiteY7" fmla="*/ 5929698 h 6231137"/>
              <a:gd name="connsiteX8" fmla="*/ 4405359 w 12275980"/>
              <a:gd name="connsiteY8" fmla="*/ 5908315 h 6231137"/>
              <a:gd name="connsiteX9" fmla="*/ 5376660 w 12275980"/>
              <a:gd name="connsiteY9" fmla="*/ 5924178 h 6231137"/>
              <a:gd name="connsiteX10" fmla="*/ 5860418 w 12275980"/>
              <a:gd name="connsiteY10" fmla="*/ 6231137 h 6231137"/>
              <a:gd name="connsiteX11" fmla="*/ 6132921 w 12275980"/>
              <a:gd name="connsiteY11" fmla="*/ 5908409 h 6231137"/>
              <a:gd name="connsiteX12" fmla="*/ 9260113 w 12275980"/>
              <a:gd name="connsiteY12" fmla="*/ 5911624 h 6231137"/>
              <a:gd name="connsiteX13" fmla="*/ 10169015 w 12275980"/>
              <a:gd name="connsiteY13" fmla="*/ 5914499 h 6231137"/>
              <a:gd name="connsiteX14" fmla="*/ 11088954 w 12275980"/>
              <a:gd name="connsiteY14" fmla="*/ 5922366 h 6231137"/>
              <a:gd name="connsiteX15" fmla="*/ 12247037 w 12275980"/>
              <a:gd name="connsiteY15" fmla="*/ 5921320 h 6231137"/>
              <a:gd name="connsiteX16" fmla="*/ 12225183 w 12275980"/>
              <a:gd name="connsiteY16" fmla="*/ 2621674 h 6231137"/>
              <a:gd name="connsiteX17" fmla="*/ 12215831 w 12275980"/>
              <a:gd name="connsiteY17" fmla="*/ 176313 h 6231137"/>
              <a:gd name="connsiteX18" fmla="*/ 11451264 w 12275980"/>
              <a:gd name="connsiteY18" fmla="*/ 107615 h 6231137"/>
              <a:gd name="connsiteX19" fmla="*/ 10421040 w 12275980"/>
              <a:gd name="connsiteY19" fmla="*/ 101059 h 6231137"/>
              <a:gd name="connsiteX20" fmla="*/ 7761605 w 12275980"/>
              <a:gd name="connsiteY20" fmla="*/ 75910 h 6231137"/>
              <a:gd name="connsiteX21" fmla="*/ 2054471 w 1227598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161182 w 12293200"/>
              <a:gd name="connsiteY6" fmla="*/ 5941555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89932 w 12293200"/>
              <a:gd name="connsiteY6" fmla="*/ 5941557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88138"/>
              <a:gd name="connsiteY0" fmla="*/ 24998 h 6256135"/>
              <a:gd name="connsiteX1" fmla="*/ 483610 w 12288138"/>
              <a:gd name="connsiteY1" fmla="*/ 35759 h 6256135"/>
              <a:gd name="connsiteX2" fmla="*/ 36453 w 12288138"/>
              <a:gd name="connsiteY2" fmla="*/ 51519 h 6256135"/>
              <a:gd name="connsiteX3" fmla="*/ 36452 w 12288138"/>
              <a:gd name="connsiteY3" fmla="*/ 869883 h 6256135"/>
              <a:gd name="connsiteX4" fmla="*/ 17296 w 12288138"/>
              <a:gd name="connsiteY4" fmla="*/ 1394701 h 6256135"/>
              <a:gd name="connsiteX5" fmla="*/ 6679 w 12288138"/>
              <a:gd name="connsiteY5" fmla="*/ 4619906 h 6256135"/>
              <a:gd name="connsiteX6" fmla="*/ 89932 w 12288138"/>
              <a:gd name="connsiteY6" fmla="*/ 5966555 h 6256135"/>
              <a:gd name="connsiteX7" fmla="*/ 2768884 w 12288138"/>
              <a:gd name="connsiteY7" fmla="*/ 5954696 h 6256135"/>
              <a:gd name="connsiteX8" fmla="*/ 4422579 w 12288138"/>
              <a:gd name="connsiteY8" fmla="*/ 5933313 h 6256135"/>
              <a:gd name="connsiteX9" fmla="*/ 5393880 w 12288138"/>
              <a:gd name="connsiteY9" fmla="*/ 5949176 h 6256135"/>
              <a:gd name="connsiteX10" fmla="*/ 5877638 w 12288138"/>
              <a:gd name="connsiteY10" fmla="*/ 6256135 h 6256135"/>
              <a:gd name="connsiteX11" fmla="*/ 6150141 w 12288138"/>
              <a:gd name="connsiteY11" fmla="*/ 5933407 h 6256135"/>
              <a:gd name="connsiteX12" fmla="*/ 9277333 w 12288138"/>
              <a:gd name="connsiteY12" fmla="*/ 5936622 h 6256135"/>
              <a:gd name="connsiteX13" fmla="*/ 10186235 w 12288138"/>
              <a:gd name="connsiteY13" fmla="*/ 5939497 h 6256135"/>
              <a:gd name="connsiteX14" fmla="*/ 11106174 w 12288138"/>
              <a:gd name="connsiteY14" fmla="*/ 5947364 h 6256135"/>
              <a:gd name="connsiteX15" fmla="*/ 12264257 w 12288138"/>
              <a:gd name="connsiteY15" fmla="*/ 5946318 h 6256135"/>
              <a:gd name="connsiteX16" fmla="*/ 12242403 w 12288138"/>
              <a:gd name="connsiteY16" fmla="*/ 2646672 h 6256135"/>
              <a:gd name="connsiteX17" fmla="*/ 12233051 w 12288138"/>
              <a:gd name="connsiteY17" fmla="*/ 201311 h 6256135"/>
              <a:gd name="connsiteX18" fmla="*/ 11729726 w 12288138"/>
              <a:gd name="connsiteY18" fmla="*/ 132612 h 6256135"/>
              <a:gd name="connsiteX19" fmla="*/ 10438260 w 12288138"/>
              <a:gd name="connsiteY19" fmla="*/ 126057 h 6256135"/>
              <a:gd name="connsiteX20" fmla="*/ 7778825 w 12288138"/>
              <a:gd name="connsiteY20" fmla="*/ 100908 h 6256135"/>
              <a:gd name="connsiteX21" fmla="*/ 2071691 w 12288138"/>
              <a:gd name="connsiteY21" fmla="*/ 24998 h 6256135"/>
              <a:gd name="connsiteX0" fmla="*/ 2071691 w 12281699"/>
              <a:gd name="connsiteY0" fmla="*/ 0 h 6231137"/>
              <a:gd name="connsiteX1" fmla="*/ 483610 w 12281699"/>
              <a:gd name="connsiteY1" fmla="*/ 10761 h 6231137"/>
              <a:gd name="connsiteX2" fmla="*/ 36453 w 12281699"/>
              <a:gd name="connsiteY2" fmla="*/ 26521 h 6231137"/>
              <a:gd name="connsiteX3" fmla="*/ 36452 w 12281699"/>
              <a:gd name="connsiteY3" fmla="*/ 844885 h 6231137"/>
              <a:gd name="connsiteX4" fmla="*/ 17296 w 12281699"/>
              <a:gd name="connsiteY4" fmla="*/ 1369703 h 6231137"/>
              <a:gd name="connsiteX5" fmla="*/ 6679 w 12281699"/>
              <a:gd name="connsiteY5" fmla="*/ 4594908 h 6231137"/>
              <a:gd name="connsiteX6" fmla="*/ 89932 w 12281699"/>
              <a:gd name="connsiteY6" fmla="*/ 5941557 h 6231137"/>
              <a:gd name="connsiteX7" fmla="*/ 2768884 w 12281699"/>
              <a:gd name="connsiteY7" fmla="*/ 5929698 h 6231137"/>
              <a:gd name="connsiteX8" fmla="*/ 4422579 w 12281699"/>
              <a:gd name="connsiteY8" fmla="*/ 5908315 h 6231137"/>
              <a:gd name="connsiteX9" fmla="*/ 5393880 w 12281699"/>
              <a:gd name="connsiteY9" fmla="*/ 5924178 h 6231137"/>
              <a:gd name="connsiteX10" fmla="*/ 5877638 w 12281699"/>
              <a:gd name="connsiteY10" fmla="*/ 6231137 h 6231137"/>
              <a:gd name="connsiteX11" fmla="*/ 6150141 w 12281699"/>
              <a:gd name="connsiteY11" fmla="*/ 5908409 h 6231137"/>
              <a:gd name="connsiteX12" fmla="*/ 9277333 w 12281699"/>
              <a:gd name="connsiteY12" fmla="*/ 5911624 h 6231137"/>
              <a:gd name="connsiteX13" fmla="*/ 10186235 w 12281699"/>
              <a:gd name="connsiteY13" fmla="*/ 5914499 h 6231137"/>
              <a:gd name="connsiteX14" fmla="*/ 11106174 w 12281699"/>
              <a:gd name="connsiteY14" fmla="*/ 5922366 h 6231137"/>
              <a:gd name="connsiteX15" fmla="*/ 12264257 w 12281699"/>
              <a:gd name="connsiteY15" fmla="*/ 5921320 h 6231137"/>
              <a:gd name="connsiteX16" fmla="*/ 12242403 w 12281699"/>
              <a:gd name="connsiteY16" fmla="*/ 2621674 h 6231137"/>
              <a:gd name="connsiteX17" fmla="*/ 12233051 w 12281699"/>
              <a:gd name="connsiteY17" fmla="*/ 176313 h 6231137"/>
              <a:gd name="connsiteX18" fmla="*/ 11729726 w 12281699"/>
              <a:gd name="connsiteY18" fmla="*/ 107614 h 6231137"/>
              <a:gd name="connsiteX19" fmla="*/ 10438260 w 12281699"/>
              <a:gd name="connsiteY19" fmla="*/ 101059 h 6231137"/>
              <a:gd name="connsiteX20" fmla="*/ 7778825 w 12281699"/>
              <a:gd name="connsiteY20" fmla="*/ 75910 h 6231137"/>
              <a:gd name="connsiteX21" fmla="*/ 2071691 w 12281699"/>
              <a:gd name="connsiteY21" fmla="*/ 0 h 6231137"/>
              <a:gd name="connsiteX0" fmla="*/ 2071691 w 12281973"/>
              <a:gd name="connsiteY0" fmla="*/ 17107 h 6248244"/>
              <a:gd name="connsiteX1" fmla="*/ 483610 w 12281973"/>
              <a:gd name="connsiteY1" fmla="*/ 27868 h 6248244"/>
              <a:gd name="connsiteX2" fmla="*/ 36453 w 12281973"/>
              <a:gd name="connsiteY2" fmla="*/ 43628 h 6248244"/>
              <a:gd name="connsiteX3" fmla="*/ 36452 w 12281973"/>
              <a:gd name="connsiteY3" fmla="*/ 861992 h 6248244"/>
              <a:gd name="connsiteX4" fmla="*/ 17296 w 12281973"/>
              <a:gd name="connsiteY4" fmla="*/ 1386810 h 6248244"/>
              <a:gd name="connsiteX5" fmla="*/ 6679 w 12281973"/>
              <a:gd name="connsiteY5" fmla="*/ 4612015 h 6248244"/>
              <a:gd name="connsiteX6" fmla="*/ 89932 w 12281973"/>
              <a:gd name="connsiteY6" fmla="*/ 5958664 h 6248244"/>
              <a:gd name="connsiteX7" fmla="*/ 2768884 w 12281973"/>
              <a:gd name="connsiteY7" fmla="*/ 5946805 h 6248244"/>
              <a:gd name="connsiteX8" fmla="*/ 4422579 w 12281973"/>
              <a:gd name="connsiteY8" fmla="*/ 5925422 h 6248244"/>
              <a:gd name="connsiteX9" fmla="*/ 5393880 w 12281973"/>
              <a:gd name="connsiteY9" fmla="*/ 5941285 h 6248244"/>
              <a:gd name="connsiteX10" fmla="*/ 5877638 w 12281973"/>
              <a:gd name="connsiteY10" fmla="*/ 6248244 h 6248244"/>
              <a:gd name="connsiteX11" fmla="*/ 6150141 w 12281973"/>
              <a:gd name="connsiteY11" fmla="*/ 5925516 h 6248244"/>
              <a:gd name="connsiteX12" fmla="*/ 9277333 w 12281973"/>
              <a:gd name="connsiteY12" fmla="*/ 5928731 h 6248244"/>
              <a:gd name="connsiteX13" fmla="*/ 10186235 w 12281973"/>
              <a:gd name="connsiteY13" fmla="*/ 5931606 h 6248244"/>
              <a:gd name="connsiteX14" fmla="*/ 11106174 w 12281973"/>
              <a:gd name="connsiteY14" fmla="*/ 5939473 h 6248244"/>
              <a:gd name="connsiteX15" fmla="*/ 12264257 w 12281973"/>
              <a:gd name="connsiteY15" fmla="*/ 5938427 h 6248244"/>
              <a:gd name="connsiteX16" fmla="*/ 12242403 w 12281973"/>
              <a:gd name="connsiteY16" fmla="*/ 2638781 h 6248244"/>
              <a:gd name="connsiteX17" fmla="*/ 12233051 w 12281973"/>
              <a:gd name="connsiteY17" fmla="*/ 193420 h 6248244"/>
              <a:gd name="connsiteX18" fmla="*/ 11824723 w 12281973"/>
              <a:gd name="connsiteY18" fmla="*/ 146142 h 6248244"/>
              <a:gd name="connsiteX19" fmla="*/ 10438260 w 12281973"/>
              <a:gd name="connsiteY19" fmla="*/ 118166 h 6248244"/>
              <a:gd name="connsiteX20" fmla="*/ 7778825 w 12281973"/>
              <a:gd name="connsiteY20" fmla="*/ 93017 h 6248244"/>
              <a:gd name="connsiteX21" fmla="*/ 2071691 w 12281973"/>
              <a:gd name="connsiteY21" fmla="*/ 17107 h 6248244"/>
              <a:gd name="connsiteX0" fmla="*/ 2071691 w 12281973"/>
              <a:gd name="connsiteY0" fmla="*/ 19214 h 6250351"/>
              <a:gd name="connsiteX1" fmla="*/ 483610 w 12281973"/>
              <a:gd name="connsiteY1" fmla="*/ 29975 h 6250351"/>
              <a:gd name="connsiteX2" fmla="*/ 36453 w 12281973"/>
              <a:gd name="connsiteY2" fmla="*/ 45735 h 6250351"/>
              <a:gd name="connsiteX3" fmla="*/ 36452 w 12281973"/>
              <a:gd name="connsiteY3" fmla="*/ 864099 h 6250351"/>
              <a:gd name="connsiteX4" fmla="*/ 17296 w 12281973"/>
              <a:gd name="connsiteY4" fmla="*/ 1388917 h 6250351"/>
              <a:gd name="connsiteX5" fmla="*/ 6679 w 12281973"/>
              <a:gd name="connsiteY5" fmla="*/ 4614122 h 6250351"/>
              <a:gd name="connsiteX6" fmla="*/ 89932 w 12281973"/>
              <a:gd name="connsiteY6" fmla="*/ 5960771 h 6250351"/>
              <a:gd name="connsiteX7" fmla="*/ 2768884 w 12281973"/>
              <a:gd name="connsiteY7" fmla="*/ 5948912 h 6250351"/>
              <a:gd name="connsiteX8" fmla="*/ 4422579 w 12281973"/>
              <a:gd name="connsiteY8" fmla="*/ 5927529 h 6250351"/>
              <a:gd name="connsiteX9" fmla="*/ 5393880 w 12281973"/>
              <a:gd name="connsiteY9" fmla="*/ 5943392 h 6250351"/>
              <a:gd name="connsiteX10" fmla="*/ 5877638 w 12281973"/>
              <a:gd name="connsiteY10" fmla="*/ 6250351 h 6250351"/>
              <a:gd name="connsiteX11" fmla="*/ 6150141 w 12281973"/>
              <a:gd name="connsiteY11" fmla="*/ 5927623 h 6250351"/>
              <a:gd name="connsiteX12" fmla="*/ 9277333 w 12281973"/>
              <a:gd name="connsiteY12" fmla="*/ 5930838 h 6250351"/>
              <a:gd name="connsiteX13" fmla="*/ 10186235 w 12281973"/>
              <a:gd name="connsiteY13" fmla="*/ 5933713 h 6250351"/>
              <a:gd name="connsiteX14" fmla="*/ 11106174 w 12281973"/>
              <a:gd name="connsiteY14" fmla="*/ 5941580 h 6250351"/>
              <a:gd name="connsiteX15" fmla="*/ 12264257 w 12281973"/>
              <a:gd name="connsiteY15" fmla="*/ 5940534 h 6250351"/>
              <a:gd name="connsiteX16" fmla="*/ 12242403 w 12281973"/>
              <a:gd name="connsiteY16" fmla="*/ 2640888 h 6250351"/>
              <a:gd name="connsiteX17" fmla="*/ 12233051 w 12281973"/>
              <a:gd name="connsiteY17" fmla="*/ 195527 h 6250351"/>
              <a:gd name="connsiteX18" fmla="*/ 11824723 w 12281973"/>
              <a:gd name="connsiteY18" fmla="*/ 148249 h 6250351"/>
              <a:gd name="connsiteX19" fmla="*/ 10295765 w 12281973"/>
              <a:gd name="connsiteY19" fmla="*/ 141693 h 6250351"/>
              <a:gd name="connsiteX20" fmla="*/ 7778825 w 12281973"/>
              <a:gd name="connsiteY20" fmla="*/ 95124 h 6250351"/>
              <a:gd name="connsiteX21" fmla="*/ 2071691 w 12281973"/>
              <a:gd name="connsiteY21" fmla="*/ 19214 h 6250351"/>
              <a:gd name="connsiteX0" fmla="*/ 2071691 w 12322325"/>
              <a:gd name="connsiteY0" fmla="*/ 0 h 6231137"/>
              <a:gd name="connsiteX1" fmla="*/ 483610 w 12322325"/>
              <a:gd name="connsiteY1" fmla="*/ 10761 h 6231137"/>
              <a:gd name="connsiteX2" fmla="*/ 36453 w 12322325"/>
              <a:gd name="connsiteY2" fmla="*/ 26521 h 6231137"/>
              <a:gd name="connsiteX3" fmla="*/ 36452 w 12322325"/>
              <a:gd name="connsiteY3" fmla="*/ 844885 h 6231137"/>
              <a:gd name="connsiteX4" fmla="*/ 17296 w 12322325"/>
              <a:gd name="connsiteY4" fmla="*/ 1369703 h 6231137"/>
              <a:gd name="connsiteX5" fmla="*/ 6679 w 12322325"/>
              <a:gd name="connsiteY5" fmla="*/ 4594908 h 6231137"/>
              <a:gd name="connsiteX6" fmla="*/ 89932 w 12322325"/>
              <a:gd name="connsiteY6" fmla="*/ 5941557 h 6231137"/>
              <a:gd name="connsiteX7" fmla="*/ 2768884 w 12322325"/>
              <a:gd name="connsiteY7" fmla="*/ 5929698 h 6231137"/>
              <a:gd name="connsiteX8" fmla="*/ 4422579 w 12322325"/>
              <a:gd name="connsiteY8" fmla="*/ 5908315 h 6231137"/>
              <a:gd name="connsiteX9" fmla="*/ 5393880 w 12322325"/>
              <a:gd name="connsiteY9" fmla="*/ 5924178 h 6231137"/>
              <a:gd name="connsiteX10" fmla="*/ 5877638 w 12322325"/>
              <a:gd name="connsiteY10" fmla="*/ 6231137 h 6231137"/>
              <a:gd name="connsiteX11" fmla="*/ 6150141 w 12322325"/>
              <a:gd name="connsiteY11" fmla="*/ 5908409 h 6231137"/>
              <a:gd name="connsiteX12" fmla="*/ 9277333 w 12322325"/>
              <a:gd name="connsiteY12" fmla="*/ 5911624 h 6231137"/>
              <a:gd name="connsiteX13" fmla="*/ 10186235 w 12322325"/>
              <a:gd name="connsiteY13" fmla="*/ 5914499 h 6231137"/>
              <a:gd name="connsiteX14" fmla="*/ 11106174 w 12322325"/>
              <a:gd name="connsiteY14" fmla="*/ 5922366 h 6231137"/>
              <a:gd name="connsiteX15" fmla="*/ 12264257 w 12322325"/>
              <a:gd name="connsiteY15" fmla="*/ 5921320 h 6231137"/>
              <a:gd name="connsiteX16" fmla="*/ 12242403 w 12322325"/>
              <a:gd name="connsiteY16" fmla="*/ 2621674 h 6231137"/>
              <a:gd name="connsiteX17" fmla="*/ 12233051 w 12322325"/>
              <a:gd name="connsiteY17" fmla="*/ 176313 h 6231137"/>
              <a:gd name="connsiteX18" fmla="*/ 11824723 w 12322325"/>
              <a:gd name="connsiteY18" fmla="*/ 129035 h 6231137"/>
              <a:gd name="connsiteX19" fmla="*/ 10295765 w 12322325"/>
              <a:gd name="connsiteY19" fmla="*/ 122479 h 6231137"/>
              <a:gd name="connsiteX20" fmla="*/ 7778825 w 12322325"/>
              <a:gd name="connsiteY20" fmla="*/ 75910 h 6231137"/>
              <a:gd name="connsiteX21" fmla="*/ 2071691 w 12322325"/>
              <a:gd name="connsiteY21" fmla="*/ 0 h 6231137"/>
              <a:gd name="connsiteX0" fmla="*/ 2071691 w 12275492"/>
              <a:gd name="connsiteY0" fmla="*/ 0 h 6231137"/>
              <a:gd name="connsiteX1" fmla="*/ 483610 w 12275492"/>
              <a:gd name="connsiteY1" fmla="*/ 10761 h 6231137"/>
              <a:gd name="connsiteX2" fmla="*/ 36453 w 12275492"/>
              <a:gd name="connsiteY2" fmla="*/ 26521 h 6231137"/>
              <a:gd name="connsiteX3" fmla="*/ 36452 w 12275492"/>
              <a:gd name="connsiteY3" fmla="*/ 844885 h 6231137"/>
              <a:gd name="connsiteX4" fmla="*/ 17296 w 12275492"/>
              <a:gd name="connsiteY4" fmla="*/ 1369703 h 6231137"/>
              <a:gd name="connsiteX5" fmla="*/ 6679 w 12275492"/>
              <a:gd name="connsiteY5" fmla="*/ 4594908 h 6231137"/>
              <a:gd name="connsiteX6" fmla="*/ 89932 w 12275492"/>
              <a:gd name="connsiteY6" fmla="*/ 5941557 h 6231137"/>
              <a:gd name="connsiteX7" fmla="*/ 2768884 w 12275492"/>
              <a:gd name="connsiteY7" fmla="*/ 5929698 h 6231137"/>
              <a:gd name="connsiteX8" fmla="*/ 4422579 w 12275492"/>
              <a:gd name="connsiteY8" fmla="*/ 5908315 h 6231137"/>
              <a:gd name="connsiteX9" fmla="*/ 5393880 w 12275492"/>
              <a:gd name="connsiteY9" fmla="*/ 5924178 h 6231137"/>
              <a:gd name="connsiteX10" fmla="*/ 5877638 w 12275492"/>
              <a:gd name="connsiteY10" fmla="*/ 6231137 h 6231137"/>
              <a:gd name="connsiteX11" fmla="*/ 6150141 w 12275492"/>
              <a:gd name="connsiteY11" fmla="*/ 5908409 h 6231137"/>
              <a:gd name="connsiteX12" fmla="*/ 9277333 w 12275492"/>
              <a:gd name="connsiteY12" fmla="*/ 5911624 h 6231137"/>
              <a:gd name="connsiteX13" fmla="*/ 10186235 w 12275492"/>
              <a:gd name="connsiteY13" fmla="*/ 5914499 h 6231137"/>
              <a:gd name="connsiteX14" fmla="*/ 11106174 w 12275492"/>
              <a:gd name="connsiteY14" fmla="*/ 5922366 h 6231137"/>
              <a:gd name="connsiteX15" fmla="*/ 12264257 w 12275492"/>
              <a:gd name="connsiteY15" fmla="*/ 5921320 h 6231137"/>
              <a:gd name="connsiteX16" fmla="*/ 12242403 w 12275492"/>
              <a:gd name="connsiteY16" fmla="*/ 2621674 h 6231137"/>
              <a:gd name="connsiteX17" fmla="*/ 12233051 w 12275492"/>
              <a:gd name="connsiteY17" fmla="*/ 176313 h 6231137"/>
              <a:gd name="connsiteX18" fmla="*/ 11824723 w 12275492"/>
              <a:gd name="connsiteY18" fmla="*/ 129035 h 6231137"/>
              <a:gd name="connsiteX19" fmla="*/ 10295765 w 12275492"/>
              <a:gd name="connsiteY19" fmla="*/ 122479 h 6231137"/>
              <a:gd name="connsiteX20" fmla="*/ 7778825 w 12275492"/>
              <a:gd name="connsiteY20" fmla="*/ 75910 h 6231137"/>
              <a:gd name="connsiteX21" fmla="*/ 2071691 w 12275492"/>
              <a:gd name="connsiteY21" fmla="*/ 0 h 6231137"/>
              <a:gd name="connsiteX0" fmla="*/ 2071691 w 12313887"/>
              <a:gd name="connsiteY0" fmla="*/ 20004 h 6251141"/>
              <a:gd name="connsiteX1" fmla="*/ 483610 w 12313887"/>
              <a:gd name="connsiteY1" fmla="*/ 30765 h 6251141"/>
              <a:gd name="connsiteX2" fmla="*/ 36453 w 12313887"/>
              <a:gd name="connsiteY2" fmla="*/ 46525 h 6251141"/>
              <a:gd name="connsiteX3" fmla="*/ 36452 w 12313887"/>
              <a:gd name="connsiteY3" fmla="*/ 864889 h 6251141"/>
              <a:gd name="connsiteX4" fmla="*/ 17296 w 12313887"/>
              <a:gd name="connsiteY4" fmla="*/ 1389707 h 6251141"/>
              <a:gd name="connsiteX5" fmla="*/ 6679 w 12313887"/>
              <a:gd name="connsiteY5" fmla="*/ 4614912 h 6251141"/>
              <a:gd name="connsiteX6" fmla="*/ 89932 w 12313887"/>
              <a:gd name="connsiteY6" fmla="*/ 5961561 h 6251141"/>
              <a:gd name="connsiteX7" fmla="*/ 2768884 w 12313887"/>
              <a:gd name="connsiteY7" fmla="*/ 5949702 h 6251141"/>
              <a:gd name="connsiteX8" fmla="*/ 4422579 w 12313887"/>
              <a:gd name="connsiteY8" fmla="*/ 5928319 h 6251141"/>
              <a:gd name="connsiteX9" fmla="*/ 5393880 w 12313887"/>
              <a:gd name="connsiteY9" fmla="*/ 5944182 h 6251141"/>
              <a:gd name="connsiteX10" fmla="*/ 5877638 w 12313887"/>
              <a:gd name="connsiteY10" fmla="*/ 6251141 h 6251141"/>
              <a:gd name="connsiteX11" fmla="*/ 6150141 w 12313887"/>
              <a:gd name="connsiteY11" fmla="*/ 5928413 h 6251141"/>
              <a:gd name="connsiteX12" fmla="*/ 9277333 w 12313887"/>
              <a:gd name="connsiteY12" fmla="*/ 5931628 h 6251141"/>
              <a:gd name="connsiteX13" fmla="*/ 10186235 w 12313887"/>
              <a:gd name="connsiteY13" fmla="*/ 5934503 h 6251141"/>
              <a:gd name="connsiteX14" fmla="*/ 11106174 w 12313887"/>
              <a:gd name="connsiteY14" fmla="*/ 5942370 h 6251141"/>
              <a:gd name="connsiteX15" fmla="*/ 12264257 w 12313887"/>
              <a:gd name="connsiteY15" fmla="*/ 5941324 h 6251141"/>
              <a:gd name="connsiteX16" fmla="*/ 12289901 w 12313887"/>
              <a:gd name="connsiteY16" fmla="*/ 2652389 h 6251141"/>
              <a:gd name="connsiteX17" fmla="*/ 12233051 w 12313887"/>
              <a:gd name="connsiteY17" fmla="*/ 196317 h 6251141"/>
              <a:gd name="connsiteX18" fmla="*/ 11824723 w 12313887"/>
              <a:gd name="connsiteY18" fmla="*/ 149039 h 6251141"/>
              <a:gd name="connsiteX19" fmla="*/ 10295765 w 12313887"/>
              <a:gd name="connsiteY19" fmla="*/ 142483 h 6251141"/>
              <a:gd name="connsiteX20" fmla="*/ 7778825 w 12313887"/>
              <a:gd name="connsiteY20" fmla="*/ 95914 h 6251141"/>
              <a:gd name="connsiteX21" fmla="*/ 2071691 w 12313887"/>
              <a:gd name="connsiteY21" fmla="*/ 20004 h 6251141"/>
              <a:gd name="connsiteX0" fmla="*/ 2071691 w 12332516"/>
              <a:gd name="connsiteY0" fmla="*/ 20004 h 6251141"/>
              <a:gd name="connsiteX1" fmla="*/ 483610 w 12332516"/>
              <a:gd name="connsiteY1" fmla="*/ 30765 h 6251141"/>
              <a:gd name="connsiteX2" fmla="*/ 36453 w 12332516"/>
              <a:gd name="connsiteY2" fmla="*/ 46525 h 6251141"/>
              <a:gd name="connsiteX3" fmla="*/ 36452 w 12332516"/>
              <a:gd name="connsiteY3" fmla="*/ 864889 h 6251141"/>
              <a:gd name="connsiteX4" fmla="*/ 17296 w 12332516"/>
              <a:gd name="connsiteY4" fmla="*/ 1389707 h 6251141"/>
              <a:gd name="connsiteX5" fmla="*/ 6679 w 12332516"/>
              <a:gd name="connsiteY5" fmla="*/ 4614912 h 6251141"/>
              <a:gd name="connsiteX6" fmla="*/ 89932 w 12332516"/>
              <a:gd name="connsiteY6" fmla="*/ 5961561 h 6251141"/>
              <a:gd name="connsiteX7" fmla="*/ 2768884 w 12332516"/>
              <a:gd name="connsiteY7" fmla="*/ 5949702 h 6251141"/>
              <a:gd name="connsiteX8" fmla="*/ 4422579 w 12332516"/>
              <a:gd name="connsiteY8" fmla="*/ 5928319 h 6251141"/>
              <a:gd name="connsiteX9" fmla="*/ 5393880 w 12332516"/>
              <a:gd name="connsiteY9" fmla="*/ 5944182 h 6251141"/>
              <a:gd name="connsiteX10" fmla="*/ 5877638 w 12332516"/>
              <a:gd name="connsiteY10" fmla="*/ 6251141 h 6251141"/>
              <a:gd name="connsiteX11" fmla="*/ 6150141 w 12332516"/>
              <a:gd name="connsiteY11" fmla="*/ 5928413 h 6251141"/>
              <a:gd name="connsiteX12" fmla="*/ 9277333 w 12332516"/>
              <a:gd name="connsiteY12" fmla="*/ 5931628 h 6251141"/>
              <a:gd name="connsiteX13" fmla="*/ 10186235 w 12332516"/>
              <a:gd name="connsiteY13" fmla="*/ 5934503 h 6251141"/>
              <a:gd name="connsiteX14" fmla="*/ 11106174 w 12332516"/>
              <a:gd name="connsiteY14" fmla="*/ 5942370 h 6251141"/>
              <a:gd name="connsiteX15" fmla="*/ 12264257 w 12332516"/>
              <a:gd name="connsiteY15" fmla="*/ 5941324 h 6251141"/>
              <a:gd name="connsiteX16" fmla="*/ 12289901 w 12332516"/>
              <a:gd name="connsiteY16" fmla="*/ 2652389 h 6251141"/>
              <a:gd name="connsiteX17" fmla="*/ 12280552 w 12332516"/>
              <a:gd name="connsiteY17" fmla="*/ 196317 h 6251141"/>
              <a:gd name="connsiteX18" fmla="*/ 11824723 w 12332516"/>
              <a:gd name="connsiteY18" fmla="*/ 149039 h 6251141"/>
              <a:gd name="connsiteX19" fmla="*/ 10295765 w 12332516"/>
              <a:gd name="connsiteY19" fmla="*/ 142483 h 6251141"/>
              <a:gd name="connsiteX20" fmla="*/ 7778825 w 12332516"/>
              <a:gd name="connsiteY20" fmla="*/ 95914 h 6251141"/>
              <a:gd name="connsiteX21" fmla="*/ 2071691 w 12332516"/>
              <a:gd name="connsiteY21" fmla="*/ 20004 h 6251141"/>
              <a:gd name="connsiteX0" fmla="*/ 2071691 w 12322347"/>
              <a:gd name="connsiteY0" fmla="*/ 0 h 6231137"/>
              <a:gd name="connsiteX1" fmla="*/ 483610 w 12322347"/>
              <a:gd name="connsiteY1" fmla="*/ 10761 h 6231137"/>
              <a:gd name="connsiteX2" fmla="*/ 36453 w 12322347"/>
              <a:gd name="connsiteY2" fmla="*/ 2652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483610 w 12322347"/>
              <a:gd name="connsiteY1" fmla="*/ 10761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578608 w 12322347"/>
              <a:gd name="connsiteY1" fmla="*/ 42448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261685 w 12322347"/>
              <a:gd name="connsiteY0" fmla="*/ 10365 h 6188689"/>
              <a:gd name="connsiteX1" fmla="*/ 578608 w 12322347"/>
              <a:gd name="connsiteY1" fmla="*/ 0 h 6188689"/>
              <a:gd name="connsiteX2" fmla="*/ 36453 w 12322347"/>
              <a:gd name="connsiteY2" fmla="*/ 26323 h 6188689"/>
              <a:gd name="connsiteX3" fmla="*/ 36452 w 12322347"/>
              <a:gd name="connsiteY3" fmla="*/ 802437 h 6188689"/>
              <a:gd name="connsiteX4" fmla="*/ 17296 w 12322347"/>
              <a:gd name="connsiteY4" fmla="*/ 1327255 h 6188689"/>
              <a:gd name="connsiteX5" fmla="*/ 6679 w 12322347"/>
              <a:gd name="connsiteY5" fmla="*/ 4552460 h 6188689"/>
              <a:gd name="connsiteX6" fmla="*/ 89932 w 12322347"/>
              <a:gd name="connsiteY6" fmla="*/ 5899109 h 6188689"/>
              <a:gd name="connsiteX7" fmla="*/ 2768884 w 12322347"/>
              <a:gd name="connsiteY7" fmla="*/ 5887250 h 6188689"/>
              <a:gd name="connsiteX8" fmla="*/ 4422579 w 12322347"/>
              <a:gd name="connsiteY8" fmla="*/ 5865867 h 6188689"/>
              <a:gd name="connsiteX9" fmla="*/ 5393880 w 12322347"/>
              <a:gd name="connsiteY9" fmla="*/ 5881730 h 6188689"/>
              <a:gd name="connsiteX10" fmla="*/ 5877638 w 12322347"/>
              <a:gd name="connsiteY10" fmla="*/ 6188689 h 6188689"/>
              <a:gd name="connsiteX11" fmla="*/ 6150141 w 12322347"/>
              <a:gd name="connsiteY11" fmla="*/ 5865961 h 6188689"/>
              <a:gd name="connsiteX12" fmla="*/ 9277333 w 12322347"/>
              <a:gd name="connsiteY12" fmla="*/ 5869176 h 6188689"/>
              <a:gd name="connsiteX13" fmla="*/ 10186235 w 12322347"/>
              <a:gd name="connsiteY13" fmla="*/ 5872051 h 6188689"/>
              <a:gd name="connsiteX14" fmla="*/ 11106174 w 12322347"/>
              <a:gd name="connsiteY14" fmla="*/ 5879918 h 6188689"/>
              <a:gd name="connsiteX15" fmla="*/ 12264257 w 12322347"/>
              <a:gd name="connsiteY15" fmla="*/ 5878872 h 6188689"/>
              <a:gd name="connsiteX16" fmla="*/ 12289901 w 12322347"/>
              <a:gd name="connsiteY16" fmla="*/ 2589937 h 6188689"/>
              <a:gd name="connsiteX17" fmla="*/ 12280552 w 12322347"/>
              <a:gd name="connsiteY17" fmla="*/ 133865 h 6188689"/>
              <a:gd name="connsiteX18" fmla="*/ 11824723 w 12322347"/>
              <a:gd name="connsiteY18" fmla="*/ 86587 h 6188689"/>
              <a:gd name="connsiteX19" fmla="*/ 10295765 w 12322347"/>
              <a:gd name="connsiteY19" fmla="*/ 80031 h 6188689"/>
              <a:gd name="connsiteX20" fmla="*/ 7778825 w 12322347"/>
              <a:gd name="connsiteY20" fmla="*/ 33462 h 6188689"/>
              <a:gd name="connsiteX21" fmla="*/ 2261685 w 12322347"/>
              <a:gd name="connsiteY21" fmla="*/ 10365 h 6188689"/>
              <a:gd name="connsiteX0" fmla="*/ 2261685 w 12322347"/>
              <a:gd name="connsiteY0" fmla="*/ 0 h 6178324"/>
              <a:gd name="connsiteX1" fmla="*/ 816102 w 12322347"/>
              <a:gd name="connsiteY1" fmla="*/ 10760 h 6178324"/>
              <a:gd name="connsiteX2" fmla="*/ 36453 w 12322347"/>
              <a:gd name="connsiteY2" fmla="*/ 15958 h 6178324"/>
              <a:gd name="connsiteX3" fmla="*/ 36452 w 12322347"/>
              <a:gd name="connsiteY3" fmla="*/ 792072 h 6178324"/>
              <a:gd name="connsiteX4" fmla="*/ 17296 w 12322347"/>
              <a:gd name="connsiteY4" fmla="*/ 1316890 h 6178324"/>
              <a:gd name="connsiteX5" fmla="*/ 6679 w 12322347"/>
              <a:gd name="connsiteY5" fmla="*/ 4542095 h 6178324"/>
              <a:gd name="connsiteX6" fmla="*/ 89932 w 12322347"/>
              <a:gd name="connsiteY6" fmla="*/ 5888744 h 6178324"/>
              <a:gd name="connsiteX7" fmla="*/ 2768884 w 12322347"/>
              <a:gd name="connsiteY7" fmla="*/ 5876885 h 6178324"/>
              <a:gd name="connsiteX8" fmla="*/ 4422579 w 12322347"/>
              <a:gd name="connsiteY8" fmla="*/ 5855502 h 6178324"/>
              <a:gd name="connsiteX9" fmla="*/ 5393880 w 12322347"/>
              <a:gd name="connsiteY9" fmla="*/ 5871365 h 6178324"/>
              <a:gd name="connsiteX10" fmla="*/ 5877638 w 12322347"/>
              <a:gd name="connsiteY10" fmla="*/ 6178324 h 6178324"/>
              <a:gd name="connsiteX11" fmla="*/ 6150141 w 12322347"/>
              <a:gd name="connsiteY11" fmla="*/ 5855596 h 6178324"/>
              <a:gd name="connsiteX12" fmla="*/ 9277333 w 12322347"/>
              <a:gd name="connsiteY12" fmla="*/ 5858811 h 6178324"/>
              <a:gd name="connsiteX13" fmla="*/ 10186235 w 12322347"/>
              <a:gd name="connsiteY13" fmla="*/ 5861686 h 6178324"/>
              <a:gd name="connsiteX14" fmla="*/ 11106174 w 12322347"/>
              <a:gd name="connsiteY14" fmla="*/ 5869553 h 6178324"/>
              <a:gd name="connsiteX15" fmla="*/ 12264257 w 12322347"/>
              <a:gd name="connsiteY15" fmla="*/ 5868507 h 6178324"/>
              <a:gd name="connsiteX16" fmla="*/ 12289901 w 12322347"/>
              <a:gd name="connsiteY16" fmla="*/ 2579572 h 6178324"/>
              <a:gd name="connsiteX17" fmla="*/ 12280552 w 12322347"/>
              <a:gd name="connsiteY17" fmla="*/ 123500 h 6178324"/>
              <a:gd name="connsiteX18" fmla="*/ 11824723 w 12322347"/>
              <a:gd name="connsiteY18" fmla="*/ 76222 h 6178324"/>
              <a:gd name="connsiteX19" fmla="*/ 10295765 w 12322347"/>
              <a:gd name="connsiteY19" fmla="*/ 69666 h 6178324"/>
              <a:gd name="connsiteX20" fmla="*/ 7778825 w 12322347"/>
              <a:gd name="connsiteY20" fmla="*/ 23097 h 6178324"/>
              <a:gd name="connsiteX21" fmla="*/ 2261685 w 12322347"/>
              <a:gd name="connsiteY21" fmla="*/ 0 h 617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322347" h="6178324">
                <a:moveTo>
                  <a:pt x="2261685" y="0"/>
                </a:moveTo>
                <a:lnTo>
                  <a:pt x="816102" y="10760"/>
                </a:lnTo>
                <a:lnTo>
                  <a:pt x="36453" y="15958"/>
                </a:lnTo>
                <a:cubicBezTo>
                  <a:pt x="36453" y="288746"/>
                  <a:pt x="36452" y="519284"/>
                  <a:pt x="36452" y="792072"/>
                </a:cubicBezTo>
                <a:cubicBezTo>
                  <a:pt x="37984" y="902748"/>
                  <a:pt x="15764" y="1206214"/>
                  <a:pt x="17296" y="1316890"/>
                </a:cubicBezTo>
                <a:cubicBezTo>
                  <a:pt x="32125" y="1752674"/>
                  <a:pt x="-17301" y="3705146"/>
                  <a:pt x="6679" y="4542095"/>
                </a:cubicBezTo>
                <a:cubicBezTo>
                  <a:pt x="46570" y="5225386"/>
                  <a:pt x="-51265" y="5916324"/>
                  <a:pt x="89932" y="5888744"/>
                </a:cubicBezTo>
                <a:cubicBezTo>
                  <a:pt x="879263" y="5903089"/>
                  <a:pt x="1955065" y="5877266"/>
                  <a:pt x="2768884" y="5876885"/>
                </a:cubicBezTo>
                <a:lnTo>
                  <a:pt x="4422579" y="5855502"/>
                </a:lnTo>
                <a:lnTo>
                  <a:pt x="5393880" y="5871365"/>
                </a:lnTo>
                <a:cubicBezTo>
                  <a:pt x="5664089" y="6007274"/>
                  <a:pt x="5704024" y="6065354"/>
                  <a:pt x="5877638" y="6178324"/>
                </a:cubicBezTo>
                <a:cubicBezTo>
                  <a:pt x="5954187" y="6102215"/>
                  <a:pt x="6049125" y="5996227"/>
                  <a:pt x="6150141" y="5855596"/>
                </a:cubicBezTo>
                <a:cubicBezTo>
                  <a:pt x="6237130" y="5852856"/>
                  <a:pt x="8916121" y="5865726"/>
                  <a:pt x="9277333" y="5858811"/>
                </a:cubicBezTo>
                <a:lnTo>
                  <a:pt x="10186235" y="5861686"/>
                </a:lnTo>
                <a:lnTo>
                  <a:pt x="11106174" y="5869553"/>
                </a:lnTo>
                <a:cubicBezTo>
                  <a:pt x="11463837" y="5859889"/>
                  <a:pt x="12237326" y="5912260"/>
                  <a:pt x="12264257" y="5868507"/>
                </a:cubicBezTo>
                <a:cubicBezTo>
                  <a:pt x="12302700" y="5662987"/>
                  <a:pt x="12276557" y="4364873"/>
                  <a:pt x="12289901" y="2579572"/>
                </a:cubicBezTo>
                <a:cubicBezTo>
                  <a:pt x="12338262" y="1498304"/>
                  <a:pt x="12330432" y="544926"/>
                  <a:pt x="12280552" y="123500"/>
                </a:cubicBezTo>
                <a:cubicBezTo>
                  <a:pt x="12274271" y="70433"/>
                  <a:pt x="12155521" y="85194"/>
                  <a:pt x="11824723" y="76222"/>
                </a:cubicBezTo>
                <a:cubicBezTo>
                  <a:pt x="11493925" y="67250"/>
                  <a:pt x="10495817" y="85585"/>
                  <a:pt x="10295765" y="69666"/>
                </a:cubicBezTo>
                <a:lnTo>
                  <a:pt x="7778825" y="23097"/>
                </a:lnTo>
                <a:lnTo>
                  <a:pt x="2261685" y="0"/>
                </a:lnTo>
                <a:close/>
              </a:path>
            </a:pathLst>
          </a:custGeom>
          <a:solidFill>
            <a:schemeClr val="bg1"/>
          </a:solidFill>
          <a:ln w="1905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65F6FED-E43F-9941-21C6-96C48A5A9E8E}"/>
              </a:ext>
            </a:extLst>
          </p:cNvPr>
          <p:cNvSpPr>
            <a:spLocks noGrp="1"/>
          </p:cNvSpPr>
          <p:nvPr>
            <p:ph type="ctrTitle"/>
          </p:nvPr>
        </p:nvSpPr>
        <p:spPr>
          <a:xfrm>
            <a:off x="419602" y="418082"/>
            <a:ext cx="6429396" cy="2365931"/>
          </a:xfrm>
        </p:spPr>
        <p:txBody>
          <a:bodyPr vert="horz" lIns="91440" tIns="45720" rIns="91440" bIns="45720" rtlCol="0" anchor="ctr">
            <a:normAutofit fontScale="90000"/>
          </a:bodyPr>
          <a:lstStyle/>
          <a:p>
            <a:pPr algn="l">
              <a:lnSpc>
                <a:spcPct val="90000"/>
              </a:lnSpc>
            </a:pPr>
            <a:r>
              <a:rPr lang="en-US" sz="5400" b="0" kern="1200" spc="100" baseline="0" dirty="0">
                <a:solidFill>
                  <a:schemeClr val="tx1"/>
                </a:solidFill>
                <a:latin typeface="Calibri" panose="020F0502020204030204" pitchFamily="34" charset="0"/>
                <a:cs typeface="Calibri" panose="020F0502020204030204" pitchFamily="34" charset="0"/>
              </a:rPr>
              <a:t>ClarVis: </a:t>
            </a:r>
            <a:r>
              <a:rPr lang="en-US" sz="4000" b="0" kern="1200" spc="100" baseline="0" dirty="0">
                <a:solidFill>
                  <a:schemeClr val="tx1"/>
                </a:solidFill>
                <a:latin typeface="Calibri" panose="020F0502020204030204" pitchFamily="34" charset="0"/>
                <a:cs typeface="Calibri" panose="020F0502020204030204" pitchFamily="34" charset="0"/>
              </a:rPr>
              <a:t>A Dataset of Clarification Requests and Grounding in Collaborative Data Visualization Dialogues</a:t>
            </a:r>
          </a:p>
        </p:txBody>
      </p:sp>
      <p:sp>
        <p:nvSpPr>
          <p:cNvPr id="3" name="Subtitle 2">
            <a:extLst>
              <a:ext uri="{FF2B5EF4-FFF2-40B4-BE49-F238E27FC236}">
                <a16:creationId xmlns:a16="http://schemas.microsoft.com/office/drawing/2014/main" id="{9A5C2DD7-1DFF-9797-74DF-F722D82D9C2F}"/>
              </a:ext>
            </a:extLst>
          </p:cNvPr>
          <p:cNvSpPr>
            <a:spLocks noGrp="1"/>
          </p:cNvSpPr>
          <p:nvPr>
            <p:ph type="subTitle" idx="1"/>
          </p:nvPr>
        </p:nvSpPr>
        <p:spPr>
          <a:xfrm>
            <a:off x="351746" y="3173474"/>
            <a:ext cx="6559882" cy="2790138"/>
          </a:xfrm>
        </p:spPr>
        <p:txBody>
          <a:bodyPr vert="horz" lIns="91440" tIns="45720" rIns="91440" bIns="45720" rtlCol="0">
            <a:noAutofit/>
          </a:bodyPr>
          <a:lstStyle/>
          <a:p>
            <a:pPr algn="ctr"/>
            <a:r>
              <a:rPr lang="en-US" sz="3000" b="0" i="0" dirty="0">
                <a:latin typeface="Calibri" panose="020F0502020204030204" pitchFamily="34" charset="0"/>
                <a:cs typeface="Calibri" panose="020F0502020204030204" pitchFamily="34" charset="0"/>
              </a:rPr>
              <a:t>Abari Bhattacharya, Barbara Di Eugenio</a:t>
            </a:r>
          </a:p>
          <a:p>
            <a:pPr algn="ctr"/>
            <a:endParaRPr lang="en-US" sz="3000" b="0" i="0" dirty="0">
              <a:latin typeface="Calibri" panose="020F0502020204030204" pitchFamily="34" charset="0"/>
              <a:cs typeface="Calibri" panose="020F0502020204030204" pitchFamily="34" charset="0"/>
            </a:endParaRPr>
          </a:p>
          <a:p>
            <a:pPr algn="ctr"/>
            <a:r>
              <a:rPr lang="en-US" sz="3000" b="0" i="0" dirty="0">
                <a:latin typeface="Calibri" panose="020F0502020204030204" pitchFamily="34" charset="0"/>
                <a:cs typeface="Calibri" panose="020F0502020204030204" pitchFamily="34" charset="0"/>
              </a:rPr>
              <a:t>University of Illinois Chicago</a:t>
            </a:r>
          </a:p>
          <a:p>
            <a:pPr algn="ctr"/>
            <a:r>
              <a:rPr lang="en-US" sz="3000" b="0" i="0" dirty="0">
                <a:latin typeface="Calibri" panose="020F0502020204030204" pitchFamily="34" charset="0"/>
                <a:cs typeface="Calibri" panose="020F0502020204030204" pitchFamily="34" charset="0"/>
              </a:rPr>
              <a:t>Natural Language Processing Laboratory</a:t>
            </a:r>
          </a:p>
        </p:txBody>
      </p:sp>
      <p:pic>
        <p:nvPicPr>
          <p:cNvPr id="4" name="Picture 3" descr="Green dialogue boxes">
            <a:extLst>
              <a:ext uri="{FF2B5EF4-FFF2-40B4-BE49-F238E27FC236}">
                <a16:creationId xmlns:a16="http://schemas.microsoft.com/office/drawing/2014/main" id="{DC9C652B-0997-5860-3583-B3C8DC4494A6}"/>
              </a:ext>
            </a:extLst>
          </p:cNvPr>
          <p:cNvPicPr>
            <a:picLocks noChangeAspect="1"/>
          </p:cNvPicPr>
          <p:nvPr/>
        </p:nvPicPr>
        <p:blipFill>
          <a:blip r:embed="rId3"/>
          <a:srcRect t="2137" r="-1" b="628"/>
          <a:stretch>
            <a:fillRect/>
          </a:stretch>
        </p:blipFill>
        <p:spPr>
          <a:xfrm>
            <a:off x="7360140" y="1443210"/>
            <a:ext cx="4681813" cy="3789802"/>
          </a:xfrm>
          <a:prstGeom prst="rect">
            <a:avLst/>
          </a:prstGeom>
        </p:spPr>
      </p:pic>
      <p:sp>
        <p:nvSpPr>
          <p:cNvPr id="83" name="Freeform: Shape 82">
            <a:extLst>
              <a:ext uri="{FF2B5EF4-FFF2-40B4-BE49-F238E27FC236}">
                <a16:creationId xmlns:a16="http://schemas.microsoft.com/office/drawing/2014/main" id="{C535A640-1948-4AFD-A0B7-19AFDA955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806735" y="-157114"/>
            <a:ext cx="6053827" cy="6948641"/>
          </a:xfrm>
          <a:custGeom>
            <a:avLst/>
            <a:gdLst>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34742 w 11603130"/>
              <a:gd name="connsiteY11" fmla="*/ 5912754 h 6362961"/>
              <a:gd name="connsiteX12" fmla="*/ 8343333 w 11603130"/>
              <a:gd name="connsiteY12" fmla="*/ 6362961 h 6362961"/>
              <a:gd name="connsiteX13" fmla="*/ 8951337 w 11603130"/>
              <a:gd name="connsiteY13" fmla="*/ 5912879 h 6362961"/>
              <a:gd name="connsiteX14" fmla="*/ 9710371 w 11603130"/>
              <a:gd name="connsiteY14" fmla="*/ 5911624 h 6362961"/>
              <a:gd name="connsiteX15" fmla="*/ 9804791 w 11603130"/>
              <a:gd name="connsiteY15" fmla="*/ 5908320 h 6362961"/>
              <a:gd name="connsiteX16" fmla="*/ 9863784 w 11603130"/>
              <a:gd name="connsiteY16" fmla="*/ 5909115 h 6362961"/>
              <a:gd name="connsiteX17" fmla="*/ 10007288 w 11603130"/>
              <a:gd name="connsiteY17" fmla="*/ 5914499 h 6362961"/>
              <a:gd name="connsiteX18" fmla="*/ 10927227 w 11603130"/>
              <a:gd name="connsiteY18" fmla="*/ 5922366 h 6362961"/>
              <a:gd name="connsiteX19" fmla="*/ 11562333 w 11603130"/>
              <a:gd name="connsiteY19" fmla="*/ 5906085 h 6362961"/>
              <a:gd name="connsiteX20" fmla="*/ 11571244 w 11603130"/>
              <a:gd name="connsiteY20" fmla="*/ 2621674 h 6362961"/>
              <a:gd name="connsiteX21" fmla="*/ 11561892 w 11603130"/>
              <a:gd name="connsiteY21" fmla="*/ 176313 h 6362961"/>
              <a:gd name="connsiteX22" fmla="*/ 11289537 w 11603130"/>
              <a:gd name="connsiteY22" fmla="*/ 107615 h 6362961"/>
              <a:gd name="connsiteX23" fmla="*/ 10689999 w 11603130"/>
              <a:gd name="connsiteY23" fmla="*/ 70591 h 6362961"/>
              <a:gd name="connsiteX24" fmla="*/ 7599878 w 11603130"/>
              <a:gd name="connsiteY24" fmla="*/ 7591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5045206 w 11603130"/>
              <a:gd name="connsiteY10" fmla="*/ 5927859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8951337 w 11603130"/>
              <a:gd name="connsiteY12" fmla="*/ 5912879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42722 w 11603130"/>
              <a:gd name="connsiteY12" fmla="*/ 5885506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098386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8972 w 11603130"/>
              <a:gd name="connsiteY5" fmla="*/ 3523848 h 6335587"/>
              <a:gd name="connsiteX6" fmla="*/ 148480 w 11603130"/>
              <a:gd name="connsiteY6" fmla="*/ 5930841 h 6335587"/>
              <a:gd name="connsiteX7" fmla="*/ 2638911 w 11603130"/>
              <a:gd name="connsiteY7" fmla="*/ 5933377 h 6335587"/>
              <a:gd name="connsiteX8" fmla="*/ 4080684 w 11603130"/>
              <a:gd name="connsiteY8" fmla="*/ 5926717 h 6335587"/>
              <a:gd name="connsiteX9" fmla="*/ 5045206 w 11603130"/>
              <a:gd name="connsiteY9" fmla="*/ 5927859 h 6335587"/>
              <a:gd name="connsiteX10" fmla="*/ 5855834 w 11603130"/>
              <a:gd name="connsiteY10" fmla="*/ 6335587 h 6335587"/>
              <a:gd name="connsiteX11" fmla="*/ 6274422 w 11603130"/>
              <a:gd name="connsiteY11" fmla="*/ 5903346 h 6335587"/>
              <a:gd name="connsiteX12" fmla="*/ 9098386 w 11603130"/>
              <a:gd name="connsiteY12" fmla="*/ 5911624 h 6335587"/>
              <a:gd name="connsiteX13" fmla="*/ 10007288 w 11603130"/>
              <a:gd name="connsiteY13" fmla="*/ 5914499 h 6335587"/>
              <a:gd name="connsiteX14" fmla="*/ 10927227 w 11603130"/>
              <a:gd name="connsiteY14" fmla="*/ 5922366 h 6335587"/>
              <a:gd name="connsiteX15" fmla="*/ 11562333 w 11603130"/>
              <a:gd name="connsiteY15" fmla="*/ 5906085 h 6335587"/>
              <a:gd name="connsiteX16" fmla="*/ 11571244 w 11603130"/>
              <a:gd name="connsiteY16" fmla="*/ 2621674 h 6335587"/>
              <a:gd name="connsiteX17" fmla="*/ 11561892 w 11603130"/>
              <a:gd name="connsiteY17" fmla="*/ 176313 h 6335587"/>
              <a:gd name="connsiteX18" fmla="*/ 11289537 w 11603130"/>
              <a:gd name="connsiteY18" fmla="*/ 107615 h 6335587"/>
              <a:gd name="connsiteX19" fmla="*/ 10689999 w 11603130"/>
              <a:gd name="connsiteY19" fmla="*/ 70591 h 6335587"/>
              <a:gd name="connsiteX20" fmla="*/ 7599878 w 11603130"/>
              <a:gd name="connsiteY20" fmla="*/ 75910 h 6335587"/>
              <a:gd name="connsiteX21" fmla="*/ 1892744 w 11603130"/>
              <a:gd name="connsiteY21" fmla="*/ 0 h 6335587"/>
              <a:gd name="connsiteX0" fmla="*/ 1892744 w 12087184"/>
              <a:gd name="connsiteY0" fmla="*/ 0 h 6335587"/>
              <a:gd name="connsiteX1" fmla="*/ 304663 w 12087184"/>
              <a:gd name="connsiteY1" fmla="*/ 10761 h 6335587"/>
              <a:gd name="connsiteX2" fmla="*/ 0 w 12087184"/>
              <a:gd name="connsiteY2" fmla="*/ 47942 h 6335587"/>
              <a:gd name="connsiteX3" fmla="*/ 0 w 12087184"/>
              <a:gd name="connsiteY3" fmla="*/ 909146 h 6335587"/>
              <a:gd name="connsiteX4" fmla="*/ 4597 w 12087184"/>
              <a:gd name="connsiteY4" fmla="*/ 909146 h 6335587"/>
              <a:gd name="connsiteX5" fmla="*/ 88972 w 12087184"/>
              <a:gd name="connsiteY5" fmla="*/ 3523848 h 6335587"/>
              <a:gd name="connsiteX6" fmla="*/ 148480 w 12087184"/>
              <a:gd name="connsiteY6" fmla="*/ 5930841 h 6335587"/>
              <a:gd name="connsiteX7" fmla="*/ 2638911 w 12087184"/>
              <a:gd name="connsiteY7" fmla="*/ 5933377 h 6335587"/>
              <a:gd name="connsiteX8" fmla="*/ 4080684 w 12087184"/>
              <a:gd name="connsiteY8" fmla="*/ 5926717 h 6335587"/>
              <a:gd name="connsiteX9" fmla="*/ 5045206 w 12087184"/>
              <a:gd name="connsiteY9" fmla="*/ 5927859 h 6335587"/>
              <a:gd name="connsiteX10" fmla="*/ 5855834 w 12087184"/>
              <a:gd name="connsiteY10" fmla="*/ 6335587 h 6335587"/>
              <a:gd name="connsiteX11" fmla="*/ 6274422 w 12087184"/>
              <a:gd name="connsiteY11" fmla="*/ 5903346 h 6335587"/>
              <a:gd name="connsiteX12" fmla="*/ 9098386 w 12087184"/>
              <a:gd name="connsiteY12" fmla="*/ 5911624 h 6335587"/>
              <a:gd name="connsiteX13" fmla="*/ 10007288 w 12087184"/>
              <a:gd name="connsiteY13" fmla="*/ 5914499 h 6335587"/>
              <a:gd name="connsiteX14" fmla="*/ 10927227 w 12087184"/>
              <a:gd name="connsiteY14" fmla="*/ 5922366 h 6335587"/>
              <a:gd name="connsiteX15" fmla="*/ 12085310 w 12087184"/>
              <a:gd name="connsiteY15" fmla="*/ 5921320 h 6335587"/>
              <a:gd name="connsiteX16" fmla="*/ 11571244 w 12087184"/>
              <a:gd name="connsiteY16" fmla="*/ 2621674 h 6335587"/>
              <a:gd name="connsiteX17" fmla="*/ 11561892 w 12087184"/>
              <a:gd name="connsiteY17" fmla="*/ 176313 h 6335587"/>
              <a:gd name="connsiteX18" fmla="*/ 11289537 w 12087184"/>
              <a:gd name="connsiteY18" fmla="*/ 107615 h 6335587"/>
              <a:gd name="connsiteX19" fmla="*/ 10689999 w 12087184"/>
              <a:gd name="connsiteY19" fmla="*/ 70591 h 6335587"/>
              <a:gd name="connsiteX20" fmla="*/ 7599878 w 12087184"/>
              <a:gd name="connsiteY20" fmla="*/ 75910 h 6335587"/>
              <a:gd name="connsiteX21" fmla="*/ 1892744 w 12087184"/>
              <a:gd name="connsiteY21" fmla="*/ 0 h 6335587"/>
              <a:gd name="connsiteX0" fmla="*/ 1892744 w 12096545"/>
              <a:gd name="connsiteY0" fmla="*/ 24998 h 6360585"/>
              <a:gd name="connsiteX1" fmla="*/ 304663 w 12096545"/>
              <a:gd name="connsiteY1" fmla="*/ 35759 h 6360585"/>
              <a:gd name="connsiteX2" fmla="*/ 0 w 12096545"/>
              <a:gd name="connsiteY2" fmla="*/ 72940 h 6360585"/>
              <a:gd name="connsiteX3" fmla="*/ 0 w 12096545"/>
              <a:gd name="connsiteY3" fmla="*/ 934144 h 6360585"/>
              <a:gd name="connsiteX4" fmla="*/ 4597 w 12096545"/>
              <a:gd name="connsiteY4" fmla="*/ 934144 h 6360585"/>
              <a:gd name="connsiteX5" fmla="*/ 88972 w 12096545"/>
              <a:gd name="connsiteY5" fmla="*/ 3548846 h 6360585"/>
              <a:gd name="connsiteX6" fmla="*/ 148480 w 12096545"/>
              <a:gd name="connsiteY6" fmla="*/ 5955839 h 6360585"/>
              <a:gd name="connsiteX7" fmla="*/ 2638911 w 12096545"/>
              <a:gd name="connsiteY7" fmla="*/ 5958375 h 6360585"/>
              <a:gd name="connsiteX8" fmla="*/ 4080684 w 12096545"/>
              <a:gd name="connsiteY8" fmla="*/ 5951715 h 6360585"/>
              <a:gd name="connsiteX9" fmla="*/ 5045206 w 12096545"/>
              <a:gd name="connsiteY9" fmla="*/ 5952857 h 6360585"/>
              <a:gd name="connsiteX10" fmla="*/ 5855834 w 12096545"/>
              <a:gd name="connsiteY10" fmla="*/ 6360585 h 6360585"/>
              <a:gd name="connsiteX11" fmla="*/ 6274422 w 12096545"/>
              <a:gd name="connsiteY11" fmla="*/ 5928344 h 6360585"/>
              <a:gd name="connsiteX12" fmla="*/ 9098386 w 12096545"/>
              <a:gd name="connsiteY12" fmla="*/ 5936622 h 6360585"/>
              <a:gd name="connsiteX13" fmla="*/ 10007288 w 12096545"/>
              <a:gd name="connsiteY13" fmla="*/ 5939497 h 6360585"/>
              <a:gd name="connsiteX14" fmla="*/ 10927227 w 12096545"/>
              <a:gd name="connsiteY14" fmla="*/ 5947364 h 6360585"/>
              <a:gd name="connsiteX15" fmla="*/ 12085310 w 12096545"/>
              <a:gd name="connsiteY15" fmla="*/ 5946318 h 6360585"/>
              <a:gd name="connsiteX16" fmla="*/ 12063456 w 12096545"/>
              <a:gd name="connsiteY16" fmla="*/ 2646672 h 6360585"/>
              <a:gd name="connsiteX17" fmla="*/ 11561892 w 12096545"/>
              <a:gd name="connsiteY17" fmla="*/ 201311 h 6360585"/>
              <a:gd name="connsiteX18" fmla="*/ 11289537 w 12096545"/>
              <a:gd name="connsiteY18" fmla="*/ 132613 h 6360585"/>
              <a:gd name="connsiteX19" fmla="*/ 10689999 w 12096545"/>
              <a:gd name="connsiteY19" fmla="*/ 95589 h 6360585"/>
              <a:gd name="connsiteX20" fmla="*/ 7599878 w 12096545"/>
              <a:gd name="connsiteY20" fmla="*/ 100908 h 6360585"/>
              <a:gd name="connsiteX21" fmla="*/ 1892744 w 12096545"/>
              <a:gd name="connsiteY21" fmla="*/ 24998 h 6360585"/>
              <a:gd name="connsiteX0" fmla="*/ 1892744 w 12127183"/>
              <a:gd name="connsiteY0" fmla="*/ 24998 h 6360585"/>
              <a:gd name="connsiteX1" fmla="*/ 304663 w 12127183"/>
              <a:gd name="connsiteY1" fmla="*/ 35759 h 6360585"/>
              <a:gd name="connsiteX2" fmla="*/ 0 w 12127183"/>
              <a:gd name="connsiteY2" fmla="*/ 72940 h 6360585"/>
              <a:gd name="connsiteX3" fmla="*/ 0 w 12127183"/>
              <a:gd name="connsiteY3" fmla="*/ 934144 h 6360585"/>
              <a:gd name="connsiteX4" fmla="*/ 4597 w 12127183"/>
              <a:gd name="connsiteY4" fmla="*/ 934144 h 6360585"/>
              <a:gd name="connsiteX5" fmla="*/ 88972 w 12127183"/>
              <a:gd name="connsiteY5" fmla="*/ 3548846 h 6360585"/>
              <a:gd name="connsiteX6" fmla="*/ 148480 w 12127183"/>
              <a:gd name="connsiteY6" fmla="*/ 5955839 h 6360585"/>
              <a:gd name="connsiteX7" fmla="*/ 2638911 w 12127183"/>
              <a:gd name="connsiteY7" fmla="*/ 5958375 h 6360585"/>
              <a:gd name="connsiteX8" fmla="*/ 4080684 w 12127183"/>
              <a:gd name="connsiteY8" fmla="*/ 5951715 h 6360585"/>
              <a:gd name="connsiteX9" fmla="*/ 5045206 w 12127183"/>
              <a:gd name="connsiteY9" fmla="*/ 5952857 h 6360585"/>
              <a:gd name="connsiteX10" fmla="*/ 5855834 w 12127183"/>
              <a:gd name="connsiteY10" fmla="*/ 6360585 h 6360585"/>
              <a:gd name="connsiteX11" fmla="*/ 6274422 w 12127183"/>
              <a:gd name="connsiteY11" fmla="*/ 5928344 h 6360585"/>
              <a:gd name="connsiteX12" fmla="*/ 9098386 w 12127183"/>
              <a:gd name="connsiteY12" fmla="*/ 5936622 h 6360585"/>
              <a:gd name="connsiteX13" fmla="*/ 10007288 w 12127183"/>
              <a:gd name="connsiteY13" fmla="*/ 5939497 h 6360585"/>
              <a:gd name="connsiteX14" fmla="*/ 10927227 w 12127183"/>
              <a:gd name="connsiteY14" fmla="*/ 5947364 h 6360585"/>
              <a:gd name="connsiteX15" fmla="*/ 12085310 w 12127183"/>
              <a:gd name="connsiteY15" fmla="*/ 5946318 h 6360585"/>
              <a:gd name="connsiteX16" fmla="*/ 12063456 w 12127183"/>
              <a:gd name="connsiteY16" fmla="*/ 2646672 h 6360585"/>
              <a:gd name="connsiteX17" fmla="*/ 12054104 w 12127183"/>
              <a:gd name="connsiteY17" fmla="*/ 201311 h 6360585"/>
              <a:gd name="connsiteX18" fmla="*/ 11289537 w 12127183"/>
              <a:gd name="connsiteY18" fmla="*/ 132613 h 6360585"/>
              <a:gd name="connsiteX19" fmla="*/ 10689999 w 12127183"/>
              <a:gd name="connsiteY19" fmla="*/ 95589 h 6360585"/>
              <a:gd name="connsiteX20" fmla="*/ 7599878 w 12127183"/>
              <a:gd name="connsiteY20" fmla="*/ 100908 h 6360585"/>
              <a:gd name="connsiteX21" fmla="*/ 1892744 w 12127183"/>
              <a:gd name="connsiteY21" fmla="*/ 24998 h 6360585"/>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689999 w 12114255"/>
              <a:gd name="connsiteY19" fmla="*/ 70591 h 6335587"/>
              <a:gd name="connsiteX20" fmla="*/ 7599878 w 12114255"/>
              <a:gd name="connsiteY20" fmla="*/ 75910 h 6335587"/>
              <a:gd name="connsiteX21" fmla="*/ 1892744 w 12114255"/>
              <a:gd name="connsiteY21" fmla="*/ 0 h 6335587"/>
              <a:gd name="connsiteX0" fmla="*/ 1892744 w 12114253"/>
              <a:gd name="connsiteY0" fmla="*/ 0 h 6335587"/>
              <a:gd name="connsiteX1" fmla="*/ 304663 w 12114253"/>
              <a:gd name="connsiteY1" fmla="*/ 10761 h 6335587"/>
              <a:gd name="connsiteX2" fmla="*/ 0 w 12114253"/>
              <a:gd name="connsiteY2" fmla="*/ 47942 h 6335587"/>
              <a:gd name="connsiteX3" fmla="*/ 0 w 12114253"/>
              <a:gd name="connsiteY3" fmla="*/ 909146 h 6335587"/>
              <a:gd name="connsiteX4" fmla="*/ 4597 w 12114253"/>
              <a:gd name="connsiteY4" fmla="*/ 909146 h 6335587"/>
              <a:gd name="connsiteX5" fmla="*/ 88972 w 12114253"/>
              <a:gd name="connsiteY5" fmla="*/ 3523848 h 6335587"/>
              <a:gd name="connsiteX6" fmla="*/ 148480 w 12114253"/>
              <a:gd name="connsiteY6" fmla="*/ 5930841 h 6335587"/>
              <a:gd name="connsiteX7" fmla="*/ 2638911 w 12114253"/>
              <a:gd name="connsiteY7" fmla="*/ 5933377 h 6335587"/>
              <a:gd name="connsiteX8" fmla="*/ 4080684 w 12114253"/>
              <a:gd name="connsiteY8" fmla="*/ 5926717 h 6335587"/>
              <a:gd name="connsiteX9" fmla="*/ 5045206 w 12114253"/>
              <a:gd name="connsiteY9" fmla="*/ 5927859 h 6335587"/>
              <a:gd name="connsiteX10" fmla="*/ 5855834 w 12114253"/>
              <a:gd name="connsiteY10" fmla="*/ 6335587 h 6335587"/>
              <a:gd name="connsiteX11" fmla="*/ 6274422 w 12114253"/>
              <a:gd name="connsiteY11" fmla="*/ 5903346 h 6335587"/>
              <a:gd name="connsiteX12" fmla="*/ 9098386 w 12114253"/>
              <a:gd name="connsiteY12" fmla="*/ 5911624 h 6335587"/>
              <a:gd name="connsiteX13" fmla="*/ 10007288 w 12114253"/>
              <a:gd name="connsiteY13" fmla="*/ 5914499 h 6335587"/>
              <a:gd name="connsiteX14" fmla="*/ 10927227 w 12114253"/>
              <a:gd name="connsiteY14" fmla="*/ 5922366 h 6335587"/>
              <a:gd name="connsiteX15" fmla="*/ 12085310 w 12114253"/>
              <a:gd name="connsiteY15" fmla="*/ 5921320 h 6335587"/>
              <a:gd name="connsiteX16" fmla="*/ 12063456 w 12114253"/>
              <a:gd name="connsiteY16" fmla="*/ 2621674 h 6335587"/>
              <a:gd name="connsiteX17" fmla="*/ 12054104 w 12114253"/>
              <a:gd name="connsiteY17" fmla="*/ 176313 h 6335587"/>
              <a:gd name="connsiteX18" fmla="*/ 11289537 w 12114253"/>
              <a:gd name="connsiteY18" fmla="*/ 107615 h 6335587"/>
              <a:gd name="connsiteX19" fmla="*/ 10259313 w 12114253"/>
              <a:gd name="connsiteY19" fmla="*/ 101059 h 6335587"/>
              <a:gd name="connsiteX20" fmla="*/ 7599878 w 12114253"/>
              <a:gd name="connsiteY20" fmla="*/ 75910 h 6335587"/>
              <a:gd name="connsiteX21" fmla="*/ 1892744 w 12114253"/>
              <a:gd name="connsiteY21" fmla="*/ 0 h 6335587"/>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259313 w 12114255"/>
              <a:gd name="connsiteY19" fmla="*/ 101059 h 6335587"/>
              <a:gd name="connsiteX20" fmla="*/ 7599878 w 12114255"/>
              <a:gd name="connsiteY20" fmla="*/ 75910 h 6335587"/>
              <a:gd name="connsiteX21" fmla="*/ 1892744 w 12114255"/>
              <a:gd name="connsiteY21" fmla="*/ 0 h 6335587"/>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274422 w 12114253"/>
              <a:gd name="connsiteY11" fmla="*/ 5903346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080684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308929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214933 w 12114253"/>
              <a:gd name="connsiteY9" fmla="*/ 5924178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308929 w 12114253"/>
              <a:gd name="connsiteY8" fmla="*/ 5926717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952198 w 12173707"/>
              <a:gd name="connsiteY0" fmla="*/ 0 h 6231137"/>
              <a:gd name="connsiteX1" fmla="*/ 364117 w 12173707"/>
              <a:gd name="connsiteY1" fmla="*/ 10761 h 6231137"/>
              <a:gd name="connsiteX2" fmla="*/ 59454 w 12173707"/>
              <a:gd name="connsiteY2" fmla="*/ 47942 h 6231137"/>
              <a:gd name="connsiteX3" fmla="*/ 59454 w 12173707"/>
              <a:gd name="connsiteY3" fmla="*/ 909146 h 6231137"/>
              <a:gd name="connsiteX4" fmla="*/ 64051 w 12173707"/>
              <a:gd name="connsiteY4" fmla="*/ 909146 h 6231137"/>
              <a:gd name="connsiteX5" fmla="*/ 148426 w 12173707"/>
              <a:gd name="connsiteY5" fmla="*/ 3523848 h 6231137"/>
              <a:gd name="connsiteX6" fmla="*/ 41689 w 12173707"/>
              <a:gd name="connsiteY6" fmla="*/ 5941555 h 6231137"/>
              <a:gd name="connsiteX7" fmla="*/ 2649391 w 12173707"/>
              <a:gd name="connsiteY7" fmla="*/ 5929698 h 6231137"/>
              <a:gd name="connsiteX8" fmla="*/ 4303086 w 12173707"/>
              <a:gd name="connsiteY8" fmla="*/ 5908315 h 6231137"/>
              <a:gd name="connsiteX9" fmla="*/ 5274387 w 12173707"/>
              <a:gd name="connsiteY9" fmla="*/ 5924178 h 6231137"/>
              <a:gd name="connsiteX10" fmla="*/ 5758145 w 12173707"/>
              <a:gd name="connsiteY10" fmla="*/ 6231137 h 6231137"/>
              <a:gd name="connsiteX11" fmla="*/ 6030648 w 12173707"/>
              <a:gd name="connsiteY11" fmla="*/ 5908409 h 6231137"/>
              <a:gd name="connsiteX12" fmla="*/ 9157840 w 12173707"/>
              <a:gd name="connsiteY12" fmla="*/ 5911624 h 6231137"/>
              <a:gd name="connsiteX13" fmla="*/ 10066742 w 12173707"/>
              <a:gd name="connsiteY13" fmla="*/ 5914499 h 6231137"/>
              <a:gd name="connsiteX14" fmla="*/ 10986681 w 12173707"/>
              <a:gd name="connsiteY14" fmla="*/ 5922366 h 6231137"/>
              <a:gd name="connsiteX15" fmla="*/ 12144764 w 12173707"/>
              <a:gd name="connsiteY15" fmla="*/ 5921320 h 6231137"/>
              <a:gd name="connsiteX16" fmla="*/ 12122910 w 12173707"/>
              <a:gd name="connsiteY16" fmla="*/ 2621674 h 6231137"/>
              <a:gd name="connsiteX17" fmla="*/ 12113558 w 12173707"/>
              <a:gd name="connsiteY17" fmla="*/ 176313 h 6231137"/>
              <a:gd name="connsiteX18" fmla="*/ 11348991 w 12173707"/>
              <a:gd name="connsiteY18" fmla="*/ 107615 h 6231137"/>
              <a:gd name="connsiteX19" fmla="*/ 10318767 w 12173707"/>
              <a:gd name="connsiteY19" fmla="*/ 101059 h 6231137"/>
              <a:gd name="connsiteX20" fmla="*/ 7659332 w 12173707"/>
              <a:gd name="connsiteY20" fmla="*/ 75910 h 6231137"/>
              <a:gd name="connsiteX21" fmla="*/ 1952198 w 12173707"/>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9 w 12201124"/>
              <a:gd name="connsiteY5" fmla="*/ 3534559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8 w 12201124"/>
              <a:gd name="connsiteY5" fmla="*/ 4337852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86334 w 12207843"/>
              <a:gd name="connsiteY0" fmla="*/ 0 h 6231137"/>
              <a:gd name="connsiteX1" fmla="*/ 398253 w 12207843"/>
              <a:gd name="connsiteY1" fmla="*/ 10761 h 6231137"/>
              <a:gd name="connsiteX2" fmla="*/ 93590 w 12207843"/>
              <a:gd name="connsiteY2" fmla="*/ 47942 h 6231137"/>
              <a:gd name="connsiteX3" fmla="*/ 93590 w 12207843"/>
              <a:gd name="connsiteY3" fmla="*/ 909146 h 6231137"/>
              <a:gd name="connsiteX4" fmla="*/ 98187 w 12207843"/>
              <a:gd name="connsiteY4" fmla="*/ 909146 h 6231137"/>
              <a:gd name="connsiteX5" fmla="*/ 40067 w 12207843"/>
              <a:gd name="connsiteY5" fmla="*/ 4337852 h 6231137"/>
              <a:gd name="connsiteX6" fmla="*/ 75825 w 12207843"/>
              <a:gd name="connsiteY6" fmla="*/ 5941555 h 6231137"/>
              <a:gd name="connsiteX7" fmla="*/ 2683527 w 12207843"/>
              <a:gd name="connsiteY7" fmla="*/ 5929698 h 6231137"/>
              <a:gd name="connsiteX8" fmla="*/ 4337222 w 12207843"/>
              <a:gd name="connsiteY8" fmla="*/ 5908315 h 6231137"/>
              <a:gd name="connsiteX9" fmla="*/ 5308523 w 12207843"/>
              <a:gd name="connsiteY9" fmla="*/ 5924178 h 6231137"/>
              <a:gd name="connsiteX10" fmla="*/ 5792281 w 12207843"/>
              <a:gd name="connsiteY10" fmla="*/ 6231137 h 6231137"/>
              <a:gd name="connsiteX11" fmla="*/ 6064784 w 12207843"/>
              <a:gd name="connsiteY11" fmla="*/ 5908409 h 6231137"/>
              <a:gd name="connsiteX12" fmla="*/ 9191976 w 12207843"/>
              <a:gd name="connsiteY12" fmla="*/ 5911624 h 6231137"/>
              <a:gd name="connsiteX13" fmla="*/ 10100878 w 12207843"/>
              <a:gd name="connsiteY13" fmla="*/ 5914499 h 6231137"/>
              <a:gd name="connsiteX14" fmla="*/ 11020817 w 12207843"/>
              <a:gd name="connsiteY14" fmla="*/ 5922366 h 6231137"/>
              <a:gd name="connsiteX15" fmla="*/ 12178900 w 12207843"/>
              <a:gd name="connsiteY15" fmla="*/ 5921320 h 6231137"/>
              <a:gd name="connsiteX16" fmla="*/ 12157046 w 12207843"/>
              <a:gd name="connsiteY16" fmla="*/ 2621674 h 6231137"/>
              <a:gd name="connsiteX17" fmla="*/ 12147694 w 12207843"/>
              <a:gd name="connsiteY17" fmla="*/ 176313 h 6231137"/>
              <a:gd name="connsiteX18" fmla="*/ 11383127 w 12207843"/>
              <a:gd name="connsiteY18" fmla="*/ 107615 h 6231137"/>
              <a:gd name="connsiteX19" fmla="*/ 10352903 w 12207843"/>
              <a:gd name="connsiteY19" fmla="*/ 101059 h 6231137"/>
              <a:gd name="connsiteX20" fmla="*/ 7693468 w 12207843"/>
              <a:gd name="connsiteY20" fmla="*/ 75910 h 6231137"/>
              <a:gd name="connsiteX21" fmla="*/ 1986334 w 12207843"/>
              <a:gd name="connsiteY21" fmla="*/ 0 h 6231137"/>
              <a:gd name="connsiteX0" fmla="*/ 1973709 w 12195218"/>
              <a:gd name="connsiteY0" fmla="*/ 0 h 6231137"/>
              <a:gd name="connsiteX1" fmla="*/ 385628 w 12195218"/>
              <a:gd name="connsiteY1" fmla="*/ 10761 h 6231137"/>
              <a:gd name="connsiteX2" fmla="*/ 80965 w 12195218"/>
              <a:gd name="connsiteY2" fmla="*/ 47942 h 6231137"/>
              <a:gd name="connsiteX3" fmla="*/ 80965 w 12195218"/>
              <a:gd name="connsiteY3" fmla="*/ 909146 h 6231137"/>
              <a:gd name="connsiteX4" fmla="*/ 85562 w 12195218"/>
              <a:gd name="connsiteY4" fmla="*/ 909146 h 6231137"/>
              <a:gd name="connsiteX5" fmla="*/ 27442 w 12195218"/>
              <a:gd name="connsiteY5" fmla="*/ 4337852 h 6231137"/>
              <a:gd name="connsiteX6" fmla="*/ 63200 w 12195218"/>
              <a:gd name="connsiteY6" fmla="*/ 5941555 h 6231137"/>
              <a:gd name="connsiteX7" fmla="*/ 2670902 w 12195218"/>
              <a:gd name="connsiteY7" fmla="*/ 5929698 h 6231137"/>
              <a:gd name="connsiteX8" fmla="*/ 4324597 w 12195218"/>
              <a:gd name="connsiteY8" fmla="*/ 5908315 h 6231137"/>
              <a:gd name="connsiteX9" fmla="*/ 5295898 w 12195218"/>
              <a:gd name="connsiteY9" fmla="*/ 5924178 h 6231137"/>
              <a:gd name="connsiteX10" fmla="*/ 5779656 w 12195218"/>
              <a:gd name="connsiteY10" fmla="*/ 6231137 h 6231137"/>
              <a:gd name="connsiteX11" fmla="*/ 6052159 w 12195218"/>
              <a:gd name="connsiteY11" fmla="*/ 5908409 h 6231137"/>
              <a:gd name="connsiteX12" fmla="*/ 9179351 w 12195218"/>
              <a:gd name="connsiteY12" fmla="*/ 5911624 h 6231137"/>
              <a:gd name="connsiteX13" fmla="*/ 10088253 w 12195218"/>
              <a:gd name="connsiteY13" fmla="*/ 5914499 h 6231137"/>
              <a:gd name="connsiteX14" fmla="*/ 11008192 w 12195218"/>
              <a:gd name="connsiteY14" fmla="*/ 5922366 h 6231137"/>
              <a:gd name="connsiteX15" fmla="*/ 12166275 w 12195218"/>
              <a:gd name="connsiteY15" fmla="*/ 5921320 h 6231137"/>
              <a:gd name="connsiteX16" fmla="*/ 12144421 w 12195218"/>
              <a:gd name="connsiteY16" fmla="*/ 2621674 h 6231137"/>
              <a:gd name="connsiteX17" fmla="*/ 12135069 w 12195218"/>
              <a:gd name="connsiteY17" fmla="*/ 176313 h 6231137"/>
              <a:gd name="connsiteX18" fmla="*/ 11370502 w 12195218"/>
              <a:gd name="connsiteY18" fmla="*/ 107615 h 6231137"/>
              <a:gd name="connsiteX19" fmla="*/ 10340278 w 12195218"/>
              <a:gd name="connsiteY19" fmla="*/ 101059 h 6231137"/>
              <a:gd name="connsiteX20" fmla="*/ 7680843 w 12195218"/>
              <a:gd name="connsiteY20" fmla="*/ 75910 h 6231137"/>
              <a:gd name="connsiteX21" fmla="*/ 1973709 w 12195218"/>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92826 w 12202482"/>
              <a:gd name="connsiteY4" fmla="*/ 909146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21578 w 12202482"/>
              <a:gd name="connsiteY4" fmla="*/ 994830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42494 w 12256747"/>
              <a:gd name="connsiteY3" fmla="*/ 909146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4594 w 12256747"/>
              <a:gd name="connsiteY4" fmla="*/ 1176912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54471 w 12275980"/>
              <a:gd name="connsiteY0" fmla="*/ 0 h 6231137"/>
              <a:gd name="connsiteX1" fmla="*/ 466390 w 12275980"/>
              <a:gd name="connsiteY1" fmla="*/ 10761 h 6231137"/>
              <a:gd name="connsiteX2" fmla="*/ 19233 w 12275980"/>
              <a:gd name="connsiteY2" fmla="*/ 26521 h 6231137"/>
              <a:gd name="connsiteX3" fmla="*/ 19232 w 12275980"/>
              <a:gd name="connsiteY3" fmla="*/ 844885 h 6231137"/>
              <a:gd name="connsiteX4" fmla="*/ 76 w 12275980"/>
              <a:gd name="connsiteY4" fmla="*/ 1369703 h 6231137"/>
              <a:gd name="connsiteX5" fmla="*/ 84455 w 12275980"/>
              <a:gd name="connsiteY5" fmla="*/ 4530644 h 6231137"/>
              <a:gd name="connsiteX6" fmla="*/ 143962 w 12275980"/>
              <a:gd name="connsiteY6" fmla="*/ 5941555 h 6231137"/>
              <a:gd name="connsiteX7" fmla="*/ 2751664 w 12275980"/>
              <a:gd name="connsiteY7" fmla="*/ 5929698 h 6231137"/>
              <a:gd name="connsiteX8" fmla="*/ 4405359 w 12275980"/>
              <a:gd name="connsiteY8" fmla="*/ 5908315 h 6231137"/>
              <a:gd name="connsiteX9" fmla="*/ 5376660 w 12275980"/>
              <a:gd name="connsiteY9" fmla="*/ 5924178 h 6231137"/>
              <a:gd name="connsiteX10" fmla="*/ 5860418 w 12275980"/>
              <a:gd name="connsiteY10" fmla="*/ 6231137 h 6231137"/>
              <a:gd name="connsiteX11" fmla="*/ 6132921 w 12275980"/>
              <a:gd name="connsiteY11" fmla="*/ 5908409 h 6231137"/>
              <a:gd name="connsiteX12" fmla="*/ 9260113 w 12275980"/>
              <a:gd name="connsiteY12" fmla="*/ 5911624 h 6231137"/>
              <a:gd name="connsiteX13" fmla="*/ 10169015 w 12275980"/>
              <a:gd name="connsiteY13" fmla="*/ 5914499 h 6231137"/>
              <a:gd name="connsiteX14" fmla="*/ 11088954 w 12275980"/>
              <a:gd name="connsiteY14" fmla="*/ 5922366 h 6231137"/>
              <a:gd name="connsiteX15" fmla="*/ 12247037 w 12275980"/>
              <a:gd name="connsiteY15" fmla="*/ 5921320 h 6231137"/>
              <a:gd name="connsiteX16" fmla="*/ 12225183 w 12275980"/>
              <a:gd name="connsiteY16" fmla="*/ 2621674 h 6231137"/>
              <a:gd name="connsiteX17" fmla="*/ 12215831 w 12275980"/>
              <a:gd name="connsiteY17" fmla="*/ 176313 h 6231137"/>
              <a:gd name="connsiteX18" fmla="*/ 11451264 w 12275980"/>
              <a:gd name="connsiteY18" fmla="*/ 107615 h 6231137"/>
              <a:gd name="connsiteX19" fmla="*/ 10421040 w 12275980"/>
              <a:gd name="connsiteY19" fmla="*/ 101059 h 6231137"/>
              <a:gd name="connsiteX20" fmla="*/ 7761605 w 12275980"/>
              <a:gd name="connsiteY20" fmla="*/ 75910 h 6231137"/>
              <a:gd name="connsiteX21" fmla="*/ 2054471 w 1227598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161182 w 12293200"/>
              <a:gd name="connsiteY6" fmla="*/ 5941555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89932 w 12293200"/>
              <a:gd name="connsiteY6" fmla="*/ 5941557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88138"/>
              <a:gd name="connsiteY0" fmla="*/ 24998 h 6256135"/>
              <a:gd name="connsiteX1" fmla="*/ 483610 w 12288138"/>
              <a:gd name="connsiteY1" fmla="*/ 35759 h 6256135"/>
              <a:gd name="connsiteX2" fmla="*/ 36453 w 12288138"/>
              <a:gd name="connsiteY2" fmla="*/ 51519 h 6256135"/>
              <a:gd name="connsiteX3" fmla="*/ 36452 w 12288138"/>
              <a:gd name="connsiteY3" fmla="*/ 869883 h 6256135"/>
              <a:gd name="connsiteX4" fmla="*/ 17296 w 12288138"/>
              <a:gd name="connsiteY4" fmla="*/ 1394701 h 6256135"/>
              <a:gd name="connsiteX5" fmla="*/ 6679 w 12288138"/>
              <a:gd name="connsiteY5" fmla="*/ 4619906 h 6256135"/>
              <a:gd name="connsiteX6" fmla="*/ 89932 w 12288138"/>
              <a:gd name="connsiteY6" fmla="*/ 5966555 h 6256135"/>
              <a:gd name="connsiteX7" fmla="*/ 2768884 w 12288138"/>
              <a:gd name="connsiteY7" fmla="*/ 5954696 h 6256135"/>
              <a:gd name="connsiteX8" fmla="*/ 4422579 w 12288138"/>
              <a:gd name="connsiteY8" fmla="*/ 5933313 h 6256135"/>
              <a:gd name="connsiteX9" fmla="*/ 5393880 w 12288138"/>
              <a:gd name="connsiteY9" fmla="*/ 5949176 h 6256135"/>
              <a:gd name="connsiteX10" fmla="*/ 5877638 w 12288138"/>
              <a:gd name="connsiteY10" fmla="*/ 6256135 h 6256135"/>
              <a:gd name="connsiteX11" fmla="*/ 6150141 w 12288138"/>
              <a:gd name="connsiteY11" fmla="*/ 5933407 h 6256135"/>
              <a:gd name="connsiteX12" fmla="*/ 9277333 w 12288138"/>
              <a:gd name="connsiteY12" fmla="*/ 5936622 h 6256135"/>
              <a:gd name="connsiteX13" fmla="*/ 10186235 w 12288138"/>
              <a:gd name="connsiteY13" fmla="*/ 5939497 h 6256135"/>
              <a:gd name="connsiteX14" fmla="*/ 11106174 w 12288138"/>
              <a:gd name="connsiteY14" fmla="*/ 5947364 h 6256135"/>
              <a:gd name="connsiteX15" fmla="*/ 12264257 w 12288138"/>
              <a:gd name="connsiteY15" fmla="*/ 5946318 h 6256135"/>
              <a:gd name="connsiteX16" fmla="*/ 12242403 w 12288138"/>
              <a:gd name="connsiteY16" fmla="*/ 2646672 h 6256135"/>
              <a:gd name="connsiteX17" fmla="*/ 12233051 w 12288138"/>
              <a:gd name="connsiteY17" fmla="*/ 201311 h 6256135"/>
              <a:gd name="connsiteX18" fmla="*/ 11729726 w 12288138"/>
              <a:gd name="connsiteY18" fmla="*/ 132612 h 6256135"/>
              <a:gd name="connsiteX19" fmla="*/ 10438260 w 12288138"/>
              <a:gd name="connsiteY19" fmla="*/ 126057 h 6256135"/>
              <a:gd name="connsiteX20" fmla="*/ 7778825 w 12288138"/>
              <a:gd name="connsiteY20" fmla="*/ 100908 h 6256135"/>
              <a:gd name="connsiteX21" fmla="*/ 2071691 w 12288138"/>
              <a:gd name="connsiteY21" fmla="*/ 24998 h 6256135"/>
              <a:gd name="connsiteX0" fmla="*/ 2071691 w 12281699"/>
              <a:gd name="connsiteY0" fmla="*/ 0 h 6231137"/>
              <a:gd name="connsiteX1" fmla="*/ 483610 w 12281699"/>
              <a:gd name="connsiteY1" fmla="*/ 10761 h 6231137"/>
              <a:gd name="connsiteX2" fmla="*/ 36453 w 12281699"/>
              <a:gd name="connsiteY2" fmla="*/ 26521 h 6231137"/>
              <a:gd name="connsiteX3" fmla="*/ 36452 w 12281699"/>
              <a:gd name="connsiteY3" fmla="*/ 844885 h 6231137"/>
              <a:gd name="connsiteX4" fmla="*/ 17296 w 12281699"/>
              <a:gd name="connsiteY4" fmla="*/ 1369703 h 6231137"/>
              <a:gd name="connsiteX5" fmla="*/ 6679 w 12281699"/>
              <a:gd name="connsiteY5" fmla="*/ 4594908 h 6231137"/>
              <a:gd name="connsiteX6" fmla="*/ 89932 w 12281699"/>
              <a:gd name="connsiteY6" fmla="*/ 5941557 h 6231137"/>
              <a:gd name="connsiteX7" fmla="*/ 2768884 w 12281699"/>
              <a:gd name="connsiteY7" fmla="*/ 5929698 h 6231137"/>
              <a:gd name="connsiteX8" fmla="*/ 4422579 w 12281699"/>
              <a:gd name="connsiteY8" fmla="*/ 5908315 h 6231137"/>
              <a:gd name="connsiteX9" fmla="*/ 5393880 w 12281699"/>
              <a:gd name="connsiteY9" fmla="*/ 5924178 h 6231137"/>
              <a:gd name="connsiteX10" fmla="*/ 5877638 w 12281699"/>
              <a:gd name="connsiteY10" fmla="*/ 6231137 h 6231137"/>
              <a:gd name="connsiteX11" fmla="*/ 6150141 w 12281699"/>
              <a:gd name="connsiteY11" fmla="*/ 5908409 h 6231137"/>
              <a:gd name="connsiteX12" fmla="*/ 9277333 w 12281699"/>
              <a:gd name="connsiteY12" fmla="*/ 5911624 h 6231137"/>
              <a:gd name="connsiteX13" fmla="*/ 10186235 w 12281699"/>
              <a:gd name="connsiteY13" fmla="*/ 5914499 h 6231137"/>
              <a:gd name="connsiteX14" fmla="*/ 11106174 w 12281699"/>
              <a:gd name="connsiteY14" fmla="*/ 5922366 h 6231137"/>
              <a:gd name="connsiteX15" fmla="*/ 12264257 w 12281699"/>
              <a:gd name="connsiteY15" fmla="*/ 5921320 h 6231137"/>
              <a:gd name="connsiteX16" fmla="*/ 12242403 w 12281699"/>
              <a:gd name="connsiteY16" fmla="*/ 2621674 h 6231137"/>
              <a:gd name="connsiteX17" fmla="*/ 12233051 w 12281699"/>
              <a:gd name="connsiteY17" fmla="*/ 176313 h 6231137"/>
              <a:gd name="connsiteX18" fmla="*/ 11729726 w 12281699"/>
              <a:gd name="connsiteY18" fmla="*/ 107614 h 6231137"/>
              <a:gd name="connsiteX19" fmla="*/ 10438260 w 12281699"/>
              <a:gd name="connsiteY19" fmla="*/ 101059 h 6231137"/>
              <a:gd name="connsiteX20" fmla="*/ 7778825 w 12281699"/>
              <a:gd name="connsiteY20" fmla="*/ 75910 h 6231137"/>
              <a:gd name="connsiteX21" fmla="*/ 2071691 w 12281699"/>
              <a:gd name="connsiteY21" fmla="*/ 0 h 6231137"/>
              <a:gd name="connsiteX0" fmla="*/ 2071691 w 12281973"/>
              <a:gd name="connsiteY0" fmla="*/ 17107 h 6248244"/>
              <a:gd name="connsiteX1" fmla="*/ 483610 w 12281973"/>
              <a:gd name="connsiteY1" fmla="*/ 27868 h 6248244"/>
              <a:gd name="connsiteX2" fmla="*/ 36453 w 12281973"/>
              <a:gd name="connsiteY2" fmla="*/ 43628 h 6248244"/>
              <a:gd name="connsiteX3" fmla="*/ 36452 w 12281973"/>
              <a:gd name="connsiteY3" fmla="*/ 861992 h 6248244"/>
              <a:gd name="connsiteX4" fmla="*/ 17296 w 12281973"/>
              <a:gd name="connsiteY4" fmla="*/ 1386810 h 6248244"/>
              <a:gd name="connsiteX5" fmla="*/ 6679 w 12281973"/>
              <a:gd name="connsiteY5" fmla="*/ 4612015 h 6248244"/>
              <a:gd name="connsiteX6" fmla="*/ 89932 w 12281973"/>
              <a:gd name="connsiteY6" fmla="*/ 5958664 h 6248244"/>
              <a:gd name="connsiteX7" fmla="*/ 2768884 w 12281973"/>
              <a:gd name="connsiteY7" fmla="*/ 5946805 h 6248244"/>
              <a:gd name="connsiteX8" fmla="*/ 4422579 w 12281973"/>
              <a:gd name="connsiteY8" fmla="*/ 5925422 h 6248244"/>
              <a:gd name="connsiteX9" fmla="*/ 5393880 w 12281973"/>
              <a:gd name="connsiteY9" fmla="*/ 5941285 h 6248244"/>
              <a:gd name="connsiteX10" fmla="*/ 5877638 w 12281973"/>
              <a:gd name="connsiteY10" fmla="*/ 6248244 h 6248244"/>
              <a:gd name="connsiteX11" fmla="*/ 6150141 w 12281973"/>
              <a:gd name="connsiteY11" fmla="*/ 5925516 h 6248244"/>
              <a:gd name="connsiteX12" fmla="*/ 9277333 w 12281973"/>
              <a:gd name="connsiteY12" fmla="*/ 5928731 h 6248244"/>
              <a:gd name="connsiteX13" fmla="*/ 10186235 w 12281973"/>
              <a:gd name="connsiteY13" fmla="*/ 5931606 h 6248244"/>
              <a:gd name="connsiteX14" fmla="*/ 11106174 w 12281973"/>
              <a:gd name="connsiteY14" fmla="*/ 5939473 h 6248244"/>
              <a:gd name="connsiteX15" fmla="*/ 12264257 w 12281973"/>
              <a:gd name="connsiteY15" fmla="*/ 5938427 h 6248244"/>
              <a:gd name="connsiteX16" fmla="*/ 12242403 w 12281973"/>
              <a:gd name="connsiteY16" fmla="*/ 2638781 h 6248244"/>
              <a:gd name="connsiteX17" fmla="*/ 12233051 w 12281973"/>
              <a:gd name="connsiteY17" fmla="*/ 193420 h 6248244"/>
              <a:gd name="connsiteX18" fmla="*/ 11824723 w 12281973"/>
              <a:gd name="connsiteY18" fmla="*/ 146142 h 6248244"/>
              <a:gd name="connsiteX19" fmla="*/ 10438260 w 12281973"/>
              <a:gd name="connsiteY19" fmla="*/ 118166 h 6248244"/>
              <a:gd name="connsiteX20" fmla="*/ 7778825 w 12281973"/>
              <a:gd name="connsiteY20" fmla="*/ 93017 h 6248244"/>
              <a:gd name="connsiteX21" fmla="*/ 2071691 w 12281973"/>
              <a:gd name="connsiteY21" fmla="*/ 17107 h 6248244"/>
              <a:gd name="connsiteX0" fmla="*/ 2071691 w 12281973"/>
              <a:gd name="connsiteY0" fmla="*/ 19214 h 6250351"/>
              <a:gd name="connsiteX1" fmla="*/ 483610 w 12281973"/>
              <a:gd name="connsiteY1" fmla="*/ 29975 h 6250351"/>
              <a:gd name="connsiteX2" fmla="*/ 36453 w 12281973"/>
              <a:gd name="connsiteY2" fmla="*/ 45735 h 6250351"/>
              <a:gd name="connsiteX3" fmla="*/ 36452 w 12281973"/>
              <a:gd name="connsiteY3" fmla="*/ 864099 h 6250351"/>
              <a:gd name="connsiteX4" fmla="*/ 17296 w 12281973"/>
              <a:gd name="connsiteY4" fmla="*/ 1388917 h 6250351"/>
              <a:gd name="connsiteX5" fmla="*/ 6679 w 12281973"/>
              <a:gd name="connsiteY5" fmla="*/ 4614122 h 6250351"/>
              <a:gd name="connsiteX6" fmla="*/ 89932 w 12281973"/>
              <a:gd name="connsiteY6" fmla="*/ 5960771 h 6250351"/>
              <a:gd name="connsiteX7" fmla="*/ 2768884 w 12281973"/>
              <a:gd name="connsiteY7" fmla="*/ 5948912 h 6250351"/>
              <a:gd name="connsiteX8" fmla="*/ 4422579 w 12281973"/>
              <a:gd name="connsiteY8" fmla="*/ 5927529 h 6250351"/>
              <a:gd name="connsiteX9" fmla="*/ 5393880 w 12281973"/>
              <a:gd name="connsiteY9" fmla="*/ 5943392 h 6250351"/>
              <a:gd name="connsiteX10" fmla="*/ 5877638 w 12281973"/>
              <a:gd name="connsiteY10" fmla="*/ 6250351 h 6250351"/>
              <a:gd name="connsiteX11" fmla="*/ 6150141 w 12281973"/>
              <a:gd name="connsiteY11" fmla="*/ 5927623 h 6250351"/>
              <a:gd name="connsiteX12" fmla="*/ 9277333 w 12281973"/>
              <a:gd name="connsiteY12" fmla="*/ 5930838 h 6250351"/>
              <a:gd name="connsiteX13" fmla="*/ 10186235 w 12281973"/>
              <a:gd name="connsiteY13" fmla="*/ 5933713 h 6250351"/>
              <a:gd name="connsiteX14" fmla="*/ 11106174 w 12281973"/>
              <a:gd name="connsiteY14" fmla="*/ 5941580 h 6250351"/>
              <a:gd name="connsiteX15" fmla="*/ 12264257 w 12281973"/>
              <a:gd name="connsiteY15" fmla="*/ 5940534 h 6250351"/>
              <a:gd name="connsiteX16" fmla="*/ 12242403 w 12281973"/>
              <a:gd name="connsiteY16" fmla="*/ 2640888 h 6250351"/>
              <a:gd name="connsiteX17" fmla="*/ 12233051 w 12281973"/>
              <a:gd name="connsiteY17" fmla="*/ 195527 h 6250351"/>
              <a:gd name="connsiteX18" fmla="*/ 11824723 w 12281973"/>
              <a:gd name="connsiteY18" fmla="*/ 148249 h 6250351"/>
              <a:gd name="connsiteX19" fmla="*/ 10295765 w 12281973"/>
              <a:gd name="connsiteY19" fmla="*/ 141693 h 6250351"/>
              <a:gd name="connsiteX20" fmla="*/ 7778825 w 12281973"/>
              <a:gd name="connsiteY20" fmla="*/ 95124 h 6250351"/>
              <a:gd name="connsiteX21" fmla="*/ 2071691 w 12281973"/>
              <a:gd name="connsiteY21" fmla="*/ 19214 h 6250351"/>
              <a:gd name="connsiteX0" fmla="*/ 2071691 w 12322325"/>
              <a:gd name="connsiteY0" fmla="*/ 0 h 6231137"/>
              <a:gd name="connsiteX1" fmla="*/ 483610 w 12322325"/>
              <a:gd name="connsiteY1" fmla="*/ 10761 h 6231137"/>
              <a:gd name="connsiteX2" fmla="*/ 36453 w 12322325"/>
              <a:gd name="connsiteY2" fmla="*/ 26521 h 6231137"/>
              <a:gd name="connsiteX3" fmla="*/ 36452 w 12322325"/>
              <a:gd name="connsiteY3" fmla="*/ 844885 h 6231137"/>
              <a:gd name="connsiteX4" fmla="*/ 17296 w 12322325"/>
              <a:gd name="connsiteY4" fmla="*/ 1369703 h 6231137"/>
              <a:gd name="connsiteX5" fmla="*/ 6679 w 12322325"/>
              <a:gd name="connsiteY5" fmla="*/ 4594908 h 6231137"/>
              <a:gd name="connsiteX6" fmla="*/ 89932 w 12322325"/>
              <a:gd name="connsiteY6" fmla="*/ 5941557 h 6231137"/>
              <a:gd name="connsiteX7" fmla="*/ 2768884 w 12322325"/>
              <a:gd name="connsiteY7" fmla="*/ 5929698 h 6231137"/>
              <a:gd name="connsiteX8" fmla="*/ 4422579 w 12322325"/>
              <a:gd name="connsiteY8" fmla="*/ 5908315 h 6231137"/>
              <a:gd name="connsiteX9" fmla="*/ 5393880 w 12322325"/>
              <a:gd name="connsiteY9" fmla="*/ 5924178 h 6231137"/>
              <a:gd name="connsiteX10" fmla="*/ 5877638 w 12322325"/>
              <a:gd name="connsiteY10" fmla="*/ 6231137 h 6231137"/>
              <a:gd name="connsiteX11" fmla="*/ 6150141 w 12322325"/>
              <a:gd name="connsiteY11" fmla="*/ 5908409 h 6231137"/>
              <a:gd name="connsiteX12" fmla="*/ 9277333 w 12322325"/>
              <a:gd name="connsiteY12" fmla="*/ 5911624 h 6231137"/>
              <a:gd name="connsiteX13" fmla="*/ 10186235 w 12322325"/>
              <a:gd name="connsiteY13" fmla="*/ 5914499 h 6231137"/>
              <a:gd name="connsiteX14" fmla="*/ 11106174 w 12322325"/>
              <a:gd name="connsiteY14" fmla="*/ 5922366 h 6231137"/>
              <a:gd name="connsiteX15" fmla="*/ 12264257 w 12322325"/>
              <a:gd name="connsiteY15" fmla="*/ 5921320 h 6231137"/>
              <a:gd name="connsiteX16" fmla="*/ 12242403 w 12322325"/>
              <a:gd name="connsiteY16" fmla="*/ 2621674 h 6231137"/>
              <a:gd name="connsiteX17" fmla="*/ 12233051 w 12322325"/>
              <a:gd name="connsiteY17" fmla="*/ 176313 h 6231137"/>
              <a:gd name="connsiteX18" fmla="*/ 11824723 w 12322325"/>
              <a:gd name="connsiteY18" fmla="*/ 129035 h 6231137"/>
              <a:gd name="connsiteX19" fmla="*/ 10295765 w 12322325"/>
              <a:gd name="connsiteY19" fmla="*/ 122479 h 6231137"/>
              <a:gd name="connsiteX20" fmla="*/ 7778825 w 12322325"/>
              <a:gd name="connsiteY20" fmla="*/ 75910 h 6231137"/>
              <a:gd name="connsiteX21" fmla="*/ 2071691 w 12322325"/>
              <a:gd name="connsiteY21" fmla="*/ 0 h 6231137"/>
              <a:gd name="connsiteX0" fmla="*/ 2071691 w 12275492"/>
              <a:gd name="connsiteY0" fmla="*/ 0 h 6231137"/>
              <a:gd name="connsiteX1" fmla="*/ 483610 w 12275492"/>
              <a:gd name="connsiteY1" fmla="*/ 10761 h 6231137"/>
              <a:gd name="connsiteX2" fmla="*/ 36453 w 12275492"/>
              <a:gd name="connsiteY2" fmla="*/ 26521 h 6231137"/>
              <a:gd name="connsiteX3" fmla="*/ 36452 w 12275492"/>
              <a:gd name="connsiteY3" fmla="*/ 844885 h 6231137"/>
              <a:gd name="connsiteX4" fmla="*/ 17296 w 12275492"/>
              <a:gd name="connsiteY4" fmla="*/ 1369703 h 6231137"/>
              <a:gd name="connsiteX5" fmla="*/ 6679 w 12275492"/>
              <a:gd name="connsiteY5" fmla="*/ 4594908 h 6231137"/>
              <a:gd name="connsiteX6" fmla="*/ 89932 w 12275492"/>
              <a:gd name="connsiteY6" fmla="*/ 5941557 h 6231137"/>
              <a:gd name="connsiteX7" fmla="*/ 2768884 w 12275492"/>
              <a:gd name="connsiteY7" fmla="*/ 5929698 h 6231137"/>
              <a:gd name="connsiteX8" fmla="*/ 4422579 w 12275492"/>
              <a:gd name="connsiteY8" fmla="*/ 5908315 h 6231137"/>
              <a:gd name="connsiteX9" fmla="*/ 5393880 w 12275492"/>
              <a:gd name="connsiteY9" fmla="*/ 5924178 h 6231137"/>
              <a:gd name="connsiteX10" fmla="*/ 5877638 w 12275492"/>
              <a:gd name="connsiteY10" fmla="*/ 6231137 h 6231137"/>
              <a:gd name="connsiteX11" fmla="*/ 6150141 w 12275492"/>
              <a:gd name="connsiteY11" fmla="*/ 5908409 h 6231137"/>
              <a:gd name="connsiteX12" fmla="*/ 9277333 w 12275492"/>
              <a:gd name="connsiteY12" fmla="*/ 5911624 h 6231137"/>
              <a:gd name="connsiteX13" fmla="*/ 10186235 w 12275492"/>
              <a:gd name="connsiteY13" fmla="*/ 5914499 h 6231137"/>
              <a:gd name="connsiteX14" fmla="*/ 11106174 w 12275492"/>
              <a:gd name="connsiteY14" fmla="*/ 5922366 h 6231137"/>
              <a:gd name="connsiteX15" fmla="*/ 12264257 w 12275492"/>
              <a:gd name="connsiteY15" fmla="*/ 5921320 h 6231137"/>
              <a:gd name="connsiteX16" fmla="*/ 12242403 w 12275492"/>
              <a:gd name="connsiteY16" fmla="*/ 2621674 h 6231137"/>
              <a:gd name="connsiteX17" fmla="*/ 12233051 w 12275492"/>
              <a:gd name="connsiteY17" fmla="*/ 176313 h 6231137"/>
              <a:gd name="connsiteX18" fmla="*/ 11824723 w 12275492"/>
              <a:gd name="connsiteY18" fmla="*/ 129035 h 6231137"/>
              <a:gd name="connsiteX19" fmla="*/ 10295765 w 12275492"/>
              <a:gd name="connsiteY19" fmla="*/ 122479 h 6231137"/>
              <a:gd name="connsiteX20" fmla="*/ 7778825 w 12275492"/>
              <a:gd name="connsiteY20" fmla="*/ 75910 h 6231137"/>
              <a:gd name="connsiteX21" fmla="*/ 2071691 w 12275492"/>
              <a:gd name="connsiteY21" fmla="*/ 0 h 6231137"/>
              <a:gd name="connsiteX0" fmla="*/ 2071691 w 12313887"/>
              <a:gd name="connsiteY0" fmla="*/ 20004 h 6251141"/>
              <a:gd name="connsiteX1" fmla="*/ 483610 w 12313887"/>
              <a:gd name="connsiteY1" fmla="*/ 30765 h 6251141"/>
              <a:gd name="connsiteX2" fmla="*/ 36453 w 12313887"/>
              <a:gd name="connsiteY2" fmla="*/ 46525 h 6251141"/>
              <a:gd name="connsiteX3" fmla="*/ 36452 w 12313887"/>
              <a:gd name="connsiteY3" fmla="*/ 864889 h 6251141"/>
              <a:gd name="connsiteX4" fmla="*/ 17296 w 12313887"/>
              <a:gd name="connsiteY4" fmla="*/ 1389707 h 6251141"/>
              <a:gd name="connsiteX5" fmla="*/ 6679 w 12313887"/>
              <a:gd name="connsiteY5" fmla="*/ 4614912 h 6251141"/>
              <a:gd name="connsiteX6" fmla="*/ 89932 w 12313887"/>
              <a:gd name="connsiteY6" fmla="*/ 5961561 h 6251141"/>
              <a:gd name="connsiteX7" fmla="*/ 2768884 w 12313887"/>
              <a:gd name="connsiteY7" fmla="*/ 5949702 h 6251141"/>
              <a:gd name="connsiteX8" fmla="*/ 4422579 w 12313887"/>
              <a:gd name="connsiteY8" fmla="*/ 5928319 h 6251141"/>
              <a:gd name="connsiteX9" fmla="*/ 5393880 w 12313887"/>
              <a:gd name="connsiteY9" fmla="*/ 5944182 h 6251141"/>
              <a:gd name="connsiteX10" fmla="*/ 5877638 w 12313887"/>
              <a:gd name="connsiteY10" fmla="*/ 6251141 h 6251141"/>
              <a:gd name="connsiteX11" fmla="*/ 6150141 w 12313887"/>
              <a:gd name="connsiteY11" fmla="*/ 5928413 h 6251141"/>
              <a:gd name="connsiteX12" fmla="*/ 9277333 w 12313887"/>
              <a:gd name="connsiteY12" fmla="*/ 5931628 h 6251141"/>
              <a:gd name="connsiteX13" fmla="*/ 10186235 w 12313887"/>
              <a:gd name="connsiteY13" fmla="*/ 5934503 h 6251141"/>
              <a:gd name="connsiteX14" fmla="*/ 11106174 w 12313887"/>
              <a:gd name="connsiteY14" fmla="*/ 5942370 h 6251141"/>
              <a:gd name="connsiteX15" fmla="*/ 12264257 w 12313887"/>
              <a:gd name="connsiteY15" fmla="*/ 5941324 h 6251141"/>
              <a:gd name="connsiteX16" fmla="*/ 12289901 w 12313887"/>
              <a:gd name="connsiteY16" fmla="*/ 2652389 h 6251141"/>
              <a:gd name="connsiteX17" fmla="*/ 12233051 w 12313887"/>
              <a:gd name="connsiteY17" fmla="*/ 196317 h 6251141"/>
              <a:gd name="connsiteX18" fmla="*/ 11824723 w 12313887"/>
              <a:gd name="connsiteY18" fmla="*/ 149039 h 6251141"/>
              <a:gd name="connsiteX19" fmla="*/ 10295765 w 12313887"/>
              <a:gd name="connsiteY19" fmla="*/ 142483 h 6251141"/>
              <a:gd name="connsiteX20" fmla="*/ 7778825 w 12313887"/>
              <a:gd name="connsiteY20" fmla="*/ 95914 h 6251141"/>
              <a:gd name="connsiteX21" fmla="*/ 2071691 w 12313887"/>
              <a:gd name="connsiteY21" fmla="*/ 20004 h 6251141"/>
              <a:gd name="connsiteX0" fmla="*/ 2071691 w 12332516"/>
              <a:gd name="connsiteY0" fmla="*/ 20004 h 6251141"/>
              <a:gd name="connsiteX1" fmla="*/ 483610 w 12332516"/>
              <a:gd name="connsiteY1" fmla="*/ 30765 h 6251141"/>
              <a:gd name="connsiteX2" fmla="*/ 36453 w 12332516"/>
              <a:gd name="connsiteY2" fmla="*/ 46525 h 6251141"/>
              <a:gd name="connsiteX3" fmla="*/ 36452 w 12332516"/>
              <a:gd name="connsiteY3" fmla="*/ 864889 h 6251141"/>
              <a:gd name="connsiteX4" fmla="*/ 17296 w 12332516"/>
              <a:gd name="connsiteY4" fmla="*/ 1389707 h 6251141"/>
              <a:gd name="connsiteX5" fmla="*/ 6679 w 12332516"/>
              <a:gd name="connsiteY5" fmla="*/ 4614912 h 6251141"/>
              <a:gd name="connsiteX6" fmla="*/ 89932 w 12332516"/>
              <a:gd name="connsiteY6" fmla="*/ 5961561 h 6251141"/>
              <a:gd name="connsiteX7" fmla="*/ 2768884 w 12332516"/>
              <a:gd name="connsiteY7" fmla="*/ 5949702 h 6251141"/>
              <a:gd name="connsiteX8" fmla="*/ 4422579 w 12332516"/>
              <a:gd name="connsiteY8" fmla="*/ 5928319 h 6251141"/>
              <a:gd name="connsiteX9" fmla="*/ 5393880 w 12332516"/>
              <a:gd name="connsiteY9" fmla="*/ 5944182 h 6251141"/>
              <a:gd name="connsiteX10" fmla="*/ 5877638 w 12332516"/>
              <a:gd name="connsiteY10" fmla="*/ 6251141 h 6251141"/>
              <a:gd name="connsiteX11" fmla="*/ 6150141 w 12332516"/>
              <a:gd name="connsiteY11" fmla="*/ 5928413 h 6251141"/>
              <a:gd name="connsiteX12" fmla="*/ 9277333 w 12332516"/>
              <a:gd name="connsiteY12" fmla="*/ 5931628 h 6251141"/>
              <a:gd name="connsiteX13" fmla="*/ 10186235 w 12332516"/>
              <a:gd name="connsiteY13" fmla="*/ 5934503 h 6251141"/>
              <a:gd name="connsiteX14" fmla="*/ 11106174 w 12332516"/>
              <a:gd name="connsiteY14" fmla="*/ 5942370 h 6251141"/>
              <a:gd name="connsiteX15" fmla="*/ 12264257 w 12332516"/>
              <a:gd name="connsiteY15" fmla="*/ 5941324 h 6251141"/>
              <a:gd name="connsiteX16" fmla="*/ 12289901 w 12332516"/>
              <a:gd name="connsiteY16" fmla="*/ 2652389 h 6251141"/>
              <a:gd name="connsiteX17" fmla="*/ 12280552 w 12332516"/>
              <a:gd name="connsiteY17" fmla="*/ 196317 h 6251141"/>
              <a:gd name="connsiteX18" fmla="*/ 11824723 w 12332516"/>
              <a:gd name="connsiteY18" fmla="*/ 149039 h 6251141"/>
              <a:gd name="connsiteX19" fmla="*/ 10295765 w 12332516"/>
              <a:gd name="connsiteY19" fmla="*/ 142483 h 6251141"/>
              <a:gd name="connsiteX20" fmla="*/ 7778825 w 12332516"/>
              <a:gd name="connsiteY20" fmla="*/ 95914 h 6251141"/>
              <a:gd name="connsiteX21" fmla="*/ 2071691 w 12332516"/>
              <a:gd name="connsiteY21" fmla="*/ 20004 h 6251141"/>
              <a:gd name="connsiteX0" fmla="*/ 2071691 w 12322347"/>
              <a:gd name="connsiteY0" fmla="*/ 0 h 6231137"/>
              <a:gd name="connsiteX1" fmla="*/ 483610 w 12322347"/>
              <a:gd name="connsiteY1" fmla="*/ 10761 h 6231137"/>
              <a:gd name="connsiteX2" fmla="*/ 36453 w 12322347"/>
              <a:gd name="connsiteY2" fmla="*/ 2652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483610 w 12322347"/>
              <a:gd name="connsiteY1" fmla="*/ 10761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578608 w 12322347"/>
              <a:gd name="connsiteY1" fmla="*/ 42448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261685 w 12322347"/>
              <a:gd name="connsiteY0" fmla="*/ 10365 h 6188689"/>
              <a:gd name="connsiteX1" fmla="*/ 578608 w 12322347"/>
              <a:gd name="connsiteY1" fmla="*/ 0 h 6188689"/>
              <a:gd name="connsiteX2" fmla="*/ 36453 w 12322347"/>
              <a:gd name="connsiteY2" fmla="*/ 26323 h 6188689"/>
              <a:gd name="connsiteX3" fmla="*/ 36452 w 12322347"/>
              <a:gd name="connsiteY3" fmla="*/ 802437 h 6188689"/>
              <a:gd name="connsiteX4" fmla="*/ 17296 w 12322347"/>
              <a:gd name="connsiteY4" fmla="*/ 1327255 h 6188689"/>
              <a:gd name="connsiteX5" fmla="*/ 6679 w 12322347"/>
              <a:gd name="connsiteY5" fmla="*/ 4552460 h 6188689"/>
              <a:gd name="connsiteX6" fmla="*/ 89932 w 12322347"/>
              <a:gd name="connsiteY6" fmla="*/ 5899109 h 6188689"/>
              <a:gd name="connsiteX7" fmla="*/ 2768884 w 12322347"/>
              <a:gd name="connsiteY7" fmla="*/ 5887250 h 6188689"/>
              <a:gd name="connsiteX8" fmla="*/ 4422579 w 12322347"/>
              <a:gd name="connsiteY8" fmla="*/ 5865867 h 6188689"/>
              <a:gd name="connsiteX9" fmla="*/ 5393880 w 12322347"/>
              <a:gd name="connsiteY9" fmla="*/ 5881730 h 6188689"/>
              <a:gd name="connsiteX10" fmla="*/ 5877638 w 12322347"/>
              <a:gd name="connsiteY10" fmla="*/ 6188689 h 6188689"/>
              <a:gd name="connsiteX11" fmla="*/ 6150141 w 12322347"/>
              <a:gd name="connsiteY11" fmla="*/ 5865961 h 6188689"/>
              <a:gd name="connsiteX12" fmla="*/ 9277333 w 12322347"/>
              <a:gd name="connsiteY12" fmla="*/ 5869176 h 6188689"/>
              <a:gd name="connsiteX13" fmla="*/ 10186235 w 12322347"/>
              <a:gd name="connsiteY13" fmla="*/ 5872051 h 6188689"/>
              <a:gd name="connsiteX14" fmla="*/ 11106174 w 12322347"/>
              <a:gd name="connsiteY14" fmla="*/ 5879918 h 6188689"/>
              <a:gd name="connsiteX15" fmla="*/ 12264257 w 12322347"/>
              <a:gd name="connsiteY15" fmla="*/ 5878872 h 6188689"/>
              <a:gd name="connsiteX16" fmla="*/ 12289901 w 12322347"/>
              <a:gd name="connsiteY16" fmla="*/ 2589937 h 6188689"/>
              <a:gd name="connsiteX17" fmla="*/ 12280552 w 12322347"/>
              <a:gd name="connsiteY17" fmla="*/ 133865 h 6188689"/>
              <a:gd name="connsiteX18" fmla="*/ 11824723 w 12322347"/>
              <a:gd name="connsiteY18" fmla="*/ 86587 h 6188689"/>
              <a:gd name="connsiteX19" fmla="*/ 10295765 w 12322347"/>
              <a:gd name="connsiteY19" fmla="*/ 80031 h 6188689"/>
              <a:gd name="connsiteX20" fmla="*/ 7778825 w 12322347"/>
              <a:gd name="connsiteY20" fmla="*/ 33462 h 6188689"/>
              <a:gd name="connsiteX21" fmla="*/ 2261685 w 12322347"/>
              <a:gd name="connsiteY21" fmla="*/ 10365 h 6188689"/>
              <a:gd name="connsiteX0" fmla="*/ 2261685 w 12322347"/>
              <a:gd name="connsiteY0" fmla="*/ 0 h 6178324"/>
              <a:gd name="connsiteX1" fmla="*/ 816102 w 12322347"/>
              <a:gd name="connsiteY1" fmla="*/ 10760 h 6178324"/>
              <a:gd name="connsiteX2" fmla="*/ 36453 w 12322347"/>
              <a:gd name="connsiteY2" fmla="*/ 15958 h 6178324"/>
              <a:gd name="connsiteX3" fmla="*/ 36452 w 12322347"/>
              <a:gd name="connsiteY3" fmla="*/ 792072 h 6178324"/>
              <a:gd name="connsiteX4" fmla="*/ 17296 w 12322347"/>
              <a:gd name="connsiteY4" fmla="*/ 1316890 h 6178324"/>
              <a:gd name="connsiteX5" fmla="*/ 6679 w 12322347"/>
              <a:gd name="connsiteY5" fmla="*/ 4542095 h 6178324"/>
              <a:gd name="connsiteX6" fmla="*/ 89932 w 12322347"/>
              <a:gd name="connsiteY6" fmla="*/ 5888744 h 6178324"/>
              <a:gd name="connsiteX7" fmla="*/ 2768884 w 12322347"/>
              <a:gd name="connsiteY7" fmla="*/ 5876885 h 6178324"/>
              <a:gd name="connsiteX8" fmla="*/ 4422579 w 12322347"/>
              <a:gd name="connsiteY8" fmla="*/ 5855502 h 6178324"/>
              <a:gd name="connsiteX9" fmla="*/ 5393880 w 12322347"/>
              <a:gd name="connsiteY9" fmla="*/ 5871365 h 6178324"/>
              <a:gd name="connsiteX10" fmla="*/ 5877638 w 12322347"/>
              <a:gd name="connsiteY10" fmla="*/ 6178324 h 6178324"/>
              <a:gd name="connsiteX11" fmla="*/ 6150141 w 12322347"/>
              <a:gd name="connsiteY11" fmla="*/ 5855596 h 6178324"/>
              <a:gd name="connsiteX12" fmla="*/ 9277333 w 12322347"/>
              <a:gd name="connsiteY12" fmla="*/ 5858811 h 6178324"/>
              <a:gd name="connsiteX13" fmla="*/ 10186235 w 12322347"/>
              <a:gd name="connsiteY13" fmla="*/ 5861686 h 6178324"/>
              <a:gd name="connsiteX14" fmla="*/ 11106174 w 12322347"/>
              <a:gd name="connsiteY14" fmla="*/ 5869553 h 6178324"/>
              <a:gd name="connsiteX15" fmla="*/ 12264257 w 12322347"/>
              <a:gd name="connsiteY15" fmla="*/ 5868507 h 6178324"/>
              <a:gd name="connsiteX16" fmla="*/ 12289901 w 12322347"/>
              <a:gd name="connsiteY16" fmla="*/ 2579572 h 6178324"/>
              <a:gd name="connsiteX17" fmla="*/ 12280552 w 12322347"/>
              <a:gd name="connsiteY17" fmla="*/ 123500 h 6178324"/>
              <a:gd name="connsiteX18" fmla="*/ 11824723 w 12322347"/>
              <a:gd name="connsiteY18" fmla="*/ 76222 h 6178324"/>
              <a:gd name="connsiteX19" fmla="*/ 10295765 w 12322347"/>
              <a:gd name="connsiteY19" fmla="*/ 69666 h 6178324"/>
              <a:gd name="connsiteX20" fmla="*/ 7778825 w 12322347"/>
              <a:gd name="connsiteY20" fmla="*/ 23097 h 6178324"/>
              <a:gd name="connsiteX21" fmla="*/ 2261685 w 12322347"/>
              <a:gd name="connsiteY21" fmla="*/ 0 h 617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322347" h="6178324">
                <a:moveTo>
                  <a:pt x="2261685" y="0"/>
                </a:moveTo>
                <a:lnTo>
                  <a:pt x="816102" y="10760"/>
                </a:lnTo>
                <a:lnTo>
                  <a:pt x="36453" y="15958"/>
                </a:lnTo>
                <a:cubicBezTo>
                  <a:pt x="36453" y="288746"/>
                  <a:pt x="36452" y="519284"/>
                  <a:pt x="36452" y="792072"/>
                </a:cubicBezTo>
                <a:cubicBezTo>
                  <a:pt x="37984" y="902748"/>
                  <a:pt x="15764" y="1206214"/>
                  <a:pt x="17296" y="1316890"/>
                </a:cubicBezTo>
                <a:cubicBezTo>
                  <a:pt x="32125" y="1752674"/>
                  <a:pt x="-17301" y="3705146"/>
                  <a:pt x="6679" y="4542095"/>
                </a:cubicBezTo>
                <a:cubicBezTo>
                  <a:pt x="46570" y="5225386"/>
                  <a:pt x="-51265" y="5916324"/>
                  <a:pt x="89932" y="5888744"/>
                </a:cubicBezTo>
                <a:cubicBezTo>
                  <a:pt x="879263" y="5903089"/>
                  <a:pt x="1955065" y="5877266"/>
                  <a:pt x="2768884" y="5876885"/>
                </a:cubicBezTo>
                <a:lnTo>
                  <a:pt x="4422579" y="5855502"/>
                </a:lnTo>
                <a:lnTo>
                  <a:pt x="5393880" y="5871365"/>
                </a:lnTo>
                <a:cubicBezTo>
                  <a:pt x="5664089" y="6007274"/>
                  <a:pt x="5704024" y="6065354"/>
                  <a:pt x="5877638" y="6178324"/>
                </a:cubicBezTo>
                <a:cubicBezTo>
                  <a:pt x="5954187" y="6102215"/>
                  <a:pt x="6049125" y="5996227"/>
                  <a:pt x="6150141" y="5855596"/>
                </a:cubicBezTo>
                <a:cubicBezTo>
                  <a:pt x="6237130" y="5852856"/>
                  <a:pt x="8916121" y="5865726"/>
                  <a:pt x="9277333" y="5858811"/>
                </a:cubicBezTo>
                <a:lnTo>
                  <a:pt x="10186235" y="5861686"/>
                </a:lnTo>
                <a:lnTo>
                  <a:pt x="11106174" y="5869553"/>
                </a:lnTo>
                <a:cubicBezTo>
                  <a:pt x="11463837" y="5859889"/>
                  <a:pt x="12237326" y="5912260"/>
                  <a:pt x="12264257" y="5868507"/>
                </a:cubicBezTo>
                <a:cubicBezTo>
                  <a:pt x="12302700" y="5662987"/>
                  <a:pt x="12276557" y="4364873"/>
                  <a:pt x="12289901" y="2579572"/>
                </a:cubicBezTo>
                <a:cubicBezTo>
                  <a:pt x="12338262" y="1498304"/>
                  <a:pt x="12330432" y="544926"/>
                  <a:pt x="12280552" y="123500"/>
                </a:cubicBezTo>
                <a:cubicBezTo>
                  <a:pt x="12274271" y="70433"/>
                  <a:pt x="12155521" y="85194"/>
                  <a:pt x="11824723" y="76222"/>
                </a:cubicBezTo>
                <a:cubicBezTo>
                  <a:pt x="11493925" y="67250"/>
                  <a:pt x="10495817" y="85585"/>
                  <a:pt x="10295765" y="69666"/>
                </a:cubicBezTo>
                <a:lnTo>
                  <a:pt x="7778825" y="23097"/>
                </a:lnTo>
                <a:lnTo>
                  <a:pt x="2261685" y="0"/>
                </a:lnTo>
                <a:close/>
              </a:path>
            </a:pathLst>
          </a:custGeom>
          <a:noFill/>
          <a:ln w="19050" cap="flat">
            <a:solidFill>
              <a:schemeClr val="tx1"/>
            </a:solidFill>
            <a:prstDash val="solid"/>
            <a:miter/>
          </a:ln>
        </p:spPr>
        <p:txBody>
          <a:bodyPr wrap="square" rtlCol="0" anchor="ctr">
            <a:noAutofit/>
          </a:bodyPr>
          <a:lstStyle/>
          <a:p>
            <a:endParaRPr lang="en-US"/>
          </a:p>
        </p:txBody>
      </p:sp>
      <p:sp>
        <p:nvSpPr>
          <p:cNvPr id="5" name="Slide Number Placeholder 4">
            <a:extLst>
              <a:ext uri="{FF2B5EF4-FFF2-40B4-BE49-F238E27FC236}">
                <a16:creationId xmlns:a16="http://schemas.microsoft.com/office/drawing/2014/main" id="{80FC42BE-9F7A-2576-AEE2-93F02C287FED}"/>
              </a:ext>
            </a:extLst>
          </p:cNvPr>
          <p:cNvSpPr>
            <a:spLocks noGrp="1"/>
          </p:cNvSpPr>
          <p:nvPr>
            <p:ph type="sldNum" sz="quarter" idx="12"/>
          </p:nvPr>
        </p:nvSpPr>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9599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2E2C-3A49-47E6-B71E-6E4EE0765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373F4-DF3E-057C-E971-AE171897F1B5}"/>
              </a:ext>
            </a:extLst>
          </p:cNvPr>
          <p:cNvSpPr>
            <a:spLocks noGrp="1"/>
          </p:cNvSpPr>
          <p:nvPr>
            <p:ph type="title"/>
          </p:nvPr>
        </p:nvSpPr>
        <p:spPr>
          <a:xfrm>
            <a:off x="1051411" y="416086"/>
            <a:ext cx="10333075" cy="645695"/>
          </a:xfrm>
        </p:spPr>
        <p:txBody>
          <a:bodyPr>
            <a:normAutofit fontScale="90000"/>
          </a:bodyPr>
          <a:lstStyle/>
          <a:p>
            <a:pPr algn="ctr"/>
            <a:r>
              <a:rPr lang="en-US" sz="4000" dirty="0">
                <a:latin typeface="Calibri" panose="020F0502020204030204" pitchFamily="34" charset="0"/>
                <a:cs typeface="Calibri" panose="020F0502020204030204" pitchFamily="34" charset="0"/>
              </a:rPr>
              <a:t>Roadmap</a:t>
            </a:r>
          </a:p>
        </p:txBody>
      </p:sp>
      <p:sp>
        <p:nvSpPr>
          <p:cNvPr id="142" name="Slide Number Placeholder 141">
            <a:extLst>
              <a:ext uri="{FF2B5EF4-FFF2-40B4-BE49-F238E27FC236}">
                <a16:creationId xmlns:a16="http://schemas.microsoft.com/office/drawing/2014/main" id="{85448A7A-F9F7-8C80-9EAD-24D6264FA2E4}"/>
              </a:ext>
            </a:extLst>
          </p:cNvPr>
          <p:cNvSpPr>
            <a:spLocks noGrp="1"/>
          </p:cNvSpPr>
          <p:nvPr>
            <p:ph type="sldNum" sz="quarter" idx="12"/>
          </p:nvPr>
        </p:nvSpPr>
        <p:spPr>
          <a:xfrm>
            <a:off x="11074400" y="6424590"/>
            <a:ext cx="649765"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2</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graphicFrame>
        <p:nvGraphicFramePr>
          <p:cNvPr id="3" name="Diagram 2">
            <a:extLst>
              <a:ext uri="{FF2B5EF4-FFF2-40B4-BE49-F238E27FC236}">
                <a16:creationId xmlns:a16="http://schemas.microsoft.com/office/drawing/2014/main" id="{7B6BF443-1D69-208E-4D6D-A5A371161377}"/>
              </a:ext>
            </a:extLst>
          </p:cNvPr>
          <p:cNvGraphicFramePr/>
          <p:nvPr>
            <p:extLst>
              <p:ext uri="{D42A27DB-BD31-4B8C-83A1-F6EECF244321}">
                <p14:modId xmlns:p14="http://schemas.microsoft.com/office/powerpoint/2010/main" val="4210082609"/>
              </p:ext>
            </p:extLst>
          </p:nvPr>
        </p:nvGraphicFramePr>
        <p:xfrm>
          <a:off x="807514" y="845296"/>
          <a:ext cx="10515806" cy="51674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0772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95991-A59E-93E1-F821-D09AD0E1A413}"/>
              </a:ext>
            </a:extLst>
          </p:cNvPr>
          <p:cNvSpPr>
            <a:spLocks noGrp="1"/>
          </p:cNvSpPr>
          <p:nvPr>
            <p:ph type="title"/>
          </p:nvPr>
        </p:nvSpPr>
        <p:spPr>
          <a:xfrm>
            <a:off x="480361" y="418764"/>
            <a:ext cx="11614014" cy="733009"/>
          </a:xfrm>
        </p:spPr>
        <p:txBody>
          <a:bodyPr>
            <a:noAutofit/>
          </a:bodyPr>
          <a:lstStyle/>
          <a:p>
            <a:r>
              <a:rPr lang="en-US" sz="4000" dirty="0">
                <a:latin typeface="Calibri" panose="020F0502020204030204" pitchFamily="34" charset="0"/>
                <a:cs typeface="Calibri" panose="020F0502020204030204" pitchFamily="34" charset="0"/>
              </a:rPr>
              <a:t>What is a Clarification Request (CR)?</a:t>
            </a:r>
          </a:p>
        </p:txBody>
      </p:sp>
      <p:sp>
        <p:nvSpPr>
          <p:cNvPr id="22" name="Slide Number Placeholder 21">
            <a:extLst>
              <a:ext uri="{FF2B5EF4-FFF2-40B4-BE49-F238E27FC236}">
                <a16:creationId xmlns:a16="http://schemas.microsoft.com/office/drawing/2014/main" id="{749C74E9-39BD-414F-C312-BF0A71219733}"/>
              </a:ext>
            </a:extLst>
          </p:cNvPr>
          <p:cNvSpPr>
            <a:spLocks noGrp="1"/>
          </p:cNvSpPr>
          <p:nvPr>
            <p:ph type="sldNum" sz="quarter" idx="12"/>
          </p:nvPr>
        </p:nvSpPr>
        <p:spPr>
          <a:xfrm>
            <a:off x="11200263" y="6410942"/>
            <a:ext cx="523902"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3</a:t>
            </a:fld>
            <a:endParaRPr lang="en-US" sz="3200">
              <a:solidFill>
                <a:schemeClr val="accent1">
                  <a:lumMod val="75000"/>
                </a:schemeClr>
              </a:solidFill>
              <a:latin typeface="Calibri" panose="020F0502020204030204" pitchFamily="34" charset="0"/>
              <a:cs typeface="Calibri" panose="020F0502020204030204" pitchFamily="34" charset="0"/>
            </a:endParaRPr>
          </a:p>
        </p:txBody>
      </p:sp>
      <p:sp>
        <p:nvSpPr>
          <p:cNvPr id="6" name="Rounded Rectangle 5">
            <a:extLst>
              <a:ext uri="{FF2B5EF4-FFF2-40B4-BE49-F238E27FC236}">
                <a16:creationId xmlns:a16="http://schemas.microsoft.com/office/drawing/2014/main" id="{362489D8-1723-D20B-B198-2E0D095025B8}"/>
              </a:ext>
            </a:extLst>
          </p:cNvPr>
          <p:cNvSpPr/>
          <p:nvPr/>
        </p:nvSpPr>
        <p:spPr>
          <a:xfrm>
            <a:off x="7052153" y="1620378"/>
            <a:ext cx="4672012" cy="2919556"/>
          </a:xfrm>
          <a:prstGeom prst="roundRec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600" dirty="0">
                <a:solidFill>
                  <a:schemeClr val="bg2">
                    <a:lumMod val="25000"/>
                  </a:schemeClr>
                </a:solidFill>
                <a:latin typeface="Calibri Light" panose="020F0302020204030204" pitchFamily="34" charset="0"/>
                <a:cs typeface="Calibri Light" panose="020F0302020204030204" pitchFamily="34" charset="0"/>
              </a:rPr>
              <a:t>CRs help collaborators:</a:t>
            </a:r>
          </a:p>
          <a:p>
            <a:pPr marL="457200" indent="-457200">
              <a:buFont typeface="Arial" panose="020B0604020202020204" pitchFamily="34" charset="0"/>
              <a:buChar char="•"/>
            </a:pPr>
            <a:r>
              <a:rPr lang="en-US" sz="2600" dirty="0">
                <a:solidFill>
                  <a:schemeClr val="bg2">
                    <a:lumMod val="25000"/>
                  </a:schemeClr>
                </a:solidFill>
                <a:latin typeface="Calibri Light" panose="020F0302020204030204" pitchFamily="34" charset="0"/>
                <a:cs typeface="Calibri Light" panose="020F0302020204030204" pitchFamily="34" charset="0"/>
              </a:rPr>
              <a:t>repair misunderstandings </a:t>
            </a:r>
          </a:p>
          <a:p>
            <a:pPr marL="457200" indent="-457200">
              <a:buFont typeface="Arial" panose="020B0604020202020204" pitchFamily="34" charset="0"/>
              <a:buChar char="•"/>
            </a:pPr>
            <a:r>
              <a:rPr lang="en-US" sz="2600" dirty="0">
                <a:solidFill>
                  <a:schemeClr val="bg2">
                    <a:lumMod val="25000"/>
                  </a:schemeClr>
                </a:solidFill>
                <a:latin typeface="Calibri Light" panose="020F0302020204030204" pitchFamily="34" charset="0"/>
                <a:cs typeface="Calibri Light" panose="020F0302020204030204" pitchFamily="34" charset="0"/>
              </a:rPr>
              <a:t>resolve uncertainty </a:t>
            </a:r>
          </a:p>
          <a:p>
            <a:pPr marL="457200" indent="-457200">
              <a:buFont typeface="Arial" panose="020B0604020202020204" pitchFamily="34" charset="0"/>
              <a:buChar char="•"/>
            </a:pPr>
            <a:r>
              <a:rPr lang="en-US" sz="2600" dirty="0">
                <a:solidFill>
                  <a:schemeClr val="bg2">
                    <a:lumMod val="25000"/>
                  </a:schemeClr>
                </a:solidFill>
                <a:latin typeface="Calibri Light" panose="020F0302020204030204" pitchFamily="34" charset="0"/>
                <a:cs typeface="Calibri Light" panose="020F0302020204030204" pitchFamily="34" charset="0"/>
              </a:rPr>
              <a:t>maintain common ground </a:t>
            </a:r>
          </a:p>
          <a:p>
            <a:pPr marL="457200" indent="-457200">
              <a:buFont typeface="Arial" panose="020B0604020202020204" pitchFamily="34" charset="0"/>
              <a:buChar char="•"/>
            </a:pPr>
            <a:r>
              <a:rPr lang="en-US" sz="2600" dirty="0">
                <a:solidFill>
                  <a:schemeClr val="bg2">
                    <a:lumMod val="25000"/>
                  </a:schemeClr>
                </a:solidFill>
                <a:latin typeface="Calibri Light" panose="020F0302020204030204" pitchFamily="34" charset="0"/>
                <a:cs typeface="Calibri Light" panose="020F0302020204030204" pitchFamily="34" charset="0"/>
              </a:rPr>
              <a:t>stay aligned during collaborative tasks</a:t>
            </a:r>
          </a:p>
          <a:p>
            <a:pPr algn="ctr"/>
            <a:endParaRPr lang="en-US" dirty="0"/>
          </a:p>
        </p:txBody>
      </p:sp>
      <p:pic>
        <p:nvPicPr>
          <p:cNvPr id="19" name="Picture 18">
            <a:extLst>
              <a:ext uri="{FF2B5EF4-FFF2-40B4-BE49-F238E27FC236}">
                <a16:creationId xmlns:a16="http://schemas.microsoft.com/office/drawing/2014/main" id="{406AC856-998F-438A-5DE5-A38B87EE8832}"/>
              </a:ext>
            </a:extLst>
          </p:cNvPr>
          <p:cNvPicPr>
            <a:picLocks noChangeAspect="1"/>
          </p:cNvPicPr>
          <p:nvPr/>
        </p:nvPicPr>
        <p:blipFill>
          <a:blip r:embed="rId3"/>
          <a:stretch>
            <a:fillRect/>
          </a:stretch>
        </p:blipFill>
        <p:spPr>
          <a:xfrm>
            <a:off x="480361" y="1519054"/>
            <a:ext cx="6432042" cy="2379772"/>
          </a:xfrm>
          <a:prstGeom prst="rect">
            <a:avLst/>
          </a:prstGeom>
        </p:spPr>
      </p:pic>
      <p:sp>
        <p:nvSpPr>
          <p:cNvPr id="24" name="TextBox 23">
            <a:extLst>
              <a:ext uri="{FF2B5EF4-FFF2-40B4-BE49-F238E27FC236}">
                <a16:creationId xmlns:a16="http://schemas.microsoft.com/office/drawing/2014/main" id="{2EDAA788-FEF7-3F0A-24F4-966325ED2E46}"/>
              </a:ext>
            </a:extLst>
          </p:cNvPr>
          <p:cNvSpPr txBox="1"/>
          <p:nvPr/>
        </p:nvSpPr>
        <p:spPr>
          <a:xfrm>
            <a:off x="1169923" y="4017334"/>
            <a:ext cx="4779940" cy="646331"/>
          </a:xfrm>
          <a:prstGeom prst="rect">
            <a:avLst/>
          </a:prstGeom>
          <a:solidFill>
            <a:schemeClr val="accent5">
              <a:lumMod val="20000"/>
              <a:lumOff val="80000"/>
            </a:schemeClr>
          </a:solidFill>
        </p:spPr>
        <p:txBody>
          <a:bodyPr wrap="square">
            <a:spAutoFit/>
          </a:bodyPr>
          <a:lstStyle/>
          <a:p>
            <a:pPr>
              <a:buNone/>
            </a:pPr>
            <a:r>
              <a:rPr lang="en-US" dirty="0">
                <a:latin typeface="Calibri" panose="020F0502020204030204" pitchFamily="34" charset="0"/>
                <a:cs typeface="Calibri" panose="020F0502020204030204" pitchFamily="34" charset="0"/>
              </a:rPr>
              <a:t>A CR is a follow-up turn that shows something in the prior dialogue still needs to be negotiated.</a:t>
            </a:r>
          </a:p>
        </p:txBody>
      </p:sp>
      <p:sp>
        <p:nvSpPr>
          <p:cNvPr id="27" name="Rounded Rectangle 26">
            <a:extLst>
              <a:ext uri="{FF2B5EF4-FFF2-40B4-BE49-F238E27FC236}">
                <a16:creationId xmlns:a16="http://schemas.microsoft.com/office/drawing/2014/main" id="{A64B10A1-701E-C907-0471-C4E3FBC4F525}"/>
              </a:ext>
            </a:extLst>
          </p:cNvPr>
          <p:cNvSpPr/>
          <p:nvPr/>
        </p:nvSpPr>
        <p:spPr>
          <a:xfrm>
            <a:off x="1357618" y="5298510"/>
            <a:ext cx="10366547" cy="901874"/>
          </a:xfrm>
          <a:prstGeom prst="roundRect">
            <a:avLst/>
          </a:prstGeom>
          <a:solidFill>
            <a:srgbClr val="FFC000">
              <a:alpha val="14000"/>
            </a:srgbClr>
          </a:solidFill>
          <a:ln>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600" dirty="0">
                <a:solidFill>
                  <a:schemeClr val="tx1"/>
                </a:solidFill>
                <a:latin typeface="Calibri" panose="020F0502020204030204" pitchFamily="34" charset="0"/>
                <a:cs typeface="Calibri" panose="020F0502020204030204" pitchFamily="34" charset="0"/>
              </a:rPr>
              <a:t>When CR signals missing in understanding </a:t>
            </a:r>
            <a:r>
              <a:rPr lang="en-US" sz="2600" dirty="0">
                <a:solidFill>
                  <a:schemeClr val="tx1"/>
                </a:solidFill>
                <a:latin typeface="Calibri" panose="020F0502020204030204" pitchFamily="34" charset="0"/>
                <a:cs typeface="Calibri" panose="020F0502020204030204" pitchFamily="34" charset="0"/>
                <a:sym typeface="Wingdings" pitchFamily="2" charset="2"/>
              </a:rPr>
              <a:t></a:t>
            </a:r>
            <a:r>
              <a:rPr lang="en-US" sz="2600" dirty="0">
                <a:solidFill>
                  <a:schemeClr val="tx1"/>
                </a:solidFill>
                <a:latin typeface="Calibri" panose="020F0502020204030204" pitchFamily="34" charset="0"/>
                <a:cs typeface="Calibri" panose="020F0502020204030204" pitchFamily="34" charset="0"/>
              </a:rPr>
              <a:t> </a:t>
            </a:r>
            <a:r>
              <a:rPr lang="en-US" sz="2600" u="sng" dirty="0">
                <a:solidFill>
                  <a:schemeClr val="accent5">
                    <a:lumMod val="75000"/>
                  </a:schemeClr>
                </a:solidFill>
                <a:latin typeface="Calibri" panose="020F0502020204030204" pitchFamily="34" charset="0"/>
                <a:cs typeface="Calibri" panose="020F0502020204030204" pitchFamily="34" charset="0"/>
              </a:rPr>
              <a:t>source of gap?</a:t>
            </a:r>
          </a:p>
        </p:txBody>
      </p:sp>
      <p:pic>
        <p:nvPicPr>
          <p:cNvPr id="29" name="Graphic 28" descr="Questions with solid fill">
            <a:extLst>
              <a:ext uri="{FF2B5EF4-FFF2-40B4-BE49-F238E27FC236}">
                <a16:creationId xmlns:a16="http://schemas.microsoft.com/office/drawing/2014/main" id="{DEF229EA-8C9E-F960-303B-8C48659936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361" y="5298510"/>
            <a:ext cx="914400" cy="914400"/>
          </a:xfrm>
          <a:prstGeom prst="rect">
            <a:avLst/>
          </a:prstGeom>
        </p:spPr>
      </p:pic>
    </p:spTree>
    <p:extLst>
      <p:ext uri="{BB962C8B-B14F-4D97-AF65-F5344CB8AC3E}">
        <p14:creationId xmlns:p14="http://schemas.microsoft.com/office/powerpoint/2010/main" val="218951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1FFEE-4288-A36D-5756-DE93DA566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1C996-A2AA-E31C-1AAC-34C2910EFD00}"/>
              </a:ext>
            </a:extLst>
          </p:cNvPr>
          <p:cNvSpPr>
            <a:spLocks noGrp="1"/>
          </p:cNvSpPr>
          <p:nvPr>
            <p:ph type="title"/>
          </p:nvPr>
        </p:nvSpPr>
        <p:spPr>
          <a:xfrm>
            <a:off x="3529954" y="406859"/>
            <a:ext cx="5877093" cy="861773"/>
          </a:xfrm>
        </p:spPr>
        <p:txBody>
          <a:bodyPr>
            <a:noAutofit/>
          </a:bodyPr>
          <a:lstStyle/>
          <a:p>
            <a:r>
              <a:rPr lang="en-US" sz="3200" dirty="0">
                <a:latin typeface="Calibri" panose="020F0502020204030204" pitchFamily="34" charset="0"/>
                <a:cs typeface="Calibri" panose="020F0502020204030204" pitchFamily="34" charset="0"/>
              </a:rPr>
              <a:t>Grounded Clarification</a:t>
            </a:r>
          </a:p>
        </p:txBody>
      </p:sp>
      <p:pic>
        <p:nvPicPr>
          <p:cNvPr id="7" name="Graphic 6" descr="Star with solid fill">
            <a:extLst>
              <a:ext uri="{FF2B5EF4-FFF2-40B4-BE49-F238E27FC236}">
                <a16:creationId xmlns:a16="http://schemas.microsoft.com/office/drawing/2014/main" id="{8E8D0422-0559-AA25-4020-0A830BD5E0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586" y="1347460"/>
            <a:ext cx="457200" cy="457200"/>
          </a:xfrm>
          <a:prstGeom prst="rect">
            <a:avLst/>
          </a:prstGeom>
        </p:spPr>
      </p:pic>
      <p:sp>
        <p:nvSpPr>
          <p:cNvPr id="22" name="Slide Number Placeholder 21">
            <a:extLst>
              <a:ext uri="{FF2B5EF4-FFF2-40B4-BE49-F238E27FC236}">
                <a16:creationId xmlns:a16="http://schemas.microsoft.com/office/drawing/2014/main" id="{681B1B43-7529-1835-8976-FF29A2E48733}"/>
              </a:ext>
            </a:extLst>
          </p:cNvPr>
          <p:cNvSpPr>
            <a:spLocks noGrp="1"/>
          </p:cNvSpPr>
          <p:nvPr>
            <p:ph type="sldNum" sz="quarter" idx="12"/>
          </p:nvPr>
        </p:nvSpPr>
        <p:spPr>
          <a:xfrm>
            <a:off x="11200263" y="6410942"/>
            <a:ext cx="523902"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4</a:t>
            </a:fld>
            <a:endParaRPr lang="en-US" sz="3200">
              <a:solidFill>
                <a:schemeClr val="accent1">
                  <a:lumMod val="75000"/>
                </a:schemeClr>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FEF93825-054D-2D9A-3129-3DF3D4DD2432}"/>
              </a:ext>
            </a:extLst>
          </p:cNvPr>
          <p:cNvSpPr txBox="1"/>
          <p:nvPr/>
        </p:nvSpPr>
        <p:spPr>
          <a:xfrm>
            <a:off x="1352811" y="1191340"/>
            <a:ext cx="10089889" cy="800219"/>
          </a:xfrm>
          <a:prstGeom prst="rect">
            <a:avLst/>
          </a:prstGeom>
          <a:solidFill>
            <a:schemeClr val="bg2"/>
          </a:solidFill>
        </p:spPr>
        <p:txBody>
          <a:bodyPr wrap="square">
            <a:spAutoFit/>
          </a:bodyPr>
          <a:lstStyle/>
          <a:p>
            <a:r>
              <a:rPr lang="en-US" sz="2200" u="sng" dirty="0">
                <a:solidFill>
                  <a:schemeClr val="accent5">
                    <a:lumMod val="75000"/>
                  </a:schemeClr>
                </a:solidFill>
                <a:latin typeface="Calibri" panose="020F0502020204030204" pitchFamily="34" charset="0"/>
                <a:cs typeface="Calibri" panose="020F0502020204030204" pitchFamily="34" charset="0"/>
              </a:rPr>
              <a:t>Gap in understanding </a:t>
            </a:r>
            <a:r>
              <a:rPr lang="en-US" sz="2200" dirty="0">
                <a:latin typeface="Calibri" panose="020F0502020204030204" pitchFamily="34" charset="0"/>
                <a:cs typeface="Calibri" panose="020F0502020204030204" pitchFamily="34" charset="0"/>
              </a:rPr>
              <a:t>concerns </a:t>
            </a:r>
            <a:r>
              <a:rPr lang="en-US" sz="2200" u="sng" dirty="0">
                <a:solidFill>
                  <a:schemeClr val="accent5">
                    <a:lumMod val="75000"/>
                  </a:schemeClr>
                </a:solidFill>
                <a:latin typeface="Calibri" panose="020F0502020204030204" pitchFamily="34" charset="0"/>
                <a:cs typeface="Calibri" panose="020F0502020204030204" pitchFamily="34" charset="0"/>
              </a:rPr>
              <a:t>modality </a:t>
            </a:r>
            <a:r>
              <a:rPr lang="en-US" sz="2200" i="1" u="sng" dirty="0">
                <a:solidFill>
                  <a:schemeClr val="accent5">
                    <a:lumMod val="75000"/>
                  </a:schemeClr>
                </a:solidFill>
                <a:latin typeface="Calibri" panose="020F0502020204030204" pitchFamily="34" charset="0"/>
                <a:cs typeface="Calibri" panose="020F0502020204030204" pitchFamily="34" charset="0"/>
              </a:rPr>
              <a:t>m</a:t>
            </a:r>
            <a:r>
              <a:rPr lang="en-US" sz="2200" dirty="0">
                <a:latin typeface="Calibri" panose="020F0502020204030204" pitchFamily="34" charset="0"/>
                <a:cs typeface="Calibri" panose="020F0502020204030204" pitchFamily="34" charset="0"/>
              </a:rPr>
              <a:t> through which listener is trying to understand prior utterance [</a:t>
            </a:r>
            <a:r>
              <a:rPr lang="en-US" sz="2400" dirty="0">
                <a:latin typeface="Calibri Light" panose="020F0302020204030204" pitchFamily="34" charset="0"/>
                <a:cs typeface="Calibri Light" panose="020F0302020204030204" pitchFamily="34" charset="0"/>
              </a:rPr>
              <a:t>Benotti &amp; Blackburn ‘21]</a:t>
            </a:r>
            <a:endParaRPr lang="en-US" sz="2400" dirty="0"/>
          </a:p>
        </p:txBody>
      </p:sp>
      <p:sp>
        <p:nvSpPr>
          <p:cNvPr id="19" name="TextBox 18">
            <a:extLst>
              <a:ext uri="{FF2B5EF4-FFF2-40B4-BE49-F238E27FC236}">
                <a16:creationId xmlns:a16="http://schemas.microsoft.com/office/drawing/2014/main" id="{6360D3A6-BD7A-C007-FA37-AE092DD35553}"/>
              </a:ext>
            </a:extLst>
          </p:cNvPr>
          <p:cNvSpPr txBox="1"/>
          <p:nvPr/>
        </p:nvSpPr>
        <p:spPr>
          <a:xfrm>
            <a:off x="1352811" y="2215213"/>
            <a:ext cx="10089889" cy="1107996"/>
          </a:xfrm>
          <a:prstGeom prst="rect">
            <a:avLst/>
          </a:prstGeom>
          <a:solidFill>
            <a:schemeClr val="accent3">
              <a:lumMod val="20000"/>
              <a:lumOff val="80000"/>
            </a:schemeClr>
          </a:solidFill>
        </p:spPr>
        <p:txBody>
          <a:bodyPr wrap="square">
            <a:spAutoFit/>
          </a:bodyPr>
          <a:lstStyle/>
          <a:p>
            <a:r>
              <a:rPr lang="en-US" sz="2200" dirty="0">
                <a:latin typeface="Calibri" panose="020F0502020204030204" pitchFamily="34" charset="0"/>
                <a:cs typeface="Calibri" panose="020F0502020204030204" pitchFamily="34" charset="0"/>
              </a:rPr>
              <a:t>Subsequent turn </a:t>
            </a:r>
            <a:r>
              <a:rPr lang="en-US" sz="2200" dirty="0">
                <a:latin typeface="Calibri" panose="020F0502020204030204" pitchFamily="34" charset="0"/>
                <a:cs typeface="Calibri" panose="020F0502020204030204" pitchFamily="34" charset="0"/>
                <a:sym typeface="Wingdings" pitchFamily="2" charset="2"/>
              </a:rPr>
              <a:t></a:t>
            </a:r>
            <a:r>
              <a:rPr lang="en-US" sz="2200" dirty="0">
                <a:latin typeface="Calibri" panose="020F0502020204030204" pitchFamily="34" charset="0"/>
                <a:cs typeface="Calibri" panose="020F0502020204030204" pitchFamily="34" charset="0"/>
              </a:rPr>
              <a:t> Clarification grounded in modality 𝑚</a:t>
            </a:r>
          </a:p>
          <a:p>
            <a:r>
              <a:rPr lang="en-US" sz="2200" b="1" u="sng" dirty="0">
                <a:solidFill>
                  <a:schemeClr val="bg2">
                    <a:lumMod val="25000"/>
                  </a:schemeClr>
                </a:solidFill>
                <a:latin typeface="Calibri" panose="020F0502020204030204" pitchFamily="34" charset="0"/>
                <a:cs typeface="Calibri" panose="020F0502020204030204" pitchFamily="34" charset="0"/>
              </a:rPr>
              <a:t>If it is not preceded by positive evidence of understanding the prior utterance in modality 𝑚.</a:t>
            </a:r>
          </a:p>
        </p:txBody>
      </p:sp>
      <p:sp>
        <p:nvSpPr>
          <p:cNvPr id="26" name="TextBox 25">
            <a:extLst>
              <a:ext uri="{FF2B5EF4-FFF2-40B4-BE49-F238E27FC236}">
                <a16:creationId xmlns:a16="http://schemas.microsoft.com/office/drawing/2014/main" id="{CF303767-7CFE-9BDE-AEF7-D42B44DEB5E7}"/>
              </a:ext>
            </a:extLst>
          </p:cNvPr>
          <p:cNvSpPr txBox="1"/>
          <p:nvPr/>
        </p:nvSpPr>
        <p:spPr>
          <a:xfrm>
            <a:off x="1352811" y="3463322"/>
            <a:ext cx="10089889" cy="1785104"/>
          </a:xfrm>
          <a:prstGeom prst="rect">
            <a:avLst/>
          </a:prstGeom>
          <a:solidFill>
            <a:schemeClr val="accent2">
              <a:lumMod val="20000"/>
              <a:lumOff val="80000"/>
            </a:schemeClr>
          </a:solidFill>
        </p:spPr>
        <p:txBody>
          <a:bodyPr wrap="square">
            <a:spAutoFit/>
          </a:bodyPr>
          <a:lstStyle/>
          <a:p>
            <a:r>
              <a:rPr lang="en-US" sz="2200" b="1" dirty="0">
                <a:latin typeface="Calibri" panose="020F0502020204030204" pitchFamily="34" charset="0"/>
                <a:cs typeface="Calibri" panose="020F0502020204030204" pitchFamily="34" charset="0"/>
              </a:rPr>
              <a:t>CR grounding modality ladder:</a:t>
            </a:r>
          </a:p>
          <a:p>
            <a:pPr marL="342900" indent="-342900">
              <a:buFont typeface="Arial" panose="020B0604020202020204" pitchFamily="34" charset="0"/>
              <a:buChar char="•"/>
            </a:pPr>
            <a:r>
              <a:rPr lang="en-US" sz="2200" dirty="0" err="1">
                <a:latin typeface="Calibri" panose="020F0502020204030204" pitchFamily="34" charset="0"/>
                <a:cs typeface="Calibri" panose="020F0502020204030204" pitchFamily="34" charset="0"/>
              </a:rPr>
              <a:t>Socioperception</a:t>
            </a:r>
            <a:r>
              <a:rPr lang="en-US" sz="2200" dirty="0">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Auditory</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Vision </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Kinesthetic action</a:t>
            </a:r>
          </a:p>
        </p:txBody>
      </p:sp>
      <p:sp>
        <p:nvSpPr>
          <p:cNvPr id="28" name="TextBox 27">
            <a:extLst>
              <a:ext uri="{FF2B5EF4-FFF2-40B4-BE49-F238E27FC236}">
                <a16:creationId xmlns:a16="http://schemas.microsoft.com/office/drawing/2014/main" id="{012C670B-A98A-4B47-08B2-BEE7929AD81E}"/>
              </a:ext>
            </a:extLst>
          </p:cNvPr>
          <p:cNvSpPr txBox="1"/>
          <p:nvPr/>
        </p:nvSpPr>
        <p:spPr>
          <a:xfrm>
            <a:off x="562106" y="5502858"/>
            <a:ext cx="11173020" cy="830997"/>
          </a:xfrm>
          <a:prstGeom prst="rect">
            <a:avLst/>
          </a:prstGeom>
          <a:solidFill>
            <a:srgbClr val="FFC000">
              <a:alpha val="14032"/>
            </a:srgbClr>
          </a:solidFill>
        </p:spPr>
        <p:txBody>
          <a:bodyPr wrap="square">
            <a:spAutoFit/>
          </a:bodyPr>
          <a:lstStyle/>
          <a:p>
            <a:pPr algn="ctr"/>
            <a:r>
              <a:rPr lang="en-US" sz="2400" dirty="0">
                <a:latin typeface="Calibri" panose="020F0502020204030204" pitchFamily="34" charset="0"/>
                <a:cs typeface="Calibri" panose="020F0502020204030204" pitchFamily="34" charset="0"/>
              </a:rPr>
              <a:t>           Their framework classifies CRs according to modality in which understanding has not yet been established.</a:t>
            </a:r>
          </a:p>
        </p:txBody>
      </p:sp>
      <p:pic>
        <p:nvPicPr>
          <p:cNvPr id="29" name="Graphic 28" descr="Lights On with solid fill">
            <a:extLst>
              <a:ext uri="{FF2B5EF4-FFF2-40B4-BE49-F238E27FC236}">
                <a16:creationId xmlns:a16="http://schemas.microsoft.com/office/drawing/2014/main" id="{91DFC4ED-4273-1A9C-3D80-1C664FE6CF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586" y="5502858"/>
            <a:ext cx="627880" cy="627880"/>
          </a:xfrm>
          <a:prstGeom prst="rect">
            <a:avLst/>
          </a:prstGeom>
        </p:spPr>
      </p:pic>
      <p:pic>
        <p:nvPicPr>
          <p:cNvPr id="30" name="Graphic 29" descr="Star with solid fill">
            <a:extLst>
              <a:ext uri="{FF2B5EF4-FFF2-40B4-BE49-F238E27FC236}">
                <a16:creationId xmlns:a16="http://schemas.microsoft.com/office/drawing/2014/main" id="{CE462E00-FC12-79EB-AEAE-A86C228165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586" y="2451838"/>
            <a:ext cx="457200" cy="457200"/>
          </a:xfrm>
          <a:prstGeom prst="rect">
            <a:avLst/>
          </a:prstGeom>
        </p:spPr>
      </p:pic>
      <p:pic>
        <p:nvPicPr>
          <p:cNvPr id="31" name="Graphic 30" descr="Star with solid fill">
            <a:extLst>
              <a:ext uri="{FF2B5EF4-FFF2-40B4-BE49-F238E27FC236}">
                <a16:creationId xmlns:a16="http://schemas.microsoft.com/office/drawing/2014/main" id="{330AB8D4-1A4B-5854-F2A7-4403825794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586" y="3527109"/>
            <a:ext cx="457200" cy="457200"/>
          </a:xfrm>
          <a:prstGeom prst="rect">
            <a:avLst/>
          </a:prstGeom>
        </p:spPr>
      </p:pic>
    </p:spTree>
    <p:extLst>
      <p:ext uri="{BB962C8B-B14F-4D97-AF65-F5344CB8AC3E}">
        <p14:creationId xmlns:p14="http://schemas.microsoft.com/office/powerpoint/2010/main" val="40878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6"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A53401-9163-B244-6DCB-498E73D1C201}"/>
              </a:ext>
            </a:extLst>
          </p:cNvPr>
          <p:cNvSpPr txBox="1"/>
          <p:nvPr/>
        </p:nvSpPr>
        <p:spPr>
          <a:xfrm>
            <a:off x="904084" y="1074616"/>
            <a:ext cx="11287916" cy="1569660"/>
          </a:xfrm>
          <a:prstGeom prst="rect">
            <a:avLst/>
          </a:prstGeom>
          <a:noFill/>
        </p:spPr>
        <p:txBody>
          <a:bodyPr wrap="square">
            <a:spAutoFit/>
          </a:bodyPr>
          <a:lstStyle/>
          <a:p>
            <a:r>
              <a:rPr lang="en-US" sz="2400" dirty="0">
                <a:latin typeface="Calibri" panose="020F0502020204030204" pitchFamily="34" charset="0"/>
                <a:cs typeface="Calibri" panose="020F0502020204030204" pitchFamily="34" charset="0"/>
              </a:rPr>
              <a:t>ClarVis builds on Benotti &amp; Blackburn’s view of CRs as </a:t>
            </a:r>
            <a:r>
              <a:rPr lang="en-US" sz="2400" dirty="0">
                <a:solidFill>
                  <a:schemeClr val="accent1">
                    <a:lumMod val="75000"/>
                  </a:schemeClr>
                </a:solidFill>
                <a:latin typeface="Calibri" panose="020F0502020204030204" pitchFamily="34" charset="0"/>
                <a:cs typeface="Calibri" panose="020F0502020204030204" pitchFamily="34" charset="0"/>
              </a:rPr>
              <a:t>real-world modality-grounded phenomenon </a:t>
            </a:r>
          </a:p>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studies this in collaborative data visualization dialogues. </a:t>
            </a:r>
          </a:p>
          <a:p>
            <a:pPr marL="342900" indent="-342900">
              <a:buFont typeface="Arial" panose="020B0604020202020204" pitchFamily="34" charset="0"/>
              <a:buChar char="•"/>
            </a:pPr>
            <a:r>
              <a:rPr lang="en-US" sz="2400" dirty="0">
                <a:solidFill>
                  <a:schemeClr val="accent1">
                    <a:lumMod val="75000"/>
                  </a:schemeClr>
                </a:solidFill>
                <a:latin typeface="Calibri" panose="020F0502020204030204" pitchFamily="34" charset="0"/>
                <a:cs typeface="Calibri" panose="020F0502020204030204" pitchFamily="34" charset="0"/>
              </a:rPr>
              <a:t>uses three grounding modalities from their scheme</a:t>
            </a:r>
          </a:p>
        </p:txBody>
      </p:sp>
      <p:pic>
        <p:nvPicPr>
          <p:cNvPr id="6" name="Graphic 5" descr="Eye with solid fill">
            <a:extLst>
              <a:ext uri="{FF2B5EF4-FFF2-40B4-BE49-F238E27FC236}">
                <a16:creationId xmlns:a16="http://schemas.microsoft.com/office/drawing/2014/main" id="{963494B6-1E3D-6858-EE35-7650468543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66688" y="2579675"/>
            <a:ext cx="914400" cy="914400"/>
          </a:xfrm>
          <a:prstGeom prst="rect">
            <a:avLst/>
          </a:prstGeom>
        </p:spPr>
      </p:pic>
      <p:pic>
        <p:nvPicPr>
          <p:cNvPr id="7" name="Graphic 6" descr="Ear with solid fill">
            <a:extLst>
              <a:ext uri="{FF2B5EF4-FFF2-40B4-BE49-F238E27FC236}">
                <a16:creationId xmlns:a16="http://schemas.microsoft.com/office/drawing/2014/main" id="{C7F55E9E-6E8A-83AC-512C-2F6892523C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6021" y="2644276"/>
            <a:ext cx="914400" cy="914400"/>
          </a:xfrm>
          <a:prstGeom prst="rect">
            <a:avLst/>
          </a:prstGeom>
        </p:spPr>
      </p:pic>
      <p:pic>
        <p:nvPicPr>
          <p:cNvPr id="8" name="Graphic 7" descr="Touchscreen with solid fill">
            <a:extLst>
              <a:ext uri="{FF2B5EF4-FFF2-40B4-BE49-F238E27FC236}">
                <a16:creationId xmlns:a16="http://schemas.microsoft.com/office/drawing/2014/main" id="{34DB2BDF-03D6-7D86-B7E3-DD7DA73C17E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14107" y="2488175"/>
            <a:ext cx="914400" cy="914400"/>
          </a:xfrm>
          <a:prstGeom prst="rect">
            <a:avLst/>
          </a:prstGeom>
        </p:spPr>
      </p:pic>
      <p:sp>
        <p:nvSpPr>
          <p:cNvPr id="9" name="TextBox 8">
            <a:extLst>
              <a:ext uri="{FF2B5EF4-FFF2-40B4-BE49-F238E27FC236}">
                <a16:creationId xmlns:a16="http://schemas.microsoft.com/office/drawing/2014/main" id="{DAC95030-073E-E01C-997B-AF1B46BF6ADF}"/>
              </a:ext>
            </a:extLst>
          </p:cNvPr>
          <p:cNvSpPr txBox="1"/>
          <p:nvPr/>
        </p:nvSpPr>
        <p:spPr>
          <a:xfrm>
            <a:off x="1115330" y="3545937"/>
            <a:ext cx="2773052" cy="1446550"/>
          </a:xfrm>
          <a:prstGeom prst="rect">
            <a:avLst/>
          </a:prstGeom>
          <a:noFill/>
        </p:spPr>
        <p:txBody>
          <a:bodyPr wrap="square" rtlCol="0">
            <a:spAutoFit/>
          </a:bodyPr>
          <a:lstStyle/>
          <a:p>
            <a:pPr algn="ctr"/>
            <a:r>
              <a:rPr lang="en-US" sz="2200" dirty="0">
                <a:solidFill>
                  <a:schemeClr val="accent2">
                    <a:lumMod val="75000"/>
                  </a:schemeClr>
                </a:solidFill>
                <a:latin typeface="Calibri" panose="020F0502020204030204" pitchFamily="34" charset="0"/>
                <a:cs typeface="Calibri" panose="020F0502020204030204" pitchFamily="34" charset="0"/>
              </a:rPr>
              <a:t>Auditory Modality</a:t>
            </a:r>
          </a:p>
          <a:p>
            <a:pPr algn="ctr"/>
            <a:r>
              <a:rPr lang="en-US" sz="2200" dirty="0">
                <a:latin typeface="Calibri" panose="020F0502020204030204" pitchFamily="34" charset="0"/>
                <a:cs typeface="Calibri" panose="020F0502020204030204" pitchFamily="34" charset="0"/>
              </a:rPr>
              <a:t>Lack of understanding in hearing or speech channel</a:t>
            </a:r>
          </a:p>
        </p:txBody>
      </p:sp>
      <p:sp>
        <p:nvSpPr>
          <p:cNvPr id="10" name="TextBox 9">
            <a:extLst>
              <a:ext uri="{FF2B5EF4-FFF2-40B4-BE49-F238E27FC236}">
                <a16:creationId xmlns:a16="http://schemas.microsoft.com/office/drawing/2014/main" id="{03F99C34-E8A1-80EC-F72E-874571518A6F}"/>
              </a:ext>
            </a:extLst>
          </p:cNvPr>
          <p:cNvSpPr txBox="1"/>
          <p:nvPr/>
        </p:nvSpPr>
        <p:spPr>
          <a:xfrm>
            <a:off x="4272083" y="3545937"/>
            <a:ext cx="3020519" cy="1446550"/>
          </a:xfrm>
          <a:prstGeom prst="rect">
            <a:avLst/>
          </a:prstGeom>
          <a:noFill/>
        </p:spPr>
        <p:txBody>
          <a:bodyPr wrap="square" rtlCol="0">
            <a:spAutoFit/>
          </a:bodyPr>
          <a:lstStyle/>
          <a:p>
            <a:pPr algn="ctr"/>
            <a:r>
              <a:rPr lang="en-US" sz="2200" dirty="0">
                <a:solidFill>
                  <a:schemeClr val="accent6">
                    <a:lumMod val="75000"/>
                  </a:schemeClr>
                </a:solidFill>
                <a:latin typeface="Calibri" panose="020F0502020204030204" pitchFamily="34" charset="0"/>
                <a:cs typeface="Calibri" panose="020F0502020204030204" pitchFamily="34" charset="0"/>
              </a:rPr>
              <a:t>Visual Modality</a:t>
            </a:r>
          </a:p>
          <a:p>
            <a:pPr algn="ctr"/>
            <a:r>
              <a:rPr lang="en-US" sz="2200" dirty="0">
                <a:latin typeface="Calibri" panose="020F0502020204030204" pitchFamily="34" charset="0"/>
                <a:cs typeface="Calibri" panose="020F0502020204030204" pitchFamily="34" charset="0"/>
              </a:rPr>
              <a:t>Lack of understanding in what can be seen in the physical environment </a:t>
            </a:r>
          </a:p>
        </p:txBody>
      </p:sp>
      <p:sp>
        <p:nvSpPr>
          <p:cNvPr id="11" name="TextBox 10">
            <a:extLst>
              <a:ext uri="{FF2B5EF4-FFF2-40B4-BE49-F238E27FC236}">
                <a16:creationId xmlns:a16="http://schemas.microsoft.com/office/drawing/2014/main" id="{A7AC2121-BC8E-1A69-619F-FE6E6444F61F}"/>
              </a:ext>
            </a:extLst>
          </p:cNvPr>
          <p:cNvSpPr txBox="1"/>
          <p:nvPr/>
        </p:nvSpPr>
        <p:spPr>
          <a:xfrm>
            <a:off x="7559394" y="3443971"/>
            <a:ext cx="3834243" cy="1785104"/>
          </a:xfrm>
          <a:prstGeom prst="rect">
            <a:avLst/>
          </a:prstGeom>
          <a:noFill/>
        </p:spPr>
        <p:txBody>
          <a:bodyPr wrap="square" rtlCol="0">
            <a:spAutoFit/>
          </a:bodyPr>
          <a:lstStyle/>
          <a:p>
            <a:pPr algn="ctr"/>
            <a:r>
              <a:rPr lang="en-US" sz="2200" dirty="0">
                <a:solidFill>
                  <a:schemeClr val="accent4">
                    <a:lumMod val="75000"/>
                  </a:schemeClr>
                </a:solidFill>
                <a:latin typeface="Calibri" panose="020F0502020204030204" pitchFamily="34" charset="0"/>
                <a:cs typeface="Calibri" panose="020F0502020204030204" pitchFamily="34" charset="0"/>
              </a:rPr>
              <a:t>Kinesthetic Modality</a:t>
            </a:r>
          </a:p>
          <a:p>
            <a:pPr algn="ctr"/>
            <a:r>
              <a:rPr lang="en-US" sz="2200" dirty="0">
                <a:latin typeface="Calibri" panose="020F0502020204030204" pitchFamily="34" charset="0"/>
                <a:cs typeface="Calibri" panose="020F0502020204030204" pitchFamily="34" charset="0"/>
              </a:rPr>
              <a:t>Lack of understanding concerning action, operation, system capability, or interaction flow</a:t>
            </a:r>
          </a:p>
        </p:txBody>
      </p:sp>
      <p:sp>
        <p:nvSpPr>
          <p:cNvPr id="14" name="Title 1">
            <a:extLst>
              <a:ext uri="{FF2B5EF4-FFF2-40B4-BE49-F238E27FC236}">
                <a16:creationId xmlns:a16="http://schemas.microsoft.com/office/drawing/2014/main" id="{8EF995D6-8BA3-CCE6-AB4B-23A72A533FF7}"/>
              </a:ext>
            </a:extLst>
          </p:cNvPr>
          <p:cNvSpPr>
            <a:spLocks noGrp="1"/>
          </p:cNvSpPr>
          <p:nvPr>
            <p:ph type="title"/>
          </p:nvPr>
        </p:nvSpPr>
        <p:spPr>
          <a:xfrm>
            <a:off x="2830882" y="406859"/>
            <a:ext cx="7503091" cy="667757"/>
          </a:xfrm>
        </p:spPr>
        <p:txBody>
          <a:bodyPr>
            <a:noAutofit/>
          </a:bodyPr>
          <a:lstStyle/>
          <a:p>
            <a:r>
              <a:rPr lang="en-US" sz="3200" dirty="0">
                <a:latin typeface="Calibri" panose="020F0502020204030204" pitchFamily="34" charset="0"/>
                <a:cs typeface="Calibri" panose="020F0502020204030204" pitchFamily="34" charset="0"/>
              </a:rPr>
              <a:t>Grounding Modalities and ClarVis</a:t>
            </a:r>
          </a:p>
        </p:txBody>
      </p:sp>
      <p:sp>
        <p:nvSpPr>
          <p:cNvPr id="15" name="Slide Number Placeholder 21">
            <a:extLst>
              <a:ext uri="{FF2B5EF4-FFF2-40B4-BE49-F238E27FC236}">
                <a16:creationId xmlns:a16="http://schemas.microsoft.com/office/drawing/2014/main" id="{9E0F9E26-319D-A765-1FCF-C5BF1C1C6133}"/>
              </a:ext>
            </a:extLst>
          </p:cNvPr>
          <p:cNvSpPr txBox="1">
            <a:spLocks/>
          </p:cNvSpPr>
          <p:nvPr/>
        </p:nvSpPr>
        <p:spPr>
          <a:xfrm>
            <a:off x="11402870" y="6385795"/>
            <a:ext cx="523902"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C7FAD9F-AEE9-406E-B720-57D2B9DB2816}" type="slidenum">
              <a:rPr lang="en-US" sz="3200" smtClean="0">
                <a:solidFill>
                  <a:schemeClr val="accent1">
                    <a:lumMod val="75000"/>
                  </a:schemeClr>
                </a:solidFill>
                <a:latin typeface="Calibri" panose="020F0502020204030204" pitchFamily="34" charset="0"/>
                <a:cs typeface="Calibri" panose="020F0502020204030204" pitchFamily="34" charset="0"/>
              </a:rPr>
              <a:pPr/>
              <a:t>5</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18" name="Rounded Rectangle 17">
            <a:extLst>
              <a:ext uri="{FF2B5EF4-FFF2-40B4-BE49-F238E27FC236}">
                <a16:creationId xmlns:a16="http://schemas.microsoft.com/office/drawing/2014/main" id="{3D44ABF0-5EFE-05E6-B5DE-3B5B39BEC1A5}"/>
              </a:ext>
            </a:extLst>
          </p:cNvPr>
          <p:cNvSpPr/>
          <p:nvPr/>
        </p:nvSpPr>
        <p:spPr>
          <a:xfrm>
            <a:off x="1468352" y="5278948"/>
            <a:ext cx="9540026" cy="901874"/>
          </a:xfrm>
          <a:prstGeom prst="roundRect">
            <a:avLst/>
          </a:prstGeom>
          <a:solidFill>
            <a:srgbClr val="FFC000">
              <a:alpha val="14000"/>
            </a:srgbClr>
          </a:solidFill>
          <a:ln>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600" dirty="0">
                <a:solidFill>
                  <a:schemeClr val="tx1"/>
                </a:solidFill>
                <a:latin typeface="Calibri" panose="020F0502020204030204" pitchFamily="34" charset="0"/>
                <a:cs typeface="Calibri" panose="020F0502020204030204" pitchFamily="34" charset="0"/>
              </a:rPr>
              <a:t>But where do these collaborative visualization dialogues come from?</a:t>
            </a:r>
          </a:p>
        </p:txBody>
      </p:sp>
      <p:pic>
        <p:nvPicPr>
          <p:cNvPr id="19" name="Graphic 18" descr="Questions with solid fill">
            <a:extLst>
              <a:ext uri="{FF2B5EF4-FFF2-40B4-BE49-F238E27FC236}">
                <a16:creationId xmlns:a16="http://schemas.microsoft.com/office/drawing/2014/main" id="{BC347CC8-5248-980D-EF9E-9AD3F259720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0361" y="5298510"/>
            <a:ext cx="914400" cy="914400"/>
          </a:xfrm>
          <a:prstGeom prst="rect">
            <a:avLst/>
          </a:prstGeom>
        </p:spPr>
      </p:pic>
    </p:spTree>
    <p:extLst>
      <p:ext uri="{BB962C8B-B14F-4D97-AF65-F5344CB8AC3E}">
        <p14:creationId xmlns:p14="http://schemas.microsoft.com/office/powerpoint/2010/main" val="326851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A7841-56C5-E840-B9C8-65C62B8EBFD0}"/>
              </a:ext>
            </a:extLst>
          </p:cNvPr>
          <p:cNvSpPr>
            <a:spLocks noGrp="1"/>
          </p:cNvSpPr>
          <p:nvPr>
            <p:ph type="sldNum" sz="quarter" idx="12"/>
          </p:nvPr>
        </p:nvSpPr>
        <p:spPr>
          <a:xfrm>
            <a:off x="11594769" y="6375842"/>
            <a:ext cx="523902"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6</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86E0A73A-96E1-8019-A60E-38719CDFFF8E}"/>
              </a:ext>
            </a:extLst>
          </p:cNvPr>
          <p:cNvSpPr>
            <a:spLocks noGrp="1"/>
          </p:cNvSpPr>
          <p:nvPr>
            <p:ph type="title"/>
          </p:nvPr>
        </p:nvSpPr>
        <p:spPr>
          <a:xfrm>
            <a:off x="427709" y="219353"/>
            <a:ext cx="11856720" cy="1417096"/>
          </a:xfrm>
        </p:spPr>
        <p:txBody>
          <a:bodyPr>
            <a:noAutofit/>
          </a:bodyPr>
          <a:lstStyle/>
          <a:p>
            <a:r>
              <a:rPr lang="en-US" sz="3200" dirty="0">
                <a:latin typeface="Calibri" panose="020F0502020204030204" pitchFamily="34" charset="0"/>
                <a:cs typeface="Calibri" panose="020F0502020204030204" pitchFamily="34" charset="0"/>
              </a:rPr>
              <a:t>      Origins of ClarVis: </a:t>
            </a:r>
            <a:r>
              <a:rPr lang="en-US" sz="3200" dirty="0">
                <a:latin typeface="Calibri Light" panose="020F0302020204030204" pitchFamily="34" charset="0"/>
                <a:cs typeface="Calibri Light" panose="020F0302020204030204" pitchFamily="34" charset="0"/>
              </a:rPr>
              <a:t>Source User Study [Bhattacharya et al. (2024)]</a:t>
            </a:r>
            <a:endParaRPr lang="en-US" sz="3200" dirty="0">
              <a:latin typeface="Calibri" panose="020F0502020204030204" pitchFamily="34" charset="0"/>
              <a:cs typeface="Calibri" panose="020F0502020204030204" pitchFamily="34" charset="0"/>
            </a:endParaRPr>
          </a:p>
        </p:txBody>
      </p:sp>
      <p:pic>
        <p:nvPicPr>
          <p:cNvPr id="6" name="Picture 5" descr="A person sitting in front of a large screen&#10;&#10;Description automatically generated">
            <a:extLst>
              <a:ext uri="{FF2B5EF4-FFF2-40B4-BE49-F238E27FC236}">
                <a16:creationId xmlns:a16="http://schemas.microsoft.com/office/drawing/2014/main" id="{1C8988C8-62BF-86D5-54AF-F8153DA48467}"/>
              </a:ext>
            </a:extLst>
          </p:cNvPr>
          <p:cNvPicPr>
            <a:picLocks noChangeAspect="1"/>
          </p:cNvPicPr>
          <p:nvPr/>
        </p:nvPicPr>
        <p:blipFill>
          <a:blip r:embed="rId3"/>
          <a:stretch>
            <a:fillRect/>
          </a:stretch>
        </p:blipFill>
        <p:spPr>
          <a:xfrm>
            <a:off x="6411656" y="1611307"/>
            <a:ext cx="5238700" cy="3150547"/>
          </a:xfrm>
          <a:prstGeom prst="rect">
            <a:avLst/>
          </a:prstGeom>
          <a:ln w="28575">
            <a:solidFill>
              <a:srgbClr val="7030A0"/>
            </a:solidFill>
          </a:ln>
        </p:spPr>
      </p:pic>
      <p:sp>
        <p:nvSpPr>
          <p:cNvPr id="8" name="TextBox 7">
            <a:extLst>
              <a:ext uri="{FF2B5EF4-FFF2-40B4-BE49-F238E27FC236}">
                <a16:creationId xmlns:a16="http://schemas.microsoft.com/office/drawing/2014/main" id="{2F4C2FB7-4F6A-1063-D64A-895A0697F28A}"/>
              </a:ext>
            </a:extLst>
          </p:cNvPr>
          <p:cNvSpPr txBox="1"/>
          <p:nvPr/>
        </p:nvSpPr>
        <p:spPr>
          <a:xfrm>
            <a:off x="450341" y="1611307"/>
            <a:ext cx="5668027" cy="1862048"/>
          </a:xfrm>
          <a:prstGeom prst="rect">
            <a:avLst/>
          </a:prstGeom>
          <a:solidFill>
            <a:srgbClr val="FFC000">
              <a:alpha val="14857"/>
            </a:srgbClr>
          </a:solidFill>
        </p:spPr>
        <p:txBody>
          <a:bodyPr wrap="square">
            <a:spAutoFit/>
          </a:bodyPr>
          <a:lstStyle/>
          <a:p>
            <a:pPr marL="342900" indent="-342900">
              <a:buFont typeface="Arial" panose="020B0604020202020204" pitchFamily="34" charset="0"/>
              <a:buChar char="•"/>
            </a:pPr>
            <a:r>
              <a:rPr lang="en-US" sz="2300" dirty="0">
                <a:solidFill>
                  <a:srgbClr val="7030A0"/>
                </a:solidFill>
                <a:latin typeface="Calibri" panose="020F0502020204030204" pitchFamily="34" charset="0"/>
                <a:cs typeface="Calibri" panose="020F0502020204030204" pitchFamily="34" charset="0"/>
              </a:rPr>
              <a:t>Real-time two-user collaborative Exploratory Data Analysis (EDA) session with conversational assistant. </a:t>
            </a:r>
          </a:p>
          <a:p>
            <a:pPr marL="342900" indent="-342900">
              <a:buFont typeface="Arial" panose="020B0604020202020204" pitchFamily="34" charset="0"/>
              <a:buChar char="•"/>
            </a:pPr>
            <a:r>
              <a:rPr lang="en-US" sz="2300" dirty="0">
                <a:solidFill>
                  <a:srgbClr val="7030A0"/>
                </a:solidFill>
                <a:latin typeface="Calibri" panose="020F0502020204030204" pitchFamily="34" charset="0"/>
                <a:cs typeface="Calibri" panose="020F0502020204030204" pitchFamily="34" charset="0"/>
              </a:rPr>
              <a:t>Unscripted</a:t>
            </a:r>
          </a:p>
          <a:p>
            <a:pPr marL="342900" indent="-342900">
              <a:buFont typeface="Arial" panose="020B0604020202020204" pitchFamily="34" charset="0"/>
              <a:buChar char="•"/>
            </a:pPr>
            <a:r>
              <a:rPr lang="en-US" sz="2300" dirty="0">
                <a:solidFill>
                  <a:srgbClr val="7030A0"/>
                </a:solidFill>
                <a:latin typeface="Calibri" panose="020F0502020204030204" pitchFamily="34" charset="0"/>
                <a:cs typeface="Calibri" panose="020F0502020204030204" pitchFamily="34" charset="0"/>
              </a:rPr>
              <a:t>Task-oriented dialogues </a:t>
            </a:r>
          </a:p>
        </p:txBody>
      </p:sp>
      <p:sp>
        <p:nvSpPr>
          <p:cNvPr id="10" name="TextBox 9">
            <a:extLst>
              <a:ext uri="{FF2B5EF4-FFF2-40B4-BE49-F238E27FC236}">
                <a16:creationId xmlns:a16="http://schemas.microsoft.com/office/drawing/2014/main" id="{EEDAF5E9-25B2-4625-1F23-90081783DC11}"/>
              </a:ext>
            </a:extLst>
          </p:cNvPr>
          <p:cNvSpPr txBox="1"/>
          <p:nvPr/>
        </p:nvSpPr>
        <p:spPr>
          <a:xfrm>
            <a:off x="3746500" y="6371635"/>
            <a:ext cx="7715714" cy="369332"/>
          </a:xfrm>
          <a:prstGeom prst="rect">
            <a:avLst/>
          </a:prstGeom>
          <a:noFill/>
        </p:spPr>
        <p:txBody>
          <a:bodyPr wrap="square">
            <a:spAutoFit/>
          </a:bodyPr>
          <a:lstStyle/>
          <a:p>
            <a:r>
              <a:rPr lang="en-US" dirty="0">
                <a:latin typeface="Calibri Light" panose="020F0302020204030204" pitchFamily="34" charset="0"/>
                <a:cs typeface="Calibri Light" panose="020F0302020204030204" pitchFamily="34" charset="0"/>
              </a:rPr>
              <a:t>Bhattacharya et al. (2024), Statistical Analysis and Data Mining. (CC-BY-NC 4.0)</a:t>
            </a:r>
          </a:p>
        </p:txBody>
      </p:sp>
      <p:sp>
        <p:nvSpPr>
          <p:cNvPr id="12" name="TextBox 11">
            <a:extLst>
              <a:ext uri="{FF2B5EF4-FFF2-40B4-BE49-F238E27FC236}">
                <a16:creationId xmlns:a16="http://schemas.microsoft.com/office/drawing/2014/main" id="{9D62A6CF-2A04-7E1F-C63D-27AA95EB9FEE}"/>
              </a:ext>
            </a:extLst>
          </p:cNvPr>
          <p:cNvSpPr txBox="1"/>
          <p:nvPr/>
        </p:nvSpPr>
        <p:spPr>
          <a:xfrm>
            <a:off x="6356069" y="5056810"/>
            <a:ext cx="5349874" cy="1015663"/>
          </a:xfrm>
          <a:prstGeom prst="rect">
            <a:avLst/>
          </a:prstGeom>
          <a:solidFill>
            <a:schemeClr val="bg2"/>
          </a:solidFill>
        </p:spPr>
        <p:txBody>
          <a:bodyPr wrap="square">
            <a:spAutoFit/>
          </a:bodyPr>
          <a:lstStyle/>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15 groups of 2 participants per session</a:t>
            </a:r>
          </a:p>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2 timed open ended EDA tasks</a:t>
            </a:r>
          </a:p>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29 dialogue transcripts, 6.3K+ user utterances.</a:t>
            </a:r>
          </a:p>
        </p:txBody>
      </p:sp>
      <p:pic>
        <p:nvPicPr>
          <p:cNvPr id="13" name="Graphic 12" descr="Star with solid fill">
            <a:extLst>
              <a:ext uri="{FF2B5EF4-FFF2-40B4-BE49-F238E27FC236}">
                <a16:creationId xmlns:a16="http://schemas.microsoft.com/office/drawing/2014/main" id="{99F05E1B-E213-1D89-AADC-894726B04D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8640" y="355845"/>
            <a:ext cx="634686" cy="634686"/>
          </a:xfrm>
          <a:prstGeom prst="rect">
            <a:avLst/>
          </a:prstGeom>
        </p:spPr>
      </p:pic>
      <p:sp>
        <p:nvSpPr>
          <p:cNvPr id="15" name="TextBox 14">
            <a:extLst>
              <a:ext uri="{FF2B5EF4-FFF2-40B4-BE49-F238E27FC236}">
                <a16:creationId xmlns:a16="http://schemas.microsoft.com/office/drawing/2014/main" id="{F53C1D71-0738-0A4C-35B8-44A57224DCC8}"/>
              </a:ext>
            </a:extLst>
          </p:cNvPr>
          <p:cNvSpPr txBox="1"/>
          <p:nvPr/>
        </p:nvSpPr>
        <p:spPr>
          <a:xfrm>
            <a:off x="450341" y="3681907"/>
            <a:ext cx="5668027" cy="2569934"/>
          </a:xfrm>
          <a:prstGeom prst="rect">
            <a:avLst/>
          </a:prstGeom>
          <a:solidFill>
            <a:srgbClr val="7030A0">
              <a:alpha val="14000"/>
            </a:srgbClr>
          </a:solidFill>
        </p:spPr>
        <p:txBody>
          <a:bodyPr wrap="square">
            <a:spAutoFit/>
          </a:bodyPr>
          <a:lstStyle/>
          <a:p>
            <a:pPr marL="342900" indent="-342900">
              <a:buFont typeface="Arial" panose="020B0604020202020204" pitchFamily="34" charset="0"/>
              <a:buChar char="•"/>
            </a:pPr>
            <a:r>
              <a:rPr lang="en-US" sz="2300" dirty="0">
                <a:latin typeface="Calibri" panose="020F0502020204030204" pitchFamily="34" charset="0"/>
                <a:cs typeface="Calibri" panose="020F0502020204030204" pitchFamily="34" charset="0"/>
              </a:rPr>
              <a:t>Pairs of users explored COVID-19 data together to complete open ended EDA tasks</a:t>
            </a:r>
          </a:p>
          <a:p>
            <a:pPr marL="342900" indent="-342900">
              <a:buFont typeface="Arial" panose="020B0604020202020204" pitchFamily="34" charset="0"/>
              <a:buChar char="•"/>
            </a:pPr>
            <a:r>
              <a:rPr lang="en-US" sz="2300" dirty="0">
                <a:latin typeface="Calibri" panose="020F0502020204030204" pitchFamily="34" charset="0"/>
                <a:cs typeface="Calibri" panose="020F0502020204030204" pitchFamily="34" charset="0"/>
              </a:rPr>
              <a:t>Conversational assistant generated data visualizations on large display. </a:t>
            </a:r>
          </a:p>
          <a:p>
            <a:pPr marL="342900" indent="-342900">
              <a:buFont typeface="Arial" panose="020B0604020202020204" pitchFamily="34" charset="0"/>
              <a:buChar char="•"/>
            </a:pPr>
            <a:r>
              <a:rPr lang="en-US" sz="2300" dirty="0">
                <a:latin typeface="Calibri" panose="020F0502020204030204" pitchFamily="34" charset="0"/>
                <a:cs typeface="Calibri" panose="020F0502020204030204" pitchFamily="34" charset="0"/>
              </a:rPr>
              <a:t>Visualizations generated: maps, heat maps, bar charts, and line charts. </a:t>
            </a:r>
          </a:p>
        </p:txBody>
      </p:sp>
    </p:spTree>
    <p:extLst>
      <p:ext uri="{BB962C8B-B14F-4D97-AF65-F5344CB8AC3E}">
        <p14:creationId xmlns:p14="http://schemas.microsoft.com/office/powerpoint/2010/main" val="119421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12" grpId="0" animBg="1"/>
      <p:bldP spid="15"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BC78C-2A8E-73CA-9D2C-8F7AF8F49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971FF-440A-C845-1737-A65D9F163928}"/>
              </a:ext>
            </a:extLst>
          </p:cNvPr>
          <p:cNvSpPr>
            <a:spLocks noGrp="1"/>
          </p:cNvSpPr>
          <p:nvPr>
            <p:ph type="title"/>
          </p:nvPr>
        </p:nvSpPr>
        <p:spPr>
          <a:xfrm>
            <a:off x="310228" y="416863"/>
            <a:ext cx="11856720" cy="497724"/>
          </a:xfrm>
        </p:spPr>
        <p:txBody>
          <a:bodyPr>
            <a:noAutofit/>
          </a:bodyPr>
          <a:lstStyle/>
          <a:p>
            <a:r>
              <a:rPr lang="en-US" sz="3800" dirty="0">
                <a:latin typeface="Calibri" panose="020F0502020204030204" pitchFamily="34" charset="0"/>
                <a:cs typeface="Calibri" panose="020F0502020204030204" pitchFamily="34" charset="0"/>
              </a:rPr>
              <a:t>What Does Grounding Modality Look Like in Dialogue?</a:t>
            </a:r>
          </a:p>
        </p:txBody>
      </p:sp>
      <p:sp>
        <p:nvSpPr>
          <p:cNvPr id="8" name="Rounded Rectangle 7">
            <a:extLst>
              <a:ext uri="{FF2B5EF4-FFF2-40B4-BE49-F238E27FC236}">
                <a16:creationId xmlns:a16="http://schemas.microsoft.com/office/drawing/2014/main" id="{2CA83713-EE33-90EB-0631-C986BF2BDE80}"/>
              </a:ext>
            </a:extLst>
          </p:cNvPr>
          <p:cNvSpPr/>
          <p:nvPr/>
        </p:nvSpPr>
        <p:spPr>
          <a:xfrm>
            <a:off x="653146" y="1164922"/>
            <a:ext cx="3601905" cy="5032678"/>
          </a:xfrm>
          <a:prstGeom prst="roundRect">
            <a:avLst/>
          </a:pr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Calibri" panose="020F0502020204030204" pitchFamily="34" charset="0"/>
              <a:cs typeface="Calibri" panose="020F0502020204030204" pitchFamily="34" charset="0"/>
            </a:endParaRPr>
          </a:p>
        </p:txBody>
      </p:sp>
      <p:sp>
        <p:nvSpPr>
          <p:cNvPr id="9" name="Rounded Rectangle 8">
            <a:extLst>
              <a:ext uri="{FF2B5EF4-FFF2-40B4-BE49-F238E27FC236}">
                <a16:creationId xmlns:a16="http://schemas.microsoft.com/office/drawing/2014/main" id="{A24CAA6B-2478-789B-C156-368F963F5006}"/>
              </a:ext>
            </a:extLst>
          </p:cNvPr>
          <p:cNvSpPr/>
          <p:nvPr/>
        </p:nvSpPr>
        <p:spPr>
          <a:xfrm>
            <a:off x="4378421" y="1164922"/>
            <a:ext cx="3600643" cy="5032677"/>
          </a:xfrm>
          <a:prstGeom prst="round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Calibri" panose="020F0502020204030204" pitchFamily="34" charset="0"/>
              <a:cs typeface="Calibri" panose="020F0502020204030204" pitchFamily="34" charset="0"/>
            </a:endParaRPr>
          </a:p>
        </p:txBody>
      </p:sp>
      <p:sp>
        <p:nvSpPr>
          <p:cNvPr id="10" name="Rounded Rectangle 9">
            <a:extLst>
              <a:ext uri="{FF2B5EF4-FFF2-40B4-BE49-F238E27FC236}">
                <a16:creationId xmlns:a16="http://schemas.microsoft.com/office/drawing/2014/main" id="{14C786E9-1E54-EFAC-F735-ED24A186A132}"/>
              </a:ext>
            </a:extLst>
          </p:cNvPr>
          <p:cNvSpPr/>
          <p:nvPr/>
        </p:nvSpPr>
        <p:spPr>
          <a:xfrm>
            <a:off x="8083359" y="1164922"/>
            <a:ext cx="3600643" cy="5032677"/>
          </a:xfrm>
          <a:prstGeom prst="roundRect">
            <a:avLst/>
          </a:prstGeom>
          <a:noFill/>
          <a:ln w="28575">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A9131B5-94B3-3901-15E6-CCB135E1D974}"/>
              </a:ext>
            </a:extLst>
          </p:cNvPr>
          <p:cNvSpPr txBox="1"/>
          <p:nvPr/>
        </p:nvSpPr>
        <p:spPr>
          <a:xfrm>
            <a:off x="1078782" y="1328624"/>
            <a:ext cx="2651390" cy="461665"/>
          </a:xfrm>
          <a:prstGeom prst="rect">
            <a:avLst/>
          </a:prstGeom>
          <a:noFill/>
        </p:spPr>
        <p:txBody>
          <a:bodyPr wrap="square" rtlCol="0">
            <a:spAutoFit/>
          </a:bodyPr>
          <a:lstStyle/>
          <a:p>
            <a:pPr algn="ctr"/>
            <a:r>
              <a:rPr lang="en-US" sz="2400" b="1" dirty="0">
                <a:solidFill>
                  <a:schemeClr val="accent2">
                    <a:lumMod val="75000"/>
                  </a:schemeClr>
                </a:solidFill>
                <a:latin typeface="Calibri" panose="020F0502020204030204" pitchFamily="34" charset="0"/>
                <a:cs typeface="Calibri" panose="020F0502020204030204" pitchFamily="34" charset="0"/>
              </a:rPr>
              <a:t>Auditory</a:t>
            </a:r>
          </a:p>
        </p:txBody>
      </p:sp>
      <p:sp>
        <p:nvSpPr>
          <p:cNvPr id="12" name="TextBox 11">
            <a:extLst>
              <a:ext uri="{FF2B5EF4-FFF2-40B4-BE49-F238E27FC236}">
                <a16:creationId xmlns:a16="http://schemas.microsoft.com/office/drawing/2014/main" id="{2B233CFA-531D-8A88-8AFD-405A3DE97EA8}"/>
              </a:ext>
            </a:extLst>
          </p:cNvPr>
          <p:cNvSpPr txBox="1"/>
          <p:nvPr/>
        </p:nvSpPr>
        <p:spPr>
          <a:xfrm>
            <a:off x="4770305" y="1343137"/>
            <a:ext cx="2651390" cy="461665"/>
          </a:xfrm>
          <a:prstGeom prst="rect">
            <a:avLst/>
          </a:prstGeom>
          <a:noFill/>
        </p:spPr>
        <p:txBody>
          <a:bodyPr wrap="square" rtlCol="0">
            <a:spAutoFit/>
          </a:bodyPr>
          <a:lstStyle/>
          <a:p>
            <a:pPr algn="ctr"/>
            <a:r>
              <a:rPr lang="en-US" sz="2400" b="1" dirty="0">
                <a:solidFill>
                  <a:schemeClr val="accent6">
                    <a:lumMod val="75000"/>
                  </a:schemeClr>
                </a:solidFill>
                <a:latin typeface="Calibri" panose="020F0502020204030204" pitchFamily="34" charset="0"/>
                <a:cs typeface="Calibri" panose="020F0502020204030204" pitchFamily="34" charset="0"/>
              </a:rPr>
              <a:t>Visual</a:t>
            </a:r>
          </a:p>
        </p:txBody>
      </p:sp>
      <p:sp>
        <p:nvSpPr>
          <p:cNvPr id="13" name="TextBox 12">
            <a:extLst>
              <a:ext uri="{FF2B5EF4-FFF2-40B4-BE49-F238E27FC236}">
                <a16:creationId xmlns:a16="http://schemas.microsoft.com/office/drawing/2014/main" id="{050C293D-7238-7C94-08DC-3683E624C3E3}"/>
              </a:ext>
            </a:extLst>
          </p:cNvPr>
          <p:cNvSpPr txBox="1"/>
          <p:nvPr/>
        </p:nvSpPr>
        <p:spPr>
          <a:xfrm>
            <a:off x="8622582" y="1299594"/>
            <a:ext cx="2651390" cy="461665"/>
          </a:xfrm>
          <a:prstGeom prst="rect">
            <a:avLst/>
          </a:prstGeom>
          <a:noFill/>
        </p:spPr>
        <p:txBody>
          <a:bodyPr wrap="square" rtlCol="0">
            <a:spAutoFit/>
          </a:bodyPr>
          <a:lstStyle/>
          <a:p>
            <a:pPr algn="ctr"/>
            <a:r>
              <a:rPr lang="en-US" sz="2400" b="1" dirty="0">
                <a:solidFill>
                  <a:schemeClr val="accent4">
                    <a:lumMod val="75000"/>
                  </a:schemeClr>
                </a:solidFill>
                <a:latin typeface="Calibri" panose="020F0502020204030204" pitchFamily="34" charset="0"/>
                <a:cs typeface="Calibri" panose="020F0502020204030204" pitchFamily="34" charset="0"/>
              </a:rPr>
              <a:t>Kinesthetic</a:t>
            </a:r>
          </a:p>
        </p:txBody>
      </p:sp>
      <p:sp>
        <p:nvSpPr>
          <p:cNvPr id="15" name="TextBox 14">
            <a:extLst>
              <a:ext uri="{FF2B5EF4-FFF2-40B4-BE49-F238E27FC236}">
                <a16:creationId xmlns:a16="http://schemas.microsoft.com/office/drawing/2014/main" id="{0E41D6CD-8BE6-D21B-5B53-E48FF53D8B1E}"/>
              </a:ext>
            </a:extLst>
          </p:cNvPr>
          <p:cNvSpPr txBox="1"/>
          <p:nvPr/>
        </p:nvSpPr>
        <p:spPr>
          <a:xfrm>
            <a:off x="795750" y="2073014"/>
            <a:ext cx="3312890" cy="1785104"/>
          </a:xfrm>
          <a:prstGeom prst="rect">
            <a:avLst/>
          </a:prstGeom>
          <a:noFill/>
        </p:spPr>
        <p:txBody>
          <a:bodyPr wrap="square">
            <a:spAutoFit/>
          </a:bodyPr>
          <a:lstStyle/>
          <a:p>
            <a:r>
              <a:rPr lang="en-US" sz="2200" dirty="0">
                <a:latin typeface="Calibri" panose="020F0502020204030204" pitchFamily="34" charset="0"/>
                <a:cs typeface="Calibri" panose="020F0502020204030204" pitchFamily="34" charset="0"/>
              </a:rPr>
              <a:t>U1: Oh, so the same time range.</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U1: I think that’s the...</a:t>
            </a:r>
          </a:p>
          <a:p>
            <a:r>
              <a:rPr lang="en-US" sz="2200" b="1" dirty="0">
                <a:solidFill>
                  <a:schemeClr val="accent2">
                    <a:lumMod val="75000"/>
                  </a:schemeClr>
                </a:solidFill>
                <a:latin typeface="Calibri" panose="020F0502020204030204" pitchFamily="34" charset="0"/>
                <a:cs typeface="Calibri" panose="020F0502020204030204" pitchFamily="34" charset="0"/>
              </a:rPr>
              <a:t>U2: [CR—A] What’s the same?</a:t>
            </a:r>
          </a:p>
        </p:txBody>
      </p:sp>
      <p:sp>
        <p:nvSpPr>
          <p:cNvPr id="17" name="TextBox 16">
            <a:extLst>
              <a:ext uri="{FF2B5EF4-FFF2-40B4-BE49-F238E27FC236}">
                <a16:creationId xmlns:a16="http://schemas.microsoft.com/office/drawing/2014/main" id="{45602E88-F84C-7C16-F3CC-352359252147}"/>
              </a:ext>
            </a:extLst>
          </p:cNvPr>
          <p:cNvSpPr txBox="1"/>
          <p:nvPr/>
        </p:nvSpPr>
        <p:spPr>
          <a:xfrm>
            <a:off x="4337078" y="2060488"/>
            <a:ext cx="3619717" cy="2123658"/>
          </a:xfrm>
          <a:prstGeom prst="rect">
            <a:avLst/>
          </a:prstGeom>
          <a:noFill/>
        </p:spPr>
        <p:txBody>
          <a:bodyPr wrap="square">
            <a:spAutoFit/>
          </a:bodyPr>
          <a:lstStyle/>
          <a:p>
            <a:r>
              <a:rPr lang="en-US" sz="2200" dirty="0">
                <a:latin typeface="Calibri" panose="020F0502020204030204" pitchFamily="34" charset="0"/>
                <a:cs typeface="Calibri" panose="020F0502020204030204" pitchFamily="34" charset="0"/>
              </a:rPr>
              <a:t>S: Line Chart of COVID cases vs. Date,  Colored by County type</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U1: Oh, the same thing.</a:t>
            </a:r>
          </a:p>
          <a:p>
            <a:r>
              <a:rPr lang="en-US" sz="2200" b="1" dirty="0">
                <a:solidFill>
                  <a:schemeClr val="accent6">
                    <a:lumMod val="75000"/>
                  </a:schemeClr>
                </a:solidFill>
                <a:latin typeface="Calibri" panose="020F0502020204030204" pitchFamily="34" charset="0"/>
                <a:cs typeface="Calibri" panose="020F0502020204030204" pitchFamily="34" charset="0"/>
              </a:rPr>
              <a:t>U1: [CR—V] Is that June or January?</a:t>
            </a:r>
          </a:p>
        </p:txBody>
      </p:sp>
      <p:sp>
        <p:nvSpPr>
          <p:cNvPr id="19" name="TextBox 18">
            <a:extLst>
              <a:ext uri="{FF2B5EF4-FFF2-40B4-BE49-F238E27FC236}">
                <a16:creationId xmlns:a16="http://schemas.microsoft.com/office/drawing/2014/main" id="{B61B5FC4-C84F-2023-B430-8BE3DEF687B9}"/>
              </a:ext>
            </a:extLst>
          </p:cNvPr>
          <p:cNvSpPr txBox="1"/>
          <p:nvPr/>
        </p:nvSpPr>
        <p:spPr>
          <a:xfrm>
            <a:off x="8102434" y="1731998"/>
            <a:ext cx="3510446" cy="2800767"/>
          </a:xfrm>
          <a:prstGeom prst="rect">
            <a:avLst/>
          </a:prstGeom>
          <a:noFill/>
        </p:spPr>
        <p:txBody>
          <a:bodyPr wrap="square">
            <a:spAutoFit/>
          </a:bodyPr>
          <a:lstStyle/>
          <a:p>
            <a:r>
              <a:rPr lang="en-US" sz="2200" dirty="0">
                <a:latin typeface="Calibri" panose="020F0502020204030204" pitchFamily="34" charset="0"/>
                <a:cs typeface="Calibri" panose="020F0502020204030204" pitchFamily="34" charset="0"/>
              </a:rPr>
              <a:t>U1: See this one... this map of cardiovascular disease...</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U2: Oh, I can’t bring it to the front...</a:t>
            </a:r>
          </a:p>
          <a:p>
            <a:r>
              <a:rPr lang="en-US" sz="2200" b="1" dirty="0">
                <a:solidFill>
                  <a:schemeClr val="accent4">
                    <a:lumMod val="75000"/>
                  </a:schemeClr>
                </a:solidFill>
                <a:latin typeface="Calibri" panose="020F0502020204030204" pitchFamily="34" charset="0"/>
                <a:cs typeface="Calibri" panose="020F0502020204030204" pitchFamily="34" charset="0"/>
              </a:rPr>
              <a:t>U2: [CR—K] Can I click on this?</a:t>
            </a:r>
            <a:br>
              <a:rPr lang="en-US" sz="2200" dirty="0">
                <a:solidFill>
                  <a:schemeClr val="accent4">
                    <a:lumMod val="75000"/>
                  </a:schemeClr>
                </a:solidFill>
                <a:latin typeface="Calibri" panose="020F0502020204030204" pitchFamily="34" charset="0"/>
                <a:cs typeface="Calibri" panose="020F0502020204030204" pitchFamily="34" charset="0"/>
              </a:rPr>
            </a:br>
            <a:r>
              <a:rPr lang="en-US" sz="2200" i="1" dirty="0">
                <a:latin typeface="Calibri" panose="020F0502020204030204" pitchFamily="34" charset="0"/>
                <a:cs typeface="Calibri" panose="020F0502020204030204" pitchFamily="34" charset="0"/>
              </a:rPr>
              <a:t>(while trying to move the generated map)</a:t>
            </a:r>
            <a:endParaRPr lang="en-US" sz="2200" dirty="0">
              <a:latin typeface="Calibri" panose="020F0502020204030204" pitchFamily="34" charset="0"/>
              <a:cs typeface="Calibri" panose="020F0502020204030204" pitchFamily="34" charset="0"/>
            </a:endParaRPr>
          </a:p>
        </p:txBody>
      </p:sp>
      <p:sp>
        <p:nvSpPr>
          <p:cNvPr id="26" name="Slide Number Placeholder 25">
            <a:extLst>
              <a:ext uri="{FF2B5EF4-FFF2-40B4-BE49-F238E27FC236}">
                <a16:creationId xmlns:a16="http://schemas.microsoft.com/office/drawing/2014/main" id="{5B730155-0868-D48A-E153-03FC444EAFAF}"/>
              </a:ext>
            </a:extLst>
          </p:cNvPr>
          <p:cNvSpPr>
            <a:spLocks noGrp="1"/>
          </p:cNvSpPr>
          <p:nvPr>
            <p:ph type="sldNum" sz="quarter" idx="12"/>
          </p:nvPr>
        </p:nvSpPr>
        <p:spPr>
          <a:xfrm>
            <a:off x="11200263" y="6410942"/>
            <a:ext cx="523902"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7</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3" name="Rounded Rectangle 2">
            <a:extLst>
              <a:ext uri="{FF2B5EF4-FFF2-40B4-BE49-F238E27FC236}">
                <a16:creationId xmlns:a16="http://schemas.microsoft.com/office/drawing/2014/main" id="{23A5071B-A334-649D-3202-5DBA21163BE2}"/>
              </a:ext>
            </a:extLst>
          </p:cNvPr>
          <p:cNvSpPr/>
          <p:nvPr/>
        </p:nvSpPr>
        <p:spPr>
          <a:xfrm>
            <a:off x="795749" y="4425657"/>
            <a:ext cx="3282767" cy="1655544"/>
          </a:xfrm>
          <a:prstGeom prst="roundRect">
            <a:avLst/>
          </a:prstGeom>
          <a:solidFill>
            <a:srgbClr val="FFC000">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200" dirty="0">
                <a:solidFill>
                  <a:schemeClr val="tx2"/>
                </a:solidFill>
                <a:latin typeface="Calibri" panose="020F0502020204030204" pitchFamily="34" charset="0"/>
                <a:cs typeface="Calibri" panose="020F0502020204030204" pitchFamily="34" charset="0"/>
              </a:rPr>
              <a:t>Uncertainty about what was said or meant.</a:t>
            </a:r>
          </a:p>
        </p:txBody>
      </p:sp>
      <p:sp>
        <p:nvSpPr>
          <p:cNvPr id="4" name="Rounded Rectangle 3">
            <a:extLst>
              <a:ext uri="{FF2B5EF4-FFF2-40B4-BE49-F238E27FC236}">
                <a16:creationId xmlns:a16="http://schemas.microsoft.com/office/drawing/2014/main" id="{89633A1E-B980-3174-42AD-6DA8F7A02A4C}"/>
              </a:ext>
            </a:extLst>
          </p:cNvPr>
          <p:cNvSpPr/>
          <p:nvPr/>
        </p:nvSpPr>
        <p:spPr>
          <a:xfrm>
            <a:off x="8242296" y="4663440"/>
            <a:ext cx="3282767" cy="1377763"/>
          </a:xfrm>
          <a:prstGeom prst="roundRect">
            <a:avLst/>
          </a:prstGeom>
          <a:solidFill>
            <a:srgbClr val="FFC000">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2"/>
                </a:solidFill>
                <a:latin typeface="Calibri" panose="020F0502020204030204" pitchFamily="34" charset="0"/>
                <a:cs typeface="Calibri" panose="020F0502020204030204" pitchFamily="34" charset="0"/>
              </a:rPr>
              <a:t>Uncertainty about action or interaction.</a:t>
            </a:r>
          </a:p>
        </p:txBody>
      </p:sp>
      <p:sp>
        <p:nvSpPr>
          <p:cNvPr id="5" name="Rounded Rectangle 4">
            <a:extLst>
              <a:ext uri="{FF2B5EF4-FFF2-40B4-BE49-F238E27FC236}">
                <a16:creationId xmlns:a16="http://schemas.microsoft.com/office/drawing/2014/main" id="{EC5CE07F-B912-0127-482D-FF84AEB1E422}"/>
              </a:ext>
            </a:extLst>
          </p:cNvPr>
          <p:cNvSpPr/>
          <p:nvPr/>
        </p:nvSpPr>
        <p:spPr>
          <a:xfrm>
            <a:off x="4525919" y="4400605"/>
            <a:ext cx="3282767" cy="1655544"/>
          </a:xfrm>
          <a:prstGeom prst="roundRect">
            <a:avLst/>
          </a:prstGeom>
          <a:solidFill>
            <a:srgbClr val="FFC000">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2"/>
                </a:solidFill>
                <a:latin typeface="Calibri" panose="020F0502020204030204" pitchFamily="34" charset="0"/>
                <a:cs typeface="Calibri" panose="020F0502020204030204" pitchFamily="34" charset="0"/>
              </a:rPr>
              <a:t>Uncertainty  about interpreting what is seen in the physical environment.</a:t>
            </a:r>
          </a:p>
        </p:txBody>
      </p:sp>
      <p:pic>
        <p:nvPicPr>
          <p:cNvPr id="6" name="Graphic 5" descr="Eye with solid fill">
            <a:extLst>
              <a:ext uri="{FF2B5EF4-FFF2-40B4-BE49-F238E27FC236}">
                <a16:creationId xmlns:a16="http://schemas.microsoft.com/office/drawing/2014/main" id="{2A5AE74F-6CEC-DDA1-34DC-E42F18D68A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1602" y="1297093"/>
            <a:ext cx="635552" cy="635552"/>
          </a:xfrm>
          <a:prstGeom prst="rect">
            <a:avLst/>
          </a:prstGeom>
        </p:spPr>
      </p:pic>
      <p:pic>
        <p:nvPicPr>
          <p:cNvPr id="7" name="Graphic 6" descr="Ear with solid fill">
            <a:extLst>
              <a:ext uri="{FF2B5EF4-FFF2-40B4-BE49-F238E27FC236}">
                <a16:creationId xmlns:a16="http://schemas.microsoft.com/office/drawing/2014/main" id="{18C78A84-46AE-4F91-F245-229BC77C66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8282" y="1299594"/>
            <a:ext cx="635552" cy="635552"/>
          </a:xfrm>
          <a:prstGeom prst="rect">
            <a:avLst/>
          </a:prstGeom>
        </p:spPr>
      </p:pic>
      <p:pic>
        <p:nvPicPr>
          <p:cNvPr id="14" name="Graphic 13" descr="Touchscreen with solid fill">
            <a:extLst>
              <a:ext uri="{FF2B5EF4-FFF2-40B4-BE49-F238E27FC236}">
                <a16:creationId xmlns:a16="http://schemas.microsoft.com/office/drawing/2014/main" id="{8796C3C9-AA73-DA22-1C6C-10BBC3ED90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14441" y="1297093"/>
            <a:ext cx="536053" cy="536053"/>
          </a:xfrm>
          <a:prstGeom prst="rect">
            <a:avLst/>
          </a:prstGeom>
        </p:spPr>
      </p:pic>
    </p:spTree>
    <p:extLst>
      <p:ext uri="{BB962C8B-B14F-4D97-AF65-F5344CB8AC3E}">
        <p14:creationId xmlns:p14="http://schemas.microsoft.com/office/powerpoint/2010/main" val="51776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13" grpId="0"/>
      <p:bldP spid="15" grpId="0"/>
      <p:bldP spid="17" grpId="0"/>
      <p:bldP spid="19" grpId="0"/>
      <p:bldP spid="3" grpId="0" animBg="1"/>
      <p:bldP spid="4"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BE05-118A-811F-1761-FB575D620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1A519-AADB-9D31-07BC-4C2507E18A09}"/>
              </a:ext>
            </a:extLst>
          </p:cNvPr>
          <p:cNvSpPr>
            <a:spLocks noGrp="1"/>
          </p:cNvSpPr>
          <p:nvPr>
            <p:ph type="title"/>
          </p:nvPr>
        </p:nvSpPr>
        <p:spPr>
          <a:xfrm>
            <a:off x="1020724" y="467033"/>
            <a:ext cx="10333075" cy="469175"/>
          </a:xfrm>
        </p:spPr>
        <p:txBody>
          <a:bodyPr>
            <a:normAutofit fontScale="90000"/>
          </a:bodyPr>
          <a:lstStyle/>
          <a:p>
            <a:pPr algn="ctr"/>
            <a:r>
              <a:rPr lang="en-US" b="0" dirty="0">
                <a:latin typeface="Calibri" panose="020F0502020204030204" pitchFamily="34" charset="0"/>
                <a:cs typeface="Calibri" panose="020F0502020204030204" pitchFamily="34" charset="0"/>
              </a:rPr>
              <a:t>ClarVis Annotation</a:t>
            </a:r>
            <a:endParaRPr lang="en-US" sz="40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9A821AC-E57A-4728-64BA-5F6A84C0B15A}"/>
              </a:ext>
            </a:extLst>
          </p:cNvPr>
          <p:cNvSpPr>
            <a:spLocks noGrp="1"/>
          </p:cNvSpPr>
          <p:nvPr>
            <p:ph type="sldNum" sz="quarter" idx="12"/>
          </p:nvPr>
        </p:nvSpPr>
        <p:spPr>
          <a:xfrm>
            <a:off x="11200263" y="6438238"/>
            <a:ext cx="523902"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8</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9" name="Rounded Rectangle 8">
            <a:extLst>
              <a:ext uri="{FF2B5EF4-FFF2-40B4-BE49-F238E27FC236}">
                <a16:creationId xmlns:a16="http://schemas.microsoft.com/office/drawing/2014/main" id="{7C5EF798-B47C-11E0-50FA-EA74CDC747C8}"/>
              </a:ext>
            </a:extLst>
          </p:cNvPr>
          <p:cNvSpPr/>
          <p:nvPr/>
        </p:nvSpPr>
        <p:spPr>
          <a:xfrm>
            <a:off x="855966" y="970347"/>
            <a:ext cx="10868199" cy="439240"/>
          </a:xfrm>
          <a:prstGeom prst="roundRect">
            <a:avLst/>
          </a:prstGeom>
          <a:solidFill>
            <a:srgbClr val="FFC000">
              <a:alpha val="17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2"/>
                </a:solidFill>
                <a:latin typeface="Calibri Light" panose="020F0302020204030204" pitchFamily="34" charset="0"/>
                <a:cs typeface="Calibri Light" panose="020F0302020204030204" pitchFamily="34" charset="0"/>
              </a:rPr>
              <a:t> Surface form was not enough. Annotators used dialogue function and context</a:t>
            </a:r>
          </a:p>
        </p:txBody>
      </p:sp>
      <p:pic>
        <p:nvPicPr>
          <p:cNvPr id="11" name="Graphic 10" descr="Questions with solid fill">
            <a:extLst>
              <a:ext uri="{FF2B5EF4-FFF2-40B4-BE49-F238E27FC236}">
                <a16:creationId xmlns:a16="http://schemas.microsoft.com/office/drawing/2014/main" id="{CB3E7ADD-AD90-A4AF-04F2-51A1F90CE6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233" y="939786"/>
            <a:ext cx="489794" cy="489794"/>
          </a:xfrm>
          <a:prstGeom prst="rect">
            <a:avLst/>
          </a:prstGeom>
        </p:spPr>
      </p:pic>
      <p:sp>
        <p:nvSpPr>
          <p:cNvPr id="13" name="Rounded Rectangle 12">
            <a:extLst>
              <a:ext uri="{FF2B5EF4-FFF2-40B4-BE49-F238E27FC236}">
                <a16:creationId xmlns:a16="http://schemas.microsoft.com/office/drawing/2014/main" id="{3AF42933-C1B2-742F-C79A-B3BFF559D806}"/>
              </a:ext>
            </a:extLst>
          </p:cNvPr>
          <p:cNvSpPr/>
          <p:nvPr/>
        </p:nvSpPr>
        <p:spPr>
          <a:xfrm>
            <a:off x="4576501" y="1657134"/>
            <a:ext cx="3633416" cy="2456680"/>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u="sng" dirty="0">
                <a:solidFill>
                  <a:schemeClr val="accent2">
                    <a:lumMod val="50000"/>
                  </a:schemeClr>
                </a:solidFill>
                <a:latin typeface="Calibri" panose="020F0502020204030204" pitchFamily="34" charset="0"/>
                <a:cs typeface="Calibri" panose="020F0502020204030204" pitchFamily="34" charset="0"/>
              </a:rPr>
              <a:t>Case 2</a:t>
            </a:r>
          </a:p>
          <a:p>
            <a:pPr algn="ctr"/>
            <a:r>
              <a:rPr lang="en-US" sz="2000" dirty="0">
                <a:solidFill>
                  <a:schemeClr val="accent2">
                    <a:lumMod val="50000"/>
                  </a:schemeClr>
                </a:solidFill>
                <a:latin typeface="Calibri" panose="020F0502020204030204" pitchFamily="34" charset="0"/>
                <a:cs typeface="Calibri" panose="020F0502020204030204" pitchFamily="34" charset="0"/>
              </a:rPr>
              <a:t>“Which one do you want?”</a:t>
            </a:r>
          </a:p>
          <a:p>
            <a:pPr algn="ctr"/>
            <a:endParaRPr lang="en-US" sz="2000" dirty="0">
              <a:solidFill>
                <a:schemeClr val="accent2">
                  <a:lumMod val="50000"/>
                </a:schemeClr>
              </a:solidFill>
              <a:latin typeface="Calibri" panose="020F0502020204030204" pitchFamily="34" charset="0"/>
              <a:cs typeface="Calibri" panose="020F0502020204030204" pitchFamily="34" charset="0"/>
            </a:endParaRPr>
          </a:p>
          <a:p>
            <a:pPr algn="ctr"/>
            <a:r>
              <a:rPr lang="en-US" sz="2000" dirty="0">
                <a:solidFill>
                  <a:schemeClr val="accent2">
                    <a:lumMod val="50000"/>
                  </a:schemeClr>
                </a:solidFill>
                <a:latin typeface="Calibri" panose="020F0502020204030204" pitchFamily="34" charset="0"/>
                <a:cs typeface="Calibri" panose="020F0502020204030204" pitchFamily="34" charset="0"/>
              </a:rPr>
              <a:t>Final label: </a:t>
            </a:r>
            <a:r>
              <a:rPr lang="en-US" sz="2000" u="sng" dirty="0">
                <a:solidFill>
                  <a:schemeClr val="accent2">
                    <a:lumMod val="50000"/>
                  </a:schemeClr>
                </a:solidFill>
                <a:latin typeface="Calibri" panose="020F0502020204030204" pitchFamily="34" charset="0"/>
                <a:cs typeface="Calibri" panose="020F0502020204030204" pitchFamily="34" charset="0"/>
              </a:rPr>
              <a:t>Kinesthetic</a:t>
            </a:r>
          </a:p>
          <a:p>
            <a:r>
              <a:rPr lang="en-US" sz="2000" dirty="0">
                <a:solidFill>
                  <a:schemeClr val="accent2">
                    <a:lumMod val="50000"/>
                  </a:schemeClr>
                </a:solidFill>
                <a:latin typeface="Calibri" panose="020F0502020204030204" pitchFamily="34" charset="0"/>
                <a:cs typeface="Calibri" panose="020F0502020204030204" pitchFamily="34" charset="0"/>
              </a:rPr>
              <a:t>Why? Action/coordination</a:t>
            </a:r>
          </a:p>
          <a:p>
            <a:r>
              <a:rPr lang="en-US" sz="2000" dirty="0">
                <a:solidFill>
                  <a:schemeClr val="accent2">
                    <a:lumMod val="50000"/>
                  </a:schemeClr>
                </a:solidFill>
                <a:latin typeface="Calibri" panose="020F0502020204030204" pitchFamily="34" charset="0"/>
                <a:cs typeface="Calibri" panose="020F0502020204030204" pitchFamily="34" charset="0"/>
              </a:rPr>
              <a:t>K/V ambiguity→ K by precedence </a:t>
            </a:r>
          </a:p>
        </p:txBody>
      </p:sp>
      <p:sp>
        <p:nvSpPr>
          <p:cNvPr id="14" name="Rounded Rectangle 13">
            <a:extLst>
              <a:ext uri="{FF2B5EF4-FFF2-40B4-BE49-F238E27FC236}">
                <a16:creationId xmlns:a16="http://schemas.microsoft.com/office/drawing/2014/main" id="{A78240E1-9576-E6D0-B3A9-55A62FDC9FD6}"/>
              </a:ext>
            </a:extLst>
          </p:cNvPr>
          <p:cNvSpPr/>
          <p:nvPr/>
        </p:nvSpPr>
        <p:spPr>
          <a:xfrm>
            <a:off x="728396" y="1657134"/>
            <a:ext cx="3633416" cy="2456680"/>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u="sng" dirty="0">
                <a:solidFill>
                  <a:schemeClr val="accent2">
                    <a:lumMod val="75000"/>
                  </a:schemeClr>
                </a:solidFill>
                <a:latin typeface="Calibri" panose="020F0502020204030204" pitchFamily="34" charset="0"/>
                <a:cs typeface="Calibri" panose="020F0502020204030204" pitchFamily="34" charset="0"/>
              </a:rPr>
              <a:t>Case 1</a:t>
            </a:r>
          </a:p>
          <a:p>
            <a:pPr algn="ctr"/>
            <a:r>
              <a:rPr lang="en-US" sz="2000" dirty="0">
                <a:solidFill>
                  <a:schemeClr val="accent2">
                    <a:lumMod val="75000"/>
                  </a:schemeClr>
                </a:solidFill>
                <a:latin typeface="Calibri" panose="020F0502020204030204" pitchFamily="34" charset="0"/>
                <a:cs typeface="Calibri" panose="020F0502020204030204" pitchFamily="34" charset="0"/>
              </a:rPr>
              <a:t>“What other factors do we have?”</a:t>
            </a:r>
          </a:p>
          <a:p>
            <a:pPr algn="ctr"/>
            <a:endParaRPr lang="en-US" sz="2000" dirty="0">
              <a:solidFill>
                <a:schemeClr val="accent2">
                  <a:lumMod val="75000"/>
                </a:schemeClr>
              </a:solidFill>
              <a:latin typeface="Calibri" panose="020F0502020204030204" pitchFamily="34" charset="0"/>
              <a:cs typeface="Calibri" panose="020F0502020204030204" pitchFamily="34" charset="0"/>
            </a:endParaRPr>
          </a:p>
          <a:p>
            <a:pPr algn="ctr"/>
            <a:r>
              <a:rPr lang="en-US" sz="2000" dirty="0">
                <a:solidFill>
                  <a:schemeClr val="accent2">
                    <a:lumMod val="75000"/>
                  </a:schemeClr>
                </a:solidFill>
                <a:latin typeface="Calibri" panose="020F0502020204030204" pitchFamily="34" charset="0"/>
                <a:cs typeface="Calibri" panose="020F0502020204030204" pitchFamily="34" charset="0"/>
              </a:rPr>
              <a:t>Final label: </a:t>
            </a:r>
            <a:r>
              <a:rPr lang="en-US" sz="2000" u="sng" dirty="0">
                <a:solidFill>
                  <a:schemeClr val="accent2">
                    <a:lumMod val="75000"/>
                  </a:schemeClr>
                </a:solidFill>
                <a:latin typeface="Calibri" panose="020F0502020204030204" pitchFamily="34" charset="0"/>
                <a:cs typeface="Calibri" panose="020F0502020204030204" pitchFamily="34" charset="0"/>
              </a:rPr>
              <a:t>Rest</a:t>
            </a:r>
          </a:p>
          <a:p>
            <a:pPr algn="ctr"/>
            <a:r>
              <a:rPr lang="en-US" sz="2000" dirty="0">
                <a:solidFill>
                  <a:schemeClr val="accent2">
                    <a:lumMod val="75000"/>
                  </a:schemeClr>
                </a:solidFill>
                <a:latin typeface="Calibri" panose="020F0502020204030204" pitchFamily="34" charset="0"/>
                <a:cs typeface="Calibri" panose="020F0502020204030204" pitchFamily="34" charset="0"/>
              </a:rPr>
              <a:t>Why? Task planning/Data exploration/discussion</a:t>
            </a:r>
          </a:p>
        </p:txBody>
      </p:sp>
      <p:sp>
        <p:nvSpPr>
          <p:cNvPr id="31" name="Right Brace 30">
            <a:extLst>
              <a:ext uri="{FF2B5EF4-FFF2-40B4-BE49-F238E27FC236}">
                <a16:creationId xmlns:a16="http://schemas.microsoft.com/office/drawing/2014/main" id="{13D80735-A886-2F65-AFCD-F0B20EC82278}"/>
              </a:ext>
            </a:extLst>
          </p:cNvPr>
          <p:cNvSpPr/>
          <p:nvPr/>
        </p:nvSpPr>
        <p:spPr>
          <a:xfrm>
            <a:off x="8389884" y="1657134"/>
            <a:ext cx="463626" cy="4569768"/>
          </a:xfrm>
          <a:prstGeom prst="rightBrace">
            <a:avLst/>
          </a:prstGeom>
          <a:noFill/>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2" name="Rounded Rectangle 31">
            <a:extLst>
              <a:ext uri="{FF2B5EF4-FFF2-40B4-BE49-F238E27FC236}">
                <a16:creationId xmlns:a16="http://schemas.microsoft.com/office/drawing/2014/main" id="{5F4CEC3C-3119-F4BE-2263-6D9D76983E89}"/>
              </a:ext>
            </a:extLst>
          </p:cNvPr>
          <p:cNvSpPr/>
          <p:nvPr/>
        </p:nvSpPr>
        <p:spPr>
          <a:xfrm>
            <a:off x="9033477" y="1657134"/>
            <a:ext cx="2656776" cy="4569768"/>
          </a:xfrm>
          <a:prstGeom prst="roundRect">
            <a:avLst/>
          </a:prstGeom>
          <a:solidFill>
            <a:srgbClr val="7030A0">
              <a:alpha val="14000"/>
            </a:srgbClr>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u="sng" dirty="0">
                <a:solidFill>
                  <a:srgbClr val="7030A0"/>
                </a:solidFill>
                <a:latin typeface="Calibri" panose="020F0502020204030204" pitchFamily="34" charset="0"/>
                <a:cs typeface="Calibri" panose="020F0502020204030204" pitchFamily="34" charset="0"/>
              </a:rPr>
              <a:t>Agreement</a:t>
            </a:r>
          </a:p>
          <a:p>
            <a:pPr algn="ctr"/>
            <a:r>
              <a:rPr lang="en-US" sz="2400" dirty="0">
                <a:solidFill>
                  <a:srgbClr val="7030A0"/>
                </a:solidFill>
                <a:latin typeface="Calibri" panose="020F0502020204030204" pitchFamily="34" charset="0"/>
                <a:cs typeface="Calibri" panose="020F0502020204030204" pitchFamily="34" charset="0"/>
              </a:rPr>
              <a:t>Sample of 565 utterances</a:t>
            </a:r>
          </a:p>
          <a:p>
            <a:pPr algn="ctr"/>
            <a:endParaRPr lang="en-US" sz="2400" dirty="0">
              <a:solidFill>
                <a:srgbClr val="7030A0"/>
              </a:solidFill>
              <a:latin typeface="Calibri" panose="020F0502020204030204" pitchFamily="34" charset="0"/>
              <a:cs typeface="Calibri" panose="020F0502020204030204" pitchFamily="34" charset="0"/>
            </a:endParaRPr>
          </a:p>
          <a:p>
            <a:pPr algn="ctr"/>
            <a:endParaRPr lang="en-US" sz="2400" dirty="0">
              <a:solidFill>
                <a:srgbClr val="7030A0"/>
              </a:solidFill>
              <a:latin typeface="Calibri" panose="020F0502020204030204" pitchFamily="34" charset="0"/>
              <a:cs typeface="Calibri" panose="020F0502020204030204" pitchFamily="34" charset="0"/>
            </a:endParaRPr>
          </a:p>
          <a:p>
            <a:pPr algn="ctr"/>
            <a:endParaRPr lang="en-US" sz="2400" dirty="0">
              <a:solidFill>
                <a:srgbClr val="7030A0"/>
              </a:solidFill>
              <a:latin typeface="Calibri" panose="020F0502020204030204" pitchFamily="34" charset="0"/>
              <a:cs typeface="Calibri" panose="020F0502020204030204" pitchFamily="34" charset="0"/>
            </a:endParaRPr>
          </a:p>
          <a:p>
            <a:pPr algn="ctr"/>
            <a:r>
              <a:rPr lang="en-US" sz="2400" dirty="0">
                <a:solidFill>
                  <a:srgbClr val="7030A0"/>
                </a:solidFill>
                <a:latin typeface="Calibri" panose="020F0502020204030204" pitchFamily="34" charset="0"/>
                <a:cs typeface="Calibri" panose="020F0502020204030204" pitchFamily="34" charset="0"/>
              </a:rPr>
              <a:t>Final labels resolved through discussion</a:t>
            </a:r>
          </a:p>
        </p:txBody>
      </p:sp>
      <p:cxnSp>
        <p:nvCxnSpPr>
          <p:cNvPr id="39" name="Straight Connector 38">
            <a:extLst>
              <a:ext uri="{FF2B5EF4-FFF2-40B4-BE49-F238E27FC236}">
                <a16:creationId xmlns:a16="http://schemas.microsoft.com/office/drawing/2014/main" id="{083A839F-28D2-B772-E9EB-82FDAD84A980}"/>
              </a:ext>
            </a:extLst>
          </p:cNvPr>
          <p:cNvCxnSpPr/>
          <p:nvPr/>
        </p:nvCxnSpPr>
        <p:spPr>
          <a:xfrm>
            <a:off x="1400249" y="2907643"/>
            <a:ext cx="2151529" cy="0"/>
          </a:xfrm>
          <a:prstGeom prst="line">
            <a:avLst/>
          </a:prstGeom>
          <a:ln w="127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0DE9B9D-A10D-D61D-1422-9B54D8D793D8}"/>
              </a:ext>
            </a:extLst>
          </p:cNvPr>
          <p:cNvCxnSpPr/>
          <p:nvPr/>
        </p:nvCxnSpPr>
        <p:spPr>
          <a:xfrm>
            <a:off x="5498888" y="2572541"/>
            <a:ext cx="2151529" cy="0"/>
          </a:xfrm>
          <a:prstGeom prst="line">
            <a:avLst/>
          </a:prstGeom>
          <a:ln w="12700">
            <a:solidFill>
              <a:schemeClr val="accent2">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8E45D68-7D06-48F9-0793-023B21345E13}"/>
                  </a:ext>
                </a:extLst>
              </p:cNvPr>
              <p:cNvSpPr txBox="1"/>
              <p:nvPr/>
            </p:nvSpPr>
            <p:spPr>
              <a:xfrm>
                <a:off x="9096977" y="3451115"/>
                <a:ext cx="2611919" cy="369332"/>
              </a:xfrm>
              <a:prstGeom prst="rect">
                <a:avLst/>
              </a:prstGeom>
              <a:noFill/>
            </p:spPr>
            <p:txBody>
              <a:bodyPr wrap="square" lIns="0" tIns="0" rIns="0" bIns="0" rtlCol="0">
                <a:spAutoFit/>
              </a:bodyPr>
              <a:lstStyle/>
              <a:p>
                <a14:m>
                  <m:oMath xmlns:m="http://schemas.openxmlformats.org/officeDocument/2006/math">
                    <m:r>
                      <a:rPr lang="en-US" sz="2400" i="1" smtClean="0">
                        <a:latin typeface="Cambria Math" panose="02040503050406030204" pitchFamily="18" charset="0"/>
                        <a:ea typeface="Cambria Math" panose="02040503050406030204" pitchFamily="18" charset="0"/>
                      </a:rPr>
                      <m:t>𝜅</m:t>
                    </m:r>
                  </m:oMath>
                </a14:m>
                <a:r>
                  <a:rPr lang="en-US" sz="2400" dirty="0">
                    <a:latin typeface="Calibri" panose="020F0502020204030204" pitchFamily="34" charset="0"/>
                    <a:cs typeface="Calibri" panose="020F0502020204030204" pitchFamily="34" charset="0"/>
                  </a:rPr>
                  <a:t> = 0.89  CR vs Rest</a:t>
                </a:r>
              </a:p>
            </p:txBody>
          </p:sp>
        </mc:Choice>
        <mc:Fallback xmlns="">
          <p:sp>
            <p:nvSpPr>
              <p:cNvPr id="43" name="TextBox 42">
                <a:extLst>
                  <a:ext uri="{FF2B5EF4-FFF2-40B4-BE49-F238E27FC236}">
                    <a16:creationId xmlns:a16="http://schemas.microsoft.com/office/drawing/2014/main" id="{88E45D68-7D06-48F9-0793-023B21345E13}"/>
                  </a:ext>
                </a:extLst>
              </p:cNvPr>
              <p:cNvSpPr txBox="1">
                <a:spLocks noRot="1" noChangeAspect="1" noMove="1" noResize="1" noEditPoints="1" noAdjustHandles="1" noChangeArrowheads="1" noChangeShapeType="1" noTextEdit="1"/>
              </p:cNvSpPr>
              <p:nvPr/>
            </p:nvSpPr>
            <p:spPr>
              <a:xfrm>
                <a:off x="9096977" y="3451115"/>
                <a:ext cx="2611919" cy="369332"/>
              </a:xfrm>
              <a:prstGeom prst="rect">
                <a:avLst/>
              </a:prstGeom>
              <a:blipFill>
                <a:blip r:embed="rId4"/>
                <a:stretch>
                  <a:fillRect l="-2899" t="-20000"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5669561-3679-92B4-78F7-40B0643B0A9A}"/>
                  </a:ext>
                </a:extLst>
              </p:cNvPr>
              <p:cNvSpPr txBox="1"/>
              <p:nvPr/>
            </p:nvSpPr>
            <p:spPr>
              <a:xfrm>
                <a:off x="9110472" y="3833462"/>
                <a:ext cx="2502785" cy="369332"/>
              </a:xfrm>
              <a:prstGeom prst="rect">
                <a:avLst/>
              </a:prstGeom>
              <a:noFill/>
            </p:spPr>
            <p:txBody>
              <a:bodyPr wrap="square" lIns="0" tIns="0" rIns="0" bIns="0" rtlCol="0">
                <a:spAutoFit/>
              </a:bodyPr>
              <a:lstStyle/>
              <a:p>
                <a14:m>
                  <m:oMath xmlns:m="http://schemas.openxmlformats.org/officeDocument/2006/math">
                    <m:r>
                      <m:rPr>
                        <m:sty m:val="p"/>
                      </m:rPr>
                      <a:rPr lang="en-US" sz="2400" b="0" i="0" smtClean="0">
                        <a:latin typeface="Cambria Math" panose="02040503050406030204" pitchFamily="18" charset="0"/>
                        <a:ea typeface="Cambria Math" panose="02040503050406030204" pitchFamily="18" charset="0"/>
                      </a:rPr>
                      <m:t>κ</m:t>
                    </m:r>
                  </m:oMath>
                </a14:m>
                <a:r>
                  <a:rPr lang="en-US" sz="2400" dirty="0">
                    <a:latin typeface="Calibri" panose="020F0502020204030204" pitchFamily="34" charset="0"/>
                    <a:cs typeface="Calibri" panose="020F0502020204030204" pitchFamily="34" charset="0"/>
                  </a:rPr>
                  <a:t> = 0.64  A/V/K</a:t>
                </a:r>
              </a:p>
            </p:txBody>
          </p:sp>
        </mc:Choice>
        <mc:Fallback xmlns="">
          <p:sp>
            <p:nvSpPr>
              <p:cNvPr id="44" name="TextBox 43">
                <a:extLst>
                  <a:ext uri="{FF2B5EF4-FFF2-40B4-BE49-F238E27FC236}">
                    <a16:creationId xmlns:a16="http://schemas.microsoft.com/office/drawing/2014/main" id="{75669561-3679-92B4-78F7-40B0643B0A9A}"/>
                  </a:ext>
                </a:extLst>
              </p:cNvPr>
              <p:cNvSpPr txBox="1">
                <a:spLocks noRot="1" noChangeAspect="1" noMove="1" noResize="1" noEditPoints="1" noAdjustHandles="1" noChangeArrowheads="1" noChangeShapeType="1" noTextEdit="1"/>
              </p:cNvSpPr>
              <p:nvPr/>
            </p:nvSpPr>
            <p:spPr>
              <a:xfrm>
                <a:off x="9110472" y="3833462"/>
                <a:ext cx="2502785" cy="369332"/>
              </a:xfrm>
              <a:prstGeom prst="rect">
                <a:avLst/>
              </a:prstGeom>
              <a:blipFill>
                <a:blip r:embed="rId5"/>
                <a:stretch>
                  <a:fillRect l="-3030" t="-20000" b="-50000"/>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6369AB41-86CF-89AD-FD13-51A559FBD046}"/>
              </a:ext>
            </a:extLst>
          </p:cNvPr>
          <p:cNvCxnSpPr>
            <a:cxnSpLocks/>
          </p:cNvCxnSpPr>
          <p:nvPr/>
        </p:nvCxnSpPr>
        <p:spPr>
          <a:xfrm>
            <a:off x="9395014" y="4304892"/>
            <a:ext cx="1885663" cy="0"/>
          </a:xfrm>
          <a:prstGeom prst="line">
            <a:avLst/>
          </a:prstGeom>
          <a:ln w="1270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49" name="Rounded Rectangle 48">
            <a:extLst>
              <a:ext uri="{FF2B5EF4-FFF2-40B4-BE49-F238E27FC236}">
                <a16:creationId xmlns:a16="http://schemas.microsoft.com/office/drawing/2014/main" id="{2962D90F-E4A9-D6D1-58ED-28E4433F0E64}"/>
              </a:ext>
            </a:extLst>
          </p:cNvPr>
          <p:cNvSpPr/>
          <p:nvPr/>
        </p:nvSpPr>
        <p:spPr>
          <a:xfrm>
            <a:off x="2084910" y="4405248"/>
            <a:ext cx="5844877" cy="1826654"/>
          </a:xfrm>
          <a:prstGeom prst="roundRect">
            <a:avLst/>
          </a:prstGeom>
          <a:solidFill>
            <a:srgbClr val="FFC000">
              <a:alpha val="17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latin typeface="Calibri" panose="020F0502020204030204" pitchFamily="34" charset="0"/>
                <a:cs typeface="Calibri" panose="020F0502020204030204" pitchFamily="34" charset="0"/>
              </a:rPr>
              <a:t>Precedence ladder </a:t>
            </a:r>
            <a:r>
              <a:rPr lang="en-US" sz="2000" baseline="30000" dirty="0">
                <a:solidFill>
                  <a:schemeClr val="tx2"/>
                </a:solidFill>
                <a:latin typeface="Calibri" panose="020F0502020204030204" pitchFamily="34" charset="0"/>
                <a:cs typeface="Calibri" panose="020F0502020204030204" pitchFamily="34" charset="0"/>
              </a:rPr>
              <a:t>[*] </a:t>
            </a:r>
            <a:r>
              <a:rPr lang="en-US" sz="2000" dirty="0">
                <a:solidFill>
                  <a:schemeClr val="tx2"/>
                </a:solidFill>
                <a:latin typeface="Calibri" panose="020F0502020204030204" pitchFamily="34" charset="0"/>
                <a:cs typeface="Calibri" panose="020F0502020204030204" pitchFamily="34" charset="0"/>
              </a:rPr>
              <a:t>for grounding modality used only when no single cue was clearly primary</a:t>
            </a:r>
          </a:p>
          <a:p>
            <a:pPr algn="ctr"/>
            <a:endParaRPr lang="en-US" sz="3000" dirty="0">
              <a:solidFill>
                <a:schemeClr val="tx2"/>
              </a:solidFill>
            </a:endParaRPr>
          </a:p>
          <a:p>
            <a:pPr algn="ctr"/>
            <a:endParaRPr lang="en-US" sz="3600" dirty="0">
              <a:solidFill>
                <a:schemeClr val="tx2"/>
              </a:solidFill>
            </a:endParaRPr>
          </a:p>
        </p:txBody>
      </p:sp>
      <p:sp>
        <p:nvSpPr>
          <p:cNvPr id="50" name="Rounded Rectangle 49">
            <a:extLst>
              <a:ext uri="{FF2B5EF4-FFF2-40B4-BE49-F238E27FC236}">
                <a16:creationId xmlns:a16="http://schemas.microsoft.com/office/drawing/2014/main" id="{E35E136F-9CF2-0A90-447C-747DF15DC6F0}"/>
              </a:ext>
            </a:extLst>
          </p:cNvPr>
          <p:cNvSpPr/>
          <p:nvPr/>
        </p:nvSpPr>
        <p:spPr>
          <a:xfrm>
            <a:off x="3071945" y="5178067"/>
            <a:ext cx="575847" cy="502099"/>
          </a:xfrm>
          <a:prstGeom prst="roundRect">
            <a:avLst/>
          </a:prstGeom>
          <a:solidFill>
            <a:schemeClr val="accent4">
              <a:lumMod val="40000"/>
              <a:lumOff val="6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4">
                    <a:lumMod val="50000"/>
                  </a:schemeClr>
                </a:solidFill>
                <a:latin typeface="Calibri" panose="020F0502020204030204" pitchFamily="34" charset="0"/>
                <a:cs typeface="Calibri" panose="020F0502020204030204" pitchFamily="34" charset="0"/>
              </a:rPr>
              <a:t>K</a:t>
            </a:r>
          </a:p>
        </p:txBody>
      </p:sp>
      <p:sp>
        <p:nvSpPr>
          <p:cNvPr id="52" name="Rounded Rectangle 51">
            <a:extLst>
              <a:ext uri="{FF2B5EF4-FFF2-40B4-BE49-F238E27FC236}">
                <a16:creationId xmlns:a16="http://schemas.microsoft.com/office/drawing/2014/main" id="{086DC98B-230E-13FD-05C1-DF4CA6F0ADF7}"/>
              </a:ext>
            </a:extLst>
          </p:cNvPr>
          <p:cNvSpPr/>
          <p:nvPr/>
        </p:nvSpPr>
        <p:spPr>
          <a:xfrm>
            <a:off x="4835495" y="5178067"/>
            <a:ext cx="575847" cy="502099"/>
          </a:xfrm>
          <a:prstGeom prst="round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6">
                    <a:lumMod val="75000"/>
                  </a:schemeClr>
                </a:solidFill>
                <a:latin typeface="Calibri" panose="020F0502020204030204" pitchFamily="34" charset="0"/>
                <a:cs typeface="Calibri" panose="020F0502020204030204" pitchFamily="34" charset="0"/>
              </a:rPr>
              <a:t>V</a:t>
            </a:r>
          </a:p>
        </p:txBody>
      </p:sp>
      <p:sp>
        <p:nvSpPr>
          <p:cNvPr id="53" name="Rounded Rectangle 52">
            <a:extLst>
              <a:ext uri="{FF2B5EF4-FFF2-40B4-BE49-F238E27FC236}">
                <a16:creationId xmlns:a16="http://schemas.microsoft.com/office/drawing/2014/main" id="{513DA410-85AE-38E7-FB82-0DE3265B069A}"/>
              </a:ext>
            </a:extLst>
          </p:cNvPr>
          <p:cNvSpPr/>
          <p:nvPr/>
        </p:nvSpPr>
        <p:spPr>
          <a:xfrm>
            <a:off x="6541152" y="5178067"/>
            <a:ext cx="575847" cy="502099"/>
          </a:xfrm>
          <a:prstGeom prst="roundRect">
            <a:avLst/>
          </a:prstGeom>
          <a:solidFill>
            <a:schemeClr val="accent2">
              <a:lumMod val="40000"/>
              <a:lumOff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2">
                    <a:lumMod val="75000"/>
                  </a:schemeClr>
                </a:solidFill>
                <a:latin typeface="Calibri" panose="020F0502020204030204" pitchFamily="34" charset="0"/>
                <a:cs typeface="Calibri" panose="020F0502020204030204" pitchFamily="34" charset="0"/>
              </a:rPr>
              <a:t>A</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570A9AC-3842-E9B2-3EC6-885BA2A63D70}"/>
                  </a:ext>
                </a:extLst>
              </p:cNvPr>
              <p:cNvSpPr txBox="1"/>
              <p:nvPr/>
            </p:nvSpPr>
            <p:spPr>
              <a:xfrm>
                <a:off x="4159145" y="5239852"/>
                <a:ext cx="2196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&gt;</m:t>
                      </m:r>
                    </m:oMath>
                  </m:oMathPara>
                </a14:m>
                <a:endParaRPr lang="en-US" dirty="0"/>
              </a:p>
            </p:txBody>
          </p:sp>
        </mc:Choice>
        <mc:Fallback xmlns="">
          <p:sp>
            <p:nvSpPr>
              <p:cNvPr id="54" name="TextBox 53">
                <a:extLst>
                  <a:ext uri="{FF2B5EF4-FFF2-40B4-BE49-F238E27FC236}">
                    <a16:creationId xmlns:a16="http://schemas.microsoft.com/office/drawing/2014/main" id="{D570A9AC-3842-E9B2-3EC6-885BA2A63D70}"/>
                  </a:ext>
                </a:extLst>
              </p:cNvPr>
              <p:cNvSpPr txBox="1">
                <a:spLocks noRot="1" noChangeAspect="1" noMove="1" noResize="1" noEditPoints="1" noAdjustHandles="1" noChangeArrowheads="1" noChangeShapeType="1" noTextEdit="1"/>
              </p:cNvSpPr>
              <p:nvPr/>
            </p:nvSpPr>
            <p:spPr>
              <a:xfrm>
                <a:off x="4159145" y="5239852"/>
                <a:ext cx="219612" cy="276999"/>
              </a:xfrm>
              <a:prstGeom prst="rect">
                <a:avLst/>
              </a:prstGeom>
              <a:blipFill>
                <a:blip r:embed="rId6"/>
                <a:stretch>
                  <a:fillRect l="-22222" r="-22222"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5FC0ACA-5B5F-29DA-FC48-615D52D1A1C9}"/>
                  </a:ext>
                </a:extLst>
              </p:cNvPr>
              <p:cNvSpPr txBox="1"/>
              <p:nvPr/>
            </p:nvSpPr>
            <p:spPr>
              <a:xfrm>
                <a:off x="5669234" y="5235846"/>
                <a:ext cx="52005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&gt;</m:t>
                      </m:r>
                    </m:oMath>
                  </m:oMathPara>
                </a14:m>
                <a:endParaRPr lang="en-US" dirty="0"/>
              </a:p>
            </p:txBody>
          </p:sp>
        </mc:Choice>
        <mc:Fallback xmlns="">
          <p:sp>
            <p:nvSpPr>
              <p:cNvPr id="56" name="TextBox 55">
                <a:extLst>
                  <a:ext uri="{FF2B5EF4-FFF2-40B4-BE49-F238E27FC236}">
                    <a16:creationId xmlns:a16="http://schemas.microsoft.com/office/drawing/2014/main" id="{C5FC0ACA-5B5F-29DA-FC48-615D52D1A1C9}"/>
                  </a:ext>
                </a:extLst>
              </p:cNvPr>
              <p:cNvSpPr txBox="1">
                <a:spLocks noRot="1" noChangeAspect="1" noMove="1" noResize="1" noEditPoints="1" noAdjustHandles="1" noChangeArrowheads="1" noChangeShapeType="1" noTextEdit="1"/>
              </p:cNvSpPr>
              <p:nvPr/>
            </p:nvSpPr>
            <p:spPr>
              <a:xfrm>
                <a:off x="5669234" y="5235846"/>
                <a:ext cx="520059" cy="276999"/>
              </a:xfrm>
              <a:prstGeom prst="rect">
                <a:avLst/>
              </a:prstGeom>
              <a:blipFill>
                <a:blip r:embed="rId7"/>
                <a:stretch>
                  <a:fillRect b="-4545"/>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AAEA2EDB-37E1-9327-BDF6-E376F98EB318}"/>
              </a:ext>
            </a:extLst>
          </p:cNvPr>
          <p:cNvSpPr txBox="1"/>
          <p:nvPr/>
        </p:nvSpPr>
        <p:spPr>
          <a:xfrm>
            <a:off x="2567430" y="5673476"/>
            <a:ext cx="1967833"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Action/Operation/Capability</a:t>
            </a:r>
          </a:p>
        </p:txBody>
      </p:sp>
      <p:sp>
        <p:nvSpPr>
          <p:cNvPr id="59" name="TextBox 58">
            <a:extLst>
              <a:ext uri="{FF2B5EF4-FFF2-40B4-BE49-F238E27FC236}">
                <a16:creationId xmlns:a16="http://schemas.microsoft.com/office/drawing/2014/main" id="{3E48CB91-8579-4573-723C-D24366F29889}"/>
              </a:ext>
            </a:extLst>
          </p:cNvPr>
          <p:cNvSpPr txBox="1"/>
          <p:nvPr/>
        </p:nvSpPr>
        <p:spPr>
          <a:xfrm>
            <a:off x="4586062" y="5703436"/>
            <a:ext cx="1644920"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Display/Visible state</a:t>
            </a:r>
          </a:p>
        </p:txBody>
      </p:sp>
      <p:sp>
        <p:nvSpPr>
          <p:cNvPr id="60" name="TextBox 59">
            <a:extLst>
              <a:ext uri="{FF2B5EF4-FFF2-40B4-BE49-F238E27FC236}">
                <a16:creationId xmlns:a16="http://schemas.microsoft.com/office/drawing/2014/main" id="{18C62EFD-0DDE-FB23-4B40-758B6296EFB8}"/>
              </a:ext>
            </a:extLst>
          </p:cNvPr>
          <p:cNvSpPr txBox="1"/>
          <p:nvPr/>
        </p:nvSpPr>
        <p:spPr>
          <a:xfrm>
            <a:off x="6435790" y="5673476"/>
            <a:ext cx="1255315"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Hearing repair</a:t>
            </a:r>
          </a:p>
        </p:txBody>
      </p:sp>
      <p:pic>
        <p:nvPicPr>
          <p:cNvPr id="64" name="Graphic 63" descr="Star with solid fill">
            <a:extLst>
              <a:ext uri="{FF2B5EF4-FFF2-40B4-BE49-F238E27FC236}">
                <a16:creationId xmlns:a16="http://schemas.microsoft.com/office/drawing/2014/main" id="{C2E19842-D839-A5D0-FF44-35D06496102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09200" y="1809354"/>
            <a:ext cx="486822" cy="486822"/>
          </a:xfrm>
          <a:prstGeom prst="rect">
            <a:avLst/>
          </a:prstGeom>
        </p:spPr>
      </p:pic>
      <p:sp>
        <p:nvSpPr>
          <p:cNvPr id="3" name="Right Brace 2">
            <a:extLst>
              <a:ext uri="{FF2B5EF4-FFF2-40B4-BE49-F238E27FC236}">
                <a16:creationId xmlns:a16="http://schemas.microsoft.com/office/drawing/2014/main" id="{2369D02A-0C33-B987-BAF7-2B81D89BF6A4}"/>
              </a:ext>
            </a:extLst>
          </p:cNvPr>
          <p:cNvSpPr/>
          <p:nvPr/>
        </p:nvSpPr>
        <p:spPr>
          <a:xfrm rot="5400000">
            <a:off x="6239557" y="2401497"/>
            <a:ext cx="369333" cy="3633416"/>
          </a:xfrm>
          <a:prstGeom prst="rightBrace">
            <a:avLst>
              <a:gd name="adj1" fmla="val 8333"/>
              <a:gd name="adj2" fmla="val 51789"/>
            </a:avLst>
          </a:prstGeom>
          <a:ln w="28575">
            <a:solidFill>
              <a:srgbClr val="FF9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56F6428C-D037-9E22-D03D-B39918F948A1}"/>
              </a:ext>
            </a:extLst>
          </p:cNvPr>
          <p:cNvSpPr txBox="1"/>
          <p:nvPr/>
        </p:nvSpPr>
        <p:spPr>
          <a:xfrm>
            <a:off x="4102274" y="6410942"/>
            <a:ext cx="4284743" cy="338554"/>
          </a:xfrm>
          <a:prstGeom prst="rect">
            <a:avLst/>
          </a:prstGeom>
          <a:noFill/>
        </p:spPr>
        <p:txBody>
          <a:bodyPr wrap="square">
            <a:spAutoFit/>
          </a:bodyPr>
          <a:lstStyle/>
          <a:p>
            <a:r>
              <a:rPr lang="en-US" sz="1600" dirty="0">
                <a:latin typeface="Calibri Light" panose="020F0302020204030204" pitchFamily="34" charset="0"/>
                <a:cs typeface="Calibri Light" panose="020F0302020204030204" pitchFamily="34" charset="0"/>
              </a:rPr>
              <a:t>*Benotti &amp; Blackburn (NAACL, 2021) </a:t>
            </a:r>
            <a:endParaRPr lang="en-US" dirty="0"/>
          </a:p>
        </p:txBody>
      </p:sp>
    </p:spTree>
    <p:extLst>
      <p:ext uri="{BB962C8B-B14F-4D97-AF65-F5344CB8AC3E}">
        <p14:creationId xmlns:p14="http://schemas.microsoft.com/office/powerpoint/2010/main" val="21451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3" grpId="0" animBg="1"/>
      <p:bldP spid="14" grpId="0" animBg="1"/>
      <p:bldP spid="31" grpId="1" animBg="1"/>
      <p:bldP spid="32" grpId="0" animBg="1"/>
      <p:bldP spid="43" grpId="0"/>
      <p:bldP spid="44" grpId="0"/>
      <p:bldP spid="49" grpId="0" animBg="1"/>
      <p:bldP spid="50" grpId="0" animBg="1"/>
      <p:bldP spid="52" grpId="0" animBg="1"/>
      <p:bldP spid="53" grpId="0" animBg="1"/>
      <p:bldP spid="54" grpId="0"/>
      <p:bldP spid="56" grpId="0"/>
      <p:bldP spid="58" grpId="0"/>
      <p:bldP spid="59" grpId="0"/>
      <p:bldP spid="60" grpId="0"/>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C9E7F6-B5EB-1E1F-8B15-408DDD9ADC80}"/>
              </a:ext>
            </a:extLst>
          </p:cNvPr>
          <p:cNvSpPr>
            <a:spLocks noGrp="1"/>
          </p:cNvSpPr>
          <p:nvPr>
            <p:ph type="sldNum" sz="quarter" idx="12"/>
          </p:nvPr>
        </p:nvSpPr>
        <p:spPr>
          <a:xfrm>
            <a:off x="11200263" y="6424590"/>
            <a:ext cx="523902"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9</a:t>
            </a:fld>
            <a:endParaRPr lang="en-US" sz="320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05FF5063-A350-69A8-1E11-2308A620A0FB}"/>
              </a:ext>
            </a:extLst>
          </p:cNvPr>
          <p:cNvSpPr>
            <a:spLocks noGrp="1"/>
          </p:cNvSpPr>
          <p:nvPr>
            <p:ph type="title"/>
          </p:nvPr>
        </p:nvSpPr>
        <p:spPr>
          <a:xfrm>
            <a:off x="508000" y="387522"/>
            <a:ext cx="11308077" cy="758527"/>
          </a:xfrm>
        </p:spPr>
        <p:txBody>
          <a:bodyPr>
            <a:normAutofit fontScale="90000"/>
          </a:bodyPr>
          <a:lstStyle/>
          <a:p>
            <a:pPr algn="ctr"/>
            <a:r>
              <a:rPr lang="en-US" sz="4000" dirty="0">
                <a:latin typeface="Calibri" panose="020F0502020204030204" pitchFamily="34" charset="0"/>
                <a:cs typeface="Calibri" panose="020F0502020204030204" pitchFamily="34" charset="0"/>
              </a:rPr>
              <a:t>Most Clarifications are Grounded in Recent Context</a:t>
            </a:r>
          </a:p>
        </p:txBody>
      </p:sp>
      <p:sp>
        <p:nvSpPr>
          <p:cNvPr id="6" name="Rounded Rectangle 5">
            <a:extLst>
              <a:ext uri="{FF2B5EF4-FFF2-40B4-BE49-F238E27FC236}">
                <a16:creationId xmlns:a16="http://schemas.microsoft.com/office/drawing/2014/main" id="{27AF7752-54E2-6EF2-D0F5-48B9A9D71F08}"/>
              </a:ext>
            </a:extLst>
          </p:cNvPr>
          <p:cNvSpPr/>
          <p:nvPr/>
        </p:nvSpPr>
        <p:spPr>
          <a:xfrm>
            <a:off x="494343" y="1261869"/>
            <a:ext cx="2784661" cy="4823544"/>
          </a:xfrm>
          <a:prstGeom prst="roundRect">
            <a:avLst/>
          </a:prstGeom>
          <a:solidFill>
            <a:schemeClr val="accent3">
              <a:lumMod val="20000"/>
              <a:lumOff val="8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u="sng" dirty="0">
                <a:solidFill>
                  <a:schemeClr val="tx2">
                    <a:lumMod val="75000"/>
                    <a:lumOff val="25000"/>
                  </a:schemeClr>
                </a:solidFill>
                <a:latin typeface="Calibri" panose="020F0502020204030204" pitchFamily="34" charset="0"/>
                <a:cs typeface="Calibri" panose="020F0502020204030204" pitchFamily="34" charset="0"/>
              </a:rPr>
              <a:t>Analysis</a:t>
            </a:r>
          </a:p>
          <a:p>
            <a:pPr marL="457200" indent="-457200">
              <a:buFont typeface="Arial" panose="020B0604020202020204" pitchFamily="34" charset="0"/>
              <a:buChar char="•"/>
            </a:pPr>
            <a:r>
              <a:rPr lang="en-US" sz="2200" dirty="0">
                <a:solidFill>
                  <a:schemeClr val="tx2">
                    <a:lumMod val="75000"/>
                    <a:lumOff val="25000"/>
                  </a:schemeClr>
                </a:solidFill>
                <a:latin typeface="Calibri" panose="020F0502020204030204" pitchFamily="34" charset="0"/>
                <a:cs typeface="Calibri" panose="020F0502020204030204" pitchFamily="34" charset="0"/>
              </a:rPr>
              <a:t>34 CRs  from sample of 440 utterances</a:t>
            </a:r>
          </a:p>
          <a:p>
            <a:pPr marL="457200" indent="-457200">
              <a:buFont typeface="Arial" panose="020B0604020202020204" pitchFamily="34" charset="0"/>
              <a:buChar char="•"/>
            </a:pPr>
            <a:r>
              <a:rPr lang="en-US" sz="2200" dirty="0">
                <a:solidFill>
                  <a:schemeClr val="tx2">
                    <a:lumMod val="75000"/>
                    <a:lumOff val="25000"/>
                  </a:schemeClr>
                </a:solidFill>
                <a:latin typeface="Calibri" panose="020F0502020204030204" pitchFamily="34" charset="0"/>
                <a:cs typeface="Calibri" panose="020F0502020204030204" pitchFamily="34" charset="0"/>
              </a:rPr>
              <a:t>For each CR manually inspected up to 10 preceding turns</a:t>
            </a:r>
          </a:p>
          <a:p>
            <a:pPr marL="457200" indent="-457200">
              <a:buFont typeface="Arial" panose="020B0604020202020204" pitchFamily="34" charset="0"/>
              <a:buChar char="•"/>
            </a:pPr>
            <a:r>
              <a:rPr lang="en-US" sz="2200" dirty="0">
                <a:solidFill>
                  <a:schemeClr val="tx2">
                    <a:lumMod val="75000"/>
                    <a:lumOff val="25000"/>
                  </a:schemeClr>
                </a:solidFill>
                <a:latin typeface="Calibri" panose="020F0502020204030204" pitchFamily="34" charset="0"/>
                <a:cs typeface="Calibri" panose="020F0502020204030204" pitchFamily="34" charset="0"/>
              </a:rPr>
              <a:t>Identified nearest plausible prior source of uncertainty</a:t>
            </a:r>
          </a:p>
        </p:txBody>
      </p:sp>
      <p:sp>
        <p:nvSpPr>
          <p:cNvPr id="7" name="Rounded Rectangle 6">
            <a:extLst>
              <a:ext uri="{FF2B5EF4-FFF2-40B4-BE49-F238E27FC236}">
                <a16:creationId xmlns:a16="http://schemas.microsoft.com/office/drawing/2014/main" id="{18A9456F-9112-F872-897C-A0F29EE38874}"/>
              </a:ext>
            </a:extLst>
          </p:cNvPr>
          <p:cNvSpPr/>
          <p:nvPr/>
        </p:nvSpPr>
        <p:spPr>
          <a:xfrm>
            <a:off x="9414881" y="1208288"/>
            <a:ext cx="2386257" cy="4395536"/>
          </a:xfrm>
          <a:prstGeom prst="roundRect">
            <a:avLst/>
          </a:prstGeom>
          <a:solidFill>
            <a:schemeClr val="accent1">
              <a:lumMod val="20000"/>
              <a:lumOff val="8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2">
                  <a:lumMod val="25000"/>
                </a:schemeClr>
              </a:solidFill>
              <a:latin typeface="Calibri" panose="020F0502020204030204" pitchFamily="34" charset="0"/>
              <a:cs typeface="Calibri" panose="020F0502020204030204" pitchFamily="34" charset="0"/>
            </a:endParaRPr>
          </a:p>
          <a:p>
            <a:pPr algn="ctr"/>
            <a:r>
              <a:rPr lang="en-US" sz="3200" dirty="0">
                <a:solidFill>
                  <a:schemeClr val="bg2">
                    <a:lumMod val="25000"/>
                  </a:schemeClr>
                </a:solidFill>
                <a:latin typeface="Calibri" panose="020F0502020204030204" pitchFamily="34" charset="0"/>
                <a:cs typeface="Calibri" panose="020F0502020204030204" pitchFamily="34" charset="0"/>
              </a:rPr>
              <a:t>73.5%</a:t>
            </a:r>
          </a:p>
          <a:p>
            <a:pPr algn="ctr"/>
            <a:r>
              <a:rPr lang="en-US" sz="3200" dirty="0">
                <a:solidFill>
                  <a:schemeClr val="bg2">
                    <a:lumMod val="25000"/>
                  </a:schemeClr>
                </a:solidFill>
                <a:latin typeface="Calibri" panose="020F0502020204030204" pitchFamily="34" charset="0"/>
                <a:cs typeface="Calibri" panose="020F0502020204030204" pitchFamily="34" charset="0"/>
              </a:rPr>
              <a:t>Of sampled CRs grounded within previous 2 turns</a:t>
            </a:r>
          </a:p>
        </p:txBody>
      </p:sp>
      <p:sp>
        <p:nvSpPr>
          <p:cNvPr id="8" name="Oval 7">
            <a:extLst>
              <a:ext uri="{FF2B5EF4-FFF2-40B4-BE49-F238E27FC236}">
                <a16:creationId xmlns:a16="http://schemas.microsoft.com/office/drawing/2014/main" id="{126D5E53-3C2A-86FD-B3FC-91EB72C8103A}"/>
              </a:ext>
            </a:extLst>
          </p:cNvPr>
          <p:cNvSpPr/>
          <p:nvPr/>
        </p:nvSpPr>
        <p:spPr>
          <a:xfrm>
            <a:off x="5067161" y="2507707"/>
            <a:ext cx="798484" cy="813012"/>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rgbClr val="7030A0"/>
                </a:solidFill>
                <a:latin typeface="Calibri" panose="020F0502020204030204" pitchFamily="34" charset="0"/>
                <a:cs typeface="Calibri" panose="020F0502020204030204" pitchFamily="34" charset="0"/>
              </a:rPr>
              <a:t>Turn -4</a:t>
            </a:r>
          </a:p>
        </p:txBody>
      </p:sp>
      <p:sp>
        <p:nvSpPr>
          <p:cNvPr id="9" name="Oval 8">
            <a:extLst>
              <a:ext uri="{FF2B5EF4-FFF2-40B4-BE49-F238E27FC236}">
                <a16:creationId xmlns:a16="http://schemas.microsoft.com/office/drawing/2014/main" id="{8F7BCAA7-00F7-382E-BB89-EC83B49CB3C0}"/>
              </a:ext>
            </a:extLst>
          </p:cNvPr>
          <p:cNvSpPr/>
          <p:nvPr/>
        </p:nvSpPr>
        <p:spPr>
          <a:xfrm>
            <a:off x="4200888" y="2527760"/>
            <a:ext cx="798484" cy="813012"/>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rgbClr val="7030A0"/>
                </a:solidFill>
                <a:latin typeface="Calibri" panose="020F0502020204030204" pitchFamily="34" charset="0"/>
                <a:cs typeface="Calibri" panose="020F0502020204030204" pitchFamily="34" charset="0"/>
              </a:rPr>
              <a:t>Turn -5</a:t>
            </a:r>
          </a:p>
        </p:txBody>
      </p:sp>
      <p:sp>
        <p:nvSpPr>
          <p:cNvPr id="10" name="Oval 9">
            <a:extLst>
              <a:ext uri="{FF2B5EF4-FFF2-40B4-BE49-F238E27FC236}">
                <a16:creationId xmlns:a16="http://schemas.microsoft.com/office/drawing/2014/main" id="{5E01E810-5904-CA3C-FFEB-5E2EDE20B0AE}"/>
              </a:ext>
            </a:extLst>
          </p:cNvPr>
          <p:cNvSpPr/>
          <p:nvPr/>
        </p:nvSpPr>
        <p:spPr>
          <a:xfrm>
            <a:off x="3322579" y="2534656"/>
            <a:ext cx="798484" cy="813012"/>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rgbClr val="7030A0"/>
                </a:solidFill>
                <a:latin typeface="Calibri" panose="020F0502020204030204" pitchFamily="34" charset="0"/>
                <a:cs typeface="Calibri" panose="020F0502020204030204" pitchFamily="34" charset="0"/>
              </a:rPr>
              <a:t>Turn -6          </a:t>
            </a:r>
          </a:p>
        </p:txBody>
      </p:sp>
      <p:sp>
        <p:nvSpPr>
          <p:cNvPr id="11" name="Oval 10">
            <a:extLst>
              <a:ext uri="{FF2B5EF4-FFF2-40B4-BE49-F238E27FC236}">
                <a16:creationId xmlns:a16="http://schemas.microsoft.com/office/drawing/2014/main" id="{5FE228C8-8E21-28E0-EB12-A0BEA5407239}"/>
              </a:ext>
            </a:extLst>
          </p:cNvPr>
          <p:cNvSpPr/>
          <p:nvPr/>
        </p:nvSpPr>
        <p:spPr>
          <a:xfrm>
            <a:off x="5957495" y="2483647"/>
            <a:ext cx="798484" cy="813012"/>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rgbClr val="7030A0"/>
                </a:solidFill>
                <a:latin typeface="Calibri" panose="020F0502020204030204" pitchFamily="34" charset="0"/>
                <a:cs typeface="Calibri" panose="020F0502020204030204" pitchFamily="34" charset="0"/>
              </a:rPr>
              <a:t>Turn -3</a:t>
            </a:r>
          </a:p>
        </p:txBody>
      </p:sp>
      <p:sp>
        <p:nvSpPr>
          <p:cNvPr id="12" name="Oval 11">
            <a:extLst>
              <a:ext uri="{FF2B5EF4-FFF2-40B4-BE49-F238E27FC236}">
                <a16:creationId xmlns:a16="http://schemas.microsoft.com/office/drawing/2014/main" id="{9FB85A87-B043-FD8D-1510-902674290575}"/>
              </a:ext>
            </a:extLst>
          </p:cNvPr>
          <p:cNvSpPr/>
          <p:nvPr/>
        </p:nvSpPr>
        <p:spPr>
          <a:xfrm>
            <a:off x="6831792" y="2467602"/>
            <a:ext cx="798484" cy="813012"/>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rgbClr val="7030A0"/>
                </a:solidFill>
                <a:latin typeface="Calibri" panose="020F0502020204030204" pitchFamily="34" charset="0"/>
                <a:cs typeface="Calibri" panose="020F0502020204030204" pitchFamily="34" charset="0"/>
              </a:rPr>
              <a:t>Turn -2</a:t>
            </a:r>
          </a:p>
        </p:txBody>
      </p:sp>
      <p:sp>
        <p:nvSpPr>
          <p:cNvPr id="13" name="Oval 12">
            <a:extLst>
              <a:ext uri="{FF2B5EF4-FFF2-40B4-BE49-F238E27FC236}">
                <a16:creationId xmlns:a16="http://schemas.microsoft.com/office/drawing/2014/main" id="{361911E9-D6D6-8240-A8E1-9AF15816D894}"/>
              </a:ext>
            </a:extLst>
          </p:cNvPr>
          <p:cNvSpPr/>
          <p:nvPr/>
        </p:nvSpPr>
        <p:spPr>
          <a:xfrm>
            <a:off x="7698066" y="2467601"/>
            <a:ext cx="798484" cy="813012"/>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b="1" dirty="0">
                <a:solidFill>
                  <a:srgbClr val="7030A0"/>
                </a:solidFill>
                <a:latin typeface="Calibri" panose="020F0502020204030204" pitchFamily="34" charset="0"/>
                <a:cs typeface="Calibri" panose="020F0502020204030204" pitchFamily="34" charset="0"/>
              </a:rPr>
              <a:t>Turn      -1</a:t>
            </a:r>
          </a:p>
        </p:txBody>
      </p:sp>
      <p:sp>
        <p:nvSpPr>
          <p:cNvPr id="14" name="Oval 13">
            <a:extLst>
              <a:ext uri="{FF2B5EF4-FFF2-40B4-BE49-F238E27FC236}">
                <a16:creationId xmlns:a16="http://schemas.microsoft.com/office/drawing/2014/main" id="{3DAC93AA-9F75-2290-F322-03D8FFF7998B}"/>
              </a:ext>
            </a:extLst>
          </p:cNvPr>
          <p:cNvSpPr/>
          <p:nvPr/>
        </p:nvSpPr>
        <p:spPr>
          <a:xfrm>
            <a:off x="8572364" y="2467601"/>
            <a:ext cx="798484" cy="813012"/>
          </a:xfrm>
          <a:prstGeom prst="ellipse">
            <a:avLst/>
          </a:prstGeom>
          <a:solidFill>
            <a:schemeClr val="accent1">
              <a:lumMod val="20000"/>
              <a:lumOff val="8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bg2">
                    <a:lumMod val="25000"/>
                  </a:schemeClr>
                </a:solidFill>
                <a:latin typeface="Calibri" panose="020F0502020204030204" pitchFamily="34" charset="0"/>
                <a:cs typeface="Calibri" panose="020F0502020204030204" pitchFamily="34" charset="0"/>
              </a:rPr>
              <a:t>CR</a:t>
            </a:r>
          </a:p>
        </p:txBody>
      </p:sp>
      <p:cxnSp>
        <p:nvCxnSpPr>
          <p:cNvPr id="16" name="Straight Connector 15">
            <a:extLst>
              <a:ext uri="{FF2B5EF4-FFF2-40B4-BE49-F238E27FC236}">
                <a16:creationId xmlns:a16="http://schemas.microsoft.com/office/drawing/2014/main" id="{25D7171D-1243-D65B-C456-7C658E33858D}"/>
              </a:ext>
            </a:extLst>
          </p:cNvPr>
          <p:cNvCxnSpPr/>
          <p:nvPr/>
        </p:nvCxnSpPr>
        <p:spPr>
          <a:xfrm>
            <a:off x="8572364" y="2281055"/>
            <a:ext cx="136360" cy="184486"/>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3E6199B-1DF1-AB12-F63F-E18A5051D08C}"/>
              </a:ext>
            </a:extLst>
          </p:cNvPr>
          <p:cNvCxnSpPr>
            <a:cxnSpLocks/>
          </p:cNvCxnSpPr>
          <p:nvPr/>
        </p:nvCxnSpPr>
        <p:spPr>
          <a:xfrm>
            <a:off x="8909250" y="2095582"/>
            <a:ext cx="0" cy="312821"/>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0E67218-9DB6-F005-E301-1CAABDC76BC3}"/>
              </a:ext>
            </a:extLst>
          </p:cNvPr>
          <p:cNvCxnSpPr>
            <a:cxnSpLocks/>
          </p:cNvCxnSpPr>
          <p:nvPr/>
        </p:nvCxnSpPr>
        <p:spPr>
          <a:xfrm flipV="1">
            <a:off x="9157900" y="2281055"/>
            <a:ext cx="136360" cy="15240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Right Brace 24">
            <a:extLst>
              <a:ext uri="{FF2B5EF4-FFF2-40B4-BE49-F238E27FC236}">
                <a16:creationId xmlns:a16="http://schemas.microsoft.com/office/drawing/2014/main" id="{563C666A-8C87-1B33-83D4-93624EE27497}"/>
              </a:ext>
            </a:extLst>
          </p:cNvPr>
          <p:cNvSpPr/>
          <p:nvPr/>
        </p:nvSpPr>
        <p:spPr>
          <a:xfrm rot="5400000">
            <a:off x="7883272" y="2246613"/>
            <a:ext cx="469233" cy="2384823"/>
          </a:xfrm>
          <a:prstGeom prst="rightBrac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Calibri" panose="020F0502020204030204" pitchFamily="34" charset="0"/>
              <a:cs typeface="Calibri" panose="020F0502020204030204" pitchFamily="34" charset="0"/>
            </a:endParaRPr>
          </a:p>
        </p:txBody>
      </p:sp>
      <p:sp>
        <p:nvSpPr>
          <p:cNvPr id="37" name="Right Bracket 36">
            <a:extLst>
              <a:ext uri="{FF2B5EF4-FFF2-40B4-BE49-F238E27FC236}">
                <a16:creationId xmlns:a16="http://schemas.microsoft.com/office/drawing/2014/main" id="{9F8A9C4C-263F-D9F2-7739-872D6BB0D015}"/>
              </a:ext>
            </a:extLst>
          </p:cNvPr>
          <p:cNvSpPr/>
          <p:nvPr/>
        </p:nvSpPr>
        <p:spPr>
          <a:xfrm rot="5400000">
            <a:off x="6044046" y="831966"/>
            <a:ext cx="629648" cy="5938151"/>
          </a:xfrm>
          <a:prstGeom prst="rightBracket">
            <a:avLst/>
          </a:prstGeom>
          <a:ln w="28575">
            <a:solidFill>
              <a:schemeClr val="accent6">
                <a:lumMod val="75000"/>
              </a:schemeClr>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916AE32E-88CF-74E2-1B6C-CEDBB74257CE}"/>
              </a:ext>
            </a:extLst>
          </p:cNvPr>
          <p:cNvSpPr txBox="1"/>
          <p:nvPr/>
        </p:nvSpPr>
        <p:spPr>
          <a:xfrm>
            <a:off x="7154779" y="3609473"/>
            <a:ext cx="1612231" cy="492443"/>
          </a:xfrm>
          <a:prstGeom prst="rect">
            <a:avLst/>
          </a:prstGeom>
          <a:noFill/>
        </p:spPr>
        <p:txBody>
          <a:bodyPr wrap="square" rtlCol="0">
            <a:spAutoFit/>
          </a:bodyPr>
          <a:lstStyle/>
          <a:p>
            <a:pPr algn="ctr"/>
            <a:r>
              <a:rPr lang="en-US" sz="2600" dirty="0">
                <a:solidFill>
                  <a:srgbClr val="7030A0"/>
                </a:solidFill>
                <a:latin typeface="Calibri" panose="020F0502020204030204" pitchFamily="34" charset="0"/>
                <a:cs typeface="Calibri" panose="020F0502020204030204" pitchFamily="34" charset="0"/>
              </a:rPr>
              <a:t>Most CRs</a:t>
            </a:r>
          </a:p>
        </p:txBody>
      </p:sp>
      <p:sp>
        <p:nvSpPr>
          <p:cNvPr id="39" name="TextBox 38">
            <a:extLst>
              <a:ext uri="{FF2B5EF4-FFF2-40B4-BE49-F238E27FC236}">
                <a16:creationId xmlns:a16="http://schemas.microsoft.com/office/drawing/2014/main" id="{091801B4-25D0-4C25-6119-C240F42C033F}"/>
              </a:ext>
            </a:extLst>
          </p:cNvPr>
          <p:cNvSpPr txBox="1"/>
          <p:nvPr/>
        </p:nvSpPr>
        <p:spPr>
          <a:xfrm>
            <a:off x="3356809" y="4215812"/>
            <a:ext cx="5658851" cy="1077218"/>
          </a:xfrm>
          <a:prstGeom prst="rect">
            <a:avLst/>
          </a:prstGeom>
          <a:noFill/>
        </p:spPr>
        <p:txBody>
          <a:bodyPr wrap="square" rtlCol="0">
            <a:spAutoFit/>
          </a:bodyPr>
          <a:lstStyle/>
          <a:p>
            <a:pPr algn="ctr"/>
            <a:r>
              <a:rPr lang="en-US" sz="3200" dirty="0">
                <a:solidFill>
                  <a:schemeClr val="accent6">
                    <a:lumMod val="75000"/>
                  </a:schemeClr>
                </a:solidFill>
                <a:latin typeface="Calibri" panose="020F0502020204030204" pitchFamily="34" charset="0"/>
                <a:cs typeface="Calibri" panose="020F0502020204030204" pitchFamily="34" charset="0"/>
              </a:rPr>
              <a:t>Context for Visual CRs occasionally go farther back</a:t>
            </a:r>
          </a:p>
        </p:txBody>
      </p:sp>
      <p:pic>
        <p:nvPicPr>
          <p:cNvPr id="42" name="Graphic 41" descr="Lights On with solid fill">
            <a:extLst>
              <a:ext uri="{FF2B5EF4-FFF2-40B4-BE49-F238E27FC236}">
                <a16:creationId xmlns:a16="http://schemas.microsoft.com/office/drawing/2014/main" id="{F9F9D5D3-2F14-D887-5869-2EE65FF50E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9017" y="1286639"/>
            <a:ext cx="627880" cy="627880"/>
          </a:xfrm>
          <a:prstGeom prst="rect">
            <a:avLst/>
          </a:prstGeom>
        </p:spPr>
      </p:pic>
    </p:spTree>
    <p:extLst>
      <p:ext uri="{BB962C8B-B14F-4D97-AF65-F5344CB8AC3E}">
        <p14:creationId xmlns:p14="http://schemas.microsoft.com/office/powerpoint/2010/main" val="37439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25" grpId="0" animBg="1"/>
      <p:bldP spid="37" grpId="0" animBg="1"/>
      <p:bldP spid="38" grpId="0"/>
      <p:bldP spid="38" grpId="1"/>
      <p:bldP spid="3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1E78F6-FB63-5B53-5235-D2276AD27FA7}"/>
              </a:ext>
            </a:extLst>
          </p:cNvPr>
          <p:cNvSpPr>
            <a:spLocks noGrp="1"/>
          </p:cNvSpPr>
          <p:nvPr>
            <p:ph type="sldNum" sz="quarter" idx="12"/>
          </p:nvPr>
        </p:nvSpPr>
        <p:spPr>
          <a:xfrm>
            <a:off x="11200263" y="6424590"/>
            <a:ext cx="523902"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10</a:t>
            </a:fld>
            <a:endParaRPr lang="en-US" sz="320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9A095262-DC1B-E55E-C3CF-D2ACE2F96E14}"/>
              </a:ext>
            </a:extLst>
          </p:cNvPr>
          <p:cNvSpPr>
            <a:spLocks noGrp="1"/>
          </p:cNvSpPr>
          <p:nvPr>
            <p:ph type="title"/>
          </p:nvPr>
        </p:nvSpPr>
        <p:spPr>
          <a:xfrm>
            <a:off x="1129139" y="348279"/>
            <a:ext cx="10333075" cy="758527"/>
          </a:xfrm>
        </p:spPr>
        <p:txBody>
          <a:bodyPr>
            <a:normAutofit/>
          </a:bodyPr>
          <a:lstStyle/>
          <a:p>
            <a:pPr algn="ctr"/>
            <a:r>
              <a:rPr lang="en-US" sz="3800" dirty="0">
                <a:latin typeface="Calibri" panose="020F0502020204030204" pitchFamily="34" charset="0"/>
                <a:cs typeface="Calibri" panose="020F0502020204030204" pitchFamily="34" charset="0"/>
              </a:rPr>
              <a:t>ClarVis Dataset At A Glance</a:t>
            </a:r>
          </a:p>
        </p:txBody>
      </p:sp>
      <p:sp>
        <p:nvSpPr>
          <p:cNvPr id="7" name="Rounded Rectangle 6">
            <a:extLst>
              <a:ext uri="{FF2B5EF4-FFF2-40B4-BE49-F238E27FC236}">
                <a16:creationId xmlns:a16="http://schemas.microsoft.com/office/drawing/2014/main" id="{82A65827-88B9-7736-0C27-B8B62394287C}"/>
              </a:ext>
            </a:extLst>
          </p:cNvPr>
          <p:cNvSpPr/>
          <p:nvPr/>
        </p:nvSpPr>
        <p:spPr>
          <a:xfrm>
            <a:off x="1491923" y="1029594"/>
            <a:ext cx="3080084" cy="67386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lumMod val="25000"/>
                  </a:schemeClr>
                </a:solidFill>
                <a:latin typeface="Calibri" panose="020F0502020204030204" pitchFamily="34" charset="0"/>
                <a:cs typeface="Calibri" panose="020F0502020204030204" pitchFamily="34" charset="0"/>
              </a:rPr>
              <a:t>The Corpus</a:t>
            </a:r>
          </a:p>
        </p:txBody>
      </p:sp>
      <p:sp>
        <p:nvSpPr>
          <p:cNvPr id="8" name="Rounded Rectangle 7">
            <a:extLst>
              <a:ext uri="{FF2B5EF4-FFF2-40B4-BE49-F238E27FC236}">
                <a16:creationId xmlns:a16="http://schemas.microsoft.com/office/drawing/2014/main" id="{54DC4578-4D6C-9E34-4442-FD80BCF39F3E}"/>
              </a:ext>
            </a:extLst>
          </p:cNvPr>
          <p:cNvSpPr/>
          <p:nvPr/>
        </p:nvSpPr>
        <p:spPr>
          <a:xfrm>
            <a:off x="6224238" y="1042538"/>
            <a:ext cx="5448353" cy="96914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lumMod val="25000"/>
                  </a:schemeClr>
                </a:solidFill>
                <a:latin typeface="Calibri" panose="020F0502020204030204" pitchFamily="34" charset="0"/>
                <a:cs typeface="Calibri" panose="020F0502020204030204" pitchFamily="34" charset="0"/>
              </a:rPr>
              <a:t>Grounding Modality Distribution </a:t>
            </a:r>
            <a:r>
              <a:rPr lang="en-US" sz="3600">
                <a:solidFill>
                  <a:schemeClr val="bg2">
                    <a:lumMod val="25000"/>
                  </a:schemeClr>
                </a:solidFill>
                <a:latin typeface="Calibri" panose="020F0502020204030204" pitchFamily="34" charset="0"/>
                <a:cs typeface="Calibri" panose="020F0502020204030204" pitchFamily="34" charset="0"/>
              </a:rPr>
              <a:t>(445 </a:t>
            </a:r>
            <a:r>
              <a:rPr lang="en-US" sz="3600" dirty="0">
                <a:solidFill>
                  <a:schemeClr val="bg2">
                    <a:lumMod val="25000"/>
                  </a:schemeClr>
                </a:solidFill>
                <a:latin typeface="Calibri" panose="020F0502020204030204" pitchFamily="34" charset="0"/>
                <a:cs typeface="Calibri" panose="020F0502020204030204" pitchFamily="34" charset="0"/>
              </a:rPr>
              <a:t>CRs)</a:t>
            </a:r>
          </a:p>
        </p:txBody>
      </p:sp>
      <p:cxnSp>
        <p:nvCxnSpPr>
          <p:cNvPr id="9" name="Straight Connector 8">
            <a:extLst>
              <a:ext uri="{FF2B5EF4-FFF2-40B4-BE49-F238E27FC236}">
                <a16:creationId xmlns:a16="http://schemas.microsoft.com/office/drawing/2014/main" id="{2C062DC8-2F82-9816-4F4F-082A9A97EA90}"/>
              </a:ext>
            </a:extLst>
          </p:cNvPr>
          <p:cNvCxnSpPr>
            <a:cxnSpLocks/>
          </p:cNvCxnSpPr>
          <p:nvPr/>
        </p:nvCxnSpPr>
        <p:spPr>
          <a:xfrm>
            <a:off x="6146800" y="1993835"/>
            <a:ext cx="0" cy="3976005"/>
          </a:xfrm>
          <a:prstGeom prst="line">
            <a:avLst/>
          </a:prstGeom>
          <a:ln w="19050">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 name="Graphic 10" descr="User with solid fill">
            <a:extLst>
              <a:ext uri="{FF2B5EF4-FFF2-40B4-BE49-F238E27FC236}">
                <a16:creationId xmlns:a16="http://schemas.microsoft.com/office/drawing/2014/main" id="{7F338BB7-430F-56E9-87A4-DCD5E92BD1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5323" y="2247835"/>
            <a:ext cx="465422" cy="465422"/>
          </a:xfrm>
          <a:prstGeom prst="rect">
            <a:avLst/>
          </a:prstGeom>
        </p:spPr>
      </p:pic>
      <p:pic>
        <p:nvPicPr>
          <p:cNvPr id="12" name="Graphic 11" descr="User with solid fill">
            <a:extLst>
              <a:ext uri="{FF2B5EF4-FFF2-40B4-BE49-F238E27FC236}">
                <a16:creationId xmlns:a16="http://schemas.microsoft.com/office/drawing/2014/main" id="{398149AF-D30E-B308-F2BD-FDBF861606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0583" y="2247835"/>
            <a:ext cx="465422" cy="465422"/>
          </a:xfrm>
          <a:prstGeom prst="rect">
            <a:avLst/>
          </a:prstGeom>
        </p:spPr>
      </p:pic>
      <p:sp>
        <p:nvSpPr>
          <p:cNvPr id="13" name="TextBox 12">
            <a:extLst>
              <a:ext uri="{FF2B5EF4-FFF2-40B4-BE49-F238E27FC236}">
                <a16:creationId xmlns:a16="http://schemas.microsoft.com/office/drawing/2014/main" id="{8C01CFC3-1715-B914-0907-2A210F6D1037}"/>
              </a:ext>
            </a:extLst>
          </p:cNvPr>
          <p:cNvSpPr txBox="1"/>
          <p:nvPr/>
        </p:nvSpPr>
        <p:spPr>
          <a:xfrm>
            <a:off x="1365334" y="1729424"/>
            <a:ext cx="4531309" cy="2123658"/>
          </a:xfrm>
          <a:prstGeom prst="rect">
            <a:avLst/>
          </a:prstGeom>
          <a:noFill/>
        </p:spPr>
        <p:txBody>
          <a:bodyPr wrap="square" rtlCol="0">
            <a:spAutoFit/>
          </a:bodyPr>
          <a:lstStyle/>
          <a:p>
            <a:r>
              <a:rPr lang="en-US" sz="2200" b="1" dirty="0">
                <a:latin typeface="Calibri" panose="020F0502020204030204" pitchFamily="34" charset="0"/>
                <a:cs typeface="Calibri" panose="020F0502020204030204" pitchFamily="34" charset="0"/>
              </a:rPr>
              <a:t>29 dialogues</a:t>
            </a:r>
          </a:p>
          <a:p>
            <a:r>
              <a:rPr lang="en-US" sz="2200" b="1" dirty="0">
                <a:solidFill>
                  <a:schemeClr val="accent2">
                    <a:lumMod val="75000"/>
                  </a:schemeClr>
                </a:solidFill>
                <a:latin typeface="Calibri" panose="020F0502020204030204" pitchFamily="34" charset="0"/>
                <a:cs typeface="Calibri" panose="020F0502020204030204" pitchFamily="34" charset="0"/>
              </a:rPr>
              <a:t>6,927 total turns (all user and system interactions)</a:t>
            </a:r>
          </a:p>
          <a:p>
            <a:pPr marL="914400" lvl="1" indent="-457200">
              <a:buFont typeface="Arial" panose="020B0604020202020204" pitchFamily="34" charset="0"/>
              <a:buChar char="•"/>
            </a:pPr>
            <a:r>
              <a:rPr lang="en-US" sz="2200" b="1" dirty="0">
                <a:latin typeface="Calibri" panose="020F0502020204030204" pitchFamily="34" charset="0"/>
                <a:cs typeface="Calibri" panose="020F0502020204030204" pitchFamily="34" charset="0"/>
              </a:rPr>
              <a:t>6,377 user utterances</a:t>
            </a:r>
          </a:p>
          <a:p>
            <a:pPr marL="914400" lvl="1" indent="-457200">
              <a:buFont typeface="Arial" panose="020B0604020202020204" pitchFamily="34" charset="0"/>
              <a:buChar char="•"/>
            </a:pPr>
            <a:r>
              <a:rPr lang="en-US" sz="2200" b="1" dirty="0">
                <a:latin typeface="Calibri" panose="020F0502020204030204" pitchFamily="34" charset="0"/>
                <a:cs typeface="Calibri" panose="020F0502020204030204" pitchFamily="34" charset="0"/>
              </a:rPr>
              <a:t>550 system generated visualizations</a:t>
            </a:r>
          </a:p>
        </p:txBody>
      </p:sp>
      <p:pic>
        <p:nvPicPr>
          <p:cNvPr id="16" name="Graphic 15" descr="Chat with solid fill">
            <a:extLst>
              <a:ext uri="{FF2B5EF4-FFF2-40B4-BE49-F238E27FC236}">
                <a16:creationId xmlns:a16="http://schemas.microsoft.com/office/drawing/2014/main" id="{16C5A3B9-D09C-F26B-C0A9-504A632BFA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7102" y="1738419"/>
            <a:ext cx="665743" cy="665743"/>
          </a:xfrm>
          <a:prstGeom prst="rect">
            <a:avLst/>
          </a:prstGeom>
        </p:spPr>
      </p:pic>
      <p:sp>
        <p:nvSpPr>
          <p:cNvPr id="17" name="Rounded Rectangle 16">
            <a:extLst>
              <a:ext uri="{FF2B5EF4-FFF2-40B4-BE49-F238E27FC236}">
                <a16:creationId xmlns:a16="http://schemas.microsoft.com/office/drawing/2014/main" id="{1651D1E4-A308-A472-5DD1-74EB3C3E03FA}"/>
              </a:ext>
            </a:extLst>
          </p:cNvPr>
          <p:cNvSpPr/>
          <p:nvPr/>
        </p:nvSpPr>
        <p:spPr>
          <a:xfrm>
            <a:off x="553960" y="3856939"/>
            <a:ext cx="5420120" cy="1673472"/>
          </a:xfrm>
          <a:prstGeom prst="roundRect">
            <a:avLst/>
          </a:prstGeom>
          <a:noFill/>
          <a:ln w="28575">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Lights On with solid fill">
            <a:extLst>
              <a:ext uri="{FF2B5EF4-FFF2-40B4-BE49-F238E27FC236}">
                <a16:creationId xmlns:a16="http://schemas.microsoft.com/office/drawing/2014/main" id="{9FA9F0E5-BA2A-3C3A-AFB9-B6240BDBE6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9858" y="4426677"/>
            <a:ext cx="538111" cy="538111"/>
          </a:xfrm>
          <a:prstGeom prst="rect">
            <a:avLst/>
          </a:prstGeom>
        </p:spPr>
      </p:pic>
      <p:sp>
        <p:nvSpPr>
          <p:cNvPr id="21" name="TextBox 20">
            <a:extLst>
              <a:ext uri="{FF2B5EF4-FFF2-40B4-BE49-F238E27FC236}">
                <a16:creationId xmlns:a16="http://schemas.microsoft.com/office/drawing/2014/main" id="{4604FCC0-072B-2ACB-8DB7-4215EB032209}"/>
              </a:ext>
            </a:extLst>
          </p:cNvPr>
          <p:cNvSpPr txBox="1"/>
          <p:nvPr/>
        </p:nvSpPr>
        <p:spPr>
          <a:xfrm>
            <a:off x="1173311" y="4077634"/>
            <a:ext cx="4531309" cy="1292662"/>
          </a:xfrm>
          <a:prstGeom prst="rect">
            <a:avLst/>
          </a:prstGeom>
          <a:noFill/>
        </p:spPr>
        <p:txBody>
          <a:bodyPr wrap="square" rtlCol="0">
            <a:spAutoFit/>
          </a:bodyPr>
          <a:lstStyle/>
          <a:p>
            <a:r>
              <a:rPr lang="en-US" sz="2600" dirty="0">
                <a:solidFill>
                  <a:schemeClr val="accent4">
                    <a:lumMod val="75000"/>
                  </a:schemeClr>
                </a:solidFill>
                <a:latin typeface="Calibri" panose="020F0502020204030204" pitchFamily="34" charset="0"/>
                <a:cs typeface="Calibri" panose="020F0502020204030204" pitchFamily="34" charset="0"/>
              </a:rPr>
              <a:t>445 </a:t>
            </a:r>
            <a:r>
              <a:rPr lang="en-US" sz="2600" dirty="0">
                <a:latin typeface="Calibri" panose="020F0502020204030204" pitchFamily="34" charset="0"/>
                <a:cs typeface="Calibri" panose="020F0502020204030204" pitchFamily="34" charset="0"/>
              </a:rPr>
              <a:t>Clarification Requests (CRs)</a:t>
            </a:r>
          </a:p>
          <a:p>
            <a:r>
              <a:rPr lang="en-US" sz="2600" dirty="0">
                <a:solidFill>
                  <a:schemeClr val="accent4">
                    <a:lumMod val="75000"/>
                  </a:schemeClr>
                </a:solidFill>
                <a:latin typeface="Calibri" panose="020F0502020204030204" pitchFamily="34" charset="0"/>
                <a:cs typeface="Calibri" panose="020F0502020204030204" pitchFamily="34" charset="0"/>
              </a:rPr>
              <a:t>6.4% </a:t>
            </a:r>
            <a:r>
              <a:rPr lang="en-US" sz="2600" dirty="0">
                <a:latin typeface="Calibri" panose="020F0502020204030204" pitchFamily="34" charset="0"/>
                <a:cs typeface="Calibri" panose="020F0502020204030204" pitchFamily="34" charset="0"/>
              </a:rPr>
              <a:t>of all turns, </a:t>
            </a:r>
            <a:r>
              <a:rPr lang="en-US" sz="2600" dirty="0">
                <a:solidFill>
                  <a:schemeClr val="accent4">
                    <a:lumMod val="75000"/>
                  </a:schemeClr>
                </a:solidFill>
                <a:latin typeface="Calibri" panose="020F0502020204030204" pitchFamily="34" charset="0"/>
                <a:cs typeface="Calibri" panose="020F0502020204030204" pitchFamily="34" charset="0"/>
              </a:rPr>
              <a:t>7.0% </a:t>
            </a:r>
            <a:r>
              <a:rPr lang="en-US" sz="2600" dirty="0">
                <a:latin typeface="Calibri" panose="020F0502020204030204" pitchFamily="34" charset="0"/>
                <a:cs typeface="Calibri" panose="020F0502020204030204" pitchFamily="34" charset="0"/>
              </a:rPr>
              <a:t>of all user utterances</a:t>
            </a:r>
          </a:p>
        </p:txBody>
      </p:sp>
      <p:pic>
        <p:nvPicPr>
          <p:cNvPr id="23" name="Graphic 22" descr="Star with solid fill">
            <a:extLst>
              <a:ext uri="{FF2B5EF4-FFF2-40B4-BE49-F238E27FC236}">
                <a16:creationId xmlns:a16="http://schemas.microsoft.com/office/drawing/2014/main" id="{4832D97E-7C12-D369-8190-ECA47F877A4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5323" y="5616709"/>
            <a:ext cx="483440" cy="483440"/>
          </a:xfrm>
          <a:prstGeom prst="rect">
            <a:avLst/>
          </a:prstGeom>
        </p:spPr>
      </p:pic>
      <p:sp>
        <p:nvSpPr>
          <p:cNvPr id="24" name="TextBox 23">
            <a:extLst>
              <a:ext uri="{FF2B5EF4-FFF2-40B4-BE49-F238E27FC236}">
                <a16:creationId xmlns:a16="http://schemas.microsoft.com/office/drawing/2014/main" id="{5DCF9D96-2CDA-2DB4-D4E0-0AA4E780E003}"/>
              </a:ext>
            </a:extLst>
          </p:cNvPr>
          <p:cNvSpPr txBox="1"/>
          <p:nvPr/>
        </p:nvSpPr>
        <p:spPr>
          <a:xfrm>
            <a:off x="847322" y="5632011"/>
            <a:ext cx="5228357" cy="553998"/>
          </a:xfrm>
          <a:prstGeom prst="rect">
            <a:avLst/>
          </a:prstGeom>
          <a:noFill/>
        </p:spPr>
        <p:txBody>
          <a:bodyPr wrap="square" rtlCol="0">
            <a:spAutoFit/>
          </a:bodyPr>
          <a:lstStyle/>
          <a:p>
            <a:r>
              <a:rPr lang="en-US" sz="3000" dirty="0">
                <a:latin typeface="Calibri" panose="020F0502020204030204" pitchFamily="34" charset="0"/>
                <a:cs typeface="Calibri" panose="020F0502020204030204" pitchFamily="34" charset="0"/>
              </a:rPr>
              <a:t>CRs are infrequent but </a:t>
            </a:r>
            <a:r>
              <a:rPr lang="en-US" sz="3000" b="1" u="sng" dirty="0">
                <a:solidFill>
                  <a:schemeClr val="bg2">
                    <a:lumMod val="25000"/>
                  </a:schemeClr>
                </a:solidFill>
                <a:latin typeface="Calibri" panose="020F0502020204030204" pitchFamily="34" charset="0"/>
                <a:cs typeface="Calibri" panose="020F0502020204030204" pitchFamily="34" charset="0"/>
              </a:rPr>
              <a:t>essential</a:t>
            </a:r>
          </a:p>
        </p:txBody>
      </p:sp>
      <p:graphicFrame>
        <p:nvGraphicFramePr>
          <p:cNvPr id="26" name="Chart 25">
            <a:extLst>
              <a:ext uri="{FF2B5EF4-FFF2-40B4-BE49-F238E27FC236}">
                <a16:creationId xmlns:a16="http://schemas.microsoft.com/office/drawing/2014/main" id="{677C60BA-A33A-BB55-E238-F40777111079}"/>
              </a:ext>
            </a:extLst>
          </p:cNvPr>
          <p:cNvGraphicFramePr/>
          <p:nvPr>
            <p:extLst>
              <p:ext uri="{D42A27DB-BD31-4B8C-83A1-F6EECF244321}">
                <p14:modId xmlns:p14="http://schemas.microsoft.com/office/powerpoint/2010/main" val="3422526664"/>
              </p:ext>
            </p:extLst>
          </p:nvPr>
        </p:nvGraphicFramePr>
        <p:xfrm>
          <a:off x="6505874" y="2320158"/>
          <a:ext cx="4852863" cy="3917351"/>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43039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3" grpId="0"/>
      <p:bldP spid="17" grpId="0" animBg="1"/>
      <p:bldP spid="21" grpId="0"/>
      <p:bldP spid="24" grpId="0"/>
      <p:bldGraphic spid="26"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ACEDB928-C611-5189-6D18-999D5FC92BF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CC7ECFE-09B7-2CB2-4C71-473352E865AA}"/>
              </a:ext>
            </a:extLst>
          </p:cNvPr>
          <p:cNvSpPr>
            <a:spLocks noGrp="1"/>
          </p:cNvSpPr>
          <p:nvPr>
            <p:ph type="title"/>
          </p:nvPr>
        </p:nvSpPr>
        <p:spPr>
          <a:xfrm>
            <a:off x="222609" y="399056"/>
            <a:ext cx="11887021" cy="491938"/>
          </a:xfrm>
        </p:spPr>
        <p:txBody>
          <a:bodyPr>
            <a:noAutofit/>
          </a:bodyPr>
          <a:lstStyle/>
          <a:p>
            <a:pPr algn="ctr"/>
            <a:r>
              <a:rPr lang="en-US" sz="3600" dirty="0">
                <a:latin typeface="Calibri" panose="020F0502020204030204" pitchFamily="34" charset="0"/>
                <a:cs typeface="Calibri" panose="020F0502020204030204" pitchFamily="34" charset="0"/>
              </a:rPr>
              <a:t>Recovering Clarifications from Dialogue Text</a:t>
            </a:r>
          </a:p>
        </p:txBody>
      </p:sp>
      <p:sp>
        <p:nvSpPr>
          <p:cNvPr id="2" name="Rounded Rectangle 1">
            <a:extLst>
              <a:ext uri="{FF2B5EF4-FFF2-40B4-BE49-F238E27FC236}">
                <a16:creationId xmlns:a16="http://schemas.microsoft.com/office/drawing/2014/main" id="{CE24D323-411A-4817-3098-386F3472279D}"/>
              </a:ext>
            </a:extLst>
          </p:cNvPr>
          <p:cNvSpPr/>
          <p:nvPr/>
        </p:nvSpPr>
        <p:spPr>
          <a:xfrm>
            <a:off x="566928" y="1350128"/>
            <a:ext cx="5510784" cy="3049422"/>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25CBE00-6EDA-3889-C58D-0F33EC6FA12E}"/>
              </a:ext>
            </a:extLst>
          </p:cNvPr>
          <p:cNvSpPr/>
          <p:nvPr/>
        </p:nvSpPr>
        <p:spPr>
          <a:xfrm>
            <a:off x="1534538" y="1136049"/>
            <a:ext cx="3840480" cy="751486"/>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accent2">
                    <a:lumMod val="50000"/>
                  </a:schemeClr>
                </a:solidFill>
                <a:latin typeface="Calibri" panose="020F0502020204030204" pitchFamily="34" charset="0"/>
                <a:cs typeface="Calibri" panose="020F0502020204030204" pitchFamily="34" charset="0"/>
              </a:rPr>
              <a:t>Task 1: CR Identification (CR-ID)</a:t>
            </a:r>
          </a:p>
        </p:txBody>
      </p:sp>
      <p:sp>
        <p:nvSpPr>
          <p:cNvPr id="8" name="TextBox 7">
            <a:extLst>
              <a:ext uri="{FF2B5EF4-FFF2-40B4-BE49-F238E27FC236}">
                <a16:creationId xmlns:a16="http://schemas.microsoft.com/office/drawing/2014/main" id="{72410395-E096-E33D-A44E-BDBC11051EB2}"/>
              </a:ext>
            </a:extLst>
          </p:cNvPr>
          <p:cNvSpPr txBox="1"/>
          <p:nvPr/>
        </p:nvSpPr>
        <p:spPr>
          <a:xfrm>
            <a:off x="734567" y="2807858"/>
            <a:ext cx="5175505" cy="1384995"/>
          </a:xfrm>
          <a:prstGeom prst="rect">
            <a:avLst/>
          </a:prstGeom>
          <a:noFill/>
        </p:spPr>
        <p:txBody>
          <a:bodyPr wrap="square" rtlCol="0">
            <a:spAutoFit/>
          </a:bodyPr>
          <a:lstStyle/>
          <a:p>
            <a:r>
              <a:rPr lang="en-US" sz="2800" dirty="0">
                <a:solidFill>
                  <a:schemeClr val="accent2"/>
                </a:solidFill>
                <a:latin typeface="Calibri" panose="020F0502020204030204" pitchFamily="34" charset="0"/>
                <a:cs typeface="Calibri" panose="020F0502020204030204" pitchFamily="34" charset="0"/>
              </a:rPr>
              <a:t>Input: </a:t>
            </a:r>
            <a:r>
              <a:rPr lang="en-US" sz="2800" dirty="0">
                <a:latin typeface="Calibri" panose="020F0502020204030204" pitchFamily="34" charset="0"/>
                <a:cs typeface="Calibri" panose="020F0502020204030204" pitchFamily="34" charset="0"/>
              </a:rPr>
              <a:t>User utterance + optional dialogue context</a:t>
            </a:r>
          </a:p>
          <a:p>
            <a:r>
              <a:rPr lang="en-US" sz="2800" dirty="0">
                <a:solidFill>
                  <a:schemeClr val="accent2"/>
                </a:solidFill>
                <a:latin typeface="Calibri" panose="020F0502020204030204" pitchFamily="34" charset="0"/>
                <a:cs typeface="Calibri" panose="020F0502020204030204" pitchFamily="34" charset="0"/>
              </a:rPr>
              <a:t>Output: </a:t>
            </a:r>
            <a:r>
              <a:rPr lang="en-US" sz="2800" dirty="0">
                <a:latin typeface="Calibri" panose="020F0502020204030204" pitchFamily="34" charset="0"/>
                <a:cs typeface="Calibri" panose="020F0502020204030204" pitchFamily="34" charset="0"/>
              </a:rPr>
              <a:t>CR vs Rest</a:t>
            </a:r>
          </a:p>
        </p:txBody>
      </p:sp>
      <p:sp>
        <p:nvSpPr>
          <p:cNvPr id="13" name="Oval Callout 12">
            <a:extLst>
              <a:ext uri="{FF2B5EF4-FFF2-40B4-BE49-F238E27FC236}">
                <a16:creationId xmlns:a16="http://schemas.microsoft.com/office/drawing/2014/main" id="{5824BFBA-942C-CEB1-6703-DAA3FB6CFBB3}"/>
              </a:ext>
            </a:extLst>
          </p:cNvPr>
          <p:cNvSpPr/>
          <p:nvPr/>
        </p:nvSpPr>
        <p:spPr>
          <a:xfrm>
            <a:off x="2775059" y="2165445"/>
            <a:ext cx="681373" cy="384048"/>
          </a:xfrm>
          <a:prstGeom prst="wedgeEllipseCallout">
            <a:avLst>
              <a:gd name="adj1" fmla="val -39621"/>
              <a:gd name="adj2" fmla="val 958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Callout 13">
            <a:extLst>
              <a:ext uri="{FF2B5EF4-FFF2-40B4-BE49-F238E27FC236}">
                <a16:creationId xmlns:a16="http://schemas.microsoft.com/office/drawing/2014/main" id="{8EF56C13-539E-9489-1636-3136AFA1C1F8}"/>
              </a:ext>
            </a:extLst>
          </p:cNvPr>
          <p:cNvSpPr/>
          <p:nvPr/>
        </p:nvSpPr>
        <p:spPr>
          <a:xfrm>
            <a:off x="3246007" y="2258988"/>
            <a:ext cx="681373" cy="384048"/>
          </a:xfrm>
          <a:prstGeom prst="wedgeEllipseCallout">
            <a:avLst>
              <a:gd name="adj1" fmla="val 38215"/>
              <a:gd name="adj2" fmla="val 86309"/>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48430F09-3588-BB0D-00B9-10A8CCAA5624}"/>
              </a:ext>
            </a:extLst>
          </p:cNvPr>
          <p:cNvSpPr/>
          <p:nvPr/>
        </p:nvSpPr>
        <p:spPr>
          <a:xfrm>
            <a:off x="594360" y="4476690"/>
            <a:ext cx="11157236" cy="171147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a16="http://schemas.microsoft.com/office/drawing/2014/main" id="{65D0C87E-1773-9160-0190-CBA728BFAC8F}"/>
              </a:ext>
            </a:extLst>
          </p:cNvPr>
          <p:cNvCxnSpPr/>
          <p:nvPr/>
        </p:nvCxnSpPr>
        <p:spPr>
          <a:xfrm>
            <a:off x="594360" y="5038882"/>
            <a:ext cx="11143520"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ADAECC-9637-DA53-B2B8-336D725ABCBD}"/>
              </a:ext>
            </a:extLst>
          </p:cNvPr>
          <p:cNvSpPr txBox="1"/>
          <p:nvPr/>
        </p:nvSpPr>
        <p:spPr>
          <a:xfrm>
            <a:off x="5110680" y="4519239"/>
            <a:ext cx="2972018" cy="553998"/>
          </a:xfrm>
          <a:prstGeom prst="rect">
            <a:avLst/>
          </a:prstGeom>
          <a:noFill/>
        </p:spPr>
        <p:txBody>
          <a:bodyPr wrap="square" rtlCol="0">
            <a:spAutoFit/>
          </a:bodyPr>
          <a:lstStyle/>
          <a:p>
            <a:r>
              <a:rPr lang="en-US" sz="3000" dirty="0">
                <a:latin typeface="Calibri" panose="020F0502020204030204" pitchFamily="34" charset="0"/>
                <a:cs typeface="Calibri" panose="020F0502020204030204" pitchFamily="34" charset="0"/>
              </a:rPr>
              <a:t>Context Setting</a:t>
            </a:r>
          </a:p>
        </p:txBody>
      </p:sp>
      <p:sp>
        <p:nvSpPr>
          <p:cNvPr id="22" name="Oval 21">
            <a:extLst>
              <a:ext uri="{FF2B5EF4-FFF2-40B4-BE49-F238E27FC236}">
                <a16:creationId xmlns:a16="http://schemas.microsoft.com/office/drawing/2014/main" id="{05DA7DFC-69D8-DE7D-3CB2-514534E02A18}"/>
              </a:ext>
            </a:extLst>
          </p:cNvPr>
          <p:cNvSpPr/>
          <p:nvPr/>
        </p:nvSpPr>
        <p:spPr>
          <a:xfrm>
            <a:off x="677549" y="5535099"/>
            <a:ext cx="253730" cy="276206"/>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59B5F6D9-8403-B05F-C028-5F92651EBBE1}"/>
              </a:ext>
            </a:extLst>
          </p:cNvPr>
          <p:cNvSpPr/>
          <p:nvPr/>
        </p:nvSpPr>
        <p:spPr>
          <a:xfrm>
            <a:off x="1049387" y="5543494"/>
            <a:ext cx="253730" cy="276206"/>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1B7492C7-AA2C-62D0-426E-08C7E3548A23}"/>
              </a:ext>
            </a:extLst>
          </p:cNvPr>
          <p:cNvSpPr/>
          <p:nvPr/>
        </p:nvSpPr>
        <p:spPr>
          <a:xfrm>
            <a:off x="1407673" y="5543494"/>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5" name="Oval 24">
            <a:extLst>
              <a:ext uri="{FF2B5EF4-FFF2-40B4-BE49-F238E27FC236}">
                <a16:creationId xmlns:a16="http://schemas.microsoft.com/office/drawing/2014/main" id="{CB0FE7F7-3FF0-4EE5-CC26-960CFF81A4AA}"/>
              </a:ext>
            </a:extLst>
          </p:cNvPr>
          <p:cNvSpPr/>
          <p:nvPr/>
        </p:nvSpPr>
        <p:spPr>
          <a:xfrm>
            <a:off x="4114836" y="5543494"/>
            <a:ext cx="253730" cy="276206"/>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6" name="Oval 25">
            <a:extLst>
              <a:ext uri="{FF2B5EF4-FFF2-40B4-BE49-F238E27FC236}">
                <a16:creationId xmlns:a16="http://schemas.microsoft.com/office/drawing/2014/main" id="{63FDAE36-D975-93DC-EF2A-CE3B7DE6DC14}"/>
              </a:ext>
            </a:extLst>
          </p:cNvPr>
          <p:cNvSpPr/>
          <p:nvPr/>
        </p:nvSpPr>
        <p:spPr>
          <a:xfrm>
            <a:off x="4474717" y="554050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8735890D-5268-094D-3F99-B8DCCC44B118}"/>
              </a:ext>
            </a:extLst>
          </p:cNvPr>
          <p:cNvSpPr/>
          <p:nvPr/>
        </p:nvSpPr>
        <p:spPr>
          <a:xfrm>
            <a:off x="4834598" y="554050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Oval 27">
            <a:extLst>
              <a:ext uri="{FF2B5EF4-FFF2-40B4-BE49-F238E27FC236}">
                <a16:creationId xmlns:a16="http://schemas.microsoft.com/office/drawing/2014/main" id="{B7B84FA7-ECF0-5140-1401-14CD0B91248C}"/>
              </a:ext>
            </a:extLst>
          </p:cNvPr>
          <p:cNvSpPr/>
          <p:nvPr/>
        </p:nvSpPr>
        <p:spPr>
          <a:xfrm>
            <a:off x="7828968" y="553509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3616013C-A63A-5687-C761-D5E78E1DDECD}"/>
              </a:ext>
            </a:extLst>
          </p:cNvPr>
          <p:cNvSpPr/>
          <p:nvPr/>
        </p:nvSpPr>
        <p:spPr>
          <a:xfrm>
            <a:off x="8182538" y="553509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CEA071B9-097A-5802-5E33-CA62E1CCCB90}"/>
              </a:ext>
            </a:extLst>
          </p:cNvPr>
          <p:cNvSpPr/>
          <p:nvPr/>
        </p:nvSpPr>
        <p:spPr>
          <a:xfrm>
            <a:off x="8506959" y="553509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4087DA3A-72AF-6DE0-861F-F741369EC2C9}"/>
              </a:ext>
            </a:extLst>
          </p:cNvPr>
          <p:cNvSpPr txBox="1"/>
          <p:nvPr/>
        </p:nvSpPr>
        <p:spPr>
          <a:xfrm>
            <a:off x="1708990" y="5188327"/>
            <a:ext cx="2308823" cy="1015663"/>
          </a:xfrm>
          <a:prstGeom prst="rect">
            <a:avLst/>
          </a:prstGeom>
          <a:noFill/>
        </p:spPr>
        <p:txBody>
          <a:bodyPr wrap="square" rtlCol="0">
            <a:spAutoFit/>
          </a:bodyPr>
          <a:lstStyle/>
          <a:p>
            <a:r>
              <a:rPr lang="en-US" sz="2000" dirty="0">
                <a:solidFill>
                  <a:srgbClr val="7030A0"/>
                </a:solidFill>
                <a:latin typeface="Calibri" panose="020F0502020204030204" pitchFamily="34" charset="0"/>
                <a:cs typeface="Calibri" panose="020F0502020204030204" pitchFamily="34" charset="0"/>
              </a:rPr>
              <a:t>Base:</a:t>
            </a:r>
          </a:p>
          <a:p>
            <a:r>
              <a:rPr lang="en-US" sz="2000" dirty="0">
                <a:latin typeface="Calibri" panose="020F0502020204030204" pitchFamily="34" charset="0"/>
                <a:cs typeface="Calibri" panose="020F0502020204030204" pitchFamily="34" charset="0"/>
              </a:rPr>
              <a:t>Current utterance only</a:t>
            </a:r>
          </a:p>
        </p:txBody>
      </p:sp>
      <p:sp>
        <p:nvSpPr>
          <p:cNvPr id="32" name="TextBox 31">
            <a:extLst>
              <a:ext uri="{FF2B5EF4-FFF2-40B4-BE49-F238E27FC236}">
                <a16:creationId xmlns:a16="http://schemas.microsoft.com/office/drawing/2014/main" id="{EE57BD77-30C6-41C8-7F9A-D3B2C1EE57A1}"/>
              </a:ext>
            </a:extLst>
          </p:cNvPr>
          <p:cNvSpPr txBox="1"/>
          <p:nvPr/>
        </p:nvSpPr>
        <p:spPr>
          <a:xfrm>
            <a:off x="5126813" y="5103419"/>
            <a:ext cx="2538863" cy="1015663"/>
          </a:xfrm>
          <a:prstGeom prst="rect">
            <a:avLst/>
          </a:prstGeom>
          <a:noFill/>
        </p:spPr>
        <p:txBody>
          <a:bodyPr wrap="square" rtlCol="0">
            <a:spAutoFit/>
          </a:bodyPr>
          <a:lstStyle/>
          <a:p>
            <a:r>
              <a:rPr lang="en-US" sz="2000" dirty="0">
                <a:solidFill>
                  <a:srgbClr val="7030A0"/>
                </a:solidFill>
                <a:latin typeface="Calibri" panose="020F0502020204030204" pitchFamily="34" charset="0"/>
                <a:cs typeface="Calibri" panose="020F0502020204030204" pitchFamily="34" charset="0"/>
              </a:rPr>
              <a:t>+ Prev1 : </a:t>
            </a:r>
          </a:p>
          <a:p>
            <a:r>
              <a:rPr lang="en-US" sz="2000" dirty="0">
                <a:latin typeface="Calibri" panose="020F0502020204030204" pitchFamily="34" charset="0"/>
                <a:cs typeface="Calibri" panose="020F0502020204030204" pitchFamily="34" charset="0"/>
              </a:rPr>
              <a:t> Previous turn + current utterance</a:t>
            </a:r>
          </a:p>
        </p:txBody>
      </p:sp>
      <p:sp>
        <p:nvSpPr>
          <p:cNvPr id="33" name="TextBox 32">
            <a:extLst>
              <a:ext uri="{FF2B5EF4-FFF2-40B4-BE49-F238E27FC236}">
                <a16:creationId xmlns:a16="http://schemas.microsoft.com/office/drawing/2014/main" id="{5C3F11E1-B9F1-4560-C40C-0E0C072260C9}"/>
              </a:ext>
            </a:extLst>
          </p:cNvPr>
          <p:cNvSpPr txBox="1"/>
          <p:nvPr/>
        </p:nvSpPr>
        <p:spPr>
          <a:xfrm>
            <a:off x="8923981" y="5096861"/>
            <a:ext cx="2807688" cy="1015663"/>
          </a:xfrm>
          <a:prstGeom prst="rect">
            <a:avLst/>
          </a:prstGeom>
          <a:noFill/>
        </p:spPr>
        <p:txBody>
          <a:bodyPr wrap="square" rtlCol="0">
            <a:spAutoFit/>
          </a:bodyPr>
          <a:lstStyle/>
          <a:p>
            <a:r>
              <a:rPr lang="en-US" sz="2000" dirty="0">
                <a:solidFill>
                  <a:srgbClr val="7030A0"/>
                </a:solidFill>
                <a:latin typeface="Calibri" panose="020F0502020204030204" pitchFamily="34" charset="0"/>
                <a:cs typeface="Calibri" panose="020F0502020204030204" pitchFamily="34" charset="0"/>
              </a:rPr>
              <a:t>+ Prev2 : </a:t>
            </a:r>
          </a:p>
          <a:p>
            <a:r>
              <a:rPr lang="en-US" sz="2000" dirty="0">
                <a:latin typeface="Calibri" panose="020F0502020204030204" pitchFamily="34" charset="0"/>
                <a:cs typeface="Calibri" panose="020F0502020204030204" pitchFamily="34" charset="0"/>
              </a:rPr>
              <a:t>Previous two turns + current utterance</a:t>
            </a:r>
          </a:p>
        </p:txBody>
      </p:sp>
      <p:sp>
        <p:nvSpPr>
          <p:cNvPr id="9" name="Rounded Rectangle 8">
            <a:extLst>
              <a:ext uri="{FF2B5EF4-FFF2-40B4-BE49-F238E27FC236}">
                <a16:creationId xmlns:a16="http://schemas.microsoft.com/office/drawing/2014/main" id="{831CB209-F703-FAA7-192A-0508F6314611}"/>
              </a:ext>
            </a:extLst>
          </p:cNvPr>
          <p:cNvSpPr/>
          <p:nvPr/>
        </p:nvSpPr>
        <p:spPr>
          <a:xfrm>
            <a:off x="6223193" y="1341503"/>
            <a:ext cx="5510784" cy="3049422"/>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E463C3AA-A3BF-E723-E045-ABEB533681D0}"/>
              </a:ext>
            </a:extLst>
          </p:cNvPr>
          <p:cNvSpPr/>
          <p:nvPr/>
        </p:nvSpPr>
        <p:spPr>
          <a:xfrm>
            <a:off x="7190803" y="1127424"/>
            <a:ext cx="3840480" cy="751486"/>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accent2">
                    <a:lumMod val="50000"/>
                  </a:schemeClr>
                </a:solidFill>
                <a:latin typeface="Calibri" panose="020F0502020204030204" pitchFamily="34" charset="0"/>
                <a:cs typeface="Calibri" panose="020F0502020204030204" pitchFamily="34" charset="0"/>
              </a:rPr>
              <a:t>Baseline Models</a:t>
            </a:r>
          </a:p>
        </p:txBody>
      </p:sp>
      <p:sp>
        <p:nvSpPr>
          <p:cNvPr id="17" name="TextBox 16">
            <a:extLst>
              <a:ext uri="{FF2B5EF4-FFF2-40B4-BE49-F238E27FC236}">
                <a16:creationId xmlns:a16="http://schemas.microsoft.com/office/drawing/2014/main" id="{1F521380-405C-4DDE-8C71-7C5B5BFA71CC}"/>
              </a:ext>
            </a:extLst>
          </p:cNvPr>
          <p:cNvSpPr txBox="1"/>
          <p:nvPr/>
        </p:nvSpPr>
        <p:spPr>
          <a:xfrm>
            <a:off x="6396245" y="2190006"/>
            <a:ext cx="5061188" cy="1815882"/>
          </a:xfrm>
          <a:prstGeom prst="rect">
            <a:avLst/>
          </a:prstGeom>
          <a:noFill/>
        </p:spPr>
        <p:txBody>
          <a:bodyPr wrap="square" rtlCol="0">
            <a:spAutoFit/>
          </a:bodyPr>
          <a:lstStyle/>
          <a:p>
            <a:r>
              <a:rPr lang="en-US" sz="2800" dirty="0">
                <a:latin typeface="Calibri" panose="020F0502020204030204" pitchFamily="34" charset="0"/>
                <a:cs typeface="Calibri" panose="020F0502020204030204" pitchFamily="34" charset="0"/>
              </a:rPr>
              <a:t>TF-IDF + Logistic Regression</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DistilBERT</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Llama-3.2-3B-Instruct (Zero Shot)</a:t>
            </a:r>
          </a:p>
          <a:p>
            <a:r>
              <a:rPr lang="en-US" sz="2800" dirty="0">
                <a:latin typeface="Calibri" panose="020F0502020204030204" pitchFamily="34" charset="0"/>
                <a:cs typeface="Calibri" panose="020F0502020204030204" pitchFamily="34" charset="0"/>
              </a:rPr>
              <a:t>Llama-3.2-3B-Instruct (Few Shot)</a:t>
            </a:r>
          </a:p>
        </p:txBody>
      </p:sp>
    </p:spTree>
    <p:extLst>
      <p:ext uri="{BB962C8B-B14F-4D97-AF65-F5344CB8AC3E}">
        <p14:creationId xmlns:p14="http://schemas.microsoft.com/office/powerpoint/2010/main" val="405131055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p:bldP spid="13" grpId="0" animBg="1"/>
      <p:bldP spid="14" grpId="0" animBg="1"/>
      <p:bldP spid="18" grpId="0" animBg="1"/>
      <p:bldP spid="21" grpId="0"/>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p:bldP spid="33" grpId="0"/>
      <p:bldP spid="9" grpId="0" animBg="1"/>
      <p:bldP spid="10"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D66AB9-D3ED-46B0-72A1-A8D1AD6670D1}"/>
              </a:ext>
            </a:extLst>
          </p:cNvPr>
          <p:cNvSpPr>
            <a:spLocks noGrp="1"/>
          </p:cNvSpPr>
          <p:nvPr>
            <p:ph type="sldNum" sz="quarter" idx="12"/>
          </p:nvPr>
        </p:nvSpPr>
        <p:spPr>
          <a:xfrm>
            <a:off x="11123112" y="6425651"/>
            <a:ext cx="723065"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12</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535FC9D8-E628-1C83-762C-F93BE554EEAC}"/>
              </a:ext>
            </a:extLst>
          </p:cNvPr>
          <p:cNvSpPr>
            <a:spLocks noGrp="1"/>
          </p:cNvSpPr>
          <p:nvPr>
            <p:ph type="title"/>
          </p:nvPr>
        </p:nvSpPr>
        <p:spPr>
          <a:xfrm>
            <a:off x="1181442" y="441449"/>
            <a:ext cx="10333075" cy="597432"/>
          </a:xfrm>
        </p:spPr>
        <p:txBody>
          <a:bodyPr>
            <a:normAutofit fontScale="90000"/>
          </a:bodyPr>
          <a:lstStyle/>
          <a:p>
            <a:pPr algn="ctr"/>
            <a:r>
              <a:rPr lang="en-US" sz="4000" dirty="0">
                <a:latin typeface="Calibri" panose="020F0502020204030204" pitchFamily="34" charset="0"/>
                <a:cs typeface="Calibri" panose="020F0502020204030204" pitchFamily="34" charset="0"/>
              </a:rPr>
              <a:t>CR-ID Results</a:t>
            </a:r>
          </a:p>
        </p:txBody>
      </p:sp>
      <p:sp>
        <p:nvSpPr>
          <p:cNvPr id="6" name="Rounded Rectangle 5">
            <a:extLst>
              <a:ext uri="{FF2B5EF4-FFF2-40B4-BE49-F238E27FC236}">
                <a16:creationId xmlns:a16="http://schemas.microsoft.com/office/drawing/2014/main" id="{66BCE713-BD18-B430-8C98-6B32B8B9C87B}"/>
              </a:ext>
            </a:extLst>
          </p:cNvPr>
          <p:cNvSpPr/>
          <p:nvPr/>
        </p:nvSpPr>
        <p:spPr>
          <a:xfrm>
            <a:off x="566927" y="1013056"/>
            <a:ext cx="11157238" cy="2015878"/>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D81BCC64-A56F-AB84-4876-F941DEC1374B}"/>
              </a:ext>
            </a:extLst>
          </p:cNvPr>
          <p:cNvSpPr/>
          <p:nvPr/>
        </p:nvSpPr>
        <p:spPr>
          <a:xfrm>
            <a:off x="6347980" y="1690517"/>
            <a:ext cx="1432561" cy="810776"/>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accent2">
                    <a:lumMod val="50000"/>
                  </a:schemeClr>
                </a:solidFill>
                <a:latin typeface="Calibri" panose="020F0502020204030204" pitchFamily="34" charset="0"/>
                <a:cs typeface="Calibri" panose="020F0502020204030204" pitchFamily="34" charset="0"/>
              </a:rPr>
              <a:t>Base</a:t>
            </a:r>
          </a:p>
          <a:p>
            <a:pPr algn="ctr"/>
            <a:r>
              <a:rPr lang="en-US" sz="2200" dirty="0">
                <a:solidFill>
                  <a:schemeClr val="accent2">
                    <a:lumMod val="50000"/>
                  </a:schemeClr>
                </a:solidFill>
                <a:latin typeface="Calibri" panose="020F0502020204030204" pitchFamily="34" charset="0"/>
                <a:cs typeface="Calibri" panose="020F0502020204030204" pitchFamily="34" charset="0"/>
              </a:rPr>
              <a:t>0.65</a:t>
            </a:r>
          </a:p>
        </p:txBody>
      </p:sp>
      <p:sp>
        <p:nvSpPr>
          <p:cNvPr id="29" name="Rounded Rectangle 28">
            <a:extLst>
              <a:ext uri="{FF2B5EF4-FFF2-40B4-BE49-F238E27FC236}">
                <a16:creationId xmlns:a16="http://schemas.microsoft.com/office/drawing/2014/main" id="{D9EF528F-24F6-F843-A110-5D0E8D7EF6FA}"/>
              </a:ext>
            </a:extLst>
          </p:cNvPr>
          <p:cNvSpPr/>
          <p:nvPr/>
        </p:nvSpPr>
        <p:spPr>
          <a:xfrm>
            <a:off x="9889714" y="1664007"/>
            <a:ext cx="1432561" cy="810776"/>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accent2">
                    <a:lumMod val="50000"/>
                  </a:schemeClr>
                </a:solidFill>
                <a:latin typeface="Calibri" panose="020F0502020204030204" pitchFamily="34" charset="0"/>
                <a:cs typeface="Calibri" panose="020F0502020204030204" pitchFamily="34" charset="0"/>
              </a:rPr>
              <a:t>+Prev 2</a:t>
            </a:r>
          </a:p>
          <a:p>
            <a:pPr algn="ctr"/>
            <a:r>
              <a:rPr lang="en-US" sz="2200" dirty="0">
                <a:solidFill>
                  <a:schemeClr val="accent2">
                    <a:lumMod val="50000"/>
                  </a:schemeClr>
                </a:solidFill>
                <a:latin typeface="Calibri" panose="020F0502020204030204" pitchFamily="34" charset="0"/>
                <a:cs typeface="Calibri" panose="020F0502020204030204" pitchFamily="34" charset="0"/>
              </a:rPr>
              <a:t>0.61</a:t>
            </a:r>
          </a:p>
        </p:txBody>
      </p:sp>
      <p:sp>
        <p:nvSpPr>
          <p:cNvPr id="30" name="Rounded Rectangle 29">
            <a:extLst>
              <a:ext uri="{FF2B5EF4-FFF2-40B4-BE49-F238E27FC236}">
                <a16:creationId xmlns:a16="http://schemas.microsoft.com/office/drawing/2014/main" id="{E20D3EC0-997B-5F94-32D5-B577EA39FC51}"/>
              </a:ext>
            </a:extLst>
          </p:cNvPr>
          <p:cNvSpPr/>
          <p:nvPr/>
        </p:nvSpPr>
        <p:spPr>
          <a:xfrm>
            <a:off x="8115991" y="1664007"/>
            <a:ext cx="1432561" cy="810776"/>
          </a:xfrm>
          <a:prstGeom prst="roundRect">
            <a:avLst/>
          </a:prstGeom>
          <a:solidFill>
            <a:schemeClr val="accent2">
              <a:lumMod val="40000"/>
              <a:lumOff val="60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u="sng" dirty="0">
                <a:solidFill>
                  <a:schemeClr val="accent2">
                    <a:lumMod val="50000"/>
                  </a:schemeClr>
                </a:solidFill>
                <a:latin typeface="Calibri" panose="020F0502020204030204" pitchFamily="34" charset="0"/>
                <a:cs typeface="Calibri" panose="020F0502020204030204" pitchFamily="34" charset="0"/>
              </a:rPr>
              <a:t>+Prev 1</a:t>
            </a:r>
          </a:p>
          <a:p>
            <a:pPr algn="ctr"/>
            <a:r>
              <a:rPr lang="en-US" sz="2200" u="sng" dirty="0">
                <a:solidFill>
                  <a:schemeClr val="accent2">
                    <a:lumMod val="50000"/>
                  </a:schemeClr>
                </a:solidFill>
                <a:latin typeface="Calibri" panose="020F0502020204030204" pitchFamily="34" charset="0"/>
                <a:cs typeface="Calibri" panose="020F0502020204030204" pitchFamily="34" charset="0"/>
              </a:rPr>
              <a:t>0.66</a:t>
            </a:r>
          </a:p>
        </p:txBody>
      </p:sp>
      <p:sp>
        <p:nvSpPr>
          <p:cNvPr id="31" name="TextBox 30">
            <a:extLst>
              <a:ext uri="{FF2B5EF4-FFF2-40B4-BE49-F238E27FC236}">
                <a16:creationId xmlns:a16="http://schemas.microsoft.com/office/drawing/2014/main" id="{000C3FA9-F562-FB65-8551-DA84288B39B3}"/>
              </a:ext>
            </a:extLst>
          </p:cNvPr>
          <p:cNvSpPr txBox="1"/>
          <p:nvPr/>
        </p:nvSpPr>
        <p:spPr>
          <a:xfrm>
            <a:off x="1121172" y="1849919"/>
            <a:ext cx="5334449" cy="553998"/>
          </a:xfrm>
          <a:prstGeom prst="rect">
            <a:avLst/>
          </a:prstGeom>
          <a:noFill/>
        </p:spPr>
        <p:txBody>
          <a:bodyPr wrap="square" rtlCol="0">
            <a:spAutoFit/>
          </a:bodyPr>
          <a:lstStyle/>
          <a:p>
            <a:r>
              <a:rPr lang="en-US" sz="3000" dirty="0">
                <a:latin typeface="Calibri" panose="020F0502020204030204" pitchFamily="34" charset="0"/>
                <a:cs typeface="Calibri" panose="020F0502020204030204" pitchFamily="34" charset="0"/>
              </a:rPr>
              <a:t>Best CR-ID: DistilBERT +Prev1</a:t>
            </a:r>
          </a:p>
        </p:txBody>
      </p:sp>
      <p:pic>
        <p:nvPicPr>
          <p:cNvPr id="32" name="Graphic 31" descr="Star with solid fill">
            <a:extLst>
              <a:ext uri="{FF2B5EF4-FFF2-40B4-BE49-F238E27FC236}">
                <a16:creationId xmlns:a16="http://schemas.microsoft.com/office/drawing/2014/main" id="{D1FD2D34-9940-107A-A0FD-5614181234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3973" y="1936548"/>
            <a:ext cx="400066" cy="400066"/>
          </a:xfrm>
          <a:prstGeom prst="rect">
            <a:avLst/>
          </a:prstGeom>
        </p:spPr>
      </p:pic>
      <p:sp>
        <p:nvSpPr>
          <p:cNvPr id="2" name="Rounded Rectangle 1">
            <a:extLst>
              <a:ext uri="{FF2B5EF4-FFF2-40B4-BE49-F238E27FC236}">
                <a16:creationId xmlns:a16="http://schemas.microsoft.com/office/drawing/2014/main" id="{267B136D-136E-5F3F-74D3-C8058790A845}"/>
              </a:ext>
            </a:extLst>
          </p:cNvPr>
          <p:cNvSpPr/>
          <p:nvPr/>
        </p:nvSpPr>
        <p:spPr>
          <a:xfrm>
            <a:off x="613973" y="3429000"/>
            <a:ext cx="11157238" cy="2758858"/>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8662659B-9698-98E9-DA54-44BD11D96510}"/>
              </a:ext>
            </a:extLst>
          </p:cNvPr>
          <p:cNvSpPr/>
          <p:nvPr/>
        </p:nvSpPr>
        <p:spPr>
          <a:xfrm>
            <a:off x="807713" y="3440362"/>
            <a:ext cx="3739233" cy="512064"/>
          </a:xfrm>
          <a:prstGeom prst="roundRect">
            <a:avLst/>
          </a:prstGeom>
          <a:solidFill>
            <a:srgbClr val="7030A0">
              <a:alpha val="1414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Calibri Light" panose="020F0302020204030204" pitchFamily="34" charset="0"/>
                <a:cs typeface="Calibri Light" panose="020F0302020204030204" pitchFamily="34" charset="0"/>
              </a:rPr>
              <a:t>Main Takeaways</a:t>
            </a:r>
          </a:p>
        </p:txBody>
      </p:sp>
      <p:sp>
        <p:nvSpPr>
          <p:cNvPr id="11" name="TextBox 10">
            <a:extLst>
              <a:ext uri="{FF2B5EF4-FFF2-40B4-BE49-F238E27FC236}">
                <a16:creationId xmlns:a16="http://schemas.microsoft.com/office/drawing/2014/main" id="{7F2A9799-FA04-4FD5-34D4-4573547993DF}"/>
              </a:ext>
            </a:extLst>
          </p:cNvPr>
          <p:cNvSpPr txBox="1"/>
          <p:nvPr/>
        </p:nvSpPr>
        <p:spPr>
          <a:xfrm>
            <a:off x="1638944" y="4121042"/>
            <a:ext cx="9107295" cy="2092881"/>
          </a:xfrm>
          <a:prstGeom prst="rect">
            <a:avLst/>
          </a:prstGeom>
          <a:noFill/>
        </p:spPr>
        <p:txBody>
          <a:bodyPr wrap="square">
            <a:spAutoFit/>
          </a:bodyPr>
          <a:lstStyle/>
          <a:p>
            <a:pPr marL="342900" indent="-342900">
              <a:buFont typeface="Arial" panose="020B0604020202020204" pitchFamily="34" charset="0"/>
              <a:buChar char="•"/>
            </a:pPr>
            <a:r>
              <a:rPr lang="en-US" sz="2600" dirty="0">
                <a:latin typeface="Calibri" panose="020F0502020204030204" pitchFamily="34" charset="0"/>
                <a:cs typeface="Calibri" panose="020F0502020204030204" pitchFamily="34" charset="0"/>
              </a:rPr>
              <a:t>CR-ID is learnable from dialogue text. </a:t>
            </a:r>
          </a:p>
          <a:p>
            <a:pPr marL="342900" indent="-342900">
              <a:buFont typeface="Arial" panose="020B0604020202020204" pitchFamily="34" charset="0"/>
              <a:buChar char="•"/>
            </a:pPr>
            <a:r>
              <a:rPr lang="en-US" sz="2600" dirty="0">
                <a:latin typeface="Calibri" panose="020F0502020204030204" pitchFamily="34" charset="0"/>
                <a:cs typeface="Calibri" panose="020F0502020204030204" pitchFamily="34" charset="0"/>
              </a:rPr>
              <a:t>One-turn context gives the strongest CR-ID result.</a:t>
            </a:r>
          </a:p>
          <a:p>
            <a:pPr marL="342900" indent="-342900">
              <a:buFont typeface="Arial" panose="020B0604020202020204" pitchFamily="34" charset="0"/>
              <a:buChar char="•"/>
            </a:pPr>
            <a:r>
              <a:rPr lang="en-US" sz="2600" dirty="0">
                <a:latin typeface="Calibri" panose="020F0502020204030204" pitchFamily="34" charset="0"/>
                <a:cs typeface="Calibri" panose="020F0502020204030204" pitchFamily="34" charset="0"/>
              </a:rPr>
              <a:t>Llama zero-shot showed high recall but low precision, suggesting that CR-like surface cues </a:t>
            </a:r>
            <a:r>
              <a:rPr lang="en-US" sz="2600" dirty="0">
                <a:latin typeface="Calibri" panose="020F0502020204030204" pitchFamily="34" charset="0"/>
                <a:cs typeface="Calibri" panose="020F0502020204030204" pitchFamily="34" charset="0"/>
                <a:sym typeface="Wingdings" pitchFamily="2" charset="2"/>
              </a:rPr>
              <a:t> </a:t>
            </a:r>
            <a:r>
              <a:rPr lang="en-US" sz="2600" dirty="0">
                <a:latin typeface="Calibri" panose="020F0502020204030204" pitchFamily="34" charset="0"/>
                <a:cs typeface="Calibri" panose="020F0502020204030204" pitchFamily="34" charset="0"/>
              </a:rPr>
              <a:t>easy to trigger but not enough for accurate CR detection.</a:t>
            </a:r>
          </a:p>
        </p:txBody>
      </p:sp>
      <p:sp>
        <p:nvSpPr>
          <p:cNvPr id="8" name="Rounded Rectangle 7">
            <a:extLst>
              <a:ext uri="{FF2B5EF4-FFF2-40B4-BE49-F238E27FC236}">
                <a16:creationId xmlns:a16="http://schemas.microsoft.com/office/drawing/2014/main" id="{25ABBF6E-795F-2994-2033-706C8828236E}"/>
              </a:ext>
            </a:extLst>
          </p:cNvPr>
          <p:cNvSpPr/>
          <p:nvPr/>
        </p:nvSpPr>
        <p:spPr>
          <a:xfrm>
            <a:off x="807713" y="1024418"/>
            <a:ext cx="3739233" cy="512064"/>
          </a:xfrm>
          <a:prstGeom prst="roundRect">
            <a:avLst/>
          </a:prstGeom>
          <a:solidFill>
            <a:srgbClr val="7030A0">
              <a:alpha val="1414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Calibri Light" panose="020F0302020204030204" pitchFamily="34" charset="0"/>
                <a:cs typeface="Calibri Light" panose="020F0302020204030204" pitchFamily="34" charset="0"/>
              </a:rPr>
              <a:t>Best Results</a:t>
            </a:r>
          </a:p>
        </p:txBody>
      </p:sp>
    </p:spTree>
    <p:extLst>
      <p:ext uri="{BB962C8B-B14F-4D97-AF65-F5344CB8AC3E}">
        <p14:creationId xmlns:p14="http://schemas.microsoft.com/office/powerpoint/2010/main" val="327053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3977B2C-0356-7482-9A54-7046A2A2FFEC}"/>
              </a:ext>
            </a:extLst>
          </p:cNvPr>
          <p:cNvSpPr>
            <a:spLocks noGrp="1"/>
          </p:cNvSpPr>
          <p:nvPr>
            <p:ph type="title"/>
          </p:nvPr>
        </p:nvSpPr>
        <p:spPr>
          <a:xfrm>
            <a:off x="152489" y="401416"/>
            <a:ext cx="11887021" cy="491938"/>
          </a:xfrm>
        </p:spPr>
        <p:txBody>
          <a:bodyPr>
            <a:noAutofit/>
          </a:bodyPr>
          <a:lstStyle/>
          <a:p>
            <a:pPr algn="ctr"/>
            <a:r>
              <a:rPr lang="en-US" sz="3600" dirty="0">
                <a:latin typeface="Calibri" panose="020F0502020204030204" pitchFamily="34" charset="0"/>
                <a:cs typeface="Calibri" panose="020F0502020204030204" pitchFamily="34" charset="0"/>
              </a:rPr>
              <a:t>Labeling Grounding Modality</a:t>
            </a:r>
          </a:p>
        </p:txBody>
      </p:sp>
      <p:sp>
        <p:nvSpPr>
          <p:cNvPr id="4" name="Slide Number Placeholder 3">
            <a:extLst>
              <a:ext uri="{FF2B5EF4-FFF2-40B4-BE49-F238E27FC236}">
                <a16:creationId xmlns:a16="http://schemas.microsoft.com/office/drawing/2014/main" id="{16B46D25-866E-7397-72F2-8926EDEB0514}"/>
              </a:ext>
            </a:extLst>
          </p:cNvPr>
          <p:cNvSpPr>
            <a:spLocks noGrp="1"/>
          </p:cNvSpPr>
          <p:nvPr>
            <p:ph type="sldNum" sz="quarter" idx="12"/>
          </p:nvPr>
        </p:nvSpPr>
        <p:spPr>
          <a:xfrm>
            <a:off x="11200262" y="6424590"/>
            <a:ext cx="839247"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13</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3" name="Rounded Rectangle 2">
            <a:extLst>
              <a:ext uri="{FF2B5EF4-FFF2-40B4-BE49-F238E27FC236}">
                <a16:creationId xmlns:a16="http://schemas.microsoft.com/office/drawing/2014/main" id="{6413D1B5-C9EF-DFB1-DEAF-BDC9A9EC6080}"/>
              </a:ext>
            </a:extLst>
          </p:cNvPr>
          <p:cNvSpPr/>
          <p:nvPr/>
        </p:nvSpPr>
        <p:spPr>
          <a:xfrm>
            <a:off x="539763" y="1281980"/>
            <a:ext cx="5510784" cy="3079564"/>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95800F9-C1DA-401B-67E4-AC120F33F174}"/>
              </a:ext>
            </a:extLst>
          </p:cNvPr>
          <p:cNvSpPr/>
          <p:nvPr/>
        </p:nvSpPr>
        <p:spPr>
          <a:xfrm>
            <a:off x="679193" y="1116034"/>
            <a:ext cx="5231924" cy="826046"/>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5">
                    <a:lumMod val="50000"/>
                  </a:schemeClr>
                </a:solidFill>
                <a:latin typeface="Calibri" panose="020F0502020204030204" pitchFamily="34" charset="0"/>
                <a:cs typeface="Calibri" panose="020F0502020204030204" pitchFamily="34" charset="0"/>
              </a:rPr>
              <a:t>Task 2: Grounding Modality (GMOD)Classification</a:t>
            </a:r>
          </a:p>
        </p:txBody>
      </p:sp>
      <p:sp>
        <p:nvSpPr>
          <p:cNvPr id="15" name="TextBox 14">
            <a:extLst>
              <a:ext uri="{FF2B5EF4-FFF2-40B4-BE49-F238E27FC236}">
                <a16:creationId xmlns:a16="http://schemas.microsoft.com/office/drawing/2014/main" id="{ED880633-8B5A-0D0C-EAC7-EC5F055971C8}"/>
              </a:ext>
            </a:extLst>
          </p:cNvPr>
          <p:cNvSpPr txBox="1"/>
          <p:nvPr/>
        </p:nvSpPr>
        <p:spPr>
          <a:xfrm>
            <a:off x="597835" y="1953569"/>
            <a:ext cx="5452712" cy="1107996"/>
          </a:xfrm>
          <a:prstGeom prst="rect">
            <a:avLst/>
          </a:prstGeom>
          <a:noFill/>
        </p:spPr>
        <p:txBody>
          <a:bodyPr wrap="square" rtlCol="0">
            <a:spAutoFit/>
          </a:bodyPr>
          <a:lstStyle/>
          <a:p>
            <a:r>
              <a:rPr lang="en-US" sz="2200" dirty="0">
                <a:solidFill>
                  <a:schemeClr val="accent5">
                    <a:lumMod val="75000"/>
                  </a:schemeClr>
                </a:solidFill>
                <a:latin typeface="Calibri" panose="020F0502020204030204" pitchFamily="34" charset="0"/>
                <a:cs typeface="Calibri" panose="020F0502020204030204" pitchFamily="34" charset="0"/>
              </a:rPr>
              <a:t>Input: </a:t>
            </a:r>
            <a:r>
              <a:rPr lang="en-US" sz="2200" dirty="0">
                <a:latin typeface="Calibri" panose="020F0502020204030204" pitchFamily="34" charset="0"/>
                <a:cs typeface="Calibri" panose="020F0502020204030204" pitchFamily="34" charset="0"/>
              </a:rPr>
              <a:t>A CR+ optional dialogue context</a:t>
            </a:r>
          </a:p>
          <a:p>
            <a:r>
              <a:rPr lang="en-US" sz="2200" dirty="0">
                <a:solidFill>
                  <a:schemeClr val="accent5">
                    <a:lumMod val="75000"/>
                  </a:schemeClr>
                </a:solidFill>
                <a:latin typeface="Calibri" panose="020F0502020204030204" pitchFamily="34" charset="0"/>
                <a:cs typeface="Calibri" panose="020F0502020204030204" pitchFamily="34" charset="0"/>
              </a:rPr>
              <a:t>Output: </a:t>
            </a:r>
            <a:r>
              <a:rPr lang="en-US" sz="2200" dirty="0">
                <a:latin typeface="Calibri" panose="020F0502020204030204" pitchFamily="34" charset="0"/>
                <a:cs typeface="Calibri" panose="020F0502020204030204" pitchFamily="34" charset="0"/>
              </a:rPr>
              <a:t>Auditory/Visual/Kinesthetic grounding modality</a:t>
            </a:r>
          </a:p>
        </p:txBody>
      </p:sp>
      <p:sp>
        <p:nvSpPr>
          <p:cNvPr id="18" name="Rounded Rectangle 17">
            <a:extLst>
              <a:ext uri="{FF2B5EF4-FFF2-40B4-BE49-F238E27FC236}">
                <a16:creationId xmlns:a16="http://schemas.microsoft.com/office/drawing/2014/main" id="{D5110DD8-AF4C-519C-36A2-26060A3782BA}"/>
              </a:ext>
            </a:extLst>
          </p:cNvPr>
          <p:cNvSpPr/>
          <p:nvPr/>
        </p:nvSpPr>
        <p:spPr>
          <a:xfrm>
            <a:off x="594360" y="4476690"/>
            <a:ext cx="11157236" cy="171147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a16="http://schemas.microsoft.com/office/drawing/2014/main" id="{38A9F5EB-B1E7-CDEB-12C6-90563468AFBC}"/>
              </a:ext>
            </a:extLst>
          </p:cNvPr>
          <p:cNvCxnSpPr/>
          <p:nvPr/>
        </p:nvCxnSpPr>
        <p:spPr>
          <a:xfrm>
            <a:off x="594360" y="5038882"/>
            <a:ext cx="11143520"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415110B-2783-7A07-7F59-F420136B3B52}"/>
              </a:ext>
            </a:extLst>
          </p:cNvPr>
          <p:cNvSpPr txBox="1"/>
          <p:nvPr/>
        </p:nvSpPr>
        <p:spPr>
          <a:xfrm>
            <a:off x="5110680" y="4519239"/>
            <a:ext cx="2972018" cy="553998"/>
          </a:xfrm>
          <a:prstGeom prst="rect">
            <a:avLst/>
          </a:prstGeom>
          <a:noFill/>
        </p:spPr>
        <p:txBody>
          <a:bodyPr wrap="square" rtlCol="0">
            <a:spAutoFit/>
          </a:bodyPr>
          <a:lstStyle/>
          <a:p>
            <a:r>
              <a:rPr lang="en-US" sz="3000" dirty="0">
                <a:latin typeface="Calibri" panose="020F0502020204030204" pitchFamily="34" charset="0"/>
                <a:cs typeface="Calibri" panose="020F0502020204030204" pitchFamily="34" charset="0"/>
              </a:rPr>
              <a:t>Context Setting</a:t>
            </a:r>
          </a:p>
        </p:txBody>
      </p:sp>
      <p:sp>
        <p:nvSpPr>
          <p:cNvPr id="22" name="Oval 21">
            <a:extLst>
              <a:ext uri="{FF2B5EF4-FFF2-40B4-BE49-F238E27FC236}">
                <a16:creationId xmlns:a16="http://schemas.microsoft.com/office/drawing/2014/main" id="{8D11E4E1-8E52-B511-5B19-B56AFF0D36F1}"/>
              </a:ext>
            </a:extLst>
          </p:cNvPr>
          <p:cNvSpPr/>
          <p:nvPr/>
        </p:nvSpPr>
        <p:spPr>
          <a:xfrm>
            <a:off x="677549" y="5535099"/>
            <a:ext cx="253730" cy="276206"/>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0C3C2CA5-D28B-E9B1-9A20-F4545928EBF5}"/>
              </a:ext>
            </a:extLst>
          </p:cNvPr>
          <p:cNvSpPr/>
          <p:nvPr/>
        </p:nvSpPr>
        <p:spPr>
          <a:xfrm>
            <a:off x="1049387" y="5543494"/>
            <a:ext cx="253730" cy="276206"/>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956AD81C-CEE8-E513-33DD-C302DFAA881E}"/>
              </a:ext>
            </a:extLst>
          </p:cNvPr>
          <p:cNvSpPr/>
          <p:nvPr/>
        </p:nvSpPr>
        <p:spPr>
          <a:xfrm>
            <a:off x="1407673" y="5543494"/>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5" name="Oval 24">
            <a:extLst>
              <a:ext uri="{FF2B5EF4-FFF2-40B4-BE49-F238E27FC236}">
                <a16:creationId xmlns:a16="http://schemas.microsoft.com/office/drawing/2014/main" id="{AC110621-16A6-60E7-F38D-C1552AE5A6D5}"/>
              </a:ext>
            </a:extLst>
          </p:cNvPr>
          <p:cNvSpPr/>
          <p:nvPr/>
        </p:nvSpPr>
        <p:spPr>
          <a:xfrm>
            <a:off x="4114836" y="5543494"/>
            <a:ext cx="253730" cy="276206"/>
          </a:xfrm>
          <a:prstGeom prst="ellipse">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6" name="Oval 25">
            <a:extLst>
              <a:ext uri="{FF2B5EF4-FFF2-40B4-BE49-F238E27FC236}">
                <a16:creationId xmlns:a16="http://schemas.microsoft.com/office/drawing/2014/main" id="{77E1B024-8E4C-475B-1B13-3268BDC37EB7}"/>
              </a:ext>
            </a:extLst>
          </p:cNvPr>
          <p:cNvSpPr/>
          <p:nvPr/>
        </p:nvSpPr>
        <p:spPr>
          <a:xfrm>
            <a:off x="4474717" y="554050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B3E27F7E-3742-7EF4-77D3-EFAB9A48DA70}"/>
              </a:ext>
            </a:extLst>
          </p:cNvPr>
          <p:cNvSpPr/>
          <p:nvPr/>
        </p:nvSpPr>
        <p:spPr>
          <a:xfrm>
            <a:off x="4834598" y="554050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Oval 27">
            <a:extLst>
              <a:ext uri="{FF2B5EF4-FFF2-40B4-BE49-F238E27FC236}">
                <a16:creationId xmlns:a16="http://schemas.microsoft.com/office/drawing/2014/main" id="{3BFD116F-D93D-1D3F-6BFE-69EDFB1FF229}"/>
              </a:ext>
            </a:extLst>
          </p:cNvPr>
          <p:cNvSpPr/>
          <p:nvPr/>
        </p:nvSpPr>
        <p:spPr>
          <a:xfrm>
            <a:off x="7828968" y="553509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3A57DA60-1E2B-699C-35A2-EB1659686CD5}"/>
              </a:ext>
            </a:extLst>
          </p:cNvPr>
          <p:cNvSpPr/>
          <p:nvPr/>
        </p:nvSpPr>
        <p:spPr>
          <a:xfrm>
            <a:off x="8182538" y="553509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71867AD0-0433-EDB9-F1B0-A31FDAC8A6E2}"/>
              </a:ext>
            </a:extLst>
          </p:cNvPr>
          <p:cNvSpPr/>
          <p:nvPr/>
        </p:nvSpPr>
        <p:spPr>
          <a:xfrm>
            <a:off x="8506959" y="5535099"/>
            <a:ext cx="253730" cy="27620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80D5A038-5874-A9A8-0845-378B00D70C03}"/>
              </a:ext>
            </a:extLst>
          </p:cNvPr>
          <p:cNvSpPr txBox="1"/>
          <p:nvPr/>
        </p:nvSpPr>
        <p:spPr>
          <a:xfrm>
            <a:off x="1708990" y="5188327"/>
            <a:ext cx="2308823" cy="1015663"/>
          </a:xfrm>
          <a:prstGeom prst="rect">
            <a:avLst/>
          </a:prstGeom>
          <a:noFill/>
        </p:spPr>
        <p:txBody>
          <a:bodyPr wrap="square" rtlCol="0">
            <a:spAutoFit/>
          </a:bodyPr>
          <a:lstStyle/>
          <a:p>
            <a:r>
              <a:rPr lang="en-US" sz="2000" dirty="0">
                <a:solidFill>
                  <a:srgbClr val="7030A0"/>
                </a:solidFill>
                <a:latin typeface="Calibri" panose="020F0502020204030204" pitchFamily="34" charset="0"/>
                <a:cs typeface="Calibri" panose="020F0502020204030204" pitchFamily="34" charset="0"/>
              </a:rPr>
              <a:t>Base:</a:t>
            </a:r>
          </a:p>
          <a:p>
            <a:r>
              <a:rPr lang="en-US" sz="2000" dirty="0">
                <a:latin typeface="Calibri" panose="020F0502020204030204" pitchFamily="34" charset="0"/>
                <a:cs typeface="Calibri" panose="020F0502020204030204" pitchFamily="34" charset="0"/>
              </a:rPr>
              <a:t>Current utterance only</a:t>
            </a:r>
          </a:p>
        </p:txBody>
      </p:sp>
      <p:sp>
        <p:nvSpPr>
          <p:cNvPr id="32" name="TextBox 31">
            <a:extLst>
              <a:ext uri="{FF2B5EF4-FFF2-40B4-BE49-F238E27FC236}">
                <a16:creationId xmlns:a16="http://schemas.microsoft.com/office/drawing/2014/main" id="{FD9F5C2C-2663-ED19-E562-C12F3828843D}"/>
              </a:ext>
            </a:extLst>
          </p:cNvPr>
          <p:cNvSpPr txBox="1"/>
          <p:nvPr/>
        </p:nvSpPr>
        <p:spPr>
          <a:xfrm>
            <a:off x="5126813" y="5103419"/>
            <a:ext cx="2538863" cy="1015663"/>
          </a:xfrm>
          <a:prstGeom prst="rect">
            <a:avLst/>
          </a:prstGeom>
          <a:noFill/>
        </p:spPr>
        <p:txBody>
          <a:bodyPr wrap="square" rtlCol="0">
            <a:spAutoFit/>
          </a:bodyPr>
          <a:lstStyle/>
          <a:p>
            <a:r>
              <a:rPr lang="en-US" sz="2000" dirty="0">
                <a:solidFill>
                  <a:srgbClr val="7030A0"/>
                </a:solidFill>
                <a:latin typeface="Calibri" panose="020F0502020204030204" pitchFamily="34" charset="0"/>
                <a:cs typeface="Calibri" panose="020F0502020204030204" pitchFamily="34" charset="0"/>
              </a:rPr>
              <a:t>+ Prev1 : </a:t>
            </a:r>
          </a:p>
          <a:p>
            <a:r>
              <a:rPr lang="en-US" sz="2000" dirty="0">
                <a:latin typeface="Calibri" panose="020F0502020204030204" pitchFamily="34" charset="0"/>
                <a:cs typeface="Calibri" panose="020F0502020204030204" pitchFamily="34" charset="0"/>
              </a:rPr>
              <a:t> Previous turn + current utterance</a:t>
            </a:r>
          </a:p>
        </p:txBody>
      </p:sp>
      <p:sp>
        <p:nvSpPr>
          <p:cNvPr id="33" name="TextBox 32">
            <a:extLst>
              <a:ext uri="{FF2B5EF4-FFF2-40B4-BE49-F238E27FC236}">
                <a16:creationId xmlns:a16="http://schemas.microsoft.com/office/drawing/2014/main" id="{9CE08529-8CC0-5720-7F4A-38248E4AB447}"/>
              </a:ext>
            </a:extLst>
          </p:cNvPr>
          <p:cNvSpPr txBox="1"/>
          <p:nvPr/>
        </p:nvSpPr>
        <p:spPr>
          <a:xfrm>
            <a:off x="8923981" y="5096861"/>
            <a:ext cx="2807688" cy="1015663"/>
          </a:xfrm>
          <a:prstGeom prst="rect">
            <a:avLst/>
          </a:prstGeom>
          <a:noFill/>
        </p:spPr>
        <p:txBody>
          <a:bodyPr wrap="square" rtlCol="0">
            <a:spAutoFit/>
          </a:bodyPr>
          <a:lstStyle/>
          <a:p>
            <a:r>
              <a:rPr lang="en-US" sz="2000" dirty="0">
                <a:solidFill>
                  <a:srgbClr val="7030A0"/>
                </a:solidFill>
                <a:latin typeface="Calibri" panose="020F0502020204030204" pitchFamily="34" charset="0"/>
                <a:cs typeface="Calibri" panose="020F0502020204030204" pitchFamily="34" charset="0"/>
              </a:rPr>
              <a:t>+ Prev2 : </a:t>
            </a:r>
          </a:p>
          <a:p>
            <a:r>
              <a:rPr lang="en-US" sz="2000" dirty="0">
                <a:latin typeface="Calibri" panose="020F0502020204030204" pitchFamily="34" charset="0"/>
                <a:cs typeface="Calibri" panose="020F0502020204030204" pitchFamily="34" charset="0"/>
              </a:rPr>
              <a:t>Previous two turns + current utterance</a:t>
            </a:r>
          </a:p>
        </p:txBody>
      </p:sp>
      <p:sp>
        <p:nvSpPr>
          <p:cNvPr id="12" name="Rounded Rectangle 11">
            <a:extLst>
              <a:ext uri="{FF2B5EF4-FFF2-40B4-BE49-F238E27FC236}">
                <a16:creationId xmlns:a16="http://schemas.microsoft.com/office/drawing/2014/main" id="{16A079AB-2F13-478E-E3FE-56E21A17251C}"/>
              </a:ext>
            </a:extLst>
          </p:cNvPr>
          <p:cNvSpPr/>
          <p:nvPr/>
        </p:nvSpPr>
        <p:spPr>
          <a:xfrm>
            <a:off x="6246405" y="1277059"/>
            <a:ext cx="5510784" cy="3079564"/>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EB2F79A0-652E-497D-AACE-829635E9986B}"/>
              </a:ext>
            </a:extLst>
          </p:cNvPr>
          <p:cNvSpPr/>
          <p:nvPr/>
        </p:nvSpPr>
        <p:spPr>
          <a:xfrm>
            <a:off x="6385835" y="1111113"/>
            <a:ext cx="5231924" cy="826046"/>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5">
                    <a:lumMod val="50000"/>
                  </a:schemeClr>
                </a:solidFill>
                <a:latin typeface="Calibri" panose="020F0502020204030204" pitchFamily="34" charset="0"/>
                <a:cs typeface="Calibri" panose="020F0502020204030204" pitchFamily="34" charset="0"/>
              </a:rPr>
              <a:t>Task 2: Grounding Modality (GMOD)Classification</a:t>
            </a:r>
          </a:p>
        </p:txBody>
      </p:sp>
      <p:sp>
        <p:nvSpPr>
          <p:cNvPr id="19" name="TextBox 18">
            <a:extLst>
              <a:ext uri="{FF2B5EF4-FFF2-40B4-BE49-F238E27FC236}">
                <a16:creationId xmlns:a16="http://schemas.microsoft.com/office/drawing/2014/main" id="{FCF79018-8C76-CD02-F750-6FFF6DEB6933}"/>
              </a:ext>
            </a:extLst>
          </p:cNvPr>
          <p:cNvSpPr txBox="1"/>
          <p:nvPr/>
        </p:nvSpPr>
        <p:spPr>
          <a:xfrm>
            <a:off x="6396245" y="2190006"/>
            <a:ext cx="5061188" cy="1815882"/>
          </a:xfrm>
          <a:prstGeom prst="rect">
            <a:avLst/>
          </a:prstGeom>
          <a:noFill/>
        </p:spPr>
        <p:txBody>
          <a:bodyPr wrap="square" rtlCol="0">
            <a:spAutoFit/>
          </a:bodyPr>
          <a:lstStyle/>
          <a:p>
            <a:r>
              <a:rPr lang="en-US" sz="2800" dirty="0">
                <a:latin typeface="Calibri" panose="020F0502020204030204" pitchFamily="34" charset="0"/>
                <a:cs typeface="Calibri" panose="020F0502020204030204" pitchFamily="34" charset="0"/>
              </a:rPr>
              <a:t>TF-IDF + Logistic Regression</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DistilBERT</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Llama-3.2-3B-Instruct (Zero Shot)</a:t>
            </a:r>
          </a:p>
          <a:p>
            <a:r>
              <a:rPr lang="en-US" sz="2800" dirty="0">
                <a:latin typeface="Calibri" panose="020F0502020204030204" pitchFamily="34" charset="0"/>
                <a:cs typeface="Calibri" panose="020F0502020204030204" pitchFamily="34" charset="0"/>
              </a:rPr>
              <a:t>Llama-3.2-3B-Instruct (Few Shot)</a:t>
            </a:r>
          </a:p>
        </p:txBody>
      </p:sp>
      <p:sp>
        <p:nvSpPr>
          <p:cNvPr id="35" name="TextBox 34">
            <a:extLst>
              <a:ext uri="{FF2B5EF4-FFF2-40B4-BE49-F238E27FC236}">
                <a16:creationId xmlns:a16="http://schemas.microsoft.com/office/drawing/2014/main" id="{4A97296A-AE95-E4EB-3E7F-FFE606F7C541}"/>
              </a:ext>
            </a:extLst>
          </p:cNvPr>
          <p:cNvSpPr txBox="1"/>
          <p:nvPr/>
        </p:nvSpPr>
        <p:spPr>
          <a:xfrm>
            <a:off x="777518" y="3111238"/>
            <a:ext cx="5020865" cy="1107996"/>
          </a:xfrm>
          <a:prstGeom prst="rect">
            <a:avLst/>
          </a:prstGeom>
          <a:solidFill>
            <a:schemeClr val="accent5">
              <a:lumMod val="20000"/>
              <a:lumOff val="80000"/>
            </a:schemeClr>
          </a:solidFill>
        </p:spPr>
        <p:txBody>
          <a:bodyPr wrap="square">
            <a:spAutoFit/>
          </a:bodyPr>
          <a:lstStyle/>
          <a:p>
            <a:pPr algn="ctr"/>
            <a:r>
              <a:rPr lang="en-US" sz="2200" b="1" dirty="0">
                <a:solidFill>
                  <a:schemeClr val="accent5">
                    <a:lumMod val="75000"/>
                  </a:schemeClr>
                </a:solidFill>
                <a:latin typeface="Calibri" panose="020F0502020204030204" pitchFamily="34" charset="0"/>
                <a:cs typeface="Calibri" panose="020F0502020204030204" pitchFamily="34" charset="0"/>
              </a:rPr>
              <a:t>Evaluation Setting</a:t>
            </a:r>
          </a:p>
          <a:p>
            <a:pPr algn="ctr"/>
            <a:r>
              <a:rPr lang="en-US" sz="2200" dirty="0">
                <a:solidFill>
                  <a:schemeClr val="accent5">
                    <a:lumMod val="75000"/>
                  </a:schemeClr>
                </a:solidFill>
                <a:latin typeface="Calibri" panose="020F0502020204030204" pitchFamily="34" charset="0"/>
                <a:cs typeface="Calibri" panose="020F0502020204030204" pitchFamily="34" charset="0"/>
              </a:rPr>
              <a:t>Gold-CR: </a:t>
            </a:r>
            <a:r>
              <a:rPr lang="en-US" sz="2200" dirty="0">
                <a:latin typeface="Calibri" panose="020F0502020204030204" pitchFamily="34" charset="0"/>
                <a:cs typeface="Calibri" panose="020F0502020204030204" pitchFamily="34" charset="0"/>
              </a:rPr>
              <a:t>Classify A/V/K for gold CRs only</a:t>
            </a:r>
          </a:p>
          <a:p>
            <a:pPr algn="ctr"/>
            <a:r>
              <a:rPr lang="en-US" sz="2200" dirty="0">
                <a:solidFill>
                  <a:schemeClr val="accent5">
                    <a:lumMod val="75000"/>
                  </a:schemeClr>
                </a:solidFill>
                <a:latin typeface="Calibri" panose="020F0502020204030204" pitchFamily="34" charset="0"/>
                <a:cs typeface="Calibri" panose="020F0502020204030204" pitchFamily="34" charset="0"/>
              </a:rPr>
              <a:t>CR</a:t>
            </a:r>
            <a:r>
              <a:rPr lang="en-US" sz="2200" dirty="0">
                <a:solidFill>
                  <a:schemeClr val="accent5">
                    <a:lumMod val="75000"/>
                  </a:schemeClr>
                </a:solidFill>
                <a:latin typeface="Calibri" panose="020F0502020204030204" pitchFamily="34" charset="0"/>
                <a:cs typeface="Calibri" panose="020F0502020204030204" pitchFamily="34" charset="0"/>
                <a:sym typeface="Wingdings" pitchFamily="2" charset="2"/>
              </a:rPr>
              <a:t>→GMOD: </a:t>
            </a:r>
            <a:r>
              <a:rPr lang="en-US" sz="2200" dirty="0">
                <a:latin typeface="Calibri" panose="020F0502020204030204" pitchFamily="34" charset="0"/>
                <a:cs typeface="Calibri" panose="020F0502020204030204" pitchFamily="34" charset="0"/>
                <a:sym typeface="Wingdings" pitchFamily="2" charset="2"/>
              </a:rPr>
              <a:t>predict CR then classify A/V/K</a:t>
            </a: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8033071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p:bldP spid="33" grpId="0"/>
      <p:bldP spid="12" grpId="0" animBg="1"/>
      <p:bldP spid="16" grpId="0" animBg="1"/>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6238B-CE2E-0903-9A0B-875F57817FE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97062B-45E0-3FD5-376F-CC2EB71BE137}"/>
              </a:ext>
            </a:extLst>
          </p:cNvPr>
          <p:cNvSpPr>
            <a:spLocks noGrp="1"/>
          </p:cNvSpPr>
          <p:nvPr>
            <p:ph type="sldNum" sz="quarter" idx="12"/>
          </p:nvPr>
        </p:nvSpPr>
        <p:spPr>
          <a:xfrm>
            <a:off x="11322274" y="6425651"/>
            <a:ext cx="869725"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14</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075382CE-B9AE-D067-317A-0089522C27AD}"/>
              </a:ext>
            </a:extLst>
          </p:cNvPr>
          <p:cNvSpPr>
            <a:spLocks noGrp="1"/>
          </p:cNvSpPr>
          <p:nvPr>
            <p:ph type="title"/>
          </p:nvPr>
        </p:nvSpPr>
        <p:spPr>
          <a:xfrm>
            <a:off x="1391089" y="308343"/>
            <a:ext cx="10333075" cy="597432"/>
          </a:xfrm>
        </p:spPr>
        <p:txBody>
          <a:bodyPr>
            <a:normAutofit fontScale="90000"/>
          </a:bodyPr>
          <a:lstStyle/>
          <a:p>
            <a:pPr algn="ctr"/>
            <a:r>
              <a:rPr lang="en-US" sz="4000" dirty="0">
                <a:latin typeface="Calibri" panose="020F0502020204030204" pitchFamily="34" charset="0"/>
                <a:cs typeface="Calibri" panose="020F0502020204030204" pitchFamily="34" charset="0"/>
              </a:rPr>
              <a:t>GMOD Results</a:t>
            </a:r>
          </a:p>
        </p:txBody>
      </p:sp>
      <p:sp>
        <p:nvSpPr>
          <p:cNvPr id="7" name="Rounded Rectangle 6">
            <a:extLst>
              <a:ext uri="{FF2B5EF4-FFF2-40B4-BE49-F238E27FC236}">
                <a16:creationId xmlns:a16="http://schemas.microsoft.com/office/drawing/2014/main" id="{EA5DC177-B427-EB80-F1E2-1213D44F7E26}"/>
              </a:ext>
            </a:extLst>
          </p:cNvPr>
          <p:cNvSpPr/>
          <p:nvPr/>
        </p:nvSpPr>
        <p:spPr>
          <a:xfrm>
            <a:off x="551298" y="838574"/>
            <a:ext cx="11089403" cy="2459775"/>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9" name="Rounded Rectangle 8">
            <a:extLst>
              <a:ext uri="{FF2B5EF4-FFF2-40B4-BE49-F238E27FC236}">
                <a16:creationId xmlns:a16="http://schemas.microsoft.com/office/drawing/2014/main" id="{D844025F-C445-0FEB-4F3C-B5E2DF0468E1}"/>
              </a:ext>
            </a:extLst>
          </p:cNvPr>
          <p:cNvSpPr/>
          <p:nvPr/>
        </p:nvSpPr>
        <p:spPr>
          <a:xfrm>
            <a:off x="751331" y="863625"/>
            <a:ext cx="5288286" cy="496061"/>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accent5">
                    <a:lumMod val="50000"/>
                  </a:schemeClr>
                </a:solidFill>
                <a:latin typeface="Calibri" panose="020F0502020204030204" pitchFamily="34" charset="0"/>
                <a:cs typeface="Calibri" panose="020F0502020204030204" pitchFamily="34" charset="0"/>
              </a:rPr>
              <a:t>GMOD: Gold-CR</a:t>
            </a:r>
          </a:p>
        </p:txBody>
      </p:sp>
      <p:sp>
        <p:nvSpPr>
          <p:cNvPr id="21" name="TextBox 20">
            <a:extLst>
              <a:ext uri="{FF2B5EF4-FFF2-40B4-BE49-F238E27FC236}">
                <a16:creationId xmlns:a16="http://schemas.microsoft.com/office/drawing/2014/main" id="{5F6F8B6E-197F-9724-CCB9-0A0330FAC6AE}"/>
              </a:ext>
            </a:extLst>
          </p:cNvPr>
          <p:cNvSpPr txBox="1"/>
          <p:nvPr/>
        </p:nvSpPr>
        <p:spPr>
          <a:xfrm>
            <a:off x="914543" y="1418569"/>
            <a:ext cx="9156383" cy="1938992"/>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     Best overall:</a:t>
            </a:r>
            <a:r>
              <a:rPr lang="en-US" sz="2400" dirty="0">
                <a:latin typeface="Calibri" panose="020F0502020204030204" pitchFamily="34" charset="0"/>
                <a:cs typeface="Calibri" panose="020F0502020204030204" pitchFamily="34" charset="0"/>
              </a:rPr>
              <a:t> TF-IDF + Logistic Regression (</a:t>
            </a:r>
            <a:r>
              <a:rPr lang="en-US" sz="2400" b="1" dirty="0">
                <a:latin typeface="Calibri" panose="020F0502020204030204" pitchFamily="34" charset="0"/>
                <a:cs typeface="Calibri" panose="020F0502020204030204" pitchFamily="34" charset="0"/>
              </a:rPr>
              <a:t>Macro F1 = 0.52</a:t>
            </a:r>
            <a:r>
              <a:rPr lang="en-US" sz="2400" dirty="0">
                <a:latin typeface="Calibri" panose="020F0502020204030204" pitchFamily="34" charset="0"/>
                <a:cs typeface="Calibri" panose="020F0502020204030204" pitchFamily="34" charset="0"/>
              </a:rPr>
              <a:t> , Base)</a:t>
            </a:r>
          </a:p>
          <a:p>
            <a:pPr marL="342900" indent="-342900">
              <a:buFont typeface="Arial" panose="020B0604020202020204" pitchFamily="34" charset="0"/>
              <a:buChar char="•"/>
            </a:pPr>
            <a:r>
              <a:rPr lang="en-US" sz="2400" b="1" dirty="0">
                <a:latin typeface="Calibri" panose="020F0502020204030204" pitchFamily="34" charset="0"/>
                <a:cs typeface="Calibri" panose="020F0502020204030204" pitchFamily="34" charset="0"/>
              </a:rPr>
              <a:t>Context affected modalities differently:</a:t>
            </a:r>
            <a:r>
              <a:rPr lang="en-US" sz="2400" dirty="0">
                <a:latin typeface="Calibri" panose="020F0502020204030204" pitchFamily="34" charset="0"/>
                <a:cs typeface="Calibri" panose="020F0502020204030204" pitchFamily="34" charset="0"/>
              </a:rPr>
              <a:t> +Prev2 improved A and V, but K dropped.</a:t>
            </a:r>
          </a:p>
          <a:p>
            <a:pPr marL="342900" indent="-342900">
              <a:buFont typeface="Arial" panose="020B0604020202020204" pitchFamily="34" charset="0"/>
              <a:buChar char="•"/>
            </a:pPr>
            <a:r>
              <a:rPr lang="en-US" sz="2400" dirty="0">
                <a:solidFill>
                  <a:schemeClr val="accent5">
                    <a:lumMod val="75000"/>
                  </a:schemeClr>
                </a:solidFill>
                <a:latin typeface="Calibri" panose="020F0502020204030204" pitchFamily="34" charset="0"/>
                <a:cs typeface="Calibri" panose="020F0502020204030204" pitchFamily="34" charset="0"/>
              </a:rPr>
              <a:t>Visual strongest, Auditory hardest,</a:t>
            </a:r>
          </a:p>
          <a:p>
            <a:r>
              <a:rPr lang="en-US" sz="2400" dirty="0">
                <a:solidFill>
                  <a:schemeClr val="accent5">
                    <a:lumMod val="75000"/>
                  </a:schemeClr>
                </a:solidFill>
                <a:latin typeface="Calibri" panose="020F0502020204030204" pitchFamily="34" charset="0"/>
                <a:cs typeface="Calibri" panose="020F0502020204030204" pitchFamily="34" charset="0"/>
              </a:rPr>
              <a:t>      Kinesthetic intermediate.</a:t>
            </a:r>
          </a:p>
        </p:txBody>
      </p:sp>
      <p:pic>
        <p:nvPicPr>
          <p:cNvPr id="22" name="Graphic 21" descr="Star with solid fill">
            <a:extLst>
              <a:ext uri="{FF2B5EF4-FFF2-40B4-BE49-F238E27FC236}">
                <a16:creationId xmlns:a16="http://schemas.microsoft.com/office/drawing/2014/main" id="{D90E223D-AC4A-0135-8803-946A3DB8F6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557" y="1451417"/>
            <a:ext cx="400066" cy="400066"/>
          </a:xfrm>
          <a:prstGeom prst="rect">
            <a:avLst/>
          </a:prstGeom>
        </p:spPr>
      </p:pic>
      <p:sp>
        <p:nvSpPr>
          <p:cNvPr id="23" name="Rounded Rectangle 22">
            <a:extLst>
              <a:ext uri="{FF2B5EF4-FFF2-40B4-BE49-F238E27FC236}">
                <a16:creationId xmlns:a16="http://schemas.microsoft.com/office/drawing/2014/main" id="{5CD95155-D193-C75B-6B1C-055068D04C4A}"/>
              </a:ext>
            </a:extLst>
          </p:cNvPr>
          <p:cNvSpPr/>
          <p:nvPr/>
        </p:nvSpPr>
        <p:spPr>
          <a:xfrm>
            <a:off x="634761" y="3425852"/>
            <a:ext cx="11089403" cy="2787744"/>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1F1954F2-76D1-6ABD-7E30-0A75DB43625B}"/>
              </a:ext>
            </a:extLst>
          </p:cNvPr>
          <p:cNvSpPr/>
          <p:nvPr/>
        </p:nvSpPr>
        <p:spPr>
          <a:xfrm>
            <a:off x="914543" y="3484476"/>
            <a:ext cx="6595788" cy="512064"/>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accent5">
                    <a:lumMod val="50000"/>
                  </a:schemeClr>
                </a:solidFill>
                <a:latin typeface="Calibri" panose="020F0502020204030204" pitchFamily="34" charset="0"/>
                <a:cs typeface="Calibri" panose="020F0502020204030204" pitchFamily="34" charset="0"/>
              </a:rPr>
              <a:t>GMOD: CR→GMOD pipeline</a:t>
            </a:r>
          </a:p>
        </p:txBody>
      </p:sp>
      <p:sp>
        <p:nvSpPr>
          <p:cNvPr id="26" name="TextBox 25">
            <a:extLst>
              <a:ext uri="{FF2B5EF4-FFF2-40B4-BE49-F238E27FC236}">
                <a16:creationId xmlns:a16="http://schemas.microsoft.com/office/drawing/2014/main" id="{4AB32384-FB6B-87FA-C0D5-6B03C8777C2D}"/>
              </a:ext>
            </a:extLst>
          </p:cNvPr>
          <p:cNvSpPr txBox="1"/>
          <p:nvPr/>
        </p:nvSpPr>
        <p:spPr>
          <a:xfrm>
            <a:off x="667734" y="4054513"/>
            <a:ext cx="11089402" cy="2015936"/>
          </a:xfrm>
          <a:prstGeom prst="rect">
            <a:avLst/>
          </a:prstGeom>
          <a:noFill/>
        </p:spPr>
        <p:txBody>
          <a:bodyPr wrap="square" rtlCol="0">
            <a:spAutoFit/>
          </a:bodyPr>
          <a:lstStyle/>
          <a:p>
            <a:r>
              <a:rPr lang="en-US" sz="2500" b="1" dirty="0">
                <a:latin typeface="Calibri" panose="020F0502020204030204" pitchFamily="34" charset="0"/>
                <a:cs typeface="Calibri" panose="020F0502020204030204" pitchFamily="34" charset="0"/>
              </a:rPr>
              <a:t>       Best overall :</a:t>
            </a:r>
            <a:r>
              <a:rPr lang="en-US" sz="2500" dirty="0">
                <a:latin typeface="Calibri" panose="020F0502020204030204" pitchFamily="34" charset="0"/>
                <a:cs typeface="Calibri" panose="020F0502020204030204" pitchFamily="34" charset="0"/>
              </a:rPr>
              <a:t> Llama-3.2-3B-Instruct, zero-shot (</a:t>
            </a:r>
            <a:r>
              <a:rPr lang="en-US" sz="2500" b="1" dirty="0">
                <a:latin typeface="Calibri" panose="020F0502020204030204" pitchFamily="34" charset="0"/>
                <a:cs typeface="Calibri" panose="020F0502020204030204" pitchFamily="34" charset="0"/>
              </a:rPr>
              <a:t>Macro F1 ≈ 0.50</a:t>
            </a:r>
            <a:r>
              <a:rPr lang="en-US" sz="2500" dirty="0">
                <a:latin typeface="Calibri" panose="020F0502020204030204" pitchFamily="34" charset="0"/>
                <a:cs typeface="Calibri" panose="020F0502020204030204" pitchFamily="34" charset="0"/>
              </a:rPr>
              <a:t> across contexts)</a:t>
            </a:r>
          </a:p>
          <a:p>
            <a:pPr marL="457200" indent="-457200">
              <a:buFont typeface="Arial" panose="020B0604020202020204" pitchFamily="34" charset="0"/>
              <a:buChar char="•"/>
            </a:pPr>
            <a:r>
              <a:rPr lang="en-US" sz="2500" dirty="0">
                <a:latin typeface="Calibri" panose="020F0502020204030204" pitchFamily="34" charset="0"/>
                <a:cs typeface="Calibri" panose="020F0502020204030204" pitchFamily="34" charset="0"/>
              </a:rPr>
              <a:t>High CR recall passes many true CRs forward; </a:t>
            </a:r>
          </a:p>
          <a:p>
            <a:pPr marL="457200" indent="-457200">
              <a:buFont typeface="Arial" panose="020B0604020202020204" pitchFamily="34" charset="0"/>
              <a:buChar char="•"/>
            </a:pPr>
            <a:r>
              <a:rPr lang="en-US" sz="2500" dirty="0">
                <a:latin typeface="Calibri" panose="020F0502020204030204" pitchFamily="34" charset="0"/>
                <a:cs typeface="Calibri" panose="020F0502020204030204" pitchFamily="34" charset="0"/>
              </a:rPr>
              <a:t>low CR precision also sends non-CRs into A/V/K classification.</a:t>
            </a:r>
          </a:p>
          <a:p>
            <a:pPr marL="457200" indent="-457200">
              <a:buFont typeface="Arial" panose="020B0604020202020204" pitchFamily="34" charset="0"/>
              <a:buChar char="•"/>
            </a:pPr>
            <a:r>
              <a:rPr lang="en-US" sz="2500" dirty="0">
                <a:solidFill>
                  <a:schemeClr val="accent5">
                    <a:lumMod val="75000"/>
                  </a:schemeClr>
                </a:solidFill>
                <a:latin typeface="Calibri" panose="020F0502020204030204" pitchFamily="34" charset="0"/>
                <a:cs typeface="Calibri" panose="020F0502020204030204" pitchFamily="34" charset="0"/>
              </a:rPr>
              <a:t>Adding context helped A and K, </a:t>
            </a:r>
          </a:p>
          <a:p>
            <a:r>
              <a:rPr lang="en-US" sz="2500" dirty="0">
                <a:solidFill>
                  <a:schemeClr val="accent5">
                    <a:lumMod val="75000"/>
                  </a:schemeClr>
                </a:solidFill>
                <a:latin typeface="Calibri" panose="020F0502020204030204" pitchFamily="34" charset="0"/>
                <a:cs typeface="Calibri" panose="020F0502020204030204" pitchFamily="34" charset="0"/>
              </a:rPr>
              <a:t>      while V was strongest without added context.</a:t>
            </a:r>
          </a:p>
        </p:txBody>
      </p:sp>
      <p:pic>
        <p:nvPicPr>
          <p:cNvPr id="27" name="Graphic 26" descr="Star with solid fill">
            <a:extLst>
              <a:ext uri="{FF2B5EF4-FFF2-40B4-BE49-F238E27FC236}">
                <a16:creationId xmlns:a16="http://schemas.microsoft.com/office/drawing/2014/main" id="{DBAEC71C-D757-9049-3591-4BA7B2904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557" y="4064831"/>
            <a:ext cx="400066" cy="400066"/>
          </a:xfrm>
          <a:prstGeom prst="rect">
            <a:avLst/>
          </a:prstGeom>
        </p:spPr>
      </p:pic>
      <p:sp>
        <p:nvSpPr>
          <p:cNvPr id="13" name="Right Brace 12">
            <a:extLst>
              <a:ext uri="{FF2B5EF4-FFF2-40B4-BE49-F238E27FC236}">
                <a16:creationId xmlns:a16="http://schemas.microsoft.com/office/drawing/2014/main" id="{55CB69E7-1239-983F-9BDD-FDCDF610E06D}"/>
              </a:ext>
            </a:extLst>
          </p:cNvPr>
          <p:cNvSpPr/>
          <p:nvPr/>
        </p:nvSpPr>
        <p:spPr>
          <a:xfrm>
            <a:off x="5858442" y="2425025"/>
            <a:ext cx="237557" cy="766540"/>
          </a:xfrm>
          <a:prstGeom prst="rightBrace">
            <a:avLst>
              <a:gd name="adj1" fmla="val 8333"/>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CB591C17-11EE-69FB-6810-348354143D6B}"/>
              </a:ext>
            </a:extLst>
          </p:cNvPr>
          <p:cNvSpPr/>
          <p:nvPr/>
        </p:nvSpPr>
        <p:spPr>
          <a:xfrm>
            <a:off x="7774631" y="5205138"/>
            <a:ext cx="1216902" cy="876918"/>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lumMod val="50000"/>
                  </a:schemeClr>
                </a:solidFill>
                <a:latin typeface="Calibri" panose="020F0502020204030204" pitchFamily="34" charset="0"/>
                <a:cs typeface="Calibri" panose="020F0502020204030204" pitchFamily="34" charset="0"/>
              </a:rPr>
              <a:t>A</a:t>
            </a:r>
          </a:p>
          <a:p>
            <a:pPr algn="ctr"/>
            <a:r>
              <a:rPr lang="en-US" dirty="0">
                <a:solidFill>
                  <a:schemeClr val="accent2">
                    <a:lumMod val="50000"/>
                  </a:schemeClr>
                </a:solidFill>
                <a:latin typeface="Calibri" panose="020F0502020204030204" pitchFamily="34" charset="0"/>
                <a:cs typeface="Calibri" panose="020F0502020204030204" pitchFamily="34" charset="0"/>
              </a:rPr>
              <a:t>(+Prev2)</a:t>
            </a:r>
          </a:p>
          <a:p>
            <a:pPr algn="ctr"/>
            <a:r>
              <a:rPr lang="en-US" sz="2200" dirty="0">
                <a:solidFill>
                  <a:schemeClr val="accent2">
                    <a:lumMod val="50000"/>
                  </a:schemeClr>
                </a:solidFill>
                <a:latin typeface="Calibri" panose="020F0502020204030204" pitchFamily="34" charset="0"/>
                <a:cs typeface="Calibri" panose="020F0502020204030204" pitchFamily="34" charset="0"/>
              </a:rPr>
              <a:t>0.30</a:t>
            </a:r>
          </a:p>
        </p:txBody>
      </p:sp>
      <p:sp>
        <p:nvSpPr>
          <p:cNvPr id="15" name="Rounded Rectangle 14">
            <a:extLst>
              <a:ext uri="{FF2B5EF4-FFF2-40B4-BE49-F238E27FC236}">
                <a16:creationId xmlns:a16="http://schemas.microsoft.com/office/drawing/2014/main" id="{3FE1F8D2-829C-E4ED-7650-0B6C1C85DCFD}"/>
              </a:ext>
            </a:extLst>
          </p:cNvPr>
          <p:cNvSpPr/>
          <p:nvPr/>
        </p:nvSpPr>
        <p:spPr>
          <a:xfrm>
            <a:off x="10393470" y="5155034"/>
            <a:ext cx="1216902" cy="876918"/>
          </a:xfrm>
          <a:prstGeom prst="roundRect">
            <a:avLst/>
          </a:prstGeom>
          <a:solidFill>
            <a:schemeClr val="accent4">
              <a:lumMod val="20000"/>
              <a:lumOff val="8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75000"/>
                  </a:schemeClr>
                </a:solidFill>
                <a:latin typeface="Calibri" panose="020F0502020204030204" pitchFamily="34" charset="0"/>
                <a:cs typeface="Calibri" panose="020F0502020204030204" pitchFamily="34" charset="0"/>
              </a:rPr>
              <a:t>K</a:t>
            </a:r>
          </a:p>
          <a:p>
            <a:pPr algn="ctr"/>
            <a:r>
              <a:rPr lang="en-US" dirty="0">
                <a:solidFill>
                  <a:schemeClr val="accent4">
                    <a:lumMod val="75000"/>
                  </a:schemeClr>
                </a:solidFill>
                <a:latin typeface="Calibri" panose="020F0502020204030204" pitchFamily="34" charset="0"/>
                <a:cs typeface="Calibri" panose="020F0502020204030204" pitchFamily="34" charset="0"/>
              </a:rPr>
              <a:t>(+Prev2)</a:t>
            </a:r>
          </a:p>
          <a:p>
            <a:pPr algn="ctr"/>
            <a:r>
              <a:rPr lang="en-US" sz="2200" dirty="0">
                <a:solidFill>
                  <a:schemeClr val="accent4">
                    <a:lumMod val="75000"/>
                  </a:schemeClr>
                </a:solidFill>
                <a:latin typeface="Calibri" panose="020F0502020204030204" pitchFamily="34" charset="0"/>
                <a:cs typeface="Calibri" panose="020F0502020204030204" pitchFamily="34" charset="0"/>
              </a:rPr>
              <a:t>0.27</a:t>
            </a:r>
          </a:p>
        </p:txBody>
      </p:sp>
      <p:sp>
        <p:nvSpPr>
          <p:cNvPr id="16" name="Rounded Rectangle 15">
            <a:extLst>
              <a:ext uri="{FF2B5EF4-FFF2-40B4-BE49-F238E27FC236}">
                <a16:creationId xmlns:a16="http://schemas.microsoft.com/office/drawing/2014/main" id="{29D105BC-3DEA-B2E3-B881-3F1EE1B8FDB5}"/>
              </a:ext>
            </a:extLst>
          </p:cNvPr>
          <p:cNvSpPr/>
          <p:nvPr/>
        </p:nvSpPr>
        <p:spPr>
          <a:xfrm>
            <a:off x="9096576" y="5172263"/>
            <a:ext cx="1216902" cy="876918"/>
          </a:xfrm>
          <a:prstGeom prst="roundRect">
            <a:avLst/>
          </a:prstGeom>
          <a:solidFill>
            <a:schemeClr val="accent6">
              <a:lumMod val="20000"/>
              <a:lumOff val="80000"/>
            </a:schemeClr>
          </a:solidFill>
          <a:ln w="127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latin typeface="Calibri" panose="020F0502020204030204" pitchFamily="34" charset="0"/>
                <a:cs typeface="Calibri" panose="020F0502020204030204" pitchFamily="34" charset="0"/>
              </a:rPr>
              <a:t>V</a:t>
            </a:r>
          </a:p>
          <a:p>
            <a:pPr algn="ctr"/>
            <a:r>
              <a:rPr lang="en-US" dirty="0">
                <a:solidFill>
                  <a:schemeClr val="accent6">
                    <a:lumMod val="50000"/>
                  </a:schemeClr>
                </a:solidFill>
                <a:latin typeface="Calibri" panose="020F0502020204030204" pitchFamily="34" charset="0"/>
                <a:cs typeface="Calibri" panose="020F0502020204030204" pitchFamily="34" charset="0"/>
              </a:rPr>
              <a:t>(Base)</a:t>
            </a:r>
          </a:p>
          <a:p>
            <a:pPr algn="ctr"/>
            <a:r>
              <a:rPr lang="en-US" sz="2200" dirty="0">
                <a:solidFill>
                  <a:schemeClr val="accent6">
                    <a:lumMod val="50000"/>
                  </a:schemeClr>
                </a:solidFill>
                <a:latin typeface="Calibri" panose="020F0502020204030204" pitchFamily="34" charset="0"/>
                <a:cs typeface="Calibri" panose="020F0502020204030204" pitchFamily="34" charset="0"/>
              </a:rPr>
              <a:t>0.61</a:t>
            </a:r>
          </a:p>
        </p:txBody>
      </p:sp>
      <p:sp>
        <p:nvSpPr>
          <p:cNvPr id="17" name="Right Brace 16">
            <a:extLst>
              <a:ext uri="{FF2B5EF4-FFF2-40B4-BE49-F238E27FC236}">
                <a16:creationId xmlns:a16="http://schemas.microsoft.com/office/drawing/2014/main" id="{6A0D8899-110F-9F7C-845A-F9283DDE29C5}"/>
              </a:ext>
            </a:extLst>
          </p:cNvPr>
          <p:cNvSpPr/>
          <p:nvPr/>
        </p:nvSpPr>
        <p:spPr>
          <a:xfrm>
            <a:off x="7444556" y="5365621"/>
            <a:ext cx="237557" cy="766540"/>
          </a:xfrm>
          <a:prstGeom prst="rightBrace">
            <a:avLst>
              <a:gd name="adj1" fmla="val 8333"/>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EDE2B5C8-F4A8-7C5C-6FCE-668EF340C57A}"/>
              </a:ext>
            </a:extLst>
          </p:cNvPr>
          <p:cNvSpPr/>
          <p:nvPr/>
        </p:nvSpPr>
        <p:spPr>
          <a:xfrm>
            <a:off x="6616597" y="2298082"/>
            <a:ext cx="1216902" cy="876918"/>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lumMod val="50000"/>
                  </a:schemeClr>
                </a:solidFill>
                <a:latin typeface="Calibri" panose="020F0502020204030204" pitchFamily="34" charset="0"/>
                <a:cs typeface="Calibri" panose="020F0502020204030204" pitchFamily="34" charset="0"/>
              </a:rPr>
              <a:t>A</a:t>
            </a:r>
          </a:p>
          <a:p>
            <a:pPr algn="ctr"/>
            <a:r>
              <a:rPr lang="en-US" dirty="0">
                <a:solidFill>
                  <a:schemeClr val="accent2">
                    <a:lumMod val="50000"/>
                  </a:schemeClr>
                </a:solidFill>
                <a:latin typeface="Calibri" panose="020F0502020204030204" pitchFamily="34" charset="0"/>
                <a:cs typeface="Calibri" panose="020F0502020204030204" pitchFamily="34" charset="0"/>
              </a:rPr>
              <a:t>(+Prev2)</a:t>
            </a:r>
          </a:p>
          <a:p>
            <a:pPr algn="ctr"/>
            <a:r>
              <a:rPr lang="en-US" sz="2200" dirty="0">
                <a:solidFill>
                  <a:schemeClr val="accent2">
                    <a:lumMod val="50000"/>
                  </a:schemeClr>
                </a:solidFill>
                <a:latin typeface="Calibri" panose="020F0502020204030204" pitchFamily="34" charset="0"/>
                <a:cs typeface="Calibri" panose="020F0502020204030204" pitchFamily="34" charset="0"/>
              </a:rPr>
              <a:t>0.34</a:t>
            </a:r>
          </a:p>
        </p:txBody>
      </p:sp>
      <p:sp>
        <p:nvSpPr>
          <p:cNvPr id="19" name="Rounded Rectangle 18">
            <a:extLst>
              <a:ext uri="{FF2B5EF4-FFF2-40B4-BE49-F238E27FC236}">
                <a16:creationId xmlns:a16="http://schemas.microsoft.com/office/drawing/2014/main" id="{42FC3B0D-9B09-7C8E-963B-5110B4D49069}"/>
              </a:ext>
            </a:extLst>
          </p:cNvPr>
          <p:cNvSpPr/>
          <p:nvPr/>
        </p:nvSpPr>
        <p:spPr>
          <a:xfrm>
            <a:off x="9235436" y="2247978"/>
            <a:ext cx="1216902" cy="876918"/>
          </a:xfrm>
          <a:prstGeom prst="roundRect">
            <a:avLst/>
          </a:prstGeom>
          <a:solidFill>
            <a:schemeClr val="accent4">
              <a:lumMod val="20000"/>
              <a:lumOff val="8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75000"/>
                  </a:schemeClr>
                </a:solidFill>
                <a:latin typeface="Calibri" panose="020F0502020204030204" pitchFamily="34" charset="0"/>
                <a:cs typeface="Calibri" panose="020F0502020204030204" pitchFamily="34" charset="0"/>
              </a:rPr>
              <a:t>K</a:t>
            </a:r>
          </a:p>
          <a:p>
            <a:pPr algn="ctr"/>
            <a:r>
              <a:rPr lang="en-US" dirty="0">
                <a:solidFill>
                  <a:schemeClr val="accent4">
                    <a:lumMod val="75000"/>
                  </a:schemeClr>
                </a:solidFill>
                <a:latin typeface="Calibri" panose="020F0502020204030204" pitchFamily="34" charset="0"/>
                <a:cs typeface="Calibri" panose="020F0502020204030204" pitchFamily="34" charset="0"/>
              </a:rPr>
              <a:t>(Base)</a:t>
            </a:r>
          </a:p>
          <a:p>
            <a:pPr algn="ctr"/>
            <a:r>
              <a:rPr lang="en-US" sz="2200" dirty="0">
                <a:solidFill>
                  <a:schemeClr val="accent4">
                    <a:lumMod val="75000"/>
                  </a:schemeClr>
                </a:solidFill>
                <a:latin typeface="Calibri" panose="020F0502020204030204" pitchFamily="34" charset="0"/>
                <a:cs typeface="Calibri" panose="020F0502020204030204" pitchFamily="34" charset="0"/>
              </a:rPr>
              <a:t>0.55</a:t>
            </a:r>
          </a:p>
        </p:txBody>
      </p:sp>
      <p:sp>
        <p:nvSpPr>
          <p:cNvPr id="33" name="Rounded Rectangle 32">
            <a:extLst>
              <a:ext uri="{FF2B5EF4-FFF2-40B4-BE49-F238E27FC236}">
                <a16:creationId xmlns:a16="http://schemas.microsoft.com/office/drawing/2014/main" id="{5F67DB16-74D7-6E56-9E7B-F4DCEF024DFF}"/>
              </a:ext>
            </a:extLst>
          </p:cNvPr>
          <p:cNvSpPr/>
          <p:nvPr/>
        </p:nvSpPr>
        <p:spPr>
          <a:xfrm>
            <a:off x="7938542" y="2265207"/>
            <a:ext cx="1216902" cy="876918"/>
          </a:xfrm>
          <a:prstGeom prst="roundRect">
            <a:avLst/>
          </a:prstGeom>
          <a:solidFill>
            <a:schemeClr val="accent6">
              <a:lumMod val="20000"/>
              <a:lumOff val="80000"/>
            </a:schemeClr>
          </a:solidFill>
          <a:ln w="127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latin typeface="Calibri" panose="020F0502020204030204" pitchFamily="34" charset="0"/>
                <a:cs typeface="Calibri" panose="020F0502020204030204" pitchFamily="34" charset="0"/>
              </a:rPr>
              <a:t>V</a:t>
            </a:r>
          </a:p>
          <a:p>
            <a:pPr algn="ctr"/>
            <a:r>
              <a:rPr lang="en-US" dirty="0">
                <a:solidFill>
                  <a:schemeClr val="accent6">
                    <a:lumMod val="50000"/>
                  </a:schemeClr>
                </a:solidFill>
                <a:latin typeface="Calibri" panose="020F0502020204030204" pitchFamily="34" charset="0"/>
                <a:cs typeface="Calibri" panose="020F0502020204030204" pitchFamily="34" charset="0"/>
              </a:rPr>
              <a:t>(+Prev2))</a:t>
            </a:r>
          </a:p>
          <a:p>
            <a:pPr algn="ctr"/>
            <a:r>
              <a:rPr lang="en-US" sz="2200" dirty="0">
                <a:solidFill>
                  <a:schemeClr val="accent6">
                    <a:lumMod val="50000"/>
                  </a:schemeClr>
                </a:solidFill>
                <a:latin typeface="Calibri" panose="020F0502020204030204" pitchFamily="34" charset="0"/>
                <a:cs typeface="Calibri" panose="020F0502020204030204" pitchFamily="34" charset="0"/>
              </a:rPr>
              <a:t>0.79</a:t>
            </a:r>
          </a:p>
        </p:txBody>
      </p:sp>
    </p:spTree>
    <p:extLst>
      <p:ext uri="{BB962C8B-B14F-4D97-AF65-F5344CB8AC3E}">
        <p14:creationId xmlns:p14="http://schemas.microsoft.com/office/powerpoint/2010/main" val="359208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1" grpId="0"/>
      <p:bldP spid="23" grpId="0" animBg="1"/>
      <p:bldP spid="24" grpId="0" animBg="1"/>
      <p:bldP spid="26" grpId="0"/>
      <p:bldP spid="13" grpId="0" animBg="1"/>
      <p:bldP spid="14" grpId="0" animBg="1"/>
      <p:bldP spid="15" grpId="0" animBg="1"/>
      <p:bldP spid="16" grpId="0" animBg="1"/>
      <p:bldP spid="17" grpId="0" animBg="1"/>
      <p:bldP spid="18" grpId="0" animBg="1"/>
      <p:bldP spid="19"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4D8957-98AB-EB5A-5A12-AA663D3919C4}"/>
              </a:ext>
            </a:extLst>
          </p:cNvPr>
          <p:cNvSpPr>
            <a:spLocks noGrp="1"/>
          </p:cNvSpPr>
          <p:nvPr>
            <p:ph type="sldNum" sz="quarter" idx="12"/>
          </p:nvPr>
        </p:nvSpPr>
        <p:spPr>
          <a:xfrm>
            <a:off x="11043920" y="6356350"/>
            <a:ext cx="680245"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15</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107637D2-FE0A-8830-9F9A-6B7C69B864A7}"/>
              </a:ext>
            </a:extLst>
          </p:cNvPr>
          <p:cNvSpPr>
            <a:spLocks noGrp="1"/>
          </p:cNvSpPr>
          <p:nvPr>
            <p:ph type="title"/>
          </p:nvPr>
        </p:nvSpPr>
        <p:spPr>
          <a:xfrm>
            <a:off x="2876955" y="272552"/>
            <a:ext cx="6507284" cy="758527"/>
          </a:xfrm>
        </p:spPr>
        <p:txBody>
          <a:bodyPr>
            <a:normAutofit/>
          </a:bodyPr>
          <a:lstStyle/>
          <a:p>
            <a:pPr algn="ctr"/>
            <a:r>
              <a:rPr lang="en-US" sz="4000" b="0" dirty="0">
                <a:latin typeface="Calibri" panose="020F0502020204030204" pitchFamily="34" charset="0"/>
                <a:cs typeface="Calibri" panose="020F0502020204030204" pitchFamily="34" charset="0"/>
              </a:rPr>
              <a:t>Error Analysis</a:t>
            </a:r>
          </a:p>
        </p:txBody>
      </p:sp>
      <p:sp>
        <p:nvSpPr>
          <p:cNvPr id="6" name="Rounded Rectangle 5">
            <a:extLst>
              <a:ext uri="{FF2B5EF4-FFF2-40B4-BE49-F238E27FC236}">
                <a16:creationId xmlns:a16="http://schemas.microsoft.com/office/drawing/2014/main" id="{B1A19CB0-FF4D-8FEB-3635-5CA1355D2F59}"/>
              </a:ext>
            </a:extLst>
          </p:cNvPr>
          <p:cNvSpPr/>
          <p:nvPr/>
        </p:nvSpPr>
        <p:spPr>
          <a:xfrm>
            <a:off x="537030" y="1015999"/>
            <a:ext cx="11186925" cy="658723"/>
          </a:xfrm>
          <a:prstGeom prst="roundRect">
            <a:avLst/>
          </a:prstGeom>
          <a:solidFill>
            <a:srgbClr val="FFC000">
              <a:alpha val="16789"/>
            </a:srgbClr>
          </a:solidFill>
          <a:ln>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latin typeface="Calibri" panose="020F0502020204030204" pitchFamily="34" charset="0"/>
                <a:cs typeface="Calibri" panose="020F0502020204030204" pitchFamily="34" charset="0"/>
              </a:rPr>
              <a:t>The modality-level results explained by </a:t>
            </a:r>
            <a:r>
              <a:rPr lang="en-US" sz="2800" b="1" dirty="0">
                <a:solidFill>
                  <a:srgbClr val="7030A0"/>
                </a:solidFill>
                <a:latin typeface="Calibri" panose="020F0502020204030204" pitchFamily="34" charset="0"/>
                <a:cs typeface="Calibri" panose="020F0502020204030204" pitchFamily="34" charset="0"/>
              </a:rPr>
              <a:t>three recurring error patterns</a:t>
            </a:r>
          </a:p>
        </p:txBody>
      </p:sp>
      <p:pic>
        <p:nvPicPr>
          <p:cNvPr id="9" name="Graphic 8" descr="Magnifying glass with solid fill">
            <a:extLst>
              <a:ext uri="{FF2B5EF4-FFF2-40B4-BE49-F238E27FC236}">
                <a16:creationId xmlns:a16="http://schemas.microsoft.com/office/drawing/2014/main" id="{265109B8-1915-E3B7-C885-FE93CF8917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75758" y="441963"/>
            <a:ext cx="457200" cy="457200"/>
          </a:xfrm>
          <a:prstGeom prst="rect">
            <a:avLst/>
          </a:prstGeom>
        </p:spPr>
      </p:pic>
      <p:sp>
        <p:nvSpPr>
          <p:cNvPr id="10" name="Rounded Rectangle 9">
            <a:extLst>
              <a:ext uri="{FF2B5EF4-FFF2-40B4-BE49-F238E27FC236}">
                <a16:creationId xmlns:a16="http://schemas.microsoft.com/office/drawing/2014/main" id="{E9A1C77A-ECD0-1761-E930-9C5E00CF91C8}"/>
              </a:ext>
            </a:extLst>
          </p:cNvPr>
          <p:cNvSpPr/>
          <p:nvPr/>
        </p:nvSpPr>
        <p:spPr>
          <a:xfrm>
            <a:off x="537029" y="1748463"/>
            <a:ext cx="3588921" cy="4446946"/>
          </a:xfrm>
          <a:prstGeom prst="roundRect">
            <a:avLst/>
          </a:prstGeom>
          <a:no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446E5D72-A099-F46A-73FE-528F5612A1CC}"/>
              </a:ext>
            </a:extLst>
          </p:cNvPr>
          <p:cNvSpPr/>
          <p:nvPr/>
        </p:nvSpPr>
        <p:spPr>
          <a:xfrm>
            <a:off x="4334787" y="1741455"/>
            <a:ext cx="3664579" cy="4453954"/>
          </a:xfrm>
          <a:prstGeom prst="roundRect">
            <a:avLst/>
          </a:prstGeom>
          <a:noFill/>
          <a:ln w="285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75000"/>
                  <a:lumOff val="25000"/>
                </a:schemeClr>
              </a:solidFill>
            </a:endParaRPr>
          </a:p>
        </p:txBody>
      </p:sp>
      <p:sp>
        <p:nvSpPr>
          <p:cNvPr id="12" name="Rounded Rectangle 11">
            <a:extLst>
              <a:ext uri="{FF2B5EF4-FFF2-40B4-BE49-F238E27FC236}">
                <a16:creationId xmlns:a16="http://schemas.microsoft.com/office/drawing/2014/main" id="{4E4A278D-D4D6-2018-22D8-2F628D21D964}"/>
              </a:ext>
            </a:extLst>
          </p:cNvPr>
          <p:cNvSpPr/>
          <p:nvPr/>
        </p:nvSpPr>
        <p:spPr>
          <a:xfrm>
            <a:off x="8284281" y="1748463"/>
            <a:ext cx="3439884" cy="4446945"/>
          </a:xfrm>
          <a:prstGeom prst="roundRect">
            <a:avLst/>
          </a:prstGeom>
          <a:noFill/>
          <a:ln w="285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5729764-2F43-28E8-1A80-6569B93D4028}"/>
              </a:ext>
            </a:extLst>
          </p:cNvPr>
          <p:cNvSpPr txBox="1"/>
          <p:nvPr/>
        </p:nvSpPr>
        <p:spPr>
          <a:xfrm>
            <a:off x="688149" y="1783866"/>
            <a:ext cx="3249479" cy="492443"/>
          </a:xfrm>
          <a:prstGeom prst="rect">
            <a:avLst/>
          </a:prstGeom>
          <a:noFill/>
        </p:spPr>
        <p:txBody>
          <a:bodyPr wrap="none" rtlCol="0">
            <a:spAutoFit/>
          </a:bodyPr>
          <a:lstStyle/>
          <a:p>
            <a:r>
              <a:rPr lang="en-US" sz="2600" dirty="0">
                <a:solidFill>
                  <a:schemeClr val="accent5">
                    <a:lumMod val="75000"/>
                  </a:schemeClr>
                </a:solidFill>
                <a:latin typeface="Calibri Light" panose="020F0302020204030204" pitchFamily="34" charset="0"/>
                <a:cs typeface="Calibri Light" panose="020F0302020204030204" pitchFamily="34" charset="0"/>
              </a:rPr>
              <a:t>Cross-modal ambiguity</a:t>
            </a:r>
          </a:p>
        </p:txBody>
      </p:sp>
      <p:pic>
        <p:nvPicPr>
          <p:cNvPr id="15" name="Picture 14">
            <a:extLst>
              <a:ext uri="{FF2B5EF4-FFF2-40B4-BE49-F238E27FC236}">
                <a16:creationId xmlns:a16="http://schemas.microsoft.com/office/drawing/2014/main" id="{D5D0B3E3-7BED-8C7C-B9A4-DE25527E6811}"/>
              </a:ext>
            </a:extLst>
          </p:cNvPr>
          <p:cNvPicPr>
            <a:picLocks noChangeAspect="1"/>
          </p:cNvPicPr>
          <p:nvPr/>
        </p:nvPicPr>
        <p:blipFill>
          <a:blip r:embed="rId4"/>
          <a:stretch>
            <a:fillRect/>
          </a:stretch>
        </p:blipFill>
        <p:spPr>
          <a:xfrm>
            <a:off x="1086255" y="2661975"/>
            <a:ext cx="1790700" cy="685800"/>
          </a:xfrm>
          <a:prstGeom prst="rect">
            <a:avLst/>
          </a:prstGeom>
        </p:spPr>
      </p:pic>
      <p:sp>
        <p:nvSpPr>
          <p:cNvPr id="16" name="TextBox 15">
            <a:extLst>
              <a:ext uri="{FF2B5EF4-FFF2-40B4-BE49-F238E27FC236}">
                <a16:creationId xmlns:a16="http://schemas.microsoft.com/office/drawing/2014/main" id="{5688D84C-F023-0A11-F1CB-7026CC9BB764}"/>
              </a:ext>
            </a:extLst>
          </p:cNvPr>
          <p:cNvSpPr txBox="1"/>
          <p:nvPr/>
        </p:nvSpPr>
        <p:spPr>
          <a:xfrm>
            <a:off x="688149" y="3469849"/>
            <a:ext cx="3288766" cy="830997"/>
          </a:xfrm>
          <a:prstGeom prst="rect">
            <a:avLst/>
          </a:prstGeom>
          <a:noFill/>
        </p:spPr>
        <p:txBody>
          <a:bodyPr wrap="square" rtlCol="0">
            <a:spAutoFit/>
          </a:bodyPr>
          <a:lstStyle/>
          <a:p>
            <a:r>
              <a:rPr lang="en-US" sz="2400" dirty="0">
                <a:solidFill>
                  <a:schemeClr val="accent5">
                    <a:lumMod val="75000"/>
                  </a:schemeClr>
                </a:solidFill>
                <a:latin typeface="Calibri Light" panose="020F0302020204030204" pitchFamily="34" charset="0"/>
                <a:cs typeface="Calibri Light" panose="020F0302020204030204" pitchFamily="34" charset="0"/>
              </a:rPr>
              <a:t>Visual reference + intended action</a:t>
            </a:r>
          </a:p>
        </p:txBody>
      </p:sp>
      <p:sp>
        <p:nvSpPr>
          <p:cNvPr id="17" name="TextBox 16">
            <a:extLst>
              <a:ext uri="{FF2B5EF4-FFF2-40B4-BE49-F238E27FC236}">
                <a16:creationId xmlns:a16="http://schemas.microsoft.com/office/drawing/2014/main" id="{18C91B59-FDA8-67E8-5B5D-01E732FDB079}"/>
              </a:ext>
            </a:extLst>
          </p:cNvPr>
          <p:cNvSpPr txBox="1"/>
          <p:nvPr/>
        </p:nvSpPr>
        <p:spPr>
          <a:xfrm>
            <a:off x="652160" y="4325401"/>
            <a:ext cx="3249479" cy="707886"/>
          </a:xfrm>
          <a:prstGeom prst="rect">
            <a:avLst/>
          </a:prstGeom>
          <a:noFill/>
        </p:spPr>
        <p:txBody>
          <a:bodyPr wrap="square" rtlCol="0">
            <a:spAutoFit/>
          </a:bodyPr>
          <a:lstStyle/>
          <a:p>
            <a:r>
              <a:rPr lang="en-US" sz="2000" i="1" dirty="0">
                <a:solidFill>
                  <a:schemeClr val="accent5">
                    <a:lumMod val="75000"/>
                  </a:schemeClr>
                </a:solidFill>
                <a:latin typeface="Calibri Light" panose="020F0302020204030204" pitchFamily="34" charset="0"/>
                <a:cs typeface="Calibri Light" panose="020F0302020204030204" pitchFamily="34" charset="0"/>
              </a:rPr>
              <a:t>Example: </a:t>
            </a:r>
          </a:p>
          <a:p>
            <a:r>
              <a:rPr lang="en-US" sz="2000" i="1" dirty="0">
                <a:solidFill>
                  <a:schemeClr val="accent5">
                    <a:lumMod val="75000"/>
                  </a:schemeClr>
                </a:solidFill>
                <a:latin typeface="Calibri Light" panose="020F0302020204030204" pitchFamily="34" charset="0"/>
                <a:cs typeface="Calibri Light" panose="020F0302020204030204" pitchFamily="34" charset="0"/>
              </a:rPr>
              <a:t>“Can we see that region?”</a:t>
            </a:r>
          </a:p>
        </p:txBody>
      </p:sp>
      <p:sp>
        <p:nvSpPr>
          <p:cNvPr id="19" name="Rounded Rectangle 18">
            <a:extLst>
              <a:ext uri="{FF2B5EF4-FFF2-40B4-BE49-F238E27FC236}">
                <a16:creationId xmlns:a16="http://schemas.microsoft.com/office/drawing/2014/main" id="{647149D6-1FBC-CFEC-E68F-68B55F43C632}"/>
              </a:ext>
            </a:extLst>
          </p:cNvPr>
          <p:cNvSpPr/>
          <p:nvPr/>
        </p:nvSpPr>
        <p:spPr>
          <a:xfrm>
            <a:off x="854747" y="5121290"/>
            <a:ext cx="2765054" cy="9144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600" dirty="0">
                <a:solidFill>
                  <a:schemeClr val="accent5">
                    <a:lumMod val="75000"/>
                  </a:schemeClr>
                </a:solidFill>
                <a:latin typeface="Calibri Light" panose="020F0302020204030204" pitchFamily="34" charset="0"/>
                <a:cs typeface="Calibri Light" panose="020F0302020204030204" pitchFamily="34" charset="0"/>
              </a:rPr>
              <a:t>Issue:</a:t>
            </a:r>
          </a:p>
          <a:p>
            <a:r>
              <a:rPr lang="en-US" sz="2600" dirty="0">
                <a:solidFill>
                  <a:schemeClr val="accent5">
                    <a:lumMod val="75000"/>
                  </a:schemeClr>
                </a:solidFill>
                <a:latin typeface="Calibri Light" panose="020F0302020204030204" pitchFamily="34" charset="0"/>
                <a:cs typeface="Calibri Light" panose="020F0302020204030204" pitchFamily="34" charset="0"/>
              </a:rPr>
              <a:t>V/K Overlap</a:t>
            </a:r>
          </a:p>
        </p:txBody>
      </p:sp>
      <p:sp>
        <p:nvSpPr>
          <p:cNvPr id="20" name="Rounded Rectangle 19">
            <a:extLst>
              <a:ext uri="{FF2B5EF4-FFF2-40B4-BE49-F238E27FC236}">
                <a16:creationId xmlns:a16="http://schemas.microsoft.com/office/drawing/2014/main" id="{6E0A1754-8CED-5E17-D14F-C30F8DD6E76E}"/>
              </a:ext>
            </a:extLst>
          </p:cNvPr>
          <p:cNvSpPr/>
          <p:nvPr/>
        </p:nvSpPr>
        <p:spPr>
          <a:xfrm>
            <a:off x="4775786" y="5103431"/>
            <a:ext cx="2765054" cy="101682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2">
                    <a:lumMod val="75000"/>
                    <a:lumOff val="25000"/>
                  </a:schemeClr>
                </a:solidFill>
                <a:latin typeface="Calibri Light" panose="020F0302020204030204" pitchFamily="34" charset="0"/>
                <a:cs typeface="Calibri Light" panose="020F0302020204030204" pitchFamily="34" charset="0"/>
              </a:rPr>
              <a:t>Issue: Visual-auditory confusion</a:t>
            </a:r>
          </a:p>
        </p:txBody>
      </p:sp>
      <p:sp>
        <p:nvSpPr>
          <p:cNvPr id="21" name="TextBox 20">
            <a:extLst>
              <a:ext uri="{FF2B5EF4-FFF2-40B4-BE49-F238E27FC236}">
                <a16:creationId xmlns:a16="http://schemas.microsoft.com/office/drawing/2014/main" id="{A8BC3E5D-9359-5D23-652F-58FEB9142383}"/>
              </a:ext>
            </a:extLst>
          </p:cNvPr>
          <p:cNvSpPr txBox="1"/>
          <p:nvPr/>
        </p:nvSpPr>
        <p:spPr>
          <a:xfrm>
            <a:off x="4383735" y="4440891"/>
            <a:ext cx="3862507" cy="707886"/>
          </a:xfrm>
          <a:prstGeom prst="rect">
            <a:avLst/>
          </a:prstGeom>
          <a:noFill/>
        </p:spPr>
        <p:txBody>
          <a:bodyPr wrap="square" rtlCol="0">
            <a:spAutoFit/>
          </a:bodyPr>
          <a:lstStyle/>
          <a:p>
            <a:r>
              <a:rPr lang="en-US" sz="2000" i="1" dirty="0">
                <a:solidFill>
                  <a:schemeClr val="tx2">
                    <a:lumMod val="75000"/>
                    <a:lumOff val="25000"/>
                  </a:schemeClr>
                </a:solidFill>
                <a:latin typeface="Calibri Light" panose="020F0302020204030204" pitchFamily="34" charset="0"/>
                <a:cs typeface="Calibri Light" panose="020F0302020204030204" pitchFamily="34" charset="0"/>
              </a:rPr>
              <a:t>Example: “This one?” / “Where exactly?”</a:t>
            </a:r>
          </a:p>
        </p:txBody>
      </p:sp>
      <p:sp>
        <p:nvSpPr>
          <p:cNvPr id="22" name="TextBox 21">
            <a:extLst>
              <a:ext uri="{FF2B5EF4-FFF2-40B4-BE49-F238E27FC236}">
                <a16:creationId xmlns:a16="http://schemas.microsoft.com/office/drawing/2014/main" id="{76EA6F38-F7C3-C7AE-7BC7-397D5CEBE457}"/>
              </a:ext>
            </a:extLst>
          </p:cNvPr>
          <p:cNvSpPr txBox="1"/>
          <p:nvPr/>
        </p:nvSpPr>
        <p:spPr>
          <a:xfrm>
            <a:off x="4513769" y="1650178"/>
            <a:ext cx="3164461" cy="830997"/>
          </a:xfrm>
          <a:prstGeom prst="rect">
            <a:avLst/>
          </a:prstGeom>
          <a:noFill/>
        </p:spPr>
        <p:txBody>
          <a:bodyPr wrap="square" rtlCol="0">
            <a:spAutoFit/>
          </a:bodyPr>
          <a:lstStyle/>
          <a:p>
            <a:pPr algn="ctr"/>
            <a:r>
              <a:rPr lang="en-US" sz="2400" dirty="0">
                <a:solidFill>
                  <a:schemeClr val="tx2">
                    <a:lumMod val="75000"/>
                    <a:lumOff val="25000"/>
                  </a:schemeClr>
                </a:solidFill>
                <a:latin typeface="Calibri Light" panose="020F0302020204030204" pitchFamily="34" charset="0"/>
                <a:cs typeface="Calibri Light" panose="020F0302020204030204" pitchFamily="34" charset="0"/>
              </a:rPr>
              <a:t>Underspecified reference</a:t>
            </a:r>
          </a:p>
        </p:txBody>
      </p:sp>
      <p:sp>
        <p:nvSpPr>
          <p:cNvPr id="23" name="TextBox 22">
            <a:extLst>
              <a:ext uri="{FF2B5EF4-FFF2-40B4-BE49-F238E27FC236}">
                <a16:creationId xmlns:a16="http://schemas.microsoft.com/office/drawing/2014/main" id="{BEBAE749-3521-DD83-A9AF-EC22510A8BE7}"/>
              </a:ext>
            </a:extLst>
          </p:cNvPr>
          <p:cNvSpPr txBox="1"/>
          <p:nvPr/>
        </p:nvSpPr>
        <p:spPr>
          <a:xfrm>
            <a:off x="8493118" y="1748463"/>
            <a:ext cx="3021789" cy="492443"/>
          </a:xfrm>
          <a:prstGeom prst="rect">
            <a:avLst/>
          </a:prstGeom>
          <a:noFill/>
        </p:spPr>
        <p:txBody>
          <a:bodyPr wrap="none" rtlCol="0">
            <a:spAutoFit/>
          </a:bodyPr>
          <a:lstStyle/>
          <a:p>
            <a:r>
              <a:rPr lang="en-US" sz="2600" dirty="0">
                <a:solidFill>
                  <a:schemeClr val="accent1">
                    <a:lumMod val="75000"/>
                  </a:schemeClr>
                </a:solidFill>
                <a:latin typeface="Calibri Light" panose="020F0302020204030204" pitchFamily="34" charset="0"/>
                <a:cs typeface="Calibri Light" panose="020F0302020204030204" pitchFamily="34" charset="0"/>
              </a:rPr>
              <a:t>Sparse auditory cues </a:t>
            </a:r>
          </a:p>
        </p:txBody>
      </p:sp>
      <p:sp>
        <p:nvSpPr>
          <p:cNvPr id="24" name="TextBox 23">
            <a:extLst>
              <a:ext uri="{FF2B5EF4-FFF2-40B4-BE49-F238E27FC236}">
                <a16:creationId xmlns:a16="http://schemas.microsoft.com/office/drawing/2014/main" id="{35EE1500-7FB1-4AF0-0936-D602DE03DBB2}"/>
              </a:ext>
            </a:extLst>
          </p:cNvPr>
          <p:cNvSpPr txBox="1"/>
          <p:nvPr/>
        </p:nvSpPr>
        <p:spPr>
          <a:xfrm>
            <a:off x="8415369" y="3477568"/>
            <a:ext cx="3439884" cy="830997"/>
          </a:xfrm>
          <a:prstGeom prst="rect">
            <a:avLst/>
          </a:prstGeom>
          <a:noFill/>
        </p:spPr>
        <p:txBody>
          <a:bodyPr wrap="square" rtlCol="0">
            <a:spAutoFit/>
          </a:bodyPr>
          <a:lstStyle/>
          <a:p>
            <a:r>
              <a:rPr lang="en-US" sz="2400" dirty="0">
                <a:solidFill>
                  <a:schemeClr val="accent1">
                    <a:lumMod val="75000"/>
                  </a:schemeClr>
                </a:solidFill>
                <a:latin typeface="Calibri Light" panose="020F0302020204030204" pitchFamily="34" charset="0"/>
                <a:cs typeface="Calibri Light" panose="020F0302020204030204" pitchFamily="34" charset="0"/>
              </a:rPr>
              <a:t>Minimal and rarest grounding modality</a:t>
            </a:r>
          </a:p>
        </p:txBody>
      </p:sp>
      <p:sp>
        <p:nvSpPr>
          <p:cNvPr id="27" name="TextBox 26">
            <a:extLst>
              <a:ext uri="{FF2B5EF4-FFF2-40B4-BE49-F238E27FC236}">
                <a16:creationId xmlns:a16="http://schemas.microsoft.com/office/drawing/2014/main" id="{80EF651C-8D27-264A-FC3D-41CBAB4878F6}"/>
              </a:ext>
            </a:extLst>
          </p:cNvPr>
          <p:cNvSpPr txBox="1"/>
          <p:nvPr/>
        </p:nvSpPr>
        <p:spPr>
          <a:xfrm>
            <a:off x="8349825" y="4272312"/>
            <a:ext cx="3439884" cy="400110"/>
          </a:xfrm>
          <a:prstGeom prst="rect">
            <a:avLst/>
          </a:prstGeom>
          <a:noFill/>
        </p:spPr>
        <p:txBody>
          <a:bodyPr wrap="square" rtlCol="0">
            <a:spAutoFit/>
          </a:bodyPr>
          <a:lstStyle/>
          <a:p>
            <a:r>
              <a:rPr lang="en-US" sz="2000" i="1" dirty="0">
                <a:solidFill>
                  <a:schemeClr val="accent1">
                    <a:lumMod val="75000"/>
                  </a:schemeClr>
                </a:solidFill>
                <a:latin typeface="Calibri Light" panose="020F0302020204030204" pitchFamily="34" charset="0"/>
                <a:cs typeface="Calibri Light" panose="020F0302020204030204" pitchFamily="34" charset="0"/>
              </a:rPr>
              <a:t>Example: “What?” / “Sorry?”</a:t>
            </a:r>
          </a:p>
        </p:txBody>
      </p:sp>
      <p:sp>
        <p:nvSpPr>
          <p:cNvPr id="28" name="Rounded Rectangle 27">
            <a:extLst>
              <a:ext uri="{FF2B5EF4-FFF2-40B4-BE49-F238E27FC236}">
                <a16:creationId xmlns:a16="http://schemas.microsoft.com/office/drawing/2014/main" id="{9691D2A6-4991-B95A-4174-8DCA29C43BC0}"/>
              </a:ext>
            </a:extLst>
          </p:cNvPr>
          <p:cNvSpPr/>
          <p:nvPr/>
        </p:nvSpPr>
        <p:spPr>
          <a:xfrm>
            <a:off x="8389257" y="4691427"/>
            <a:ext cx="3265713" cy="131880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accent1">
                    <a:lumMod val="75000"/>
                  </a:schemeClr>
                </a:solidFill>
                <a:latin typeface="Calibri Light" panose="020F0302020204030204" pitchFamily="34" charset="0"/>
                <a:cs typeface="Calibri Light" panose="020F0302020204030204" pitchFamily="34" charset="0"/>
              </a:rPr>
              <a:t>Issue: little textual evidence → unstable precision/recall</a:t>
            </a:r>
          </a:p>
        </p:txBody>
      </p:sp>
      <p:pic>
        <p:nvPicPr>
          <p:cNvPr id="30" name="Picture 29">
            <a:extLst>
              <a:ext uri="{FF2B5EF4-FFF2-40B4-BE49-F238E27FC236}">
                <a16:creationId xmlns:a16="http://schemas.microsoft.com/office/drawing/2014/main" id="{9904DB25-61F8-8AF9-8924-937560F39CEB}"/>
              </a:ext>
            </a:extLst>
          </p:cNvPr>
          <p:cNvPicPr>
            <a:picLocks noChangeAspect="1"/>
          </p:cNvPicPr>
          <p:nvPr/>
        </p:nvPicPr>
        <p:blipFill>
          <a:blip r:embed="rId5"/>
          <a:stretch>
            <a:fillRect/>
          </a:stretch>
        </p:blipFill>
        <p:spPr>
          <a:xfrm>
            <a:off x="8994687" y="2599812"/>
            <a:ext cx="1841500" cy="609600"/>
          </a:xfrm>
          <a:prstGeom prst="rect">
            <a:avLst/>
          </a:prstGeom>
        </p:spPr>
      </p:pic>
      <p:pic>
        <p:nvPicPr>
          <p:cNvPr id="33" name="Picture 32">
            <a:extLst>
              <a:ext uri="{FF2B5EF4-FFF2-40B4-BE49-F238E27FC236}">
                <a16:creationId xmlns:a16="http://schemas.microsoft.com/office/drawing/2014/main" id="{29F60B0D-783F-9736-DA7F-997CD86C09B4}"/>
              </a:ext>
            </a:extLst>
          </p:cNvPr>
          <p:cNvPicPr>
            <a:picLocks noChangeAspect="1"/>
          </p:cNvPicPr>
          <p:nvPr/>
        </p:nvPicPr>
        <p:blipFill>
          <a:blip r:embed="rId6"/>
          <a:stretch>
            <a:fillRect/>
          </a:stretch>
        </p:blipFill>
        <p:spPr>
          <a:xfrm>
            <a:off x="4992099" y="2391373"/>
            <a:ext cx="2171584" cy="1300497"/>
          </a:xfrm>
          <a:prstGeom prst="rect">
            <a:avLst/>
          </a:prstGeom>
        </p:spPr>
      </p:pic>
      <p:sp>
        <p:nvSpPr>
          <p:cNvPr id="34" name="TextBox 33">
            <a:extLst>
              <a:ext uri="{FF2B5EF4-FFF2-40B4-BE49-F238E27FC236}">
                <a16:creationId xmlns:a16="http://schemas.microsoft.com/office/drawing/2014/main" id="{11590E33-7F1F-8D13-0A45-813349A3CA41}"/>
              </a:ext>
            </a:extLst>
          </p:cNvPr>
          <p:cNvSpPr txBox="1"/>
          <p:nvPr/>
        </p:nvSpPr>
        <p:spPr>
          <a:xfrm>
            <a:off x="4438370" y="3691870"/>
            <a:ext cx="3560995" cy="769441"/>
          </a:xfrm>
          <a:prstGeom prst="rect">
            <a:avLst/>
          </a:prstGeom>
          <a:noFill/>
        </p:spPr>
        <p:txBody>
          <a:bodyPr wrap="square" rtlCol="0">
            <a:spAutoFit/>
          </a:bodyPr>
          <a:lstStyle/>
          <a:p>
            <a:r>
              <a:rPr lang="en-US" sz="2200" dirty="0">
                <a:solidFill>
                  <a:schemeClr val="tx2">
                    <a:lumMod val="75000"/>
                    <a:lumOff val="25000"/>
                  </a:schemeClr>
                </a:solidFill>
                <a:latin typeface="Calibri Light" panose="020F0302020204030204" pitchFamily="34" charset="0"/>
                <a:cs typeface="Calibri Light" panose="020F0302020204030204" pitchFamily="34" charset="0"/>
              </a:rPr>
              <a:t>Reference to visible content, target unclear from text alone</a:t>
            </a:r>
          </a:p>
        </p:txBody>
      </p:sp>
    </p:spTree>
    <p:extLst>
      <p:ext uri="{BB962C8B-B14F-4D97-AF65-F5344CB8AC3E}">
        <p14:creationId xmlns:p14="http://schemas.microsoft.com/office/powerpoint/2010/main" val="271358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16" grpId="0"/>
      <p:bldP spid="17" grpId="0"/>
      <p:bldP spid="19" grpId="0" animBg="1"/>
      <p:bldP spid="20" grpId="0" animBg="1"/>
      <p:bldP spid="21" grpId="0"/>
      <p:bldP spid="22" grpId="0"/>
      <p:bldP spid="23" grpId="0"/>
      <p:bldP spid="24" grpId="0"/>
      <p:bldP spid="27" grpId="0"/>
      <p:bldP spid="28" grpId="0" animBg="1"/>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161CA0-6D16-DC85-42F5-83EFBB0B275B}"/>
              </a:ext>
            </a:extLst>
          </p:cNvPr>
          <p:cNvSpPr>
            <a:spLocks noGrp="1"/>
          </p:cNvSpPr>
          <p:nvPr>
            <p:ph type="sldNum" sz="quarter" idx="12"/>
          </p:nvPr>
        </p:nvSpPr>
        <p:spPr>
          <a:xfrm>
            <a:off x="11200262" y="6396990"/>
            <a:ext cx="646297"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16</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54DDDD43-655C-C1D0-DA52-38EFBFD761A9}"/>
              </a:ext>
            </a:extLst>
          </p:cNvPr>
          <p:cNvSpPr>
            <a:spLocks noGrp="1"/>
          </p:cNvSpPr>
          <p:nvPr>
            <p:ph type="title"/>
          </p:nvPr>
        </p:nvSpPr>
        <p:spPr>
          <a:xfrm>
            <a:off x="4521897" y="372624"/>
            <a:ext cx="2793304" cy="429042"/>
          </a:xfrm>
        </p:spPr>
        <p:txBody>
          <a:bodyPr>
            <a:normAutofit fontScale="90000"/>
          </a:bodyPr>
          <a:lstStyle/>
          <a:p>
            <a:pPr algn="ctr"/>
            <a:r>
              <a:rPr lang="en-US" sz="4000" b="0" dirty="0">
                <a:latin typeface="Calibri" panose="020F0502020204030204" pitchFamily="34" charset="0"/>
                <a:cs typeface="Calibri" panose="020F0502020204030204" pitchFamily="34" charset="0"/>
              </a:rPr>
              <a:t>Takeaways</a:t>
            </a:r>
          </a:p>
        </p:txBody>
      </p:sp>
      <p:sp>
        <p:nvSpPr>
          <p:cNvPr id="7" name="Rounded Rectangle 6">
            <a:extLst>
              <a:ext uri="{FF2B5EF4-FFF2-40B4-BE49-F238E27FC236}">
                <a16:creationId xmlns:a16="http://schemas.microsoft.com/office/drawing/2014/main" id="{D5B6FDF9-8C30-0F41-7800-A46183391CAA}"/>
              </a:ext>
            </a:extLst>
          </p:cNvPr>
          <p:cNvSpPr/>
          <p:nvPr/>
        </p:nvSpPr>
        <p:spPr>
          <a:xfrm>
            <a:off x="591401" y="2387070"/>
            <a:ext cx="11197579" cy="1358622"/>
          </a:xfrm>
          <a:prstGeom prst="roundRect">
            <a:avLst/>
          </a:prstGeom>
          <a:solidFill>
            <a:srgbClr val="FFC000">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lumMod val="50000"/>
                  </a:schemeClr>
                </a:solidFill>
                <a:latin typeface="Calibri Light" panose="020F0302020204030204" pitchFamily="34" charset="0"/>
                <a:cs typeface="Calibri Light" panose="020F0302020204030204" pitchFamily="34" charset="0"/>
              </a:rPr>
              <a:t>ClarVis makes grounding source of CRs explicit through </a:t>
            </a:r>
            <a:r>
              <a:rPr lang="en-US" sz="2800" b="1" dirty="0">
                <a:solidFill>
                  <a:schemeClr val="accent2">
                    <a:lumMod val="75000"/>
                  </a:schemeClr>
                </a:solidFill>
                <a:latin typeface="Calibri Light" panose="020F0302020204030204" pitchFamily="34" charset="0"/>
                <a:cs typeface="Calibri Light" panose="020F0302020204030204" pitchFamily="34" charset="0"/>
              </a:rPr>
              <a:t>A</a:t>
            </a:r>
            <a:r>
              <a:rPr lang="en-US" sz="2800" b="1" dirty="0">
                <a:solidFill>
                  <a:schemeClr val="accent1">
                    <a:lumMod val="75000"/>
                  </a:schemeClr>
                </a:solidFill>
                <a:latin typeface="Calibri Light" panose="020F0302020204030204" pitchFamily="34" charset="0"/>
                <a:cs typeface="Calibri Light" panose="020F0302020204030204" pitchFamily="34" charset="0"/>
              </a:rPr>
              <a:t>/</a:t>
            </a:r>
            <a:r>
              <a:rPr lang="en-US" sz="2800" b="1" dirty="0">
                <a:solidFill>
                  <a:schemeClr val="accent6">
                    <a:lumMod val="75000"/>
                  </a:schemeClr>
                </a:solidFill>
                <a:latin typeface="Calibri Light" panose="020F0302020204030204" pitchFamily="34" charset="0"/>
                <a:cs typeface="Calibri Light" panose="020F0302020204030204" pitchFamily="34" charset="0"/>
              </a:rPr>
              <a:t>V</a:t>
            </a:r>
            <a:r>
              <a:rPr lang="en-US" sz="2800" b="1" dirty="0">
                <a:solidFill>
                  <a:schemeClr val="accent1">
                    <a:lumMod val="75000"/>
                  </a:schemeClr>
                </a:solidFill>
                <a:latin typeface="Calibri Light" panose="020F0302020204030204" pitchFamily="34" charset="0"/>
                <a:cs typeface="Calibri Light" panose="020F0302020204030204" pitchFamily="34" charset="0"/>
              </a:rPr>
              <a:t>/</a:t>
            </a:r>
            <a:r>
              <a:rPr lang="en-US" sz="2800" b="1" dirty="0">
                <a:solidFill>
                  <a:schemeClr val="accent4">
                    <a:lumMod val="75000"/>
                  </a:schemeClr>
                </a:solidFill>
                <a:latin typeface="Calibri Light" panose="020F0302020204030204" pitchFamily="34" charset="0"/>
                <a:cs typeface="Calibri Light" panose="020F0302020204030204" pitchFamily="34" charset="0"/>
              </a:rPr>
              <a:t>K</a:t>
            </a:r>
            <a:r>
              <a:rPr lang="en-US" sz="2800" b="1" dirty="0">
                <a:solidFill>
                  <a:schemeClr val="accent1">
                    <a:lumMod val="75000"/>
                  </a:schemeClr>
                </a:solidFill>
                <a:latin typeface="Calibri Light" panose="020F0302020204030204" pitchFamily="34" charset="0"/>
                <a:cs typeface="Calibri Light" panose="020F0302020204030204" pitchFamily="34" charset="0"/>
              </a:rPr>
              <a:t> </a:t>
            </a:r>
            <a:r>
              <a:rPr lang="en-US" sz="2800" dirty="0">
                <a:solidFill>
                  <a:schemeClr val="accent1">
                    <a:lumMod val="50000"/>
                  </a:schemeClr>
                </a:solidFill>
                <a:latin typeface="Calibri Light" panose="020F0302020204030204" pitchFamily="34" charset="0"/>
                <a:cs typeface="Calibri Light" panose="020F0302020204030204" pitchFamily="34" charset="0"/>
              </a:rPr>
              <a:t>labels</a:t>
            </a:r>
            <a:r>
              <a:rPr lang="en-US" sz="2800" dirty="0">
                <a:solidFill>
                  <a:schemeClr val="accent1">
                    <a:lumMod val="75000"/>
                  </a:schemeClr>
                </a:solidFill>
                <a:latin typeface="Calibri Light" panose="020F0302020204030204" pitchFamily="34" charset="0"/>
                <a:cs typeface="Calibri Light" panose="020F0302020204030204" pitchFamily="34" charset="0"/>
              </a:rPr>
              <a:t>: </a:t>
            </a:r>
          </a:p>
          <a:p>
            <a:pPr algn="ctr"/>
            <a:r>
              <a:rPr lang="en-US" sz="2800" b="1" dirty="0">
                <a:solidFill>
                  <a:schemeClr val="accent2">
                    <a:lumMod val="75000"/>
                  </a:schemeClr>
                </a:solidFill>
                <a:latin typeface="Calibri Light" panose="020F0302020204030204" pitchFamily="34" charset="0"/>
                <a:cs typeface="Calibri Light" panose="020F0302020204030204" pitchFamily="34" charset="0"/>
              </a:rPr>
              <a:t>auditory uptake</a:t>
            </a:r>
            <a:r>
              <a:rPr lang="en-US" sz="2800" dirty="0">
                <a:solidFill>
                  <a:schemeClr val="accent1">
                    <a:lumMod val="75000"/>
                  </a:schemeClr>
                </a:solidFill>
                <a:latin typeface="Calibri Light" panose="020F0302020204030204" pitchFamily="34" charset="0"/>
                <a:cs typeface="Calibri Light" panose="020F0302020204030204" pitchFamily="34" charset="0"/>
              </a:rPr>
              <a:t>, </a:t>
            </a:r>
            <a:r>
              <a:rPr lang="en-US" sz="2800" b="1" dirty="0">
                <a:solidFill>
                  <a:schemeClr val="accent6">
                    <a:lumMod val="75000"/>
                  </a:schemeClr>
                </a:solidFill>
                <a:latin typeface="Calibri Light" panose="020F0302020204030204" pitchFamily="34" charset="0"/>
                <a:cs typeface="Calibri Light" panose="020F0302020204030204" pitchFamily="34" charset="0"/>
              </a:rPr>
              <a:t>visual interpretation</a:t>
            </a:r>
            <a:r>
              <a:rPr lang="en-US" sz="2800" dirty="0">
                <a:solidFill>
                  <a:schemeClr val="accent1">
                    <a:lumMod val="75000"/>
                  </a:schemeClr>
                </a:solidFill>
                <a:latin typeface="Calibri Light" panose="020F0302020204030204" pitchFamily="34" charset="0"/>
                <a:cs typeface="Calibri Light" panose="020F0302020204030204" pitchFamily="34" charset="0"/>
              </a:rPr>
              <a:t>, </a:t>
            </a:r>
            <a:r>
              <a:rPr lang="en-US" sz="2800" dirty="0">
                <a:solidFill>
                  <a:schemeClr val="accent1">
                    <a:lumMod val="50000"/>
                  </a:schemeClr>
                </a:solidFill>
                <a:latin typeface="Calibri Light" panose="020F0302020204030204" pitchFamily="34" charset="0"/>
                <a:cs typeface="Calibri Light" panose="020F0302020204030204" pitchFamily="34" charset="0"/>
              </a:rPr>
              <a:t>and</a:t>
            </a:r>
            <a:r>
              <a:rPr lang="en-US" sz="2800" dirty="0">
                <a:solidFill>
                  <a:schemeClr val="accent1">
                    <a:lumMod val="75000"/>
                  </a:schemeClr>
                </a:solidFill>
                <a:latin typeface="Calibri Light" panose="020F0302020204030204" pitchFamily="34" charset="0"/>
                <a:cs typeface="Calibri Light" panose="020F0302020204030204" pitchFamily="34" charset="0"/>
              </a:rPr>
              <a:t> </a:t>
            </a:r>
            <a:r>
              <a:rPr lang="en-US" sz="2800" b="1" dirty="0">
                <a:solidFill>
                  <a:schemeClr val="accent4">
                    <a:lumMod val="75000"/>
                  </a:schemeClr>
                </a:solidFill>
                <a:latin typeface="Calibri Light" panose="020F0302020204030204" pitchFamily="34" charset="0"/>
                <a:cs typeface="Calibri Light" panose="020F0302020204030204" pitchFamily="34" charset="0"/>
              </a:rPr>
              <a:t>action/interaction flow</a:t>
            </a:r>
            <a:r>
              <a:rPr lang="en-US" sz="2800" dirty="0">
                <a:solidFill>
                  <a:schemeClr val="accent1">
                    <a:lumMod val="75000"/>
                  </a:schemeClr>
                </a:solidFill>
                <a:latin typeface="Calibri Light" panose="020F0302020204030204" pitchFamily="34" charset="0"/>
                <a:cs typeface="Calibri Light" panose="020F0302020204030204" pitchFamily="34" charset="0"/>
              </a:rPr>
              <a:t>.</a:t>
            </a:r>
          </a:p>
        </p:txBody>
      </p:sp>
      <p:sp>
        <p:nvSpPr>
          <p:cNvPr id="9" name="Rounded Rectangle 8">
            <a:extLst>
              <a:ext uri="{FF2B5EF4-FFF2-40B4-BE49-F238E27FC236}">
                <a16:creationId xmlns:a16="http://schemas.microsoft.com/office/drawing/2014/main" id="{7574A2E5-6F36-9A96-9EA6-C2887496E8BD}"/>
              </a:ext>
            </a:extLst>
          </p:cNvPr>
          <p:cNvSpPr/>
          <p:nvPr/>
        </p:nvSpPr>
        <p:spPr>
          <a:xfrm>
            <a:off x="591401" y="3957058"/>
            <a:ext cx="11115913" cy="222856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1">
                    <a:lumMod val="50000"/>
                  </a:schemeClr>
                </a:solidFill>
                <a:latin typeface="Calibri Light" panose="020F0302020204030204" pitchFamily="34" charset="0"/>
                <a:cs typeface="Calibri Light" panose="020F0302020204030204" pitchFamily="34" charset="0"/>
              </a:rPr>
              <a:t>Baseline results show:   </a:t>
            </a:r>
          </a:p>
          <a:p>
            <a:pPr marL="342900" indent="-342900" algn="just">
              <a:buFont typeface="Arial" panose="020B0604020202020204" pitchFamily="34" charset="0"/>
              <a:buChar char="•"/>
            </a:pPr>
            <a:r>
              <a:rPr lang="en-US" sz="2400" dirty="0">
                <a:solidFill>
                  <a:schemeClr val="accent1">
                    <a:lumMod val="50000"/>
                  </a:schemeClr>
                </a:solidFill>
                <a:latin typeface="Calibri Light" panose="020F0302020204030204" pitchFamily="34" charset="0"/>
                <a:cs typeface="Calibri Light" panose="020F0302020204030204" pitchFamily="34" charset="0"/>
              </a:rPr>
              <a:t>Learnable text signals for CR-ID </a:t>
            </a:r>
          </a:p>
          <a:p>
            <a:pPr marL="342900" indent="-342900" algn="just">
              <a:buFont typeface="Arial" panose="020B0604020202020204" pitchFamily="34" charset="0"/>
              <a:buChar char="•"/>
            </a:pPr>
            <a:r>
              <a:rPr lang="en-US" sz="2400" dirty="0">
                <a:solidFill>
                  <a:schemeClr val="accent1">
                    <a:lumMod val="50000"/>
                  </a:schemeClr>
                </a:solidFill>
                <a:latin typeface="Calibri Light" panose="020F0302020204030204" pitchFamily="34" charset="0"/>
                <a:cs typeface="Calibri Light" panose="020F0302020204030204" pitchFamily="34" charset="0"/>
              </a:rPr>
              <a:t>M</a:t>
            </a:r>
            <a:r>
              <a:rPr lang="en-US" sz="2400">
                <a:solidFill>
                  <a:schemeClr val="accent1">
                    <a:lumMod val="50000"/>
                  </a:schemeClr>
                </a:solidFill>
                <a:latin typeface="Calibri Light" panose="020F0302020204030204" pitchFamily="34" charset="0"/>
                <a:cs typeface="Calibri Light" panose="020F0302020204030204" pitchFamily="34" charset="0"/>
              </a:rPr>
              <a:t>odality-specific </a:t>
            </a:r>
            <a:r>
              <a:rPr lang="en-US" sz="2400" dirty="0">
                <a:solidFill>
                  <a:schemeClr val="accent1">
                    <a:lumMod val="50000"/>
                  </a:schemeClr>
                </a:solidFill>
                <a:latin typeface="Calibri Light" panose="020F0302020204030204" pitchFamily="34" charset="0"/>
                <a:cs typeface="Calibri Light" panose="020F0302020204030204" pitchFamily="34" charset="0"/>
              </a:rPr>
              <a:t>recoverability for GMOD</a:t>
            </a:r>
          </a:p>
          <a:p>
            <a:pPr marL="342900" indent="-342900" algn="just">
              <a:buFont typeface="Arial" panose="020B0604020202020204" pitchFamily="34" charset="0"/>
              <a:buChar char="•"/>
            </a:pPr>
            <a:r>
              <a:rPr lang="en-US" sz="2400" b="1" dirty="0">
                <a:solidFill>
                  <a:schemeClr val="accent1">
                    <a:lumMod val="50000"/>
                  </a:schemeClr>
                </a:solidFill>
                <a:latin typeface="Calibri Light" panose="020F0302020204030204" pitchFamily="34" charset="0"/>
                <a:cs typeface="Calibri Light" panose="020F0302020204030204" pitchFamily="34" charset="0"/>
              </a:rPr>
              <a:t>Grounding modality is challenging: </a:t>
            </a:r>
            <a:r>
              <a:rPr lang="en-US" sz="2400" dirty="0">
                <a:solidFill>
                  <a:schemeClr val="accent1">
                    <a:lumMod val="50000"/>
                  </a:schemeClr>
                </a:solidFill>
                <a:latin typeface="Calibri Light" panose="020F0302020204030204" pitchFamily="34" charset="0"/>
                <a:cs typeface="Calibri Light" panose="020F0302020204030204" pitchFamily="34" charset="0"/>
              </a:rPr>
              <a:t>CRs can combine visual reference, action intent, elliptical wording, and minimal auditory repair.</a:t>
            </a:r>
          </a:p>
        </p:txBody>
      </p:sp>
      <p:sp>
        <p:nvSpPr>
          <p:cNvPr id="10" name="Rounded Rectangle 9">
            <a:extLst>
              <a:ext uri="{FF2B5EF4-FFF2-40B4-BE49-F238E27FC236}">
                <a16:creationId xmlns:a16="http://schemas.microsoft.com/office/drawing/2014/main" id="{AA8CA832-0721-5393-B06A-96129D07A8A6}"/>
              </a:ext>
            </a:extLst>
          </p:cNvPr>
          <p:cNvSpPr/>
          <p:nvPr/>
        </p:nvSpPr>
        <p:spPr>
          <a:xfrm>
            <a:off x="584893" y="915057"/>
            <a:ext cx="11122422" cy="1358622"/>
          </a:xfrm>
          <a:prstGeom prst="roundRect">
            <a:avLst/>
          </a:prstGeom>
          <a:solidFill>
            <a:srgbClr val="FFC000">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lumMod val="50000"/>
                  </a:schemeClr>
                </a:solidFill>
                <a:latin typeface="Calibri Light" panose="020F0302020204030204" pitchFamily="34" charset="0"/>
                <a:cs typeface="Calibri Light" panose="020F0302020204030204" pitchFamily="34" charset="0"/>
              </a:rPr>
              <a:t>ClarVis </a:t>
            </a:r>
            <a:r>
              <a:rPr lang="en-US" sz="2800" b="1" dirty="0">
                <a:solidFill>
                  <a:schemeClr val="accent1">
                    <a:lumMod val="50000"/>
                  </a:schemeClr>
                </a:solidFill>
                <a:latin typeface="Calibri Light" panose="020F0302020204030204" pitchFamily="34" charset="0"/>
                <a:cs typeface="Calibri Light" panose="020F0302020204030204" pitchFamily="34" charset="0"/>
              </a:rPr>
              <a:t>captures CRs as part of collaborative interaction</a:t>
            </a:r>
            <a:r>
              <a:rPr lang="en-US" sz="2800" dirty="0">
                <a:solidFill>
                  <a:schemeClr val="accent1">
                    <a:lumMod val="50000"/>
                  </a:schemeClr>
                </a:solidFill>
                <a:latin typeface="Calibri Light" panose="020F0302020204030204" pitchFamily="34" charset="0"/>
                <a:cs typeface="Calibri Light" panose="020F0302020204030204" pitchFamily="34" charset="0"/>
              </a:rPr>
              <a:t>:</a:t>
            </a:r>
          </a:p>
          <a:p>
            <a:pPr algn="ctr"/>
            <a:r>
              <a:rPr lang="en-US" sz="2800" dirty="0">
                <a:solidFill>
                  <a:schemeClr val="accent1">
                    <a:lumMod val="50000"/>
                  </a:schemeClr>
                </a:solidFill>
                <a:latin typeface="Calibri Light" panose="020F0302020204030204" pitchFamily="34" charset="0"/>
                <a:cs typeface="Calibri Light" panose="020F0302020204030204" pitchFamily="34" charset="0"/>
              </a:rPr>
              <a:t>shaped by language, the shared visual workspace, and users’ ongoing coordination.</a:t>
            </a:r>
          </a:p>
        </p:txBody>
      </p:sp>
      <p:pic>
        <p:nvPicPr>
          <p:cNvPr id="13" name="Graphic 12" descr="Lights On with solid fill">
            <a:extLst>
              <a:ext uri="{FF2B5EF4-FFF2-40B4-BE49-F238E27FC236}">
                <a16:creationId xmlns:a16="http://schemas.microsoft.com/office/drawing/2014/main" id="{39BCAE1E-B02B-315E-0401-822DC6693C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1401" y="1300252"/>
            <a:ext cx="588231" cy="588231"/>
          </a:xfrm>
          <a:prstGeom prst="rect">
            <a:avLst/>
          </a:prstGeom>
        </p:spPr>
      </p:pic>
      <p:pic>
        <p:nvPicPr>
          <p:cNvPr id="2" name="Graphic 1" descr="Lights On with solid fill">
            <a:extLst>
              <a:ext uri="{FF2B5EF4-FFF2-40B4-BE49-F238E27FC236}">
                <a16:creationId xmlns:a16="http://schemas.microsoft.com/office/drawing/2014/main" id="{F0BF3782-A216-BB7C-ED30-3BF6700D1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893" y="2772265"/>
            <a:ext cx="588231" cy="588231"/>
          </a:xfrm>
          <a:prstGeom prst="rect">
            <a:avLst/>
          </a:prstGeom>
        </p:spPr>
      </p:pic>
    </p:spTree>
    <p:extLst>
      <p:ext uri="{BB962C8B-B14F-4D97-AF65-F5344CB8AC3E}">
        <p14:creationId xmlns:p14="http://schemas.microsoft.com/office/powerpoint/2010/main" val="284747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uiExpand="1" build="p"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5FE605-8FE8-C37C-D04B-66365DA8CA92}"/>
              </a:ext>
            </a:extLst>
          </p:cNvPr>
          <p:cNvSpPr>
            <a:spLocks noGrp="1"/>
          </p:cNvSpPr>
          <p:nvPr>
            <p:ph type="sldNum" sz="quarter" idx="12"/>
          </p:nvPr>
        </p:nvSpPr>
        <p:spPr>
          <a:xfrm>
            <a:off x="11200262" y="6356350"/>
            <a:ext cx="646297"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17</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8DB9CDAA-CB1B-ACAE-D025-AB9205C372B5}"/>
              </a:ext>
            </a:extLst>
          </p:cNvPr>
          <p:cNvSpPr>
            <a:spLocks noGrp="1"/>
          </p:cNvSpPr>
          <p:nvPr>
            <p:ph type="title"/>
          </p:nvPr>
        </p:nvSpPr>
        <p:spPr>
          <a:xfrm>
            <a:off x="3574888" y="504741"/>
            <a:ext cx="4818743" cy="758527"/>
          </a:xfrm>
        </p:spPr>
        <p:txBody>
          <a:bodyPr>
            <a:noAutofit/>
          </a:bodyPr>
          <a:lstStyle/>
          <a:p>
            <a:pPr algn="ctr"/>
            <a:r>
              <a:rPr lang="en-US" sz="5500" dirty="0">
                <a:latin typeface="Calibri" panose="020F0502020204030204" pitchFamily="34" charset="0"/>
                <a:cs typeface="Calibri" panose="020F0502020204030204" pitchFamily="34" charset="0"/>
              </a:rPr>
              <a:t>Thank you!</a:t>
            </a:r>
          </a:p>
        </p:txBody>
      </p:sp>
      <p:pic>
        <p:nvPicPr>
          <p:cNvPr id="22" name="Picture 21" descr="Green dialogue boxes">
            <a:extLst>
              <a:ext uri="{FF2B5EF4-FFF2-40B4-BE49-F238E27FC236}">
                <a16:creationId xmlns:a16="http://schemas.microsoft.com/office/drawing/2014/main" id="{9633C203-FFF0-9B89-FBEB-0F7480932322}"/>
              </a:ext>
            </a:extLst>
          </p:cNvPr>
          <p:cNvPicPr>
            <a:picLocks noChangeAspect="1"/>
          </p:cNvPicPr>
          <p:nvPr/>
        </p:nvPicPr>
        <p:blipFill>
          <a:blip r:embed="rId3"/>
          <a:srcRect t="2137" r="-1" b="628"/>
          <a:stretch>
            <a:fillRect/>
          </a:stretch>
        </p:blipFill>
        <p:spPr>
          <a:xfrm>
            <a:off x="7029488" y="1714205"/>
            <a:ext cx="4681813" cy="3789802"/>
          </a:xfrm>
          <a:prstGeom prst="rect">
            <a:avLst/>
          </a:prstGeom>
        </p:spPr>
      </p:pic>
      <p:graphicFrame>
        <p:nvGraphicFramePr>
          <p:cNvPr id="23" name="Table 22">
            <a:extLst>
              <a:ext uri="{FF2B5EF4-FFF2-40B4-BE49-F238E27FC236}">
                <a16:creationId xmlns:a16="http://schemas.microsoft.com/office/drawing/2014/main" id="{E7915DA4-DECE-DF3C-61C0-0FCCF49557C7}"/>
              </a:ext>
            </a:extLst>
          </p:cNvPr>
          <p:cNvGraphicFramePr>
            <a:graphicFrameLocks noGrp="1"/>
          </p:cNvGraphicFramePr>
          <p:nvPr>
            <p:extLst>
              <p:ext uri="{D42A27DB-BD31-4B8C-83A1-F6EECF244321}">
                <p14:modId xmlns:p14="http://schemas.microsoft.com/office/powerpoint/2010/main" val="4290972222"/>
              </p:ext>
            </p:extLst>
          </p:nvPr>
        </p:nvGraphicFramePr>
        <p:xfrm>
          <a:off x="896987" y="1565200"/>
          <a:ext cx="5355802" cy="4509924"/>
        </p:xfrm>
        <a:graphic>
          <a:graphicData uri="http://schemas.openxmlformats.org/drawingml/2006/table">
            <a:tbl>
              <a:tblPr firstRow="1" bandRow="1">
                <a:tableStyleId>{16D9F66E-5EB9-4882-86FB-DCBF35E3C3E4}</a:tableStyleId>
              </a:tblPr>
              <a:tblGrid>
                <a:gridCol w="5355802">
                  <a:extLst>
                    <a:ext uri="{9D8B030D-6E8A-4147-A177-3AD203B41FA5}">
                      <a16:colId xmlns:a16="http://schemas.microsoft.com/office/drawing/2014/main" val="4209518866"/>
                    </a:ext>
                  </a:extLst>
                </a:gridCol>
              </a:tblGrid>
              <a:tr h="803820">
                <a:tc>
                  <a:txBody>
                    <a:bodyPr/>
                    <a:lstStyle/>
                    <a:p>
                      <a:pPr algn="ctr"/>
                      <a:r>
                        <a:rPr lang="en-US" sz="2400" dirty="0">
                          <a:latin typeface="Calibri" panose="020F0502020204030204" pitchFamily="34" charset="0"/>
                          <a:cs typeface="Calibri" panose="020F0502020204030204" pitchFamily="34" charset="0"/>
                        </a:rPr>
                        <a:t> Released with ClarVis</a:t>
                      </a:r>
                    </a:p>
                  </a:txBody>
                  <a:tcPr/>
                </a:tc>
                <a:extLst>
                  <a:ext uri="{0D108BD9-81ED-4DB2-BD59-A6C34878D82A}">
                    <a16:rowId xmlns:a16="http://schemas.microsoft.com/office/drawing/2014/main" val="3308350160"/>
                  </a:ext>
                </a:extLst>
              </a:tr>
              <a:tr h="967428">
                <a:tc>
                  <a:txBody>
                    <a:bodyPr/>
                    <a:lstStyle/>
                    <a:p>
                      <a:pPr algn="ctr"/>
                      <a:r>
                        <a:rPr lang="en-US" sz="2400" dirty="0">
                          <a:latin typeface="Calibri" panose="020F0502020204030204" pitchFamily="34" charset="0"/>
                          <a:cs typeface="Calibri" panose="020F0502020204030204" pitchFamily="34" charset="0"/>
                        </a:rPr>
                        <a:t>       De-identified speaker diarized dialogue transcripts</a:t>
                      </a:r>
                    </a:p>
                  </a:txBody>
                  <a:tcPr/>
                </a:tc>
                <a:extLst>
                  <a:ext uri="{0D108BD9-81ED-4DB2-BD59-A6C34878D82A}">
                    <a16:rowId xmlns:a16="http://schemas.microsoft.com/office/drawing/2014/main" val="3108442429"/>
                  </a:ext>
                </a:extLst>
              </a:tr>
              <a:tr h="967428">
                <a:tc>
                  <a:txBody>
                    <a:bodyPr/>
                    <a:lstStyle/>
                    <a:p>
                      <a:pPr algn="ctr"/>
                      <a:r>
                        <a:rPr lang="en-US" sz="2400" dirty="0">
                          <a:latin typeface="Calibri" panose="020F0502020204030204" pitchFamily="34" charset="0"/>
                          <a:cs typeface="Calibri" panose="020F0502020204030204" pitchFamily="34" charset="0"/>
                        </a:rPr>
                        <a:t>     System-generated visualization captions</a:t>
                      </a:r>
                    </a:p>
                  </a:txBody>
                  <a:tcPr/>
                </a:tc>
                <a:extLst>
                  <a:ext uri="{0D108BD9-81ED-4DB2-BD59-A6C34878D82A}">
                    <a16:rowId xmlns:a16="http://schemas.microsoft.com/office/drawing/2014/main" val="2769538671"/>
                  </a:ext>
                </a:extLst>
              </a:tr>
              <a:tr h="967428">
                <a:tc>
                  <a:txBody>
                    <a:bodyPr/>
                    <a:lstStyle/>
                    <a:p>
                      <a:pPr algn="ctr"/>
                      <a:r>
                        <a:rPr lang="en-US" sz="2400" dirty="0">
                          <a:latin typeface="Calibri" panose="020F0502020204030204" pitchFamily="34" charset="0"/>
                          <a:cs typeface="Calibri" panose="020F0502020204030204" pitchFamily="34" charset="0"/>
                        </a:rPr>
                        <a:t>        CR and Grounding modality annotations</a:t>
                      </a:r>
                    </a:p>
                  </a:txBody>
                  <a:tcPr/>
                </a:tc>
                <a:extLst>
                  <a:ext uri="{0D108BD9-81ED-4DB2-BD59-A6C34878D82A}">
                    <a16:rowId xmlns:a16="http://schemas.microsoft.com/office/drawing/2014/main" val="731199072"/>
                  </a:ext>
                </a:extLst>
              </a:tr>
              <a:tr h="803820">
                <a:tc>
                  <a:txBody>
                    <a:bodyPr/>
                    <a:lstStyle/>
                    <a:p>
                      <a:pPr algn="l"/>
                      <a:r>
                        <a:rPr lang="en-US" sz="3000" b="1" dirty="0">
                          <a:latin typeface="Calibri" panose="020F0502020204030204" pitchFamily="34" charset="0"/>
                          <a:cs typeface="Calibri" panose="020F0502020204030204" pitchFamily="34" charset="0"/>
                        </a:rPr>
                        <a:t>GitHub: uic-</a:t>
                      </a:r>
                      <a:r>
                        <a:rPr lang="en-US" sz="3000" b="1" dirty="0" err="1">
                          <a:latin typeface="Calibri" panose="020F0502020204030204" pitchFamily="34" charset="0"/>
                          <a:cs typeface="Calibri" panose="020F0502020204030204" pitchFamily="34" charset="0"/>
                        </a:rPr>
                        <a:t>nlp</a:t>
                      </a:r>
                      <a:r>
                        <a:rPr lang="en-US" sz="3000" b="1" dirty="0">
                          <a:latin typeface="Calibri" panose="020F0502020204030204" pitchFamily="34" charset="0"/>
                          <a:cs typeface="Calibri" panose="020F0502020204030204" pitchFamily="34" charset="0"/>
                        </a:rPr>
                        <a:t>-lab/ClarVis</a:t>
                      </a:r>
                    </a:p>
                  </a:txBody>
                  <a:tcPr/>
                </a:tc>
                <a:extLst>
                  <a:ext uri="{0D108BD9-81ED-4DB2-BD59-A6C34878D82A}">
                    <a16:rowId xmlns:a16="http://schemas.microsoft.com/office/drawing/2014/main" val="42175391"/>
                  </a:ext>
                </a:extLst>
              </a:tr>
            </a:tbl>
          </a:graphicData>
        </a:graphic>
      </p:graphicFrame>
      <p:pic>
        <p:nvPicPr>
          <p:cNvPr id="24" name="Graphic 23" descr="Packing Box Open with solid fill">
            <a:extLst>
              <a:ext uri="{FF2B5EF4-FFF2-40B4-BE49-F238E27FC236}">
                <a16:creationId xmlns:a16="http://schemas.microsoft.com/office/drawing/2014/main" id="{E71B273C-A723-A100-5780-DF4576D797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0583" y="1565200"/>
            <a:ext cx="654685" cy="654685"/>
          </a:xfrm>
          <a:prstGeom prst="rect">
            <a:avLst/>
          </a:prstGeom>
        </p:spPr>
      </p:pic>
      <p:pic>
        <p:nvPicPr>
          <p:cNvPr id="25" name="Graphic 24" descr="Label with solid fill">
            <a:extLst>
              <a:ext uri="{FF2B5EF4-FFF2-40B4-BE49-F238E27FC236}">
                <a16:creationId xmlns:a16="http://schemas.microsoft.com/office/drawing/2014/main" id="{02257746-FCF0-A4F8-AFF0-B0D18A1169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1273" y="4305207"/>
            <a:ext cx="758528" cy="758528"/>
          </a:xfrm>
          <a:prstGeom prst="rect">
            <a:avLst/>
          </a:prstGeom>
        </p:spPr>
      </p:pic>
      <p:pic>
        <p:nvPicPr>
          <p:cNvPr id="26" name="Graphic 25" descr="Bar chart with solid fill">
            <a:extLst>
              <a:ext uri="{FF2B5EF4-FFF2-40B4-BE49-F238E27FC236}">
                <a16:creationId xmlns:a16="http://schemas.microsoft.com/office/drawing/2014/main" id="{9090E969-C1F6-D43A-987D-40F430C050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1308" y="3293818"/>
            <a:ext cx="587828" cy="587828"/>
          </a:xfrm>
          <a:prstGeom prst="rect">
            <a:avLst/>
          </a:prstGeom>
        </p:spPr>
      </p:pic>
      <p:pic>
        <p:nvPicPr>
          <p:cNvPr id="27" name="Graphic 26" descr="Chat bubble with solid fill">
            <a:extLst>
              <a:ext uri="{FF2B5EF4-FFF2-40B4-BE49-F238E27FC236}">
                <a16:creationId xmlns:a16="http://schemas.microsoft.com/office/drawing/2014/main" id="{45B304A7-34A7-7976-F9F3-FA95DBF241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550" y="2406791"/>
            <a:ext cx="605118" cy="605118"/>
          </a:xfrm>
          <a:prstGeom prst="rect">
            <a:avLst/>
          </a:prstGeom>
        </p:spPr>
      </p:pic>
    </p:spTree>
    <p:extLst>
      <p:ext uri="{BB962C8B-B14F-4D97-AF65-F5344CB8AC3E}">
        <p14:creationId xmlns:p14="http://schemas.microsoft.com/office/powerpoint/2010/main" val="1215856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26CD2-9E2A-02CB-03BC-BF747751B89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9913A5-B79C-4F15-3FE7-A17E190C7E49}"/>
              </a:ext>
            </a:extLst>
          </p:cNvPr>
          <p:cNvSpPr>
            <a:spLocks noGrp="1"/>
          </p:cNvSpPr>
          <p:nvPr>
            <p:ph type="sldNum" sz="quarter" idx="12"/>
          </p:nvPr>
        </p:nvSpPr>
        <p:spPr>
          <a:xfrm>
            <a:off x="11200262" y="6356350"/>
            <a:ext cx="646297"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18</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B9A27978-AE1A-40FC-9F24-13F136E80AB0}"/>
              </a:ext>
            </a:extLst>
          </p:cNvPr>
          <p:cNvSpPr>
            <a:spLocks noGrp="1"/>
          </p:cNvSpPr>
          <p:nvPr>
            <p:ph type="title"/>
          </p:nvPr>
        </p:nvSpPr>
        <p:spPr>
          <a:xfrm>
            <a:off x="1277257" y="2947316"/>
            <a:ext cx="4818743" cy="758527"/>
          </a:xfrm>
        </p:spPr>
        <p:txBody>
          <a:bodyPr>
            <a:noAutofit/>
          </a:bodyPr>
          <a:lstStyle/>
          <a:p>
            <a:pPr algn="ctr"/>
            <a:r>
              <a:rPr lang="en-US" sz="5500" dirty="0">
                <a:latin typeface="Calibri" panose="020F0502020204030204" pitchFamily="34" charset="0"/>
                <a:cs typeface="Calibri" panose="020F0502020204030204" pitchFamily="34" charset="0"/>
              </a:rPr>
              <a:t>Appendix</a:t>
            </a:r>
          </a:p>
        </p:txBody>
      </p:sp>
      <p:pic>
        <p:nvPicPr>
          <p:cNvPr id="22" name="Picture 21" descr="Green dialogue boxes">
            <a:extLst>
              <a:ext uri="{FF2B5EF4-FFF2-40B4-BE49-F238E27FC236}">
                <a16:creationId xmlns:a16="http://schemas.microsoft.com/office/drawing/2014/main" id="{06B829B7-2E55-2198-900A-69669115415A}"/>
              </a:ext>
            </a:extLst>
          </p:cNvPr>
          <p:cNvPicPr>
            <a:picLocks noChangeAspect="1"/>
          </p:cNvPicPr>
          <p:nvPr/>
        </p:nvPicPr>
        <p:blipFill>
          <a:blip r:embed="rId3"/>
          <a:srcRect t="2137" r="-1" b="628"/>
          <a:stretch>
            <a:fillRect/>
          </a:stretch>
        </p:blipFill>
        <p:spPr>
          <a:xfrm>
            <a:off x="7029488" y="1714205"/>
            <a:ext cx="4681813" cy="3789802"/>
          </a:xfrm>
          <a:prstGeom prst="rect">
            <a:avLst/>
          </a:prstGeom>
        </p:spPr>
      </p:pic>
    </p:spTree>
    <p:extLst>
      <p:ext uri="{BB962C8B-B14F-4D97-AF65-F5344CB8AC3E}">
        <p14:creationId xmlns:p14="http://schemas.microsoft.com/office/powerpoint/2010/main" val="19519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31A9FC-2ADF-B683-F063-199DC341DFE4}"/>
              </a:ext>
            </a:extLst>
          </p:cNvPr>
          <p:cNvSpPr>
            <a:spLocks noGrp="1"/>
          </p:cNvSpPr>
          <p:nvPr>
            <p:ph type="sldNum" sz="quarter" idx="12"/>
          </p:nvPr>
        </p:nvSpPr>
        <p:spPr>
          <a:xfrm>
            <a:off x="11505063" y="6446181"/>
            <a:ext cx="686937"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19</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6F040B50-D7C5-4D81-050F-7F8FC7B654BB}"/>
              </a:ext>
            </a:extLst>
          </p:cNvPr>
          <p:cNvSpPr>
            <a:spLocks noGrp="1"/>
          </p:cNvSpPr>
          <p:nvPr>
            <p:ph type="title"/>
          </p:nvPr>
        </p:nvSpPr>
        <p:spPr>
          <a:xfrm>
            <a:off x="764088" y="561321"/>
            <a:ext cx="10897644" cy="429042"/>
          </a:xfrm>
        </p:spPr>
        <p:txBody>
          <a:bodyPr>
            <a:noAutofit/>
          </a:bodyPr>
          <a:lstStyle/>
          <a:p>
            <a:pPr algn="ctr"/>
            <a:r>
              <a:rPr lang="en-US" sz="3000" b="0" dirty="0">
                <a:latin typeface="Calibri" panose="020F0502020204030204" pitchFamily="34" charset="0"/>
                <a:cs typeface="Calibri" panose="020F0502020204030204" pitchFamily="34" charset="0"/>
              </a:rPr>
              <a:t>  Clarification Requests are infrequent but </a:t>
            </a:r>
            <a:r>
              <a:rPr lang="en-US" sz="3000" u="sng" dirty="0">
                <a:solidFill>
                  <a:schemeClr val="tx2">
                    <a:lumMod val="75000"/>
                    <a:lumOff val="25000"/>
                  </a:schemeClr>
                </a:solidFill>
                <a:latin typeface="Calibri" panose="020F0502020204030204" pitchFamily="34" charset="0"/>
                <a:cs typeface="Calibri" panose="020F0502020204030204" pitchFamily="34" charset="0"/>
              </a:rPr>
              <a:t>essential</a:t>
            </a:r>
          </a:p>
        </p:txBody>
      </p:sp>
      <p:pic>
        <p:nvPicPr>
          <p:cNvPr id="6" name="Graphic 5" descr="Star with solid fill">
            <a:extLst>
              <a:ext uri="{FF2B5EF4-FFF2-40B4-BE49-F238E27FC236}">
                <a16:creationId xmlns:a16="http://schemas.microsoft.com/office/drawing/2014/main" id="{E03E4308-1BA1-E56B-A8B2-BBFA13E4C5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2142" y="561077"/>
            <a:ext cx="483440" cy="483440"/>
          </a:xfrm>
          <a:prstGeom prst="rect">
            <a:avLst/>
          </a:prstGeom>
        </p:spPr>
      </p:pic>
      <p:graphicFrame>
        <p:nvGraphicFramePr>
          <p:cNvPr id="7" name="Table 6">
            <a:extLst>
              <a:ext uri="{FF2B5EF4-FFF2-40B4-BE49-F238E27FC236}">
                <a16:creationId xmlns:a16="http://schemas.microsoft.com/office/drawing/2014/main" id="{AAA8738C-6539-C015-7218-E5E891F3A443}"/>
              </a:ext>
            </a:extLst>
          </p:cNvPr>
          <p:cNvGraphicFramePr>
            <a:graphicFrameLocks noGrp="1"/>
          </p:cNvGraphicFramePr>
          <p:nvPr>
            <p:extLst>
              <p:ext uri="{D42A27DB-BD31-4B8C-83A1-F6EECF244321}">
                <p14:modId xmlns:p14="http://schemas.microsoft.com/office/powerpoint/2010/main" val="1284600752"/>
              </p:ext>
            </p:extLst>
          </p:nvPr>
        </p:nvGraphicFramePr>
        <p:xfrm>
          <a:off x="764088" y="1067227"/>
          <a:ext cx="7584272" cy="5075589"/>
        </p:xfrm>
        <a:graphic>
          <a:graphicData uri="http://schemas.openxmlformats.org/drawingml/2006/table">
            <a:tbl>
              <a:tblPr>
                <a:tableStyleId>{93296810-A885-4BE3-A3E7-6D5BEEA58F35}</a:tableStyleId>
              </a:tblPr>
              <a:tblGrid>
                <a:gridCol w="481055">
                  <a:extLst>
                    <a:ext uri="{9D8B030D-6E8A-4147-A177-3AD203B41FA5}">
                      <a16:colId xmlns:a16="http://schemas.microsoft.com/office/drawing/2014/main" val="275965047"/>
                    </a:ext>
                  </a:extLst>
                </a:gridCol>
                <a:gridCol w="2630746">
                  <a:extLst>
                    <a:ext uri="{9D8B030D-6E8A-4147-A177-3AD203B41FA5}">
                      <a16:colId xmlns:a16="http://schemas.microsoft.com/office/drawing/2014/main" val="928508392"/>
                    </a:ext>
                  </a:extLst>
                </a:gridCol>
                <a:gridCol w="1360667">
                  <a:extLst>
                    <a:ext uri="{9D8B030D-6E8A-4147-A177-3AD203B41FA5}">
                      <a16:colId xmlns:a16="http://schemas.microsoft.com/office/drawing/2014/main" val="917582858"/>
                    </a:ext>
                  </a:extLst>
                </a:gridCol>
                <a:gridCol w="1555902">
                  <a:extLst>
                    <a:ext uri="{9D8B030D-6E8A-4147-A177-3AD203B41FA5}">
                      <a16:colId xmlns:a16="http://schemas.microsoft.com/office/drawing/2014/main" val="3653974804"/>
                    </a:ext>
                  </a:extLst>
                </a:gridCol>
                <a:gridCol w="1555902">
                  <a:extLst>
                    <a:ext uri="{9D8B030D-6E8A-4147-A177-3AD203B41FA5}">
                      <a16:colId xmlns:a16="http://schemas.microsoft.com/office/drawing/2014/main" val="2985684768"/>
                    </a:ext>
                  </a:extLst>
                </a:gridCol>
              </a:tblGrid>
              <a:tr h="559076">
                <a:tc>
                  <a:txBody>
                    <a:bodyPr/>
                    <a:lstStyle/>
                    <a:p>
                      <a:pPr algn="l">
                        <a:buNone/>
                      </a:pPr>
                      <a:endParaRPr lang="en-US" sz="1600" b="0" i="0" dirty="0">
                        <a:latin typeface="Calibri Light" panose="020F0302020204030204" pitchFamily="34" charset="0"/>
                        <a:cs typeface="Calibri Light" panose="020F0302020204030204" pitchFamily="34" charset="0"/>
                      </a:endParaRPr>
                    </a:p>
                  </a:txBody>
                  <a:tcPr anchor="ctr"/>
                </a:tc>
                <a:tc>
                  <a:txBody>
                    <a:bodyPr/>
                    <a:lstStyle/>
                    <a:p>
                      <a:pPr algn="l">
                        <a:buNone/>
                      </a:pPr>
                      <a:r>
                        <a:rPr lang="en-US" sz="2000" b="1" i="0" dirty="0">
                          <a:latin typeface="Calibri Light" panose="020F0302020204030204" pitchFamily="34" charset="0"/>
                          <a:cs typeface="Calibri Light" panose="020F0302020204030204" pitchFamily="34" charset="0"/>
                        </a:rPr>
                        <a:t>Corpus / dataset</a:t>
                      </a:r>
                    </a:p>
                  </a:txBody>
                  <a:tcPr anchor="ctr"/>
                </a:tc>
                <a:tc>
                  <a:txBody>
                    <a:bodyPr/>
                    <a:lstStyle/>
                    <a:p>
                      <a:pPr algn="l">
                        <a:buNone/>
                      </a:pPr>
                      <a:r>
                        <a:rPr lang="en-US" sz="2000" b="1" i="0" dirty="0">
                          <a:latin typeface="Calibri Light" panose="020F0302020204030204" pitchFamily="34" charset="0"/>
                          <a:cs typeface="Calibri Light" panose="020F0302020204030204" pitchFamily="34" charset="0"/>
                        </a:rPr>
                        <a:t>CRs</a:t>
                      </a:r>
                    </a:p>
                  </a:txBody>
                  <a:tcPr anchor="ctr"/>
                </a:tc>
                <a:tc>
                  <a:txBody>
                    <a:bodyPr/>
                    <a:lstStyle/>
                    <a:p>
                      <a:pPr algn="l">
                        <a:buNone/>
                      </a:pPr>
                      <a:r>
                        <a:rPr lang="en-US" sz="2000" b="1" i="0" dirty="0">
                          <a:latin typeface="Calibri Light" panose="020F0302020204030204" pitchFamily="34" charset="0"/>
                          <a:cs typeface="Calibri Light" panose="020F0302020204030204" pitchFamily="34" charset="0"/>
                        </a:rPr>
                        <a:t>Total turns / dialogues</a:t>
                      </a:r>
                    </a:p>
                  </a:txBody>
                  <a:tcPr anchor="ctr"/>
                </a:tc>
                <a:tc>
                  <a:txBody>
                    <a:bodyPr/>
                    <a:lstStyle/>
                    <a:p>
                      <a:pPr algn="l">
                        <a:buNone/>
                      </a:pPr>
                      <a:r>
                        <a:rPr lang="en-US" sz="2000" b="1" i="1" u="sng" dirty="0">
                          <a:solidFill>
                            <a:schemeClr val="tx2">
                              <a:lumMod val="75000"/>
                              <a:lumOff val="25000"/>
                            </a:schemeClr>
                          </a:solidFill>
                          <a:latin typeface="Calibri Light" panose="020F0302020204030204" pitchFamily="34" charset="0"/>
                          <a:cs typeface="Calibri Light" panose="020F0302020204030204" pitchFamily="34" charset="0"/>
                        </a:rPr>
                        <a:t>CR rate</a:t>
                      </a:r>
                    </a:p>
                  </a:txBody>
                  <a:tcPr anchor="ctr"/>
                </a:tc>
                <a:extLst>
                  <a:ext uri="{0D108BD9-81ED-4DB2-BD59-A6C34878D82A}">
                    <a16:rowId xmlns:a16="http://schemas.microsoft.com/office/drawing/2014/main" val="3924641855"/>
                  </a:ext>
                </a:extLst>
              </a:tr>
              <a:tr h="559076">
                <a:tc>
                  <a:txBody>
                    <a:bodyPr/>
                    <a:lstStyle/>
                    <a:p>
                      <a:pPr algn="l">
                        <a:buNone/>
                      </a:pPr>
                      <a:r>
                        <a:rPr lang="en-US" sz="2000" b="0" i="0" dirty="0">
                          <a:latin typeface="Calibri Light" panose="020F0302020204030204" pitchFamily="34" charset="0"/>
                          <a:cs typeface="Calibri Light" panose="020F0302020204030204" pitchFamily="34" charset="0"/>
                        </a:rPr>
                        <a:t>1</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British National Corpus — all domains</a:t>
                      </a:r>
                      <a:r>
                        <a:rPr lang="en-US" sz="1800" b="0" i="0" baseline="30000" dirty="0">
                          <a:latin typeface="Calibri Light" panose="020F0302020204030204" pitchFamily="34" charset="0"/>
                          <a:cs typeface="Calibri Light" panose="020F0302020204030204" pitchFamily="34" charset="0"/>
                        </a:rPr>
                        <a:t>[1]</a:t>
                      </a:r>
                    </a:p>
                  </a:txBody>
                  <a:tcPr anchor="ctr"/>
                </a:tc>
                <a:tc>
                  <a:txBody>
                    <a:bodyPr/>
                    <a:lstStyle/>
                    <a:p>
                      <a:pPr algn="l">
                        <a:buNone/>
                      </a:pPr>
                      <a:r>
                        <a:rPr lang="en-US" sz="1800" b="0" i="0">
                          <a:latin typeface="Calibri Light" panose="020F0302020204030204" pitchFamily="34" charset="0"/>
                          <a:cs typeface="Calibri Light" panose="020F0302020204030204" pitchFamily="34" charset="0"/>
                        </a:rPr>
                        <a:t>374</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11k turns</a:t>
                      </a:r>
                    </a:p>
                    <a:p>
                      <a:pPr algn="l">
                        <a:buNone/>
                      </a:pPr>
                      <a:r>
                        <a:rPr lang="en-US" sz="1800" b="0" i="0" dirty="0">
                          <a:latin typeface="Calibri Light" panose="020F0302020204030204" pitchFamily="34" charset="0"/>
                          <a:cs typeface="Calibri Light" panose="020F0302020204030204" pitchFamily="34" charset="0"/>
                        </a:rPr>
                        <a:t>59 dialogues</a:t>
                      </a:r>
                    </a:p>
                  </a:txBody>
                  <a:tcPr anchor="ctr"/>
                </a:tc>
                <a:tc>
                  <a:txBody>
                    <a:bodyPr/>
                    <a:lstStyle/>
                    <a:p>
                      <a:pPr algn="l">
                        <a:buNone/>
                      </a:pPr>
                      <a:r>
                        <a:rPr lang="en-US" sz="2000" b="1" i="1" dirty="0">
                          <a:solidFill>
                            <a:schemeClr val="tx2">
                              <a:lumMod val="75000"/>
                              <a:lumOff val="25000"/>
                            </a:schemeClr>
                          </a:solidFill>
                          <a:latin typeface="Calibri Light" panose="020F0302020204030204" pitchFamily="34" charset="0"/>
                          <a:cs typeface="Calibri Light" panose="020F0302020204030204" pitchFamily="34" charset="0"/>
                        </a:rPr>
                        <a:t>&lt; 3%</a:t>
                      </a:r>
                    </a:p>
                  </a:txBody>
                  <a:tcPr anchor="ctr"/>
                </a:tc>
                <a:extLst>
                  <a:ext uri="{0D108BD9-81ED-4DB2-BD59-A6C34878D82A}">
                    <a16:rowId xmlns:a16="http://schemas.microsoft.com/office/drawing/2014/main" val="3328476724"/>
                  </a:ext>
                </a:extLst>
              </a:tr>
              <a:tr h="559076">
                <a:tc>
                  <a:txBody>
                    <a:bodyPr/>
                    <a:lstStyle/>
                    <a:p>
                      <a:pPr algn="l">
                        <a:buNone/>
                      </a:pPr>
                      <a:r>
                        <a:rPr lang="en-US" sz="2000" b="0" i="0" dirty="0">
                          <a:latin typeface="Calibri Light" panose="020F0302020204030204" pitchFamily="34" charset="0"/>
                          <a:cs typeface="Calibri Light" panose="020F0302020204030204" pitchFamily="34" charset="0"/>
                        </a:rPr>
                        <a:t>2</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Communicator corpus</a:t>
                      </a:r>
                      <a:r>
                        <a:rPr lang="en-US" sz="1800" b="0" i="0" baseline="30000" dirty="0">
                          <a:latin typeface="Calibri Light" panose="020F0302020204030204" pitchFamily="34" charset="0"/>
                          <a:cs typeface="Calibri Light" panose="020F0302020204030204" pitchFamily="34" charset="0"/>
                        </a:rPr>
                        <a:t>[2]</a:t>
                      </a:r>
                    </a:p>
                  </a:txBody>
                  <a:tcPr anchor="ctr"/>
                </a:tc>
                <a:tc>
                  <a:txBody>
                    <a:bodyPr/>
                    <a:lstStyle/>
                    <a:p>
                      <a:pPr algn="l">
                        <a:buNone/>
                      </a:pPr>
                      <a:r>
                        <a:rPr lang="en-US" sz="1800" b="0" i="0">
                          <a:latin typeface="Calibri Light" panose="020F0302020204030204" pitchFamily="34" charset="0"/>
                          <a:cs typeface="Calibri Light" panose="020F0302020204030204" pitchFamily="34" charset="0"/>
                        </a:rPr>
                        <a:t>98</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2,098 turns</a:t>
                      </a:r>
                    </a:p>
                    <a:p>
                      <a:pPr algn="l">
                        <a:buNone/>
                      </a:pPr>
                      <a:r>
                        <a:rPr lang="en-US" sz="1800" b="0" i="0" dirty="0">
                          <a:latin typeface="Calibri Light" panose="020F0302020204030204" pitchFamily="34" charset="0"/>
                          <a:cs typeface="Calibri Light" panose="020F0302020204030204" pitchFamily="34" charset="0"/>
                        </a:rPr>
                        <a:t>31 dialogues</a:t>
                      </a:r>
                    </a:p>
                  </a:txBody>
                  <a:tcPr anchor="ctr"/>
                </a:tc>
                <a:tc>
                  <a:txBody>
                    <a:bodyPr/>
                    <a:lstStyle/>
                    <a:p>
                      <a:pPr algn="l">
                        <a:buNone/>
                      </a:pPr>
                      <a:r>
                        <a:rPr lang="en-US" sz="2000" b="1" i="1" dirty="0">
                          <a:solidFill>
                            <a:schemeClr val="tx2">
                              <a:lumMod val="75000"/>
                              <a:lumOff val="25000"/>
                            </a:schemeClr>
                          </a:solidFill>
                          <a:latin typeface="Calibri Light" panose="020F0302020204030204" pitchFamily="34" charset="0"/>
                          <a:cs typeface="Calibri Light" panose="020F0302020204030204" pitchFamily="34" charset="0"/>
                        </a:rPr>
                        <a:t>4.6%</a:t>
                      </a:r>
                    </a:p>
                  </a:txBody>
                  <a:tcPr anchor="ctr"/>
                </a:tc>
                <a:extLst>
                  <a:ext uri="{0D108BD9-81ED-4DB2-BD59-A6C34878D82A}">
                    <a16:rowId xmlns:a16="http://schemas.microsoft.com/office/drawing/2014/main" val="3958022024"/>
                  </a:ext>
                </a:extLst>
              </a:tr>
              <a:tr h="559076">
                <a:tc>
                  <a:txBody>
                    <a:bodyPr/>
                    <a:lstStyle/>
                    <a:p>
                      <a:pPr algn="l">
                        <a:buNone/>
                      </a:pPr>
                      <a:r>
                        <a:rPr lang="en-US" sz="2000" b="0" i="0" dirty="0">
                          <a:latin typeface="Calibri Light" panose="020F0302020204030204" pitchFamily="34" charset="0"/>
                          <a:cs typeface="Calibri Light" panose="020F0302020204030204" pitchFamily="34" charset="0"/>
                        </a:rPr>
                        <a:t>3</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Bielefeld corpus</a:t>
                      </a:r>
                      <a:r>
                        <a:rPr lang="en-US" sz="1800" b="0" i="0" baseline="30000" dirty="0">
                          <a:latin typeface="Calibri Light" panose="020F0302020204030204" pitchFamily="34" charset="0"/>
                          <a:cs typeface="Calibri Light" panose="020F0302020204030204" pitchFamily="34" charset="0"/>
                        </a:rPr>
                        <a:t>[3]</a:t>
                      </a:r>
                    </a:p>
                  </a:txBody>
                  <a:tcPr anchor="ctr"/>
                </a:tc>
                <a:tc>
                  <a:txBody>
                    <a:bodyPr/>
                    <a:lstStyle/>
                    <a:p>
                      <a:pPr algn="l">
                        <a:buNone/>
                      </a:pPr>
                      <a:r>
                        <a:rPr lang="en-US" sz="1800" b="0" i="0">
                          <a:latin typeface="Calibri Light" panose="020F0302020204030204" pitchFamily="34" charset="0"/>
                          <a:cs typeface="Calibri Light" panose="020F0302020204030204" pitchFamily="34" charset="0"/>
                        </a:rPr>
                        <a:t>230</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3,962 turns;</a:t>
                      </a:r>
                    </a:p>
                    <a:p>
                      <a:pPr algn="l">
                        <a:buNone/>
                      </a:pPr>
                      <a:r>
                        <a:rPr lang="en-US" sz="1800" b="0" i="0" dirty="0">
                          <a:latin typeface="Calibri Light" panose="020F0302020204030204" pitchFamily="34" charset="0"/>
                          <a:cs typeface="Calibri Light" panose="020F0302020204030204" pitchFamily="34" charset="0"/>
                        </a:rPr>
                        <a:t>22 dialogues</a:t>
                      </a:r>
                    </a:p>
                  </a:txBody>
                  <a:tcPr anchor="ctr"/>
                </a:tc>
                <a:tc>
                  <a:txBody>
                    <a:bodyPr/>
                    <a:lstStyle/>
                    <a:p>
                      <a:pPr algn="l">
                        <a:buNone/>
                      </a:pPr>
                      <a:r>
                        <a:rPr lang="en-US" sz="2000" b="1" i="1" dirty="0">
                          <a:solidFill>
                            <a:schemeClr val="tx2">
                              <a:lumMod val="75000"/>
                              <a:lumOff val="25000"/>
                            </a:schemeClr>
                          </a:solidFill>
                          <a:latin typeface="Calibri Light" panose="020F0302020204030204" pitchFamily="34" charset="0"/>
                          <a:cs typeface="Calibri Light" panose="020F0302020204030204" pitchFamily="34" charset="0"/>
                        </a:rPr>
                        <a:t>5.8%</a:t>
                      </a:r>
                    </a:p>
                  </a:txBody>
                  <a:tcPr anchor="ctr"/>
                </a:tc>
                <a:extLst>
                  <a:ext uri="{0D108BD9-81ED-4DB2-BD59-A6C34878D82A}">
                    <a16:rowId xmlns:a16="http://schemas.microsoft.com/office/drawing/2014/main" val="604418724"/>
                  </a:ext>
                </a:extLst>
              </a:tr>
              <a:tr h="624278">
                <a:tc>
                  <a:txBody>
                    <a:bodyPr/>
                    <a:lstStyle/>
                    <a:p>
                      <a:pPr algn="l">
                        <a:buNone/>
                      </a:pPr>
                      <a:r>
                        <a:rPr lang="en-US" sz="2000" b="0" i="0" dirty="0">
                          <a:latin typeface="Calibri Light" panose="020F0302020204030204" pitchFamily="34" charset="0"/>
                          <a:cs typeface="Calibri Light" panose="020F0302020204030204" pitchFamily="34" charset="0"/>
                        </a:rPr>
                        <a:t>4</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SCARE corpus</a:t>
                      </a:r>
                      <a:r>
                        <a:rPr lang="en-US" sz="1800" b="0" i="0" baseline="30000" dirty="0">
                          <a:latin typeface="Calibri Light" panose="020F0302020204030204" pitchFamily="34" charset="0"/>
                          <a:cs typeface="Calibri Light" panose="020F0302020204030204" pitchFamily="34" charset="0"/>
                        </a:rPr>
                        <a:t>[4]</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772</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11,350 turns;</a:t>
                      </a:r>
                    </a:p>
                    <a:p>
                      <a:pPr algn="l">
                        <a:buNone/>
                      </a:pPr>
                      <a:r>
                        <a:rPr lang="en-US" sz="1800" b="0" i="0" dirty="0">
                          <a:latin typeface="Calibri Light" panose="020F0302020204030204" pitchFamily="34" charset="0"/>
                          <a:cs typeface="Calibri Light" panose="020F0302020204030204" pitchFamily="34" charset="0"/>
                        </a:rPr>
                        <a:t>15 dialogues</a:t>
                      </a:r>
                    </a:p>
                  </a:txBody>
                  <a:tcPr anchor="ctr"/>
                </a:tc>
                <a:tc>
                  <a:txBody>
                    <a:bodyPr/>
                    <a:lstStyle/>
                    <a:p>
                      <a:pPr algn="l">
                        <a:buNone/>
                      </a:pPr>
                      <a:r>
                        <a:rPr lang="en-US" sz="2000" b="1" i="1" dirty="0">
                          <a:solidFill>
                            <a:schemeClr val="tx2">
                              <a:lumMod val="75000"/>
                              <a:lumOff val="25000"/>
                            </a:schemeClr>
                          </a:solidFill>
                          <a:latin typeface="Calibri Light" panose="020F0302020204030204" pitchFamily="34" charset="0"/>
                          <a:cs typeface="Calibri Light" panose="020F0302020204030204" pitchFamily="34" charset="0"/>
                        </a:rPr>
                        <a:t>≈ 6.5–6.8%</a:t>
                      </a:r>
                    </a:p>
                  </a:txBody>
                  <a:tcPr anchor="ctr"/>
                </a:tc>
                <a:extLst>
                  <a:ext uri="{0D108BD9-81ED-4DB2-BD59-A6C34878D82A}">
                    <a16:rowId xmlns:a16="http://schemas.microsoft.com/office/drawing/2014/main" val="380274368"/>
                  </a:ext>
                </a:extLst>
              </a:tr>
              <a:tr h="931477">
                <a:tc>
                  <a:txBody>
                    <a:bodyPr/>
                    <a:lstStyle/>
                    <a:p>
                      <a:pPr algn="l">
                        <a:buNone/>
                      </a:pPr>
                      <a:r>
                        <a:rPr lang="en-US" sz="2000" b="0" i="0" dirty="0">
                          <a:latin typeface="Calibri Light" panose="020F0302020204030204" pitchFamily="34" charset="0"/>
                          <a:cs typeface="Calibri Light" panose="020F0302020204030204" pitchFamily="34" charset="0"/>
                        </a:rPr>
                        <a:t>5</a:t>
                      </a:r>
                    </a:p>
                  </a:txBody>
                  <a:tcPr anchor="ctr"/>
                </a:tc>
                <a:tc>
                  <a:txBody>
                    <a:bodyPr/>
                    <a:lstStyle/>
                    <a:p>
                      <a:pPr algn="l">
                        <a:buNone/>
                      </a:pPr>
                      <a:r>
                        <a:rPr lang="en-US" sz="1800" b="0" i="0" dirty="0" err="1">
                          <a:latin typeface="Calibri Light" panose="020F0302020204030204" pitchFamily="34" charset="0"/>
                          <a:cs typeface="Calibri Light" panose="020F0302020204030204" pitchFamily="34" charset="0"/>
                        </a:rPr>
                        <a:t>CoDraw-iCR</a:t>
                      </a:r>
                      <a:r>
                        <a:rPr lang="en-US" sz="1800" b="0" i="0" dirty="0">
                          <a:latin typeface="Calibri Light" panose="020F0302020204030204" pitchFamily="34" charset="0"/>
                          <a:cs typeface="Calibri Light" panose="020F0302020204030204" pitchFamily="34" charset="0"/>
                        </a:rPr>
                        <a:t> corpus</a:t>
                      </a:r>
                      <a:r>
                        <a:rPr lang="en-US" sz="1800" b="0" i="0" baseline="30000" dirty="0">
                          <a:latin typeface="Calibri Light" panose="020F0302020204030204" pitchFamily="34" charset="0"/>
                          <a:cs typeface="Calibri Light" panose="020F0302020204030204" pitchFamily="34" charset="0"/>
                        </a:rPr>
                        <a:t>[5]</a:t>
                      </a: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8,807 </a:t>
                      </a:r>
                      <a:r>
                        <a:rPr lang="en-US" sz="1800" b="0" i="0" dirty="0" err="1">
                          <a:latin typeface="Calibri Light" panose="020F0302020204030204" pitchFamily="34" charset="0"/>
                          <a:cs typeface="Calibri Light" panose="020F0302020204030204" pitchFamily="34" charset="0"/>
                        </a:rPr>
                        <a:t>iCRs</a:t>
                      </a:r>
                      <a:endParaRPr lang="en-US" sz="1800" b="0" i="0" dirty="0">
                        <a:latin typeface="Calibri Light" panose="020F0302020204030204" pitchFamily="34" charset="0"/>
                        <a:cs typeface="Calibri Light" panose="020F0302020204030204" pitchFamily="34" charset="0"/>
                      </a:endParaRPr>
                    </a:p>
                  </a:txBody>
                  <a:tcPr anchor="ctr"/>
                </a:tc>
                <a:tc>
                  <a:txBody>
                    <a:bodyPr/>
                    <a:lstStyle/>
                    <a:p>
                      <a:pPr algn="l">
                        <a:buNone/>
                      </a:pPr>
                      <a:r>
                        <a:rPr lang="en-US" sz="1800" b="0" i="0" dirty="0">
                          <a:latin typeface="Calibri Light" panose="020F0302020204030204" pitchFamily="34" charset="0"/>
                          <a:cs typeface="Calibri Light" panose="020F0302020204030204" pitchFamily="34" charset="0"/>
                        </a:rPr>
                        <a:t>77,502 rounds; 9,993 dialogues</a:t>
                      </a:r>
                    </a:p>
                  </a:txBody>
                  <a:tcPr anchor="ctr"/>
                </a:tc>
                <a:tc>
                  <a:txBody>
                    <a:bodyPr/>
                    <a:lstStyle/>
                    <a:p>
                      <a:pPr algn="l">
                        <a:buNone/>
                      </a:pPr>
                      <a:r>
                        <a:rPr lang="en-US" sz="2000" b="1" i="1" kern="1200" dirty="0">
                          <a:solidFill>
                            <a:schemeClr val="tx2">
                              <a:lumMod val="75000"/>
                              <a:lumOff val="25000"/>
                            </a:schemeClr>
                          </a:solidFill>
                          <a:latin typeface="Calibri Light" panose="020F0302020204030204" pitchFamily="34" charset="0"/>
                          <a:ea typeface="+mn-ea"/>
                          <a:cs typeface="Calibri Light" panose="020F0302020204030204" pitchFamily="34" charset="0"/>
                        </a:rPr>
                        <a:t>11.36% </a:t>
                      </a:r>
                    </a:p>
                  </a:txBody>
                  <a:tcPr anchor="ctr"/>
                </a:tc>
                <a:extLst>
                  <a:ext uri="{0D108BD9-81ED-4DB2-BD59-A6C34878D82A}">
                    <a16:rowId xmlns:a16="http://schemas.microsoft.com/office/drawing/2014/main" val="1388491519"/>
                  </a:ext>
                </a:extLst>
              </a:tr>
              <a:tr h="882752">
                <a:tc>
                  <a:txBody>
                    <a:bodyPr/>
                    <a:lstStyle/>
                    <a:p>
                      <a:pPr algn="l">
                        <a:buNone/>
                      </a:pPr>
                      <a:r>
                        <a:rPr lang="en-US" sz="2000" b="1" i="0" dirty="0">
                          <a:solidFill>
                            <a:schemeClr val="accent6">
                              <a:lumMod val="75000"/>
                            </a:schemeClr>
                          </a:solidFill>
                          <a:latin typeface="Calibri Light" panose="020F0302020204030204" pitchFamily="34" charset="0"/>
                          <a:cs typeface="Calibri Light" panose="020F0302020204030204" pitchFamily="34" charset="0"/>
                        </a:rPr>
                        <a:t>6</a:t>
                      </a:r>
                    </a:p>
                    <a:p>
                      <a:pPr algn="l">
                        <a:buNone/>
                      </a:pPr>
                      <a:endParaRPr lang="en-US" sz="2000" b="1" i="0" dirty="0">
                        <a:solidFill>
                          <a:schemeClr val="accent6">
                            <a:lumMod val="75000"/>
                          </a:schemeClr>
                        </a:solidFill>
                        <a:latin typeface="Calibri Light" panose="020F0302020204030204" pitchFamily="34" charset="0"/>
                        <a:cs typeface="Calibri Light" panose="020F0302020204030204" pitchFamily="34" charset="0"/>
                      </a:endParaRPr>
                    </a:p>
                  </a:txBody>
                  <a:tcPr anchor="ctr"/>
                </a:tc>
                <a:tc>
                  <a:txBody>
                    <a:bodyPr/>
                    <a:lstStyle/>
                    <a:p>
                      <a:pPr algn="l">
                        <a:buNone/>
                      </a:pPr>
                      <a:r>
                        <a:rPr lang="en-US" sz="1800" b="1" i="0" u="sng" dirty="0">
                          <a:solidFill>
                            <a:schemeClr val="accent6">
                              <a:lumMod val="50000"/>
                            </a:schemeClr>
                          </a:solidFill>
                          <a:latin typeface="Calibri Light" panose="020F0302020204030204" pitchFamily="34" charset="0"/>
                          <a:cs typeface="Calibri Light" panose="020F0302020204030204" pitchFamily="34" charset="0"/>
                        </a:rPr>
                        <a:t>ClarVis (Ours)</a:t>
                      </a:r>
                    </a:p>
                  </a:txBody>
                  <a:tcPr anchor="ctr"/>
                </a:tc>
                <a:tc>
                  <a:txBody>
                    <a:bodyPr/>
                    <a:lstStyle/>
                    <a:p>
                      <a:pPr algn="l">
                        <a:buNone/>
                      </a:pPr>
                      <a:r>
                        <a:rPr lang="en-US" sz="1800" b="1" i="0" u="sng" dirty="0">
                          <a:solidFill>
                            <a:schemeClr val="accent6">
                              <a:lumMod val="50000"/>
                            </a:schemeClr>
                          </a:solidFill>
                          <a:latin typeface="Calibri Light" panose="020F0302020204030204" pitchFamily="34" charset="0"/>
                          <a:cs typeface="Calibri Light" panose="020F0302020204030204" pitchFamily="34" charset="0"/>
                        </a:rPr>
                        <a:t>445 </a:t>
                      </a:r>
                    </a:p>
                  </a:txBody>
                  <a:tcPr anchor="ctr"/>
                </a:tc>
                <a:tc>
                  <a:txBody>
                    <a:bodyPr/>
                    <a:lstStyle/>
                    <a:p>
                      <a:pPr algn="l">
                        <a:buNone/>
                      </a:pPr>
                      <a:r>
                        <a:rPr lang="en-US" sz="1800" b="1" i="0" u="sng" dirty="0">
                          <a:solidFill>
                            <a:schemeClr val="accent6">
                              <a:lumMod val="50000"/>
                            </a:schemeClr>
                          </a:solidFill>
                          <a:latin typeface="Calibri Light" panose="020F0302020204030204" pitchFamily="34" charset="0"/>
                          <a:cs typeface="Calibri Light" panose="020F0302020204030204" pitchFamily="34" charset="0"/>
                        </a:rPr>
                        <a:t>29 Dialogues;</a:t>
                      </a:r>
                    </a:p>
                    <a:p>
                      <a:pPr algn="l">
                        <a:buNone/>
                      </a:pPr>
                      <a:r>
                        <a:rPr lang="en-US" sz="1800" b="1" i="0" u="sng" dirty="0">
                          <a:solidFill>
                            <a:schemeClr val="accent6">
                              <a:lumMod val="50000"/>
                            </a:schemeClr>
                          </a:solidFill>
                          <a:latin typeface="Calibri Light" panose="020F0302020204030204" pitchFamily="34" charset="0"/>
                          <a:cs typeface="Calibri Light" panose="020F0302020204030204" pitchFamily="34" charset="0"/>
                        </a:rPr>
                        <a:t>6,927 turns</a:t>
                      </a:r>
                    </a:p>
                  </a:txBody>
                  <a:tcPr anchor="ctr"/>
                </a:tc>
                <a:tc>
                  <a:txBody>
                    <a:bodyPr/>
                    <a:lstStyle/>
                    <a:p>
                      <a:pPr algn="l">
                        <a:buNone/>
                      </a:pPr>
                      <a:r>
                        <a:rPr lang="en-US" sz="2000" b="1" i="1" u="sng" kern="1200" dirty="0">
                          <a:solidFill>
                            <a:schemeClr val="accent6">
                              <a:lumMod val="50000"/>
                            </a:schemeClr>
                          </a:solidFill>
                          <a:latin typeface="Calibri Light" panose="020F0302020204030204" pitchFamily="34" charset="0"/>
                          <a:ea typeface="+mn-ea"/>
                          <a:cs typeface="Calibri Light" panose="020F0302020204030204" pitchFamily="34" charset="0"/>
                        </a:rPr>
                        <a:t>6.4%</a:t>
                      </a:r>
                    </a:p>
                  </a:txBody>
                  <a:tcPr anchor="ctr"/>
                </a:tc>
                <a:extLst>
                  <a:ext uri="{0D108BD9-81ED-4DB2-BD59-A6C34878D82A}">
                    <a16:rowId xmlns:a16="http://schemas.microsoft.com/office/drawing/2014/main" val="2188016521"/>
                  </a:ext>
                </a:extLst>
              </a:tr>
            </a:tbl>
          </a:graphicData>
        </a:graphic>
      </p:graphicFrame>
      <p:sp>
        <p:nvSpPr>
          <p:cNvPr id="9" name="TextBox 8">
            <a:extLst>
              <a:ext uri="{FF2B5EF4-FFF2-40B4-BE49-F238E27FC236}">
                <a16:creationId xmlns:a16="http://schemas.microsoft.com/office/drawing/2014/main" id="{58CFD060-A82A-D1C0-1DA2-74B3937A145A}"/>
              </a:ext>
            </a:extLst>
          </p:cNvPr>
          <p:cNvSpPr txBox="1"/>
          <p:nvPr/>
        </p:nvSpPr>
        <p:spPr>
          <a:xfrm>
            <a:off x="0" y="6304002"/>
            <a:ext cx="11912252" cy="584775"/>
          </a:xfrm>
          <a:prstGeom prst="rect">
            <a:avLst/>
          </a:prstGeom>
          <a:noFill/>
        </p:spPr>
        <p:txBody>
          <a:bodyPr wrap="square">
            <a:spAutoFit/>
          </a:bodyPr>
          <a:lstStyle/>
          <a:p>
            <a:r>
              <a:rPr lang="en-US" sz="1600" dirty="0">
                <a:latin typeface="Calibri Light" panose="020F0302020204030204" pitchFamily="34" charset="0"/>
                <a:cs typeface="Calibri Light" panose="020F0302020204030204" pitchFamily="34" charset="0"/>
              </a:rPr>
              <a:t>                               ¹ </a:t>
            </a:r>
            <a:r>
              <a:rPr lang="en-US" sz="1600" dirty="0" err="1">
                <a:latin typeface="Calibri Light" panose="020F0302020204030204" pitchFamily="34" charset="0"/>
                <a:cs typeface="Calibri Light" panose="020F0302020204030204" pitchFamily="34" charset="0"/>
              </a:rPr>
              <a:t>Purver</a:t>
            </a:r>
            <a:r>
              <a:rPr lang="en-US" sz="1600" dirty="0">
                <a:latin typeface="Calibri Light" panose="020F0302020204030204" pitchFamily="34" charset="0"/>
                <a:cs typeface="Calibri Light" panose="020F0302020204030204" pitchFamily="34" charset="0"/>
              </a:rPr>
              <a:t> et al. (2001) ;          ² Rieser &amp; Moore (2005) ; ³ Rodríguez &amp; Schlangen (2004) ; ⁴ Benotti &amp; Blackburn (2021) ; ⁵ Madureira &amp; Schlangen (2023); </a:t>
            </a:r>
            <a:r>
              <a:rPr lang="en-US" sz="1600" baseline="30000" dirty="0">
                <a:latin typeface="Calibri Light" panose="020F0302020204030204" pitchFamily="34" charset="0"/>
                <a:cs typeface="Calibri Light" panose="020F0302020204030204" pitchFamily="34" charset="0"/>
              </a:rPr>
              <a:t>6</a:t>
            </a:r>
            <a:r>
              <a:rPr lang="en-US" sz="1600" dirty="0">
                <a:latin typeface="Calibri Light" panose="020F0302020204030204" pitchFamily="34" charset="0"/>
                <a:cs typeface="Calibri Light" panose="020F0302020204030204" pitchFamily="34" charset="0"/>
              </a:rPr>
              <a:t> </a:t>
            </a:r>
            <a:r>
              <a:rPr lang="en-US" sz="1600" dirty="0" err="1">
                <a:latin typeface="Calibri Light" panose="020F0302020204030204" pitchFamily="34" charset="0"/>
                <a:cs typeface="Calibri Light" panose="020F0302020204030204" pitchFamily="34" charset="0"/>
              </a:rPr>
              <a:t>Purver</a:t>
            </a:r>
            <a:r>
              <a:rPr lang="en-US" sz="1600" dirty="0">
                <a:latin typeface="Calibri Light" panose="020F0302020204030204" pitchFamily="34" charset="0"/>
                <a:cs typeface="Calibri Light" panose="020F0302020204030204" pitchFamily="34" charset="0"/>
              </a:rPr>
              <a:t> (2004) ; </a:t>
            </a:r>
            <a:r>
              <a:rPr lang="en-US" sz="1600" baseline="30000" dirty="0">
                <a:latin typeface="Calibri Light" panose="020F0302020204030204" pitchFamily="34" charset="0"/>
                <a:cs typeface="Calibri Light" panose="020F0302020204030204" pitchFamily="34" charset="0"/>
              </a:rPr>
              <a:t>7 </a:t>
            </a:r>
            <a:r>
              <a:rPr lang="en-US" sz="1600" dirty="0">
                <a:latin typeface="Calibri Light" panose="020F0302020204030204" pitchFamily="34" charset="0"/>
                <a:cs typeface="Calibri Light" panose="020F0302020204030204" pitchFamily="34" charset="0"/>
              </a:rPr>
              <a:t> Fernandez(2006)</a:t>
            </a:r>
            <a:endParaRPr lang="en-US" sz="1600" baseline="30000" dirty="0">
              <a:latin typeface="Calibri Light" panose="020F0302020204030204" pitchFamily="34" charset="0"/>
              <a:cs typeface="Calibri Light" panose="020F0302020204030204" pitchFamily="34" charset="0"/>
            </a:endParaRPr>
          </a:p>
        </p:txBody>
      </p:sp>
      <p:sp>
        <p:nvSpPr>
          <p:cNvPr id="11" name="TextBox 10">
            <a:extLst>
              <a:ext uri="{FF2B5EF4-FFF2-40B4-BE49-F238E27FC236}">
                <a16:creationId xmlns:a16="http://schemas.microsoft.com/office/drawing/2014/main" id="{499BE8EA-5A8B-0991-A469-B7F0778CBBE7}"/>
              </a:ext>
            </a:extLst>
          </p:cNvPr>
          <p:cNvSpPr txBox="1"/>
          <p:nvPr/>
        </p:nvSpPr>
        <p:spPr>
          <a:xfrm>
            <a:off x="8567802" y="1236326"/>
            <a:ext cx="3093930" cy="2031325"/>
          </a:xfrm>
          <a:prstGeom prst="rect">
            <a:avLst/>
          </a:prstGeom>
          <a:solidFill>
            <a:srgbClr val="FFC000">
              <a:alpha val="16750"/>
            </a:srgbClr>
          </a:solidFill>
        </p:spPr>
        <p:txBody>
          <a:bodyPr wrap="square">
            <a:spAutoFit/>
          </a:bodyPr>
          <a:lstStyle/>
          <a:p>
            <a:pPr algn="ctr">
              <a:buNone/>
            </a:pPr>
            <a:r>
              <a:rPr lang="en-US" b="1" dirty="0">
                <a:latin typeface="Calibri" panose="020F0502020204030204" pitchFamily="34" charset="0"/>
                <a:cs typeface="Calibri" panose="020F0502020204030204" pitchFamily="34" charset="0"/>
              </a:rPr>
              <a:t>Not always</a:t>
            </a:r>
          </a:p>
          <a:p>
            <a:pPr algn="ctr">
              <a:buNone/>
            </a:pPr>
            <a:r>
              <a:rPr lang="en-US" b="1" dirty="0">
                <a:latin typeface="Calibri" panose="020F0502020204030204" pitchFamily="34" charset="0"/>
                <a:cs typeface="Calibri" panose="020F0502020204030204" pitchFamily="34" charset="0"/>
              </a:rPr>
              <a:t> explicit questions</a:t>
            </a:r>
          </a:p>
          <a:p>
            <a:pPr algn="ctr">
              <a:buNone/>
            </a:pPr>
            <a:endParaRPr lang="en-US" dirty="0">
              <a:latin typeface="Calibri" panose="020F0502020204030204" pitchFamily="34" charset="0"/>
              <a:cs typeface="Calibri" panose="020F0502020204030204" pitchFamily="34" charset="0"/>
            </a:endParaRPr>
          </a:p>
          <a:p>
            <a:pPr>
              <a:buNone/>
            </a:pPr>
            <a:r>
              <a:rPr lang="en-US" dirty="0">
                <a:latin typeface="Calibri" panose="020F0502020204030204" pitchFamily="34" charset="0"/>
                <a:cs typeface="Calibri" panose="020F0502020204030204" pitchFamily="34" charset="0"/>
              </a:rPr>
              <a:t>CRs often appear as fragments or reprises → interpretation depends heavily on discourse context.[6,7]</a:t>
            </a:r>
          </a:p>
        </p:txBody>
      </p:sp>
      <p:sp>
        <p:nvSpPr>
          <p:cNvPr id="13" name="TextBox 12">
            <a:extLst>
              <a:ext uri="{FF2B5EF4-FFF2-40B4-BE49-F238E27FC236}">
                <a16:creationId xmlns:a16="http://schemas.microsoft.com/office/drawing/2014/main" id="{1502895D-FE28-AB57-CB26-ED382235119A}"/>
              </a:ext>
            </a:extLst>
          </p:cNvPr>
          <p:cNvSpPr txBox="1"/>
          <p:nvPr/>
        </p:nvSpPr>
        <p:spPr>
          <a:xfrm>
            <a:off x="8567802" y="3867348"/>
            <a:ext cx="3093930" cy="1754326"/>
          </a:xfrm>
          <a:prstGeom prst="rect">
            <a:avLst/>
          </a:prstGeom>
          <a:solidFill>
            <a:srgbClr val="FFC000">
              <a:alpha val="16750"/>
            </a:srgbClr>
          </a:solidFill>
        </p:spPr>
        <p:txBody>
          <a:bodyPr wrap="square">
            <a:spAutoFit/>
          </a:bodyPr>
          <a:lstStyle>
            <a:defPPr>
              <a:defRPr lang="en-US"/>
            </a:defPPr>
            <a:lvl1pPr>
              <a:buNone/>
              <a:defRPr b="1">
                <a:latin typeface="Calibri" panose="020F0502020204030204" pitchFamily="34" charset="0"/>
                <a:cs typeface="Calibri" panose="020F0502020204030204" pitchFamily="34" charset="0"/>
              </a:defRPr>
            </a:lvl1pPr>
          </a:lstStyle>
          <a:p>
            <a:pPr algn="ctr"/>
            <a:r>
              <a:rPr lang="en-US" dirty="0"/>
              <a:t>Why this matters?</a:t>
            </a:r>
          </a:p>
          <a:p>
            <a:endParaRPr lang="en-US" dirty="0"/>
          </a:p>
          <a:p>
            <a:r>
              <a:rPr lang="en-US" b="0" dirty="0"/>
              <a:t>CR detection is challenging when interpretation depends on shared task context, not just explicit question form.</a:t>
            </a:r>
          </a:p>
        </p:txBody>
      </p:sp>
      <p:pic>
        <p:nvPicPr>
          <p:cNvPr id="16" name="Graphic 15" descr="Lights On with solid fill">
            <a:extLst>
              <a:ext uri="{FF2B5EF4-FFF2-40B4-BE49-F238E27FC236}">
                <a16:creationId xmlns:a16="http://schemas.microsoft.com/office/drawing/2014/main" id="{3CF5595C-8EF3-5FB0-8A16-6C64621F33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8108" y="1212683"/>
            <a:ext cx="627880" cy="627880"/>
          </a:xfrm>
          <a:prstGeom prst="rect">
            <a:avLst/>
          </a:prstGeom>
        </p:spPr>
      </p:pic>
      <p:pic>
        <p:nvPicPr>
          <p:cNvPr id="17" name="Graphic 16" descr="Lights On with solid fill">
            <a:extLst>
              <a:ext uri="{FF2B5EF4-FFF2-40B4-BE49-F238E27FC236}">
                <a16:creationId xmlns:a16="http://schemas.microsoft.com/office/drawing/2014/main" id="{66C5C7B4-47FF-0BCA-5DFF-7226BA5A85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67802" y="3844007"/>
            <a:ext cx="627880" cy="627880"/>
          </a:xfrm>
          <a:prstGeom prst="rect">
            <a:avLst/>
          </a:prstGeom>
        </p:spPr>
      </p:pic>
    </p:spTree>
    <p:extLst>
      <p:ext uri="{BB962C8B-B14F-4D97-AF65-F5344CB8AC3E}">
        <p14:creationId xmlns:p14="http://schemas.microsoft.com/office/powerpoint/2010/main" val="87560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F39678-FEA1-243D-D89C-26DF9CBC6886}"/>
              </a:ext>
            </a:extLst>
          </p:cNvPr>
          <p:cNvSpPr>
            <a:spLocks noGrp="1"/>
          </p:cNvSpPr>
          <p:nvPr>
            <p:ph type="sldNum" sz="quarter" idx="12"/>
          </p:nvPr>
        </p:nvSpPr>
        <p:spPr/>
        <p:txBody>
          <a:bodyPr/>
          <a:lstStyle/>
          <a:p>
            <a:fld id="{7C7FAD9F-AEE9-406E-B720-57D2B9DB2816}" type="slidenum">
              <a:rPr lang="en-US" smtClean="0"/>
              <a:t>20</a:t>
            </a:fld>
            <a:endParaRPr lang="en-US"/>
          </a:p>
        </p:txBody>
      </p:sp>
      <p:sp>
        <p:nvSpPr>
          <p:cNvPr id="5" name="Title 1">
            <a:extLst>
              <a:ext uri="{FF2B5EF4-FFF2-40B4-BE49-F238E27FC236}">
                <a16:creationId xmlns:a16="http://schemas.microsoft.com/office/drawing/2014/main" id="{F742E6F4-A7D0-5D39-91AF-4CA3B7CD5122}"/>
              </a:ext>
            </a:extLst>
          </p:cNvPr>
          <p:cNvSpPr>
            <a:spLocks noGrp="1"/>
          </p:cNvSpPr>
          <p:nvPr>
            <p:ph type="title"/>
          </p:nvPr>
        </p:nvSpPr>
        <p:spPr>
          <a:xfrm>
            <a:off x="647178" y="0"/>
            <a:ext cx="10897644" cy="429042"/>
          </a:xfrm>
        </p:spPr>
        <p:txBody>
          <a:bodyPr>
            <a:noAutofit/>
          </a:bodyPr>
          <a:lstStyle/>
          <a:p>
            <a:pPr algn="ctr"/>
            <a:r>
              <a:rPr lang="en-US" sz="3000" b="0" dirty="0">
                <a:latin typeface="Calibri" panose="020F0502020204030204" pitchFamily="34" charset="0"/>
                <a:cs typeface="Calibri" panose="020F0502020204030204" pitchFamily="34" charset="0"/>
              </a:rPr>
              <a:t>  Why ClarVis? </a:t>
            </a:r>
            <a:endParaRPr lang="en-US" sz="3000" u="sng" dirty="0">
              <a:solidFill>
                <a:schemeClr val="tx2">
                  <a:lumMod val="75000"/>
                  <a:lumOff val="25000"/>
                </a:schemeClr>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8C2B095-2F8B-DB8D-7AAD-57BAB9660F85}"/>
              </a:ext>
            </a:extLst>
          </p:cNvPr>
          <p:cNvSpPr txBox="1"/>
          <p:nvPr/>
        </p:nvSpPr>
        <p:spPr>
          <a:xfrm>
            <a:off x="431278" y="429041"/>
            <a:ext cx="6096000" cy="5570756"/>
          </a:xfrm>
          <a:prstGeom prst="rect">
            <a:avLst/>
          </a:prstGeom>
          <a:noFill/>
        </p:spPr>
        <p:txBody>
          <a:bodyPr wrap="square">
            <a:spAutoFit/>
          </a:bodyPr>
          <a:lstStyle/>
          <a:p>
            <a:pPr>
              <a:buNone/>
            </a:pPr>
            <a:r>
              <a:rPr lang="en-US" sz="2200" b="1" dirty="0">
                <a:latin typeface="Calibri" panose="020F0502020204030204" pitchFamily="34" charset="0"/>
                <a:cs typeface="Calibri" panose="020F0502020204030204" pitchFamily="34" charset="0"/>
              </a:rPr>
              <a:t>1. Large-scale CR datasets</a:t>
            </a:r>
          </a:p>
          <a:p>
            <a:pPr>
              <a:buNone/>
            </a:pPr>
            <a:r>
              <a:rPr lang="en-US" sz="2200" b="1" dirty="0" err="1">
                <a:solidFill>
                  <a:schemeClr val="accent5">
                    <a:lumMod val="75000"/>
                  </a:schemeClr>
                </a:solidFill>
                <a:latin typeface="Calibri" panose="020F0502020204030204" pitchFamily="34" charset="0"/>
                <a:cs typeface="Calibri" panose="020F0502020204030204" pitchFamily="34" charset="0"/>
              </a:rPr>
              <a:t>Qulac</a:t>
            </a:r>
            <a:r>
              <a:rPr lang="en-US" sz="2200" b="1" dirty="0">
                <a:solidFill>
                  <a:schemeClr val="accent5">
                    <a:lumMod val="75000"/>
                  </a:schemeClr>
                </a:solidFill>
                <a:latin typeface="Calibri" panose="020F0502020204030204" pitchFamily="34" charset="0"/>
                <a:cs typeface="Calibri" panose="020F0502020204030204" pitchFamily="34" charset="0"/>
              </a:rPr>
              <a:t>,  </a:t>
            </a:r>
            <a:r>
              <a:rPr lang="en-US" sz="2200" b="1" dirty="0" err="1">
                <a:solidFill>
                  <a:schemeClr val="accent5">
                    <a:lumMod val="75000"/>
                  </a:schemeClr>
                </a:solidFill>
                <a:latin typeface="Calibri" panose="020F0502020204030204" pitchFamily="34" charset="0"/>
                <a:cs typeface="Calibri" panose="020F0502020204030204" pitchFamily="34" charset="0"/>
              </a:rPr>
              <a:t>ClariQ</a:t>
            </a:r>
            <a:r>
              <a:rPr lang="en-US" sz="2200" b="1" dirty="0">
                <a:solidFill>
                  <a:schemeClr val="accent5">
                    <a:lumMod val="75000"/>
                  </a:schemeClr>
                </a:solidFill>
                <a:latin typeface="Calibri" panose="020F0502020204030204" pitchFamily="34" charset="0"/>
                <a:cs typeface="Calibri" panose="020F0502020204030204" pitchFamily="34" charset="0"/>
              </a:rPr>
              <a:t>, MIMICS, </a:t>
            </a:r>
            <a:r>
              <a:rPr lang="en-US" sz="2200" b="1" dirty="0" err="1">
                <a:solidFill>
                  <a:schemeClr val="accent5">
                    <a:lumMod val="75000"/>
                  </a:schemeClr>
                </a:solidFill>
                <a:latin typeface="Calibri" panose="020F0502020204030204" pitchFamily="34" charset="0"/>
                <a:cs typeface="Calibri" panose="020F0502020204030204" pitchFamily="34" charset="0"/>
              </a:rPr>
              <a:t>ClarQ</a:t>
            </a:r>
            <a:r>
              <a:rPr lang="en-US" sz="2200" b="1" dirty="0">
                <a:solidFill>
                  <a:schemeClr val="accent5">
                    <a:lumMod val="75000"/>
                  </a:schemeClr>
                </a:solidFill>
                <a:latin typeface="Calibri" panose="020F0502020204030204" pitchFamily="34" charset="0"/>
                <a:cs typeface="Calibri" panose="020F0502020204030204" pitchFamily="34" charset="0"/>
              </a:rPr>
              <a:t>, </a:t>
            </a:r>
            <a:r>
              <a:rPr lang="en-US" sz="2200" b="1" dirty="0" err="1">
                <a:solidFill>
                  <a:schemeClr val="accent5">
                    <a:lumMod val="75000"/>
                  </a:schemeClr>
                </a:solidFill>
                <a:latin typeface="Calibri" panose="020F0502020204030204" pitchFamily="34" charset="0"/>
                <a:cs typeface="Calibri" panose="020F0502020204030204" pitchFamily="34" charset="0"/>
              </a:rPr>
              <a:t>MSDialog</a:t>
            </a:r>
            <a:r>
              <a:rPr lang="en-US" sz="2200" b="1" dirty="0">
                <a:solidFill>
                  <a:schemeClr val="accent5">
                    <a:lumMod val="75000"/>
                  </a:schemeClr>
                </a:solidFill>
                <a:latin typeface="Calibri" panose="020F0502020204030204" pitchFamily="34" charset="0"/>
                <a:cs typeface="Calibri" panose="020F0502020204030204" pitchFamily="34" charset="0"/>
              </a:rPr>
              <a:t>, </a:t>
            </a:r>
            <a:r>
              <a:rPr lang="en-US" sz="2200" b="1" dirty="0" err="1">
                <a:solidFill>
                  <a:schemeClr val="accent5">
                    <a:lumMod val="75000"/>
                  </a:schemeClr>
                </a:solidFill>
                <a:latin typeface="Calibri" panose="020F0502020204030204" pitchFamily="34" charset="0"/>
                <a:cs typeface="Calibri" panose="020F0502020204030204" pitchFamily="34" charset="0"/>
              </a:rPr>
              <a:t>MANtIS</a:t>
            </a:r>
            <a:endParaRPr lang="en-US" sz="2200" dirty="0">
              <a:solidFill>
                <a:schemeClr val="accent5">
                  <a:lumMod val="75000"/>
                </a:schemeClr>
              </a:solidFill>
              <a:latin typeface="Calibri" panose="020F0502020204030204" pitchFamily="34" charset="0"/>
              <a:cs typeface="Calibri" panose="020F0502020204030204" pitchFamily="34" charset="0"/>
            </a:endParaRPr>
          </a:p>
          <a:p>
            <a:pPr>
              <a:buNone/>
            </a:pPr>
            <a:r>
              <a:rPr lang="en-US" sz="2200" dirty="0">
                <a:latin typeface="Calibri" panose="020F0502020204030204" pitchFamily="34" charset="0"/>
                <a:cs typeface="Calibri" panose="020F0502020204030204" pitchFamily="34" charset="0"/>
              </a:rPr>
              <a:t>Typically treat CRs as </a:t>
            </a:r>
            <a:r>
              <a:rPr lang="en-US" sz="2200" b="1" dirty="0">
                <a:latin typeface="Calibri" panose="020F0502020204030204" pitchFamily="34" charset="0"/>
                <a:cs typeface="Calibri" panose="020F0502020204030204" pitchFamily="34" charset="0"/>
              </a:rPr>
              <a:t>query refinement or the resolution of underspecified information needs in search, support, or forum-style interaction</a:t>
            </a:r>
            <a:r>
              <a:rPr lang="en-US" sz="2200" dirty="0">
                <a:latin typeface="Calibri" panose="020F0502020204030204" pitchFamily="34" charset="0"/>
                <a:cs typeface="Calibri" panose="020F0502020204030204" pitchFamily="34" charset="0"/>
              </a:rPr>
              <a:t>.</a:t>
            </a:r>
          </a:p>
          <a:p>
            <a:pPr>
              <a:buNone/>
            </a:pPr>
            <a:endParaRPr lang="en-US" dirty="0">
              <a:latin typeface="Calibri" panose="020F0502020204030204" pitchFamily="34" charset="0"/>
              <a:cs typeface="Calibri" panose="020F0502020204030204" pitchFamily="34" charset="0"/>
            </a:endParaRPr>
          </a:p>
          <a:p>
            <a:pPr>
              <a:buNone/>
            </a:pPr>
            <a:r>
              <a:rPr lang="en-US" sz="1400" i="1" dirty="0" err="1">
                <a:latin typeface="Calibri" panose="020F0502020204030204" pitchFamily="34" charset="0"/>
                <a:cs typeface="Calibri" panose="020F0502020204030204" pitchFamily="34" charset="0"/>
              </a:rPr>
              <a:t>Aliannejadi</a:t>
            </a:r>
            <a:r>
              <a:rPr lang="en-US" sz="1400" i="1" dirty="0">
                <a:latin typeface="Calibri" panose="020F0502020204030204" pitchFamily="34" charset="0"/>
                <a:cs typeface="Calibri" panose="020F0502020204030204" pitchFamily="34" charset="0"/>
              </a:rPr>
              <a:t> et al., 2019; </a:t>
            </a:r>
            <a:r>
              <a:rPr lang="en-US" sz="1400" i="1" dirty="0" err="1">
                <a:latin typeface="Calibri" panose="020F0502020204030204" pitchFamily="34" charset="0"/>
                <a:cs typeface="Calibri" panose="020F0502020204030204" pitchFamily="34" charset="0"/>
              </a:rPr>
              <a:t>Aliannejadi</a:t>
            </a:r>
            <a:r>
              <a:rPr lang="en-US" sz="1400" i="1" dirty="0">
                <a:latin typeface="Calibri" panose="020F0502020204030204" pitchFamily="34" charset="0"/>
                <a:cs typeface="Calibri" panose="020F0502020204030204" pitchFamily="34" charset="0"/>
              </a:rPr>
              <a:t> et al., 2021; Zamani et al.; Kumar &amp; Black, 2020; Qu et al., 2018; Penha et al., 2019.</a:t>
            </a:r>
            <a:endParaRPr lang="en-US" sz="1400" dirty="0">
              <a:latin typeface="Calibri" panose="020F0502020204030204" pitchFamily="34" charset="0"/>
              <a:cs typeface="Calibri" panose="020F0502020204030204" pitchFamily="34" charset="0"/>
            </a:endParaRPr>
          </a:p>
          <a:p>
            <a:pPr>
              <a:buNone/>
            </a:pPr>
            <a:endParaRPr lang="en-US" dirty="0">
              <a:latin typeface="Calibri" panose="020F0502020204030204" pitchFamily="34" charset="0"/>
              <a:cs typeface="Calibri" panose="020F0502020204030204" pitchFamily="34" charset="0"/>
            </a:endParaRPr>
          </a:p>
          <a:p>
            <a:pPr>
              <a:buNone/>
            </a:pPr>
            <a:r>
              <a:rPr lang="en-US" sz="2200" b="1" dirty="0">
                <a:latin typeface="Calibri" panose="020F0502020204030204" pitchFamily="34" charset="0"/>
                <a:cs typeface="Calibri" panose="020F0502020204030204" pitchFamily="34" charset="0"/>
              </a:rPr>
              <a:t>2. Grounded collaborative CR datasets</a:t>
            </a:r>
          </a:p>
          <a:p>
            <a:pPr>
              <a:buNone/>
            </a:pPr>
            <a:r>
              <a:rPr lang="en-US" sz="2200" b="1" dirty="0">
                <a:solidFill>
                  <a:schemeClr val="accent5">
                    <a:lumMod val="75000"/>
                  </a:schemeClr>
                </a:solidFill>
                <a:latin typeface="Calibri" panose="020F0502020204030204" pitchFamily="34" charset="0"/>
                <a:cs typeface="Calibri" panose="020F0502020204030204" pitchFamily="34" charset="0"/>
              </a:rPr>
              <a:t>SCARE</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CRs grounded in </a:t>
            </a:r>
            <a:r>
              <a:rPr lang="en-US" sz="2200" b="1" dirty="0" err="1">
                <a:latin typeface="Calibri" panose="020F0502020204030204" pitchFamily="34" charset="0"/>
                <a:cs typeface="Calibri" panose="020F0502020204030204" pitchFamily="34" charset="0"/>
              </a:rPr>
              <a:t>Socioperceptual</a:t>
            </a:r>
            <a:r>
              <a:rPr lang="en-US" sz="2200" b="1" dirty="0">
                <a:latin typeface="Calibri" panose="020F0502020204030204" pitchFamily="34" charset="0"/>
                <a:cs typeface="Calibri" panose="020F0502020204030204" pitchFamily="34" charset="0"/>
              </a:rPr>
              <a:t>, Auditory, Visual, and Kinesthetic</a:t>
            </a:r>
            <a:r>
              <a:rPr lang="en-US" sz="2200" dirty="0">
                <a:latin typeface="Calibri" panose="020F0502020204030204" pitchFamily="34" charset="0"/>
                <a:cs typeface="Calibri" panose="020F0502020204030204" pitchFamily="34" charset="0"/>
              </a:rPr>
              <a:t> modalities in a </a:t>
            </a:r>
            <a:r>
              <a:rPr lang="en-US" sz="2200" b="1" dirty="0">
                <a:latin typeface="Calibri" panose="020F0502020204030204" pitchFamily="34" charset="0"/>
                <a:cs typeface="Calibri" panose="020F0502020204030204" pitchFamily="34" charset="0"/>
              </a:rPr>
              <a:t>situated instruction-following task</a:t>
            </a:r>
            <a:r>
              <a:rPr lang="en-US" sz="2200" dirty="0">
                <a:latin typeface="Calibri" panose="020F0502020204030204" pitchFamily="34" charset="0"/>
                <a:cs typeface="Calibri" panose="020F0502020204030204" pitchFamily="34" charset="0"/>
              </a:rPr>
              <a:t>.</a:t>
            </a:r>
            <a:br>
              <a:rPr lang="en-US" sz="2400" dirty="0">
                <a:latin typeface="Calibri" panose="020F0502020204030204" pitchFamily="34" charset="0"/>
                <a:cs typeface="Calibri" panose="020F0502020204030204" pitchFamily="34" charset="0"/>
              </a:rPr>
            </a:br>
            <a:r>
              <a:rPr lang="en-US" sz="1400" i="1" dirty="0">
                <a:latin typeface="Calibri" panose="020F0502020204030204" pitchFamily="34" charset="0"/>
                <a:cs typeface="Calibri" panose="020F0502020204030204" pitchFamily="34" charset="0"/>
              </a:rPr>
              <a:t>Benotti &amp; Blackburn, 2021</a:t>
            </a:r>
            <a:endParaRPr lang="en-US" sz="1400" dirty="0">
              <a:latin typeface="Calibri" panose="020F0502020204030204" pitchFamily="34" charset="0"/>
              <a:cs typeface="Calibri" panose="020F0502020204030204" pitchFamily="34" charset="0"/>
            </a:endParaRPr>
          </a:p>
          <a:p>
            <a:pPr>
              <a:buNone/>
            </a:pPr>
            <a:r>
              <a:rPr lang="en-US" sz="2200" b="1" dirty="0" err="1">
                <a:solidFill>
                  <a:schemeClr val="accent5">
                    <a:lumMod val="75000"/>
                  </a:schemeClr>
                </a:solidFill>
                <a:latin typeface="Calibri" panose="020F0502020204030204" pitchFamily="34" charset="0"/>
                <a:cs typeface="Calibri" panose="020F0502020204030204" pitchFamily="34" charset="0"/>
              </a:rPr>
              <a:t>CoDraw-iCR</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Instruction CRs in a </a:t>
            </a:r>
            <a:r>
              <a:rPr lang="en-US" sz="2200" b="1" dirty="0">
                <a:latin typeface="Calibri" panose="020F0502020204030204" pitchFamily="34" charset="0"/>
                <a:cs typeface="Calibri" panose="020F0502020204030204" pitchFamily="34" charset="0"/>
              </a:rPr>
              <a:t>collaborative drawing task</a:t>
            </a:r>
            <a:r>
              <a:rPr lang="en-US" sz="2200" dirty="0">
                <a:latin typeface="Calibri" panose="020F0502020204030204" pitchFamily="34" charset="0"/>
                <a:cs typeface="Calibri" panose="020F0502020204030204" pitchFamily="34" charset="0"/>
              </a:rPr>
              <a:t>.</a:t>
            </a:r>
            <a:br>
              <a:rPr lang="en-US" dirty="0">
                <a:latin typeface="Calibri" panose="020F0502020204030204" pitchFamily="34" charset="0"/>
                <a:cs typeface="Calibri" panose="020F0502020204030204" pitchFamily="34" charset="0"/>
              </a:rPr>
            </a:br>
            <a:r>
              <a:rPr lang="en-US" sz="1400" i="1" dirty="0">
                <a:latin typeface="Calibri" panose="020F0502020204030204" pitchFamily="34" charset="0"/>
                <a:cs typeface="Calibri" panose="020F0502020204030204" pitchFamily="34" charset="0"/>
              </a:rPr>
              <a:t>Madureira &amp; Schlangen, 2023</a:t>
            </a:r>
            <a:endParaRPr lang="en-US" sz="14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8BCF88FF-DFFD-210E-21DE-55556388DC48}"/>
              </a:ext>
            </a:extLst>
          </p:cNvPr>
          <p:cNvSpPr txBox="1"/>
          <p:nvPr/>
        </p:nvSpPr>
        <p:spPr>
          <a:xfrm>
            <a:off x="6756400" y="628233"/>
            <a:ext cx="5435600" cy="2800767"/>
          </a:xfrm>
          <a:prstGeom prst="rect">
            <a:avLst/>
          </a:prstGeom>
          <a:noFill/>
        </p:spPr>
        <p:txBody>
          <a:bodyPr wrap="square" rtlCol="0">
            <a:spAutoFit/>
          </a:bodyPr>
          <a:lstStyle/>
          <a:p>
            <a:r>
              <a:rPr lang="en-US" sz="2200" b="1" dirty="0">
                <a:solidFill>
                  <a:schemeClr val="accent1">
                    <a:lumMod val="50000"/>
                  </a:schemeClr>
                </a:solidFill>
                <a:latin typeface="Calibri" panose="020F0502020204030204" pitchFamily="34" charset="0"/>
                <a:cs typeface="Calibri" panose="020F0502020204030204" pitchFamily="34" charset="0"/>
              </a:rPr>
              <a:t>What is still missing?</a:t>
            </a:r>
          </a:p>
          <a:p>
            <a:pPr marL="342900" indent="-342900">
              <a:buFont typeface="Arial" panose="020B0604020202020204" pitchFamily="34" charset="0"/>
              <a:buChar char="•"/>
            </a:pPr>
            <a:r>
              <a:rPr lang="en-US" sz="2200" dirty="0">
                <a:solidFill>
                  <a:schemeClr val="accent1">
                    <a:lumMod val="50000"/>
                  </a:schemeClr>
                </a:solidFill>
                <a:latin typeface="Calibri" panose="020F0502020204030204" pitchFamily="34" charset="0"/>
                <a:cs typeface="Calibri" panose="020F0502020204030204" pitchFamily="34" charset="0"/>
              </a:rPr>
              <a:t>Dataset of </a:t>
            </a:r>
            <a:r>
              <a:rPr lang="en-US" sz="2200" b="1" dirty="0">
                <a:solidFill>
                  <a:schemeClr val="accent5">
                    <a:lumMod val="75000"/>
                  </a:schemeClr>
                </a:solidFill>
                <a:latin typeface="Calibri" panose="020F0502020204030204" pitchFamily="34" charset="0"/>
                <a:cs typeface="Calibri" panose="020F0502020204030204" pitchFamily="34" charset="0"/>
              </a:rPr>
              <a:t>naturally occurring CRs </a:t>
            </a:r>
          </a:p>
          <a:p>
            <a:pPr marL="342900" indent="-342900">
              <a:buFont typeface="Arial" panose="020B0604020202020204" pitchFamily="34" charset="0"/>
              <a:buChar char="•"/>
            </a:pPr>
            <a:r>
              <a:rPr lang="en-US" sz="2200" b="1" dirty="0">
                <a:solidFill>
                  <a:schemeClr val="accent5">
                    <a:lumMod val="75000"/>
                  </a:schemeClr>
                </a:solidFill>
                <a:latin typeface="Calibri" panose="020F0502020204030204" pitchFamily="34" charset="0"/>
                <a:cs typeface="Calibri" panose="020F0502020204030204" pitchFamily="34" charset="0"/>
              </a:rPr>
              <a:t>collaborative interaction around an evolving shared task environment</a:t>
            </a:r>
            <a:r>
              <a:rPr lang="en-US" sz="2200" dirty="0">
                <a:solidFill>
                  <a:schemeClr val="accent1">
                    <a:lumMod val="50000"/>
                  </a:schemeClr>
                </a:solidFill>
                <a:latin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200" dirty="0">
                <a:solidFill>
                  <a:schemeClr val="accent1">
                    <a:lumMod val="50000"/>
                  </a:schemeClr>
                </a:solidFill>
                <a:latin typeface="Calibri" panose="020F0502020204030204" pitchFamily="34" charset="0"/>
                <a:cs typeface="Calibri" panose="020F0502020204030204" pitchFamily="34" charset="0"/>
              </a:rPr>
              <a:t>where clarification is shaped by </a:t>
            </a:r>
            <a:r>
              <a:rPr lang="en-US" sz="2200" b="1" dirty="0">
                <a:solidFill>
                  <a:schemeClr val="accent5">
                    <a:lumMod val="75000"/>
                  </a:schemeClr>
                </a:solidFill>
                <a:latin typeface="Calibri" panose="020F0502020204030204" pitchFamily="34" charset="0"/>
                <a:cs typeface="Calibri" panose="020F0502020204030204" pitchFamily="34" charset="0"/>
              </a:rPr>
              <a:t>human-human and human-system coordination, interpretation, and action</a:t>
            </a:r>
            <a:r>
              <a:rPr lang="en-US" sz="2200" dirty="0">
                <a:solidFill>
                  <a:schemeClr val="accent1">
                    <a:lumMod val="50000"/>
                  </a:schemeClr>
                </a:solidFill>
                <a:latin typeface="Calibri" panose="020F0502020204030204" pitchFamily="34" charset="0"/>
                <a:cs typeface="Calibri" panose="020F0502020204030204" pitchFamily="34" charset="0"/>
              </a:rPr>
              <a:t>. </a:t>
            </a:r>
          </a:p>
          <a:p>
            <a:endParaRPr lang="en-US" sz="2200"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1221ED34-C9BF-5F49-42F3-749B2D55A79A}"/>
              </a:ext>
            </a:extLst>
          </p:cNvPr>
          <p:cNvSpPr txBox="1"/>
          <p:nvPr/>
        </p:nvSpPr>
        <p:spPr>
          <a:xfrm>
            <a:off x="7120415" y="3830846"/>
            <a:ext cx="4603750" cy="2123658"/>
          </a:xfrm>
          <a:prstGeom prst="rect">
            <a:avLst/>
          </a:prstGeom>
          <a:noFill/>
          <a:ln w="28575">
            <a:solidFill>
              <a:srgbClr val="FF9300"/>
            </a:solidFill>
          </a:ln>
        </p:spPr>
        <p:txBody>
          <a:bodyPr wrap="square">
            <a:spAutoFit/>
          </a:bodyPr>
          <a:lstStyle/>
          <a:p>
            <a:r>
              <a:rPr lang="en-US" sz="2200" b="1" dirty="0">
                <a:latin typeface="Calibri" panose="020F0502020204030204" pitchFamily="34" charset="0"/>
                <a:cs typeface="Calibri" panose="020F0502020204030204" pitchFamily="34" charset="0"/>
              </a:rPr>
              <a:t>ClarVis extends grounded CR research to collaborative data visualization, where clarification depends not only on language, but also on the evolving shared visual workspace and users’ ongoing coordination.</a:t>
            </a:r>
            <a:r>
              <a:rPr lang="en-US" sz="2200"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662915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739593-520D-82B7-E197-8664EE3440D3}"/>
              </a:ext>
            </a:extLst>
          </p:cNvPr>
          <p:cNvSpPr>
            <a:spLocks noGrp="1"/>
          </p:cNvSpPr>
          <p:nvPr>
            <p:ph type="sldNum" sz="quarter" idx="12"/>
          </p:nvPr>
        </p:nvSpPr>
        <p:spPr/>
        <p:txBody>
          <a:bodyPr/>
          <a:lstStyle/>
          <a:p>
            <a:fld id="{7C7FAD9F-AEE9-406E-B720-57D2B9DB2816}" type="slidenum">
              <a:rPr lang="en-US" smtClean="0"/>
              <a:t>21</a:t>
            </a:fld>
            <a:endParaRPr lang="en-US"/>
          </a:p>
        </p:txBody>
      </p:sp>
      <p:sp>
        <p:nvSpPr>
          <p:cNvPr id="8" name="TextBox 7">
            <a:extLst>
              <a:ext uri="{FF2B5EF4-FFF2-40B4-BE49-F238E27FC236}">
                <a16:creationId xmlns:a16="http://schemas.microsoft.com/office/drawing/2014/main" id="{F828F93F-E28E-3E3A-C04F-FA0307DE4D00}"/>
              </a:ext>
            </a:extLst>
          </p:cNvPr>
          <p:cNvSpPr txBox="1"/>
          <p:nvPr/>
        </p:nvSpPr>
        <p:spPr>
          <a:xfrm>
            <a:off x="571500" y="1471146"/>
            <a:ext cx="4940300" cy="3785652"/>
          </a:xfrm>
          <a:prstGeom prst="rect">
            <a:avLst/>
          </a:prstGeom>
          <a:solidFill>
            <a:schemeClr val="tx2">
              <a:lumMod val="10000"/>
              <a:lumOff val="90000"/>
            </a:schemeClr>
          </a:solidFill>
        </p:spPr>
        <p:txBody>
          <a:bodyPr wrap="square">
            <a:spAutoFit/>
          </a:bodyPr>
          <a:lstStyle/>
          <a:p>
            <a:pPr>
              <a:buNone/>
            </a:pPr>
            <a:r>
              <a:rPr lang="en-US" sz="2400" b="1" dirty="0">
                <a:latin typeface="Calibri" panose="020F0502020204030204" pitchFamily="34" charset="0"/>
                <a:cs typeface="Calibri" panose="020F0502020204030204" pitchFamily="34" charset="0"/>
              </a:rPr>
              <a:t>Two-step prompting strategy</a:t>
            </a:r>
            <a:endParaRPr lang="en-US" sz="2400" dirty="0">
              <a:latin typeface="Calibri" panose="020F0502020204030204" pitchFamily="34" charset="0"/>
              <a:cs typeface="Calibri" panose="020F0502020204030204" pitchFamily="34" charset="0"/>
            </a:endParaRPr>
          </a:p>
          <a:p>
            <a:pPr>
              <a:buNone/>
            </a:pPr>
            <a:r>
              <a:rPr lang="en-US" sz="2400" b="1" dirty="0">
                <a:latin typeface="Calibri" panose="020F0502020204030204" pitchFamily="34" charset="0"/>
                <a:cs typeface="Calibri" panose="020F0502020204030204" pitchFamily="34" charset="0"/>
              </a:rPr>
              <a:t>Step 1:</a:t>
            </a:r>
            <a:br>
              <a:rPr lang="en-US" sz="2400" dirty="0">
                <a:latin typeface="Calibri" panose="020F0502020204030204" pitchFamily="34" charset="0"/>
                <a:cs typeface="Calibri" panose="020F0502020204030204" pitchFamily="34" charset="0"/>
              </a:rPr>
            </a:br>
            <a:r>
              <a:rPr lang="en-US" sz="2400" b="1" dirty="0">
                <a:latin typeface="Calibri" panose="020F0502020204030204" pitchFamily="34" charset="0"/>
                <a:cs typeface="Calibri" panose="020F0502020204030204" pitchFamily="34" charset="0"/>
              </a:rPr>
              <a:t>K vs Non-Action</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Identify procedure-, capability-, or action-related CRs.</a:t>
            </a:r>
          </a:p>
          <a:p>
            <a:pPr>
              <a:buNone/>
            </a:pPr>
            <a:r>
              <a:rPr lang="en-US" sz="2400" b="1" dirty="0">
                <a:latin typeface="Calibri" panose="020F0502020204030204" pitchFamily="34" charset="0"/>
                <a:cs typeface="Calibri" panose="020F0502020204030204" pitchFamily="34" charset="0"/>
              </a:rPr>
              <a:t>Step 2:</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If Non-Action → </a:t>
            </a:r>
            <a:r>
              <a:rPr lang="en-US" sz="2400" b="1" dirty="0">
                <a:latin typeface="Calibri" panose="020F0502020204030204" pitchFamily="34" charset="0"/>
                <a:cs typeface="Calibri" panose="020F0502020204030204" pitchFamily="34" charset="0"/>
              </a:rPr>
              <a:t>V vs A</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Visual/display-oriented vs hearing/wording-oriented clarification.</a:t>
            </a:r>
          </a:p>
        </p:txBody>
      </p:sp>
      <p:sp>
        <p:nvSpPr>
          <p:cNvPr id="9" name="TextBox 8">
            <a:extLst>
              <a:ext uri="{FF2B5EF4-FFF2-40B4-BE49-F238E27FC236}">
                <a16:creationId xmlns:a16="http://schemas.microsoft.com/office/drawing/2014/main" id="{0568C353-8F7A-6C24-14CF-BD78A050E2EE}"/>
              </a:ext>
            </a:extLst>
          </p:cNvPr>
          <p:cNvSpPr txBox="1"/>
          <p:nvPr/>
        </p:nvSpPr>
        <p:spPr>
          <a:xfrm>
            <a:off x="2214600" y="-52348"/>
            <a:ext cx="8466100" cy="553998"/>
          </a:xfrm>
          <a:prstGeom prst="rect">
            <a:avLst/>
          </a:prstGeom>
          <a:noFill/>
        </p:spPr>
        <p:txBody>
          <a:bodyPr wrap="none" rtlCol="0">
            <a:spAutoFit/>
          </a:bodyPr>
          <a:lstStyle/>
          <a:p>
            <a:r>
              <a:rPr lang="en-US" sz="3000" b="1" dirty="0">
                <a:latin typeface="Calibri" panose="020F0502020204030204" pitchFamily="34" charset="0"/>
                <a:cs typeface="Calibri" panose="020F0502020204030204" pitchFamily="34" charset="0"/>
              </a:rPr>
              <a:t>Llama GMOD: Two-Step Classification + Cue Routing</a:t>
            </a:r>
          </a:p>
        </p:txBody>
      </p:sp>
      <p:sp>
        <p:nvSpPr>
          <p:cNvPr id="11" name="TextBox 10">
            <a:extLst>
              <a:ext uri="{FF2B5EF4-FFF2-40B4-BE49-F238E27FC236}">
                <a16:creationId xmlns:a16="http://schemas.microsoft.com/office/drawing/2014/main" id="{665304FE-E67B-7B9A-A576-A0FE21AA9D23}"/>
              </a:ext>
            </a:extLst>
          </p:cNvPr>
          <p:cNvSpPr txBox="1"/>
          <p:nvPr/>
        </p:nvSpPr>
        <p:spPr>
          <a:xfrm>
            <a:off x="6259963" y="4287302"/>
            <a:ext cx="4940300" cy="1938992"/>
          </a:xfrm>
          <a:prstGeom prst="rect">
            <a:avLst/>
          </a:prstGeom>
          <a:solidFill>
            <a:schemeClr val="accent5">
              <a:lumMod val="20000"/>
              <a:lumOff val="80000"/>
            </a:schemeClr>
          </a:solidFill>
        </p:spPr>
        <p:txBody>
          <a:bodyPr wrap="square">
            <a:spAutoFit/>
          </a:bodyPr>
          <a:lstStyle/>
          <a:p>
            <a:r>
              <a:rPr lang="en-US" sz="2400" b="1" dirty="0">
                <a:latin typeface="Calibri" panose="020F0502020204030204" pitchFamily="34" charset="0"/>
                <a:cs typeface="Calibri" panose="020F0502020204030204" pitchFamily="34" charset="0"/>
              </a:rPr>
              <a:t>Why?</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These checks were used to reduce obvious cue-label mismatches without changing the grounding-modality definitions in the prompts. </a:t>
            </a:r>
          </a:p>
        </p:txBody>
      </p:sp>
      <p:sp>
        <p:nvSpPr>
          <p:cNvPr id="12" name="TextBox 11">
            <a:extLst>
              <a:ext uri="{FF2B5EF4-FFF2-40B4-BE49-F238E27FC236}">
                <a16:creationId xmlns:a16="http://schemas.microsoft.com/office/drawing/2014/main" id="{AF6BAC4F-37E5-EF0B-CCE4-10D6F6BBC2AB}"/>
              </a:ext>
            </a:extLst>
          </p:cNvPr>
          <p:cNvSpPr txBox="1"/>
          <p:nvPr/>
        </p:nvSpPr>
        <p:spPr>
          <a:xfrm>
            <a:off x="6259963" y="501650"/>
            <a:ext cx="4940300" cy="3785652"/>
          </a:xfrm>
          <a:prstGeom prst="rect">
            <a:avLst/>
          </a:prstGeom>
          <a:solidFill>
            <a:schemeClr val="accent2">
              <a:lumMod val="20000"/>
              <a:lumOff val="80000"/>
            </a:schemeClr>
          </a:solidFill>
        </p:spPr>
        <p:txBody>
          <a:bodyPr wrap="square" rtlCol="0">
            <a:spAutoFit/>
          </a:bodyPr>
          <a:lstStyle/>
          <a:p>
            <a:pPr>
              <a:buNone/>
            </a:pPr>
            <a:r>
              <a:rPr lang="en-US" sz="2400" b="1" dirty="0">
                <a:latin typeface="Calibri" panose="020F0502020204030204" pitchFamily="34" charset="0"/>
                <a:cs typeface="Calibri" panose="020F0502020204030204" pitchFamily="34" charset="0"/>
              </a:rPr>
              <a:t>Before prompting: lightweight cue-based routing</a:t>
            </a:r>
            <a:endParaRPr lang="en-US" sz="2400" dirty="0">
              <a:latin typeface="Calibri" panose="020F0502020204030204" pitchFamily="34" charset="0"/>
              <a:cs typeface="Calibri" panose="020F0502020204030204" pitchFamily="34" charset="0"/>
            </a:endParaRPr>
          </a:p>
          <a:p>
            <a:pPr>
              <a:buNone/>
            </a:pPr>
            <a:r>
              <a:rPr lang="en-US" sz="2400" dirty="0">
                <a:latin typeface="Calibri" panose="020F0502020204030204" pitchFamily="34" charset="0"/>
                <a:cs typeface="Calibri" panose="020F0502020204030204" pitchFamily="34" charset="0"/>
              </a:rPr>
              <a:t>Examples of training-data cues:</a:t>
            </a:r>
          </a:p>
          <a:p>
            <a:pPr>
              <a:buFont typeface="Arial" panose="020B0604020202020204" pitchFamily="34" charset="0"/>
              <a:buChar char="•"/>
            </a:pPr>
            <a:r>
              <a:rPr lang="en-US" sz="2400" b="1" dirty="0">
                <a:latin typeface="Calibri" panose="020F0502020204030204" pitchFamily="34" charset="0"/>
                <a:cs typeface="Calibri" panose="020F0502020204030204" pitchFamily="34" charset="0"/>
              </a:rPr>
              <a:t>A:</a:t>
            </a:r>
            <a:r>
              <a:rPr lang="en-US" sz="2400" dirty="0">
                <a:latin typeface="Calibri" panose="020F0502020204030204" pitchFamily="34" charset="0"/>
                <a:cs typeface="Calibri" panose="020F0502020204030204" pitchFamily="34" charset="0"/>
              </a:rPr>
              <a:t> “do you mean…”, “what does … mean” </a:t>
            </a:r>
          </a:p>
          <a:p>
            <a:pPr>
              <a:buFont typeface="Arial" panose="020B0604020202020204" pitchFamily="34" charset="0"/>
              <a:buChar char="•"/>
            </a:pPr>
            <a:r>
              <a:rPr lang="en-US" sz="2400" b="1" dirty="0">
                <a:latin typeface="Calibri" panose="020F0502020204030204" pitchFamily="34" charset="0"/>
                <a:cs typeface="Calibri" panose="020F0502020204030204" pitchFamily="34" charset="0"/>
              </a:rPr>
              <a:t>K:</a:t>
            </a:r>
            <a:r>
              <a:rPr lang="en-US" sz="2400" dirty="0">
                <a:latin typeface="Calibri" panose="020F0502020204030204" pitchFamily="34" charset="0"/>
                <a:cs typeface="Calibri" panose="020F0502020204030204" pitchFamily="34" charset="0"/>
              </a:rPr>
              <a:t> “how do/can I”, “click”, “filter” </a:t>
            </a:r>
          </a:p>
          <a:p>
            <a:pPr>
              <a:buFont typeface="Arial" panose="020B0604020202020204" pitchFamily="34" charset="0"/>
              <a:buChar char="•"/>
            </a:pPr>
            <a:r>
              <a:rPr lang="en-US" sz="2400" b="1" dirty="0">
                <a:latin typeface="Calibri" panose="020F0502020204030204" pitchFamily="34" charset="0"/>
                <a:cs typeface="Calibri" panose="020F0502020204030204" pitchFamily="34" charset="0"/>
              </a:rPr>
              <a:t>V:</a:t>
            </a:r>
            <a:r>
              <a:rPr lang="en-US" sz="2400" dirty="0">
                <a:latin typeface="Calibri" panose="020F0502020204030204" pitchFamily="34" charset="0"/>
                <a:cs typeface="Calibri" panose="020F0502020204030204" pitchFamily="34" charset="0"/>
              </a:rPr>
              <a:t> “where”, “which”, “map” </a:t>
            </a:r>
          </a:p>
          <a:p>
            <a:pPr>
              <a:buNone/>
            </a:pPr>
            <a:r>
              <a:rPr lang="en-US" sz="2400" b="1" dirty="0">
                <a:latin typeface="Calibri" panose="020F0502020204030204" pitchFamily="34" charset="0"/>
                <a:cs typeface="Calibri" panose="020F0502020204030204" pitchFamily="34" charset="0"/>
              </a:rPr>
              <a:t>Priority ordering:</a:t>
            </a:r>
            <a:br>
              <a:rPr lang="en-US" sz="2400" dirty="0">
                <a:latin typeface="Calibri" panose="020F0502020204030204" pitchFamily="34" charset="0"/>
                <a:cs typeface="Calibri" panose="020F0502020204030204" pitchFamily="34" charset="0"/>
              </a:rPr>
            </a:br>
            <a:r>
              <a:rPr lang="en-US" sz="2400" b="1" dirty="0">
                <a:latin typeface="Calibri" panose="020F0502020204030204" pitchFamily="34" charset="0"/>
                <a:cs typeface="Calibri" panose="020F0502020204030204" pitchFamily="34" charset="0"/>
              </a:rPr>
              <a:t>K &gt; V &gt; A</a:t>
            </a:r>
            <a:endParaRPr lang="en-US" sz="2400" dirty="0">
              <a:latin typeface="Calibri" panose="020F0502020204030204" pitchFamily="34" charset="0"/>
              <a:cs typeface="Calibri" panose="020F0502020204030204" pitchFamily="34" charset="0"/>
            </a:endParaRPr>
          </a:p>
          <a:p>
            <a:endParaRPr lang="en-US" sz="2400" dirty="0"/>
          </a:p>
        </p:txBody>
      </p:sp>
    </p:spTree>
    <p:extLst>
      <p:ext uri="{BB962C8B-B14F-4D97-AF65-F5344CB8AC3E}">
        <p14:creationId xmlns:p14="http://schemas.microsoft.com/office/powerpoint/2010/main" val="3520598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091EFF-C706-A689-B73E-44B0A89D96B9}"/>
              </a:ext>
            </a:extLst>
          </p:cNvPr>
          <p:cNvSpPr>
            <a:spLocks noGrp="1"/>
          </p:cNvSpPr>
          <p:nvPr>
            <p:ph type="sldNum" sz="quarter" idx="12"/>
          </p:nvPr>
        </p:nvSpPr>
        <p:spPr/>
        <p:txBody>
          <a:bodyPr/>
          <a:lstStyle/>
          <a:p>
            <a:fld id="{7C7FAD9F-AEE9-406E-B720-57D2B9DB2816}" type="slidenum">
              <a:rPr lang="en-US" smtClean="0"/>
              <a:t>22</a:t>
            </a:fld>
            <a:endParaRPr lang="en-US"/>
          </a:p>
        </p:txBody>
      </p:sp>
      <p:sp>
        <p:nvSpPr>
          <p:cNvPr id="6" name="TextBox 5">
            <a:extLst>
              <a:ext uri="{FF2B5EF4-FFF2-40B4-BE49-F238E27FC236}">
                <a16:creationId xmlns:a16="http://schemas.microsoft.com/office/drawing/2014/main" id="{C7B2F4AF-97B4-C1CF-BE93-7E131E75BE5F}"/>
              </a:ext>
            </a:extLst>
          </p:cNvPr>
          <p:cNvSpPr txBox="1"/>
          <p:nvPr/>
        </p:nvSpPr>
        <p:spPr>
          <a:xfrm>
            <a:off x="894317" y="2447836"/>
            <a:ext cx="10809765" cy="3416320"/>
          </a:xfrm>
          <a:prstGeom prst="rect">
            <a:avLst/>
          </a:prstGeom>
          <a:solidFill>
            <a:schemeClr val="accent5">
              <a:lumMod val="20000"/>
              <a:lumOff val="80000"/>
            </a:schemeClr>
          </a:solidFill>
        </p:spPr>
        <p:txBody>
          <a:bodyPr wrap="square">
            <a:spAutoFit/>
          </a:bodyPr>
          <a:lstStyle/>
          <a:p>
            <a:r>
              <a:rPr lang="en-US" sz="3600" b="1" dirty="0">
                <a:latin typeface="Calibri" panose="020F0502020204030204" pitchFamily="34" charset="0"/>
                <a:cs typeface="Calibri" panose="020F0502020204030204" pitchFamily="34" charset="0"/>
              </a:rPr>
              <a:t>Dialogue-level splits</a:t>
            </a:r>
            <a:br>
              <a:rPr lang="en-US" sz="36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~68% train / 12% validation / 20% test</a:t>
            </a:r>
            <a:br>
              <a:rPr lang="en-US" sz="3600" dirty="0">
                <a:latin typeface="Calibri" panose="020F0502020204030204" pitchFamily="34" charset="0"/>
                <a:cs typeface="Calibri" panose="020F0502020204030204" pitchFamily="34" charset="0"/>
              </a:rPr>
            </a:br>
            <a:r>
              <a:rPr lang="en-US" sz="3600" dirty="0">
                <a:latin typeface="Calibri" panose="020F0502020204030204" pitchFamily="34" charset="0"/>
                <a:cs typeface="Calibri" panose="020F0502020204030204" pitchFamily="34" charset="0"/>
              </a:rPr>
              <a:t>No overlap in conversational context, vocabulary, or participant style</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Splits provided in GitHub Repository</a:t>
            </a:r>
          </a:p>
        </p:txBody>
      </p:sp>
      <p:sp>
        <p:nvSpPr>
          <p:cNvPr id="8" name="TextBox 7">
            <a:extLst>
              <a:ext uri="{FF2B5EF4-FFF2-40B4-BE49-F238E27FC236}">
                <a16:creationId xmlns:a16="http://schemas.microsoft.com/office/drawing/2014/main" id="{C71A7B1A-338D-D8A9-AC8A-F5DCEFF5664D}"/>
              </a:ext>
            </a:extLst>
          </p:cNvPr>
          <p:cNvSpPr txBox="1"/>
          <p:nvPr/>
        </p:nvSpPr>
        <p:spPr>
          <a:xfrm>
            <a:off x="3251200" y="564634"/>
            <a:ext cx="6096000" cy="707886"/>
          </a:xfrm>
          <a:prstGeom prst="rect">
            <a:avLst/>
          </a:prstGeom>
          <a:noFill/>
        </p:spPr>
        <p:txBody>
          <a:bodyPr wrap="square">
            <a:spAutoFit/>
          </a:bodyPr>
          <a:lstStyle/>
          <a:p>
            <a:pPr>
              <a:buNone/>
            </a:pPr>
            <a:r>
              <a:rPr lang="en-US" sz="4000" b="1" dirty="0">
                <a:latin typeface="Calibri" panose="020F0502020204030204" pitchFamily="34" charset="0"/>
                <a:cs typeface="Calibri" panose="020F0502020204030204" pitchFamily="34" charset="0"/>
              </a:rPr>
              <a:t>Implementation Details</a:t>
            </a:r>
          </a:p>
        </p:txBody>
      </p:sp>
    </p:spTree>
    <p:extLst>
      <p:ext uri="{BB962C8B-B14F-4D97-AF65-F5344CB8AC3E}">
        <p14:creationId xmlns:p14="http://schemas.microsoft.com/office/powerpoint/2010/main" val="2708023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223AB-8BA6-8F05-24B5-A3C09D3EB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D2390-C4A1-FE95-BA9C-2541B314EF64}"/>
              </a:ext>
            </a:extLst>
          </p:cNvPr>
          <p:cNvSpPr>
            <a:spLocks noGrp="1"/>
          </p:cNvSpPr>
          <p:nvPr>
            <p:ph type="title"/>
          </p:nvPr>
        </p:nvSpPr>
        <p:spPr>
          <a:xfrm>
            <a:off x="1020724" y="467033"/>
            <a:ext cx="10333075" cy="469175"/>
          </a:xfrm>
        </p:spPr>
        <p:txBody>
          <a:bodyPr>
            <a:normAutofit fontScale="90000"/>
          </a:bodyPr>
          <a:lstStyle/>
          <a:p>
            <a:pPr algn="ctr"/>
            <a:r>
              <a:rPr lang="en-US" sz="4000" b="0" dirty="0">
                <a:latin typeface="Calibri" panose="020F0502020204030204" pitchFamily="34" charset="0"/>
                <a:cs typeface="Calibri" panose="020F0502020204030204" pitchFamily="34" charset="0"/>
              </a:rPr>
              <a:t>A Question is not Always a Clarification Request</a:t>
            </a:r>
          </a:p>
        </p:txBody>
      </p:sp>
      <p:sp>
        <p:nvSpPr>
          <p:cNvPr id="4" name="Slide Number Placeholder 3">
            <a:extLst>
              <a:ext uri="{FF2B5EF4-FFF2-40B4-BE49-F238E27FC236}">
                <a16:creationId xmlns:a16="http://schemas.microsoft.com/office/drawing/2014/main" id="{D28DF87E-35F9-22A5-3BC1-7B8F2BD24845}"/>
              </a:ext>
            </a:extLst>
          </p:cNvPr>
          <p:cNvSpPr>
            <a:spLocks noGrp="1"/>
          </p:cNvSpPr>
          <p:nvPr>
            <p:ph type="sldNum" sz="quarter" idx="12"/>
          </p:nvPr>
        </p:nvSpPr>
        <p:spPr>
          <a:xfrm>
            <a:off x="10917954" y="6438238"/>
            <a:ext cx="806211"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23</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9" name="Rounded Rectangle 8">
            <a:extLst>
              <a:ext uri="{FF2B5EF4-FFF2-40B4-BE49-F238E27FC236}">
                <a16:creationId xmlns:a16="http://schemas.microsoft.com/office/drawing/2014/main" id="{7199F43B-BC6E-899C-C45F-83AD947D58F2}"/>
              </a:ext>
            </a:extLst>
          </p:cNvPr>
          <p:cNvSpPr/>
          <p:nvPr/>
        </p:nvSpPr>
        <p:spPr>
          <a:xfrm>
            <a:off x="862543" y="930993"/>
            <a:ext cx="10868199" cy="439240"/>
          </a:xfrm>
          <a:prstGeom prst="roundRect">
            <a:avLst/>
          </a:prstGeom>
          <a:solidFill>
            <a:srgbClr val="FFC000">
              <a:alpha val="17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tx2"/>
                </a:solidFill>
                <a:latin typeface="Calibri Light" panose="020F0302020204030204" pitchFamily="34" charset="0"/>
                <a:cs typeface="Calibri Light" panose="020F0302020204030204" pitchFamily="34" charset="0"/>
              </a:rPr>
              <a:t> Surface form was not enough. Annotators used dialogue function and context</a:t>
            </a:r>
          </a:p>
        </p:txBody>
      </p:sp>
      <p:pic>
        <p:nvPicPr>
          <p:cNvPr id="11" name="Graphic 10" descr="Questions with solid fill">
            <a:extLst>
              <a:ext uri="{FF2B5EF4-FFF2-40B4-BE49-F238E27FC236}">
                <a16:creationId xmlns:a16="http://schemas.microsoft.com/office/drawing/2014/main" id="{A648B090-31E6-1C7A-F6F0-EE637AC4C3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233" y="939786"/>
            <a:ext cx="489794" cy="489794"/>
          </a:xfrm>
          <a:prstGeom prst="rect">
            <a:avLst/>
          </a:prstGeom>
        </p:spPr>
      </p:pic>
      <p:sp>
        <p:nvSpPr>
          <p:cNvPr id="12" name="Rounded Rectangle 11">
            <a:extLst>
              <a:ext uri="{FF2B5EF4-FFF2-40B4-BE49-F238E27FC236}">
                <a16:creationId xmlns:a16="http://schemas.microsoft.com/office/drawing/2014/main" id="{6D4180E6-E769-140B-7F65-403C1070C869}"/>
              </a:ext>
            </a:extLst>
          </p:cNvPr>
          <p:cNvSpPr/>
          <p:nvPr/>
        </p:nvSpPr>
        <p:spPr>
          <a:xfrm>
            <a:off x="509231" y="1684370"/>
            <a:ext cx="2823883" cy="245668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accent5">
                    <a:lumMod val="50000"/>
                  </a:schemeClr>
                </a:solidFill>
                <a:latin typeface="Calibri" panose="020F0502020204030204" pitchFamily="34" charset="0"/>
                <a:cs typeface="Calibri" panose="020F0502020204030204" pitchFamily="34" charset="0"/>
              </a:rPr>
              <a:t>Case 1</a:t>
            </a:r>
          </a:p>
          <a:p>
            <a:pPr algn="ctr"/>
            <a:r>
              <a:rPr lang="en-US" dirty="0">
                <a:solidFill>
                  <a:schemeClr val="accent5">
                    <a:lumMod val="50000"/>
                  </a:schemeClr>
                </a:solidFill>
                <a:latin typeface="Calibri" panose="020F0502020204030204" pitchFamily="34" charset="0"/>
                <a:cs typeface="Calibri" panose="020F0502020204030204" pitchFamily="34" charset="0"/>
              </a:rPr>
              <a:t>“Do you have a graph or a map of access to doctors and COVID-19?”</a:t>
            </a:r>
          </a:p>
          <a:p>
            <a:pPr algn="ctr"/>
            <a:endParaRPr lang="en-US" dirty="0">
              <a:solidFill>
                <a:schemeClr val="accent5">
                  <a:lumMod val="50000"/>
                </a:schemeClr>
              </a:solidFill>
              <a:latin typeface="Calibri" panose="020F0502020204030204" pitchFamily="34" charset="0"/>
              <a:cs typeface="Calibri" panose="020F0502020204030204" pitchFamily="34" charset="0"/>
            </a:endParaRPr>
          </a:p>
          <a:p>
            <a:pPr algn="ctr"/>
            <a:r>
              <a:rPr lang="en-US" dirty="0">
                <a:solidFill>
                  <a:schemeClr val="accent5">
                    <a:lumMod val="50000"/>
                  </a:schemeClr>
                </a:solidFill>
                <a:latin typeface="Calibri" panose="020F0502020204030204" pitchFamily="34" charset="0"/>
                <a:cs typeface="Calibri" panose="020F0502020204030204" pitchFamily="34" charset="0"/>
              </a:rPr>
              <a:t>Final label: </a:t>
            </a:r>
            <a:r>
              <a:rPr lang="en-US" u="sng" dirty="0">
                <a:solidFill>
                  <a:schemeClr val="accent5">
                    <a:lumMod val="50000"/>
                  </a:schemeClr>
                </a:solidFill>
                <a:latin typeface="Calibri" panose="020F0502020204030204" pitchFamily="34" charset="0"/>
                <a:cs typeface="Calibri" panose="020F0502020204030204" pitchFamily="34" charset="0"/>
              </a:rPr>
              <a:t>Rest</a:t>
            </a:r>
          </a:p>
          <a:p>
            <a:pPr algn="ctr"/>
            <a:r>
              <a:rPr lang="en-US" dirty="0">
                <a:solidFill>
                  <a:schemeClr val="accent5">
                    <a:lumMod val="50000"/>
                  </a:schemeClr>
                </a:solidFill>
                <a:latin typeface="Calibri" panose="020F0502020204030204" pitchFamily="34" charset="0"/>
                <a:cs typeface="Calibri" panose="020F0502020204030204" pitchFamily="34" charset="0"/>
              </a:rPr>
              <a:t>Why? New visualization request</a:t>
            </a:r>
          </a:p>
        </p:txBody>
      </p:sp>
      <p:sp>
        <p:nvSpPr>
          <p:cNvPr id="13" name="Rounded Rectangle 12">
            <a:extLst>
              <a:ext uri="{FF2B5EF4-FFF2-40B4-BE49-F238E27FC236}">
                <a16:creationId xmlns:a16="http://schemas.microsoft.com/office/drawing/2014/main" id="{11C8942A-E35B-BF0B-3B98-6310C2B5CAF7}"/>
              </a:ext>
            </a:extLst>
          </p:cNvPr>
          <p:cNvSpPr/>
          <p:nvPr/>
        </p:nvSpPr>
        <p:spPr>
          <a:xfrm>
            <a:off x="6385594" y="1662134"/>
            <a:ext cx="2823883" cy="2456680"/>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accent2">
                    <a:lumMod val="50000"/>
                  </a:schemeClr>
                </a:solidFill>
                <a:latin typeface="Calibri" panose="020F0502020204030204" pitchFamily="34" charset="0"/>
                <a:cs typeface="Calibri" panose="020F0502020204030204" pitchFamily="34" charset="0"/>
              </a:rPr>
              <a:t>Case 3</a:t>
            </a:r>
          </a:p>
          <a:p>
            <a:pPr algn="ctr"/>
            <a:r>
              <a:rPr lang="en-US" dirty="0">
                <a:solidFill>
                  <a:schemeClr val="accent2">
                    <a:lumMod val="50000"/>
                  </a:schemeClr>
                </a:solidFill>
                <a:latin typeface="Calibri" panose="020F0502020204030204" pitchFamily="34" charset="0"/>
                <a:cs typeface="Calibri" panose="020F0502020204030204" pitchFamily="34" charset="0"/>
              </a:rPr>
              <a:t>“Which one do you want?”</a:t>
            </a:r>
          </a:p>
          <a:p>
            <a:pPr algn="ctr"/>
            <a:endParaRPr lang="en-US" dirty="0">
              <a:solidFill>
                <a:schemeClr val="accent2">
                  <a:lumMod val="50000"/>
                </a:schemeClr>
              </a:solidFill>
              <a:latin typeface="Calibri" panose="020F0502020204030204" pitchFamily="34" charset="0"/>
              <a:cs typeface="Calibri" panose="020F0502020204030204" pitchFamily="34" charset="0"/>
            </a:endParaRPr>
          </a:p>
          <a:p>
            <a:pPr algn="ctr"/>
            <a:r>
              <a:rPr lang="en-US" dirty="0">
                <a:solidFill>
                  <a:schemeClr val="accent2">
                    <a:lumMod val="50000"/>
                  </a:schemeClr>
                </a:solidFill>
                <a:latin typeface="Calibri" panose="020F0502020204030204" pitchFamily="34" charset="0"/>
                <a:cs typeface="Calibri" panose="020F0502020204030204" pitchFamily="34" charset="0"/>
              </a:rPr>
              <a:t>Final label: </a:t>
            </a:r>
            <a:r>
              <a:rPr lang="en-US" u="sng" dirty="0">
                <a:solidFill>
                  <a:schemeClr val="accent2">
                    <a:lumMod val="50000"/>
                  </a:schemeClr>
                </a:solidFill>
                <a:latin typeface="Calibri" panose="020F0502020204030204" pitchFamily="34" charset="0"/>
                <a:cs typeface="Calibri" panose="020F0502020204030204" pitchFamily="34" charset="0"/>
              </a:rPr>
              <a:t>Kinesthetic</a:t>
            </a:r>
          </a:p>
          <a:p>
            <a:pPr algn="ctr"/>
            <a:r>
              <a:rPr lang="en-US" dirty="0">
                <a:solidFill>
                  <a:schemeClr val="accent2">
                    <a:lumMod val="50000"/>
                  </a:schemeClr>
                </a:solidFill>
                <a:latin typeface="Calibri" panose="020F0502020204030204" pitchFamily="34" charset="0"/>
                <a:cs typeface="Calibri" panose="020F0502020204030204" pitchFamily="34" charset="0"/>
              </a:rPr>
              <a:t>Why? Action coordination</a:t>
            </a:r>
          </a:p>
          <a:p>
            <a:pPr algn="ctr"/>
            <a:r>
              <a:rPr lang="en-US" dirty="0">
                <a:solidFill>
                  <a:schemeClr val="accent2">
                    <a:lumMod val="50000"/>
                  </a:schemeClr>
                </a:solidFill>
                <a:latin typeface="Calibri" panose="020F0502020204030204" pitchFamily="34" charset="0"/>
                <a:cs typeface="Calibri" panose="020F0502020204030204" pitchFamily="34" charset="0"/>
              </a:rPr>
              <a:t>K/V ambiguity→ K by precedence </a:t>
            </a:r>
          </a:p>
        </p:txBody>
      </p:sp>
      <p:sp>
        <p:nvSpPr>
          <p:cNvPr id="14" name="Rounded Rectangle 13">
            <a:extLst>
              <a:ext uri="{FF2B5EF4-FFF2-40B4-BE49-F238E27FC236}">
                <a16:creationId xmlns:a16="http://schemas.microsoft.com/office/drawing/2014/main" id="{938ADAC4-84B9-294F-E6C9-B479647164CD}"/>
              </a:ext>
            </a:extLst>
          </p:cNvPr>
          <p:cNvSpPr/>
          <p:nvPr/>
        </p:nvSpPr>
        <p:spPr>
          <a:xfrm>
            <a:off x="3447413" y="1662134"/>
            <a:ext cx="2823883" cy="2456680"/>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accent2">
                    <a:lumMod val="75000"/>
                  </a:schemeClr>
                </a:solidFill>
                <a:latin typeface="Calibri" panose="020F0502020204030204" pitchFamily="34" charset="0"/>
                <a:cs typeface="Calibri" panose="020F0502020204030204" pitchFamily="34" charset="0"/>
              </a:rPr>
              <a:t>Case 2</a:t>
            </a:r>
          </a:p>
          <a:p>
            <a:pPr algn="ctr"/>
            <a:r>
              <a:rPr lang="en-US" dirty="0">
                <a:solidFill>
                  <a:schemeClr val="accent2">
                    <a:lumMod val="75000"/>
                  </a:schemeClr>
                </a:solidFill>
                <a:latin typeface="Calibri" panose="020F0502020204030204" pitchFamily="34" charset="0"/>
                <a:cs typeface="Calibri" panose="020F0502020204030204" pitchFamily="34" charset="0"/>
              </a:rPr>
              <a:t>“What other factors do we have?”</a:t>
            </a:r>
          </a:p>
          <a:p>
            <a:pPr algn="ctr"/>
            <a:endParaRPr lang="en-US" dirty="0">
              <a:solidFill>
                <a:schemeClr val="accent2">
                  <a:lumMod val="75000"/>
                </a:schemeClr>
              </a:solidFill>
              <a:latin typeface="Calibri" panose="020F0502020204030204" pitchFamily="34" charset="0"/>
              <a:cs typeface="Calibri" panose="020F0502020204030204" pitchFamily="34" charset="0"/>
            </a:endParaRPr>
          </a:p>
          <a:p>
            <a:pPr algn="ctr"/>
            <a:r>
              <a:rPr lang="en-US" dirty="0">
                <a:solidFill>
                  <a:schemeClr val="accent2">
                    <a:lumMod val="75000"/>
                  </a:schemeClr>
                </a:solidFill>
                <a:latin typeface="Calibri" panose="020F0502020204030204" pitchFamily="34" charset="0"/>
                <a:cs typeface="Calibri" panose="020F0502020204030204" pitchFamily="34" charset="0"/>
              </a:rPr>
              <a:t>Final label: </a:t>
            </a:r>
            <a:r>
              <a:rPr lang="en-US" u="sng" dirty="0">
                <a:solidFill>
                  <a:schemeClr val="accent2">
                    <a:lumMod val="75000"/>
                  </a:schemeClr>
                </a:solidFill>
                <a:latin typeface="Calibri" panose="020F0502020204030204" pitchFamily="34" charset="0"/>
                <a:cs typeface="Calibri" panose="020F0502020204030204" pitchFamily="34" charset="0"/>
              </a:rPr>
              <a:t>Rest</a:t>
            </a:r>
          </a:p>
          <a:p>
            <a:pPr algn="ctr"/>
            <a:r>
              <a:rPr lang="en-US" dirty="0">
                <a:solidFill>
                  <a:schemeClr val="accent2">
                    <a:lumMod val="75000"/>
                  </a:schemeClr>
                </a:solidFill>
                <a:latin typeface="Calibri" panose="020F0502020204030204" pitchFamily="34" charset="0"/>
                <a:cs typeface="Calibri" panose="020F0502020204030204" pitchFamily="34" charset="0"/>
              </a:rPr>
              <a:t>Why? Task planning/Data exploration/discussion</a:t>
            </a:r>
          </a:p>
        </p:txBody>
      </p:sp>
      <p:sp>
        <p:nvSpPr>
          <p:cNvPr id="31" name="Right Brace 30">
            <a:extLst>
              <a:ext uri="{FF2B5EF4-FFF2-40B4-BE49-F238E27FC236}">
                <a16:creationId xmlns:a16="http://schemas.microsoft.com/office/drawing/2014/main" id="{3FB5B5EF-69FA-2676-C25E-8403CCCF9D56}"/>
              </a:ext>
            </a:extLst>
          </p:cNvPr>
          <p:cNvSpPr/>
          <p:nvPr/>
        </p:nvSpPr>
        <p:spPr>
          <a:xfrm>
            <a:off x="9051431" y="1662134"/>
            <a:ext cx="463626" cy="2394135"/>
          </a:xfrm>
          <a:prstGeom prst="rightBrace">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Rounded Rectangle 31">
            <a:extLst>
              <a:ext uri="{FF2B5EF4-FFF2-40B4-BE49-F238E27FC236}">
                <a16:creationId xmlns:a16="http://schemas.microsoft.com/office/drawing/2014/main" id="{F4D47285-63CF-BEB7-7E5D-A8287F7526D0}"/>
              </a:ext>
            </a:extLst>
          </p:cNvPr>
          <p:cNvSpPr/>
          <p:nvPr/>
        </p:nvSpPr>
        <p:spPr>
          <a:xfrm>
            <a:off x="9580785" y="1398692"/>
            <a:ext cx="2070282" cy="2929891"/>
          </a:xfrm>
          <a:prstGeom prst="roundRect">
            <a:avLst/>
          </a:prstGeom>
          <a:solidFill>
            <a:srgbClr val="7030A0">
              <a:alpha val="25882"/>
            </a:srgbClr>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rgbClr val="7030A0"/>
                </a:solidFill>
                <a:latin typeface="Calibri" panose="020F0502020204030204" pitchFamily="34" charset="0"/>
                <a:cs typeface="Calibri" panose="020F0502020204030204" pitchFamily="34" charset="0"/>
              </a:rPr>
              <a:t>Agreement</a:t>
            </a:r>
          </a:p>
          <a:p>
            <a:pPr algn="ctr"/>
            <a:r>
              <a:rPr lang="en-US" dirty="0">
                <a:solidFill>
                  <a:srgbClr val="7030A0"/>
                </a:solidFill>
                <a:latin typeface="Calibri" panose="020F0502020204030204" pitchFamily="34" charset="0"/>
                <a:cs typeface="Calibri" panose="020F0502020204030204" pitchFamily="34" charset="0"/>
              </a:rPr>
              <a:t>Sample of 565 utterances</a:t>
            </a:r>
          </a:p>
          <a:p>
            <a:pPr algn="ctr"/>
            <a:endParaRPr lang="en-US" dirty="0">
              <a:solidFill>
                <a:srgbClr val="7030A0"/>
              </a:solidFill>
              <a:latin typeface="Calibri" panose="020F0502020204030204" pitchFamily="34" charset="0"/>
              <a:cs typeface="Calibri" panose="020F0502020204030204" pitchFamily="34" charset="0"/>
            </a:endParaRPr>
          </a:p>
          <a:p>
            <a:pPr algn="ctr"/>
            <a:endParaRPr lang="en-US" dirty="0">
              <a:solidFill>
                <a:srgbClr val="7030A0"/>
              </a:solidFill>
              <a:latin typeface="Calibri" panose="020F0502020204030204" pitchFamily="34" charset="0"/>
              <a:cs typeface="Calibri" panose="020F0502020204030204" pitchFamily="34" charset="0"/>
            </a:endParaRPr>
          </a:p>
          <a:p>
            <a:pPr algn="ctr"/>
            <a:endParaRPr lang="en-US" dirty="0">
              <a:solidFill>
                <a:srgbClr val="7030A0"/>
              </a:solidFill>
              <a:latin typeface="Calibri" panose="020F0502020204030204" pitchFamily="34" charset="0"/>
              <a:cs typeface="Calibri" panose="020F0502020204030204" pitchFamily="34" charset="0"/>
            </a:endParaRPr>
          </a:p>
          <a:p>
            <a:pPr algn="ctr"/>
            <a:r>
              <a:rPr lang="en-US" dirty="0">
                <a:solidFill>
                  <a:srgbClr val="7030A0"/>
                </a:solidFill>
                <a:latin typeface="Calibri" panose="020F0502020204030204" pitchFamily="34" charset="0"/>
                <a:cs typeface="Calibri" panose="020F0502020204030204" pitchFamily="34" charset="0"/>
              </a:rPr>
              <a:t>Final labels resolved through discussion</a:t>
            </a:r>
          </a:p>
        </p:txBody>
      </p:sp>
      <p:cxnSp>
        <p:nvCxnSpPr>
          <p:cNvPr id="38" name="Straight Connector 37">
            <a:extLst>
              <a:ext uri="{FF2B5EF4-FFF2-40B4-BE49-F238E27FC236}">
                <a16:creationId xmlns:a16="http://schemas.microsoft.com/office/drawing/2014/main" id="{238FCD49-DA01-61E0-D509-232CB1ED527B}"/>
              </a:ext>
            </a:extLst>
          </p:cNvPr>
          <p:cNvCxnSpPr/>
          <p:nvPr/>
        </p:nvCxnSpPr>
        <p:spPr>
          <a:xfrm>
            <a:off x="778173" y="3047954"/>
            <a:ext cx="2151529" cy="0"/>
          </a:xfrm>
          <a:prstGeom prst="line">
            <a:avLst/>
          </a:prstGeom>
          <a:ln w="12700">
            <a:solidFill>
              <a:schemeClr val="accent5">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6708FF5-EFEC-5757-E042-28FB13827BF3}"/>
              </a:ext>
            </a:extLst>
          </p:cNvPr>
          <p:cNvCxnSpPr/>
          <p:nvPr/>
        </p:nvCxnSpPr>
        <p:spPr>
          <a:xfrm>
            <a:off x="3840739" y="2747038"/>
            <a:ext cx="2151529" cy="0"/>
          </a:xfrm>
          <a:prstGeom prst="line">
            <a:avLst/>
          </a:prstGeom>
          <a:ln w="127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1742CF5-27F3-7E39-0EE9-2E74E99F5BED}"/>
              </a:ext>
            </a:extLst>
          </p:cNvPr>
          <p:cNvCxnSpPr/>
          <p:nvPr/>
        </p:nvCxnSpPr>
        <p:spPr>
          <a:xfrm>
            <a:off x="6721771" y="2609792"/>
            <a:ext cx="2151529" cy="0"/>
          </a:xfrm>
          <a:prstGeom prst="line">
            <a:avLst/>
          </a:prstGeom>
          <a:ln w="12700">
            <a:solidFill>
              <a:schemeClr val="accent2">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003F3CA-51EF-3976-50FA-75A89904834F}"/>
                  </a:ext>
                </a:extLst>
              </p:cNvPr>
              <p:cNvSpPr txBox="1"/>
              <p:nvPr/>
            </p:nvSpPr>
            <p:spPr>
              <a:xfrm>
                <a:off x="9713508" y="2486048"/>
                <a:ext cx="1903903" cy="276999"/>
              </a:xfrm>
              <a:prstGeom prst="rect">
                <a:avLst/>
              </a:prstGeom>
              <a:noFill/>
            </p:spPr>
            <p:txBody>
              <a:bodyPr wrap="square" lIns="0" tIns="0" rIns="0" bIns="0"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𝜅</m:t>
                    </m:r>
                  </m:oMath>
                </a14:m>
                <a:r>
                  <a:rPr lang="en-US" dirty="0">
                    <a:latin typeface="Calibri" panose="020F0502020204030204" pitchFamily="34" charset="0"/>
                    <a:cs typeface="Calibri" panose="020F0502020204030204" pitchFamily="34" charset="0"/>
                  </a:rPr>
                  <a:t> = 0.89  CR vs Rest</a:t>
                </a:r>
              </a:p>
            </p:txBody>
          </p:sp>
        </mc:Choice>
        <mc:Fallback xmlns="">
          <p:sp>
            <p:nvSpPr>
              <p:cNvPr id="43" name="TextBox 42">
                <a:extLst>
                  <a:ext uri="{FF2B5EF4-FFF2-40B4-BE49-F238E27FC236}">
                    <a16:creationId xmlns:a16="http://schemas.microsoft.com/office/drawing/2014/main" id="{9003F3CA-51EF-3976-50FA-75A89904834F}"/>
                  </a:ext>
                </a:extLst>
              </p:cNvPr>
              <p:cNvSpPr txBox="1">
                <a:spLocks noRot="1" noChangeAspect="1" noMove="1" noResize="1" noEditPoints="1" noAdjustHandles="1" noChangeArrowheads="1" noChangeShapeType="1" noTextEdit="1"/>
              </p:cNvSpPr>
              <p:nvPr/>
            </p:nvSpPr>
            <p:spPr>
              <a:xfrm>
                <a:off x="9713508" y="2486048"/>
                <a:ext cx="1903903" cy="276999"/>
              </a:xfrm>
              <a:prstGeom prst="rect">
                <a:avLst/>
              </a:prstGeom>
              <a:blipFill>
                <a:blip r:embed="rId4"/>
                <a:stretch>
                  <a:fillRect l="-2649" t="-21739" r="-1987" b="-4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EE4E346-608B-9AC4-9716-9FECC73F0A30}"/>
                  </a:ext>
                </a:extLst>
              </p:cNvPr>
              <p:cNvSpPr txBox="1"/>
              <p:nvPr/>
            </p:nvSpPr>
            <p:spPr>
              <a:xfrm>
                <a:off x="9711428" y="2835587"/>
                <a:ext cx="1785648" cy="276999"/>
              </a:xfrm>
              <a:prstGeom prst="rect">
                <a:avLst/>
              </a:prstGeom>
              <a:noFill/>
            </p:spPr>
            <p:txBody>
              <a:bodyPr wrap="square" lIns="0" tIns="0" rIns="0" bIns="0"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𝜅</m:t>
                    </m:r>
                  </m:oMath>
                </a14:m>
                <a:r>
                  <a:rPr lang="en-US" dirty="0">
                    <a:latin typeface="Calibri" panose="020F0502020204030204" pitchFamily="34" charset="0"/>
                    <a:cs typeface="Calibri" panose="020F0502020204030204" pitchFamily="34" charset="0"/>
                  </a:rPr>
                  <a:t> = 0.64  A/V/K</a:t>
                </a:r>
              </a:p>
            </p:txBody>
          </p:sp>
        </mc:Choice>
        <mc:Fallback xmlns="">
          <p:sp>
            <p:nvSpPr>
              <p:cNvPr id="44" name="TextBox 43">
                <a:extLst>
                  <a:ext uri="{FF2B5EF4-FFF2-40B4-BE49-F238E27FC236}">
                    <a16:creationId xmlns:a16="http://schemas.microsoft.com/office/drawing/2014/main" id="{8EE4E346-608B-9AC4-9716-9FECC73F0A30}"/>
                  </a:ext>
                </a:extLst>
              </p:cNvPr>
              <p:cNvSpPr txBox="1">
                <a:spLocks noRot="1" noChangeAspect="1" noMove="1" noResize="1" noEditPoints="1" noAdjustHandles="1" noChangeArrowheads="1" noChangeShapeType="1" noTextEdit="1"/>
              </p:cNvSpPr>
              <p:nvPr/>
            </p:nvSpPr>
            <p:spPr>
              <a:xfrm>
                <a:off x="9711428" y="2835587"/>
                <a:ext cx="1785648" cy="276999"/>
              </a:xfrm>
              <a:prstGeom prst="rect">
                <a:avLst/>
              </a:prstGeom>
              <a:blipFill>
                <a:blip r:embed="rId5"/>
                <a:stretch>
                  <a:fillRect l="-3521" t="-26087" b="-47826"/>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7521908C-2D01-4273-A24F-60CEC5EE6CD2}"/>
              </a:ext>
            </a:extLst>
          </p:cNvPr>
          <p:cNvCxnSpPr>
            <a:cxnSpLocks/>
          </p:cNvCxnSpPr>
          <p:nvPr/>
        </p:nvCxnSpPr>
        <p:spPr>
          <a:xfrm>
            <a:off x="9711428" y="3134992"/>
            <a:ext cx="1885663" cy="0"/>
          </a:xfrm>
          <a:prstGeom prst="line">
            <a:avLst/>
          </a:prstGeom>
          <a:ln w="1270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47" name="Right Brace 46">
            <a:extLst>
              <a:ext uri="{FF2B5EF4-FFF2-40B4-BE49-F238E27FC236}">
                <a16:creationId xmlns:a16="http://schemas.microsoft.com/office/drawing/2014/main" id="{1BD687D9-493E-344E-1F39-4BF81E565194}"/>
              </a:ext>
            </a:extLst>
          </p:cNvPr>
          <p:cNvSpPr/>
          <p:nvPr/>
        </p:nvSpPr>
        <p:spPr>
          <a:xfrm rot="5400000">
            <a:off x="3196000" y="1532951"/>
            <a:ext cx="262342" cy="5537658"/>
          </a:xfrm>
          <a:prstGeom prst="rightBrace">
            <a:avLst>
              <a:gd name="adj1" fmla="val 8333"/>
              <a:gd name="adj2" fmla="val 38399"/>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Rounded Rectangle 50">
            <a:extLst>
              <a:ext uri="{FF2B5EF4-FFF2-40B4-BE49-F238E27FC236}">
                <a16:creationId xmlns:a16="http://schemas.microsoft.com/office/drawing/2014/main" id="{12E6F128-47DE-A24E-D086-9F0294812F11}"/>
              </a:ext>
            </a:extLst>
          </p:cNvPr>
          <p:cNvSpPr/>
          <p:nvPr/>
        </p:nvSpPr>
        <p:spPr>
          <a:xfrm>
            <a:off x="558342" y="4503078"/>
            <a:ext cx="5225925" cy="1743194"/>
          </a:xfrm>
          <a:prstGeom prst="roundRect">
            <a:avLst/>
          </a:prstGeom>
          <a:solidFill>
            <a:srgbClr val="FFC000">
              <a:alpha val="17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tx2"/>
              </a:solidFill>
              <a:latin typeface="Calibri" panose="020F0502020204030204" pitchFamily="34" charset="0"/>
              <a:cs typeface="Calibri" panose="020F0502020204030204" pitchFamily="34" charset="0"/>
            </a:endParaRPr>
          </a:p>
          <a:p>
            <a:pPr algn="just"/>
            <a:r>
              <a:rPr lang="en-US" sz="2200" dirty="0">
                <a:solidFill>
                  <a:schemeClr val="tx2"/>
                </a:solidFill>
                <a:latin typeface="Calibri" panose="020F0502020204030204" pitchFamily="34" charset="0"/>
                <a:cs typeface="Calibri" panose="020F0502020204030204" pitchFamily="34" charset="0"/>
              </a:rPr>
              <a:t>Utterances labeled as CRs when they indicated uncertainty about understanding prior or currently available context.</a:t>
            </a:r>
          </a:p>
          <a:p>
            <a:pPr algn="ctr"/>
            <a:endParaRPr lang="en-US" sz="2200" dirty="0">
              <a:solidFill>
                <a:schemeClr val="tx2"/>
              </a:solidFill>
              <a:latin typeface="Calibri" panose="020F0502020204030204" pitchFamily="34" charset="0"/>
              <a:cs typeface="Calibri" panose="020F0502020204030204" pitchFamily="34" charset="0"/>
            </a:endParaRPr>
          </a:p>
        </p:txBody>
      </p:sp>
      <p:sp>
        <p:nvSpPr>
          <p:cNvPr id="49" name="Rounded Rectangle 48">
            <a:extLst>
              <a:ext uri="{FF2B5EF4-FFF2-40B4-BE49-F238E27FC236}">
                <a16:creationId xmlns:a16="http://schemas.microsoft.com/office/drawing/2014/main" id="{F0EBFF32-DF96-FD8F-B31F-9220A48B7953}"/>
              </a:ext>
            </a:extLst>
          </p:cNvPr>
          <p:cNvSpPr/>
          <p:nvPr/>
        </p:nvSpPr>
        <p:spPr>
          <a:xfrm>
            <a:off x="5885865" y="4446448"/>
            <a:ext cx="5844877" cy="1826654"/>
          </a:xfrm>
          <a:prstGeom prst="roundRect">
            <a:avLst/>
          </a:prstGeom>
          <a:solidFill>
            <a:srgbClr val="FFC000">
              <a:alpha val="17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latin typeface="Calibri" panose="020F0502020204030204" pitchFamily="34" charset="0"/>
                <a:cs typeface="Calibri" panose="020F0502020204030204" pitchFamily="34" charset="0"/>
              </a:rPr>
              <a:t>Precedence ladder for grounding modality used only when no single cue was clearly primary</a:t>
            </a:r>
          </a:p>
          <a:p>
            <a:pPr algn="ctr"/>
            <a:endParaRPr lang="en-US" sz="3000" dirty="0">
              <a:solidFill>
                <a:schemeClr val="tx2"/>
              </a:solidFill>
            </a:endParaRPr>
          </a:p>
          <a:p>
            <a:pPr algn="ctr"/>
            <a:endParaRPr lang="en-US" sz="3600" dirty="0">
              <a:solidFill>
                <a:schemeClr val="tx2"/>
              </a:solidFill>
            </a:endParaRPr>
          </a:p>
        </p:txBody>
      </p:sp>
      <p:sp>
        <p:nvSpPr>
          <p:cNvPr id="50" name="Rounded Rectangle 49">
            <a:extLst>
              <a:ext uri="{FF2B5EF4-FFF2-40B4-BE49-F238E27FC236}">
                <a16:creationId xmlns:a16="http://schemas.microsoft.com/office/drawing/2014/main" id="{5C507649-7B6A-81AA-84EC-734DF6E8AB71}"/>
              </a:ext>
            </a:extLst>
          </p:cNvPr>
          <p:cNvSpPr/>
          <p:nvPr/>
        </p:nvSpPr>
        <p:spPr>
          <a:xfrm>
            <a:off x="6872900" y="5219267"/>
            <a:ext cx="575847" cy="502099"/>
          </a:xfrm>
          <a:prstGeom prst="roundRect">
            <a:avLst/>
          </a:prstGeom>
          <a:solidFill>
            <a:schemeClr val="accent4">
              <a:lumMod val="40000"/>
              <a:lumOff val="6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4">
                    <a:lumMod val="50000"/>
                  </a:schemeClr>
                </a:solidFill>
                <a:latin typeface="Calibri" panose="020F0502020204030204" pitchFamily="34" charset="0"/>
                <a:cs typeface="Calibri" panose="020F0502020204030204" pitchFamily="34" charset="0"/>
              </a:rPr>
              <a:t>K</a:t>
            </a:r>
          </a:p>
        </p:txBody>
      </p:sp>
      <p:sp>
        <p:nvSpPr>
          <p:cNvPr id="52" name="Rounded Rectangle 51">
            <a:extLst>
              <a:ext uri="{FF2B5EF4-FFF2-40B4-BE49-F238E27FC236}">
                <a16:creationId xmlns:a16="http://schemas.microsoft.com/office/drawing/2014/main" id="{447BCD0D-C932-F305-56BC-13662120316C}"/>
              </a:ext>
            </a:extLst>
          </p:cNvPr>
          <p:cNvSpPr/>
          <p:nvPr/>
        </p:nvSpPr>
        <p:spPr>
          <a:xfrm>
            <a:off x="8636450" y="5219267"/>
            <a:ext cx="575847" cy="502099"/>
          </a:xfrm>
          <a:prstGeom prst="round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6">
                    <a:lumMod val="75000"/>
                  </a:schemeClr>
                </a:solidFill>
                <a:latin typeface="Calibri" panose="020F0502020204030204" pitchFamily="34" charset="0"/>
                <a:cs typeface="Calibri" panose="020F0502020204030204" pitchFamily="34" charset="0"/>
              </a:rPr>
              <a:t>V</a:t>
            </a:r>
          </a:p>
        </p:txBody>
      </p:sp>
      <p:sp>
        <p:nvSpPr>
          <p:cNvPr id="53" name="Rounded Rectangle 52">
            <a:extLst>
              <a:ext uri="{FF2B5EF4-FFF2-40B4-BE49-F238E27FC236}">
                <a16:creationId xmlns:a16="http://schemas.microsoft.com/office/drawing/2014/main" id="{9A3D77F8-909B-0E87-E7FB-3FDABF20B31C}"/>
              </a:ext>
            </a:extLst>
          </p:cNvPr>
          <p:cNvSpPr/>
          <p:nvPr/>
        </p:nvSpPr>
        <p:spPr>
          <a:xfrm>
            <a:off x="10342107" y="5219267"/>
            <a:ext cx="575847" cy="502099"/>
          </a:xfrm>
          <a:prstGeom prst="roundRect">
            <a:avLst/>
          </a:prstGeom>
          <a:solidFill>
            <a:schemeClr val="accent2">
              <a:lumMod val="40000"/>
              <a:lumOff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2">
                    <a:lumMod val="75000"/>
                  </a:schemeClr>
                </a:solidFill>
                <a:latin typeface="Calibri" panose="020F0502020204030204" pitchFamily="34" charset="0"/>
                <a:cs typeface="Calibri" panose="020F0502020204030204" pitchFamily="34" charset="0"/>
              </a:rPr>
              <a:t>A</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855FAB0-1512-E963-57E8-F5F3C7CDF538}"/>
                  </a:ext>
                </a:extLst>
              </p:cNvPr>
              <p:cNvSpPr txBox="1"/>
              <p:nvPr/>
            </p:nvSpPr>
            <p:spPr>
              <a:xfrm>
                <a:off x="7960100" y="5281052"/>
                <a:ext cx="2196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&gt;</m:t>
                      </m:r>
                    </m:oMath>
                  </m:oMathPara>
                </a14:m>
                <a:endParaRPr lang="en-US" dirty="0"/>
              </a:p>
            </p:txBody>
          </p:sp>
        </mc:Choice>
        <mc:Fallback xmlns="">
          <p:sp>
            <p:nvSpPr>
              <p:cNvPr id="54" name="TextBox 53">
                <a:extLst>
                  <a:ext uri="{FF2B5EF4-FFF2-40B4-BE49-F238E27FC236}">
                    <a16:creationId xmlns:a16="http://schemas.microsoft.com/office/drawing/2014/main" id="{A855FAB0-1512-E963-57E8-F5F3C7CDF538}"/>
                  </a:ext>
                </a:extLst>
              </p:cNvPr>
              <p:cNvSpPr txBox="1">
                <a:spLocks noRot="1" noChangeAspect="1" noMove="1" noResize="1" noEditPoints="1" noAdjustHandles="1" noChangeArrowheads="1" noChangeShapeType="1" noTextEdit="1"/>
              </p:cNvSpPr>
              <p:nvPr/>
            </p:nvSpPr>
            <p:spPr>
              <a:xfrm>
                <a:off x="7960100" y="5281052"/>
                <a:ext cx="219612" cy="276999"/>
              </a:xfrm>
              <a:prstGeom prst="rect">
                <a:avLst/>
              </a:prstGeom>
              <a:blipFill>
                <a:blip r:embed="rId6"/>
                <a:stretch>
                  <a:fillRect l="-15789" r="-15789"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B36466F-7BE2-FB5B-DFFE-163DC75AD02A}"/>
                  </a:ext>
                </a:extLst>
              </p:cNvPr>
              <p:cNvSpPr txBox="1"/>
              <p:nvPr/>
            </p:nvSpPr>
            <p:spPr>
              <a:xfrm>
                <a:off x="9470189" y="5277046"/>
                <a:ext cx="52005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&gt;</m:t>
                      </m:r>
                    </m:oMath>
                  </m:oMathPara>
                </a14:m>
                <a:endParaRPr lang="en-US" dirty="0"/>
              </a:p>
            </p:txBody>
          </p:sp>
        </mc:Choice>
        <mc:Fallback xmlns="">
          <p:sp>
            <p:nvSpPr>
              <p:cNvPr id="56" name="TextBox 55">
                <a:extLst>
                  <a:ext uri="{FF2B5EF4-FFF2-40B4-BE49-F238E27FC236}">
                    <a16:creationId xmlns:a16="http://schemas.microsoft.com/office/drawing/2014/main" id="{0B36466F-7BE2-FB5B-DFFE-163DC75AD02A}"/>
                  </a:ext>
                </a:extLst>
              </p:cNvPr>
              <p:cNvSpPr txBox="1">
                <a:spLocks noRot="1" noChangeAspect="1" noMove="1" noResize="1" noEditPoints="1" noAdjustHandles="1" noChangeArrowheads="1" noChangeShapeType="1" noTextEdit="1"/>
              </p:cNvSpPr>
              <p:nvPr/>
            </p:nvSpPr>
            <p:spPr>
              <a:xfrm>
                <a:off x="9470189" y="5277046"/>
                <a:ext cx="520059" cy="276999"/>
              </a:xfrm>
              <a:prstGeom prst="rect">
                <a:avLst/>
              </a:prstGeom>
              <a:blipFill>
                <a:blip r:embed="rId7"/>
                <a:stretch>
                  <a:fillRect b="-4348"/>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0B944DB0-B422-61B2-C815-7763F7590277}"/>
              </a:ext>
            </a:extLst>
          </p:cNvPr>
          <p:cNvSpPr txBox="1"/>
          <p:nvPr/>
        </p:nvSpPr>
        <p:spPr>
          <a:xfrm>
            <a:off x="6368385" y="5714676"/>
            <a:ext cx="1967833"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Action/Operation/Capability</a:t>
            </a:r>
          </a:p>
        </p:txBody>
      </p:sp>
      <p:sp>
        <p:nvSpPr>
          <p:cNvPr id="59" name="TextBox 58">
            <a:extLst>
              <a:ext uri="{FF2B5EF4-FFF2-40B4-BE49-F238E27FC236}">
                <a16:creationId xmlns:a16="http://schemas.microsoft.com/office/drawing/2014/main" id="{A5F054B6-7C6A-C8B4-7533-B50780E81791}"/>
              </a:ext>
            </a:extLst>
          </p:cNvPr>
          <p:cNvSpPr txBox="1"/>
          <p:nvPr/>
        </p:nvSpPr>
        <p:spPr>
          <a:xfrm>
            <a:off x="8387017" y="5744636"/>
            <a:ext cx="1644920"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Display/Visible state</a:t>
            </a:r>
          </a:p>
        </p:txBody>
      </p:sp>
      <p:sp>
        <p:nvSpPr>
          <p:cNvPr id="60" name="TextBox 59">
            <a:extLst>
              <a:ext uri="{FF2B5EF4-FFF2-40B4-BE49-F238E27FC236}">
                <a16:creationId xmlns:a16="http://schemas.microsoft.com/office/drawing/2014/main" id="{FC72EA1C-D0FF-6BE4-5835-65AB5C68067D}"/>
              </a:ext>
            </a:extLst>
          </p:cNvPr>
          <p:cNvSpPr txBox="1"/>
          <p:nvPr/>
        </p:nvSpPr>
        <p:spPr>
          <a:xfrm>
            <a:off x="10236745" y="5714676"/>
            <a:ext cx="1255315"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Hearing repair</a:t>
            </a:r>
          </a:p>
        </p:txBody>
      </p:sp>
      <p:pic>
        <p:nvPicPr>
          <p:cNvPr id="64" name="Graphic 63" descr="Star with solid fill">
            <a:extLst>
              <a:ext uri="{FF2B5EF4-FFF2-40B4-BE49-F238E27FC236}">
                <a16:creationId xmlns:a16="http://schemas.microsoft.com/office/drawing/2014/main" id="{E4E3B5B5-C7F4-1EB5-0551-80EE3F67F69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67311" y="1396150"/>
            <a:ext cx="338554" cy="338554"/>
          </a:xfrm>
          <a:prstGeom prst="rect">
            <a:avLst/>
          </a:prstGeom>
        </p:spPr>
      </p:pic>
      <p:sp>
        <p:nvSpPr>
          <p:cNvPr id="3" name="Right Brace 2">
            <a:extLst>
              <a:ext uri="{FF2B5EF4-FFF2-40B4-BE49-F238E27FC236}">
                <a16:creationId xmlns:a16="http://schemas.microsoft.com/office/drawing/2014/main" id="{D6817B68-412F-7459-EFC6-E5E231C9D773}"/>
              </a:ext>
            </a:extLst>
          </p:cNvPr>
          <p:cNvSpPr/>
          <p:nvPr/>
        </p:nvSpPr>
        <p:spPr>
          <a:xfrm rot="5400000">
            <a:off x="7700925" y="2937896"/>
            <a:ext cx="274933" cy="2742169"/>
          </a:xfrm>
          <a:prstGeom prst="rightBrace">
            <a:avLst>
              <a:gd name="adj1" fmla="val 8333"/>
              <a:gd name="adj2" fmla="val 38399"/>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871262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A0B5F-E4F8-0A56-19DB-CB78FCC6A94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2206A9-0C1A-9B29-843A-B330585A2966}"/>
              </a:ext>
            </a:extLst>
          </p:cNvPr>
          <p:cNvSpPr>
            <a:spLocks noGrp="1"/>
          </p:cNvSpPr>
          <p:nvPr>
            <p:ph type="sldNum" sz="quarter" idx="12"/>
          </p:nvPr>
        </p:nvSpPr>
        <p:spPr>
          <a:xfrm>
            <a:off x="10972800" y="6425651"/>
            <a:ext cx="873377" cy="365125"/>
          </a:xfrm>
        </p:spPr>
        <p:txBody>
          <a:bodyPr vert="horz" lIns="91440" tIns="45720" rIns="91440" bIns="45720" rtlCol="0" anchor="ctr"/>
          <a:lstStyle/>
          <a:p>
            <a:fld id="{7C7FAD9F-AEE9-406E-B720-57D2B9DB2816}" type="slidenum">
              <a:rPr lang="en-US" sz="3200">
                <a:solidFill>
                  <a:schemeClr val="accent1">
                    <a:lumMod val="75000"/>
                  </a:schemeClr>
                </a:solidFill>
                <a:latin typeface="Calibri" panose="020F0502020204030204" pitchFamily="34" charset="0"/>
                <a:cs typeface="Calibri" panose="020F0502020204030204" pitchFamily="34" charset="0"/>
              </a:rPr>
              <a:pPr/>
              <a:t>24</a:t>
            </a:fld>
            <a:endParaRPr lang="en-US" sz="3200" dirty="0">
              <a:solidFill>
                <a:schemeClr val="accent1">
                  <a:lumMod val="75000"/>
                </a:schemeClr>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D710E2B1-1FCE-A75B-0461-42BDEF512622}"/>
              </a:ext>
            </a:extLst>
          </p:cNvPr>
          <p:cNvSpPr>
            <a:spLocks noGrp="1"/>
          </p:cNvSpPr>
          <p:nvPr>
            <p:ph type="title"/>
          </p:nvPr>
        </p:nvSpPr>
        <p:spPr>
          <a:xfrm>
            <a:off x="1391089" y="308343"/>
            <a:ext cx="10333075" cy="597432"/>
          </a:xfrm>
        </p:spPr>
        <p:txBody>
          <a:bodyPr>
            <a:normAutofit fontScale="90000"/>
          </a:bodyPr>
          <a:lstStyle/>
          <a:p>
            <a:pPr algn="ctr"/>
            <a:r>
              <a:rPr lang="en-US" sz="4000" b="0" dirty="0">
                <a:latin typeface="Calibri" panose="020F0502020204030204" pitchFamily="34" charset="0"/>
                <a:cs typeface="Calibri" panose="020F0502020204030204" pitchFamily="34" charset="0"/>
              </a:rPr>
              <a:t>Baseline Experiments and Results</a:t>
            </a:r>
          </a:p>
        </p:txBody>
      </p:sp>
      <p:sp>
        <p:nvSpPr>
          <p:cNvPr id="6" name="Rounded Rectangle 5">
            <a:extLst>
              <a:ext uri="{FF2B5EF4-FFF2-40B4-BE49-F238E27FC236}">
                <a16:creationId xmlns:a16="http://schemas.microsoft.com/office/drawing/2014/main" id="{60D1F7CC-9C9C-C1AA-CF10-8AB560AB1E3D}"/>
              </a:ext>
            </a:extLst>
          </p:cNvPr>
          <p:cNvSpPr/>
          <p:nvPr/>
        </p:nvSpPr>
        <p:spPr>
          <a:xfrm>
            <a:off x="566927" y="1013056"/>
            <a:ext cx="11157238" cy="1439190"/>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2AFECF0-CF7F-D7A3-8FF2-1C1037A99B90}"/>
              </a:ext>
            </a:extLst>
          </p:cNvPr>
          <p:cNvSpPr/>
          <p:nvPr/>
        </p:nvSpPr>
        <p:spPr>
          <a:xfrm>
            <a:off x="634761" y="2709958"/>
            <a:ext cx="11089403" cy="1646531"/>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F0C4903D-E790-5473-0E59-F0EC664D15BD}"/>
              </a:ext>
            </a:extLst>
          </p:cNvPr>
          <p:cNvSpPr/>
          <p:nvPr/>
        </p:nvSpPr>
        <p:spPr>
          <a:xfrm>
            <a:off x="807714" y="884199"/>
            <a:ext cx="3739233" cy="512064"/>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2">
                    <a:lumMod val="50000"/>
                  </a:schemeClr>
                </a:solidFill>
                <a:latin typeface="Calibri Light" panose="020F0302020204030204" pitchFamily="34" charset="0"/>
                <a:cs typeface="Calibri Light" panose="020F0302020204030204" pitchFamily="34" charset="0"/>
              </a:rPr>
              <a:t>CR-ID. DistilBERT</a:t>
            </a:r>
          </a:p>
        </p:txBody>
      </p:sp>
      <p:sp>
        <p:nvSpPr>
          <p:cNvPr id="9" name="Rounded Rectangle 8">
            <a:extLst>
              <a:ext uri="{FF2B5EF4-FFF2-40B4-BE49-F238E27FC236}">
                <a16:creationId xmlns:a16="http://schemas.microsoft.com/office/drawing/2014/main" id="{F917309C-ABA4-129C-EC40-34A41C3A07FB}"/>
              </a:ext>
            </a:extLst>
          </p:cNvPr>
          <p:cNvSpPr/>
          <p:nvPr/>
        </p:nvSpPr>
        <p:spPr>
          <a:xfrm>
            <a:off x="807715" y="2579420"/>
            <a:ext cx="5288286" cy="74094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accent5">
                    <a:lumMod val="50000"/>
                  </a:schemeClr>
                </a:solidFill>
                <a:latin typeface="Calibri Light" panose="020F0302020204030204" pitchFamily="34" charset="0"/>
                <a:cs typeface="Calibri Light" panose="020F0302020204030204" pitchFamily="34" charset="0"/>
              </a:rPr>
              <a:t>GMOD: Gold-CR. TF-IDF + Logistic Regression </a:t>
            </a:r>
          </a:p>
        </p:txBody>
      </p:sp>
      <p:graphicFrame>
        <p:nvGraphicFramePr>
          <p:cNvPr id="20" name="Table 19">
            <a:extLst>
              <a:ext uri="{FF2B5EF4-FFF2-40B4-BE49-F238E27FC236}">
                <a16:creationId xmlns:a16="http://schemas.microsoft.com/office/drawing/2014/main" id="{9E1F450E-EA78-CCE1-3502-5C3A9D5E4517}"/>
              </a:ext>
            </a:extLst>
          </p:cNvPr>
          <p:cNvGraphicFramePr>
            <a:graphicFrameLocks noGrp="1"/>
          </p:cNvGraphicFramePr>
          <p:nvPr>
            <p:extLst>
              <p:ext uri="{D42A27DB-BD31-4B8C-83A1-F6EECF244321}">
                <p14:modId xmlns:p14="http://schemas.microsoft.com/office/powerpoint/2010/main" val="854183118"/>
              </p:ext>
            </p:extLst>
          </p:nvPr>
        </p:nvGraphicFramePr>
        <p:xfrm>
          <a:off x="6096000" y="2742588"/>
          <a:ext cx="5472545" cy="1463040"/>
        </p:xfrm>
        <a:graphic>
          <a:graphicData uri="http://schemas.openxmlformats.org/drawingml/2006/table">
            <a:tbl>
              <a:tblPr firstRow="1" bandRow="1">
                <a:tableStyleId>{BDBED569-4797-4DF1-A0F4-6AAB3CD982D8}</a:tableStyleId>
              </a:tblPr>
              <a:tblGrid>
                <a:gridCol w="1073243">
                  <a:extLst>
                    <a:ext uri="{9D8B030D-6E8A-4147-A177-3AD203B41FA5}">
                      <a16:colId xmlns:a16="http://schemas.microsoft.com/office/drawing/2014/main" val="1093042307"/>
                    </a:ext>
                  </a:extLst>
                </a:gridCol>
                <a:gridCol w="1073243">
                  <a:extLst>
                    <a:ext uri="{9D8B030D-6E8A-4147-A177-3AD203B41FA5}">
                      <a16:colId xmlns:a16="http://schemas.microsoft.com/office/drawing/2014/main" val="2232993252"/>
                    </a:ext>
                  </a:extLst>
                </a:gridCol>
                <a:gridCol w="1073243">
                  <a:extLst>
                    <a:ext uri="{9D8B030D-6E8A-4147-A177-3AD203B41FA5}">
                      <a16:colId xmlns:a16="http://schemas.microsoft.com/office/drawing/2014/main" val="1492307451"/>
                    </a:ext>
                  </a:extLst>
                </a:gridCol>
                <a:gridCol w="1073243">
                  <a:extLst>
                    <a:ext uri="{9D8B030D-6E8A-4147-A177-3AD203B41FA5}">
                      <a16:colId xmlns:a16="http://schemas.microsoft.com/office/drawing/2014/main" val="707495414"/>
                    </a:ext>
                  </a:extLst>
                </a:gridCol>
                <a:gridCol w="1179573">
                  <a:extLst>
                    <a:ext uri="{9D8B030D-6E8A-4147-A177-3AD203B41FA5}">
                      <a16:colId xmlns:a16="http://schemas.microsoft.com/office/drawing/2014/main" val="330616884"/>
                    </a:ext>
                  </a:extLst>
                </a:gridCol>
              </a:tblGrid>
              <a:tr h="333525">
                <a:tc>
                  <a:txBody>
                    <a:bodyPr/>
                    <a:lstStyle/>
                    <a:p>
                      <a:pPr algn="ctr"/>
                      <a:r>
                        <a:rPr lang="en-US" sz="1800" b="1" dirty="0">
                          <a:latin typeface="Calibri" panose="020F0502020204030204" pitchFamily="34" charset="0"/>
                          <a:cs typeface="Calibri" panose="020F0502020204030204" pitchFamily="34" charset="0"/>
                        </a:rPr>
                        <a:t>Context</a:t>
                      </a:r>
                    </a:p>
                  </a:txBody>
                  <a:tcPr/>
                </a:tc>
                <a:tc>
                  <a:txBody>
                    <a:bodyPr/>
                    <a:lstStyle/>
                    <a:p>
                      <a:pPr algn="ctr"/>
                      <a:r>
                        <a:rPr lang="en-US" sz="1800" b="1" dirty="0">
                          <a:latin typeface="Calibri" panose="020F0502020204030204" pitchFamily="34" charset="0"/>
                          <a:cs typeface="Calibri" panose="020F0502020204030204" pitchFamily="34" charset="0"/>
                        </a:rPr>
                        <a:t>Macro F1</a:t>
                      </a:r>
                    </a:p>
                  </a:txBody>
                  <a:tcPr/>
                </a:tc>
                <a:tc>
                  <a:txBody>
                    <a:bodyPr/>
                    <a:lstStyle/>
                    <a:p>
                      <a:pPr algn="ctr"/>
                      <a:r>
                        <a:rPr lang="en-US" sz="1800" b="1" dirty="0">
                          <a:latin typeface="Calibri" panose="020F0502020204030204" pitchFamily="34" charset="0"/>
                          <a:cs typeface="Calibri" panose="020F0502020204030204" pitchFamily="34" charset="0"/>
                        </a:rPr>
                        <a:t>A</a:t>
                      </a:r>
                    </a:p>
                  </a:txBody>
                  <a:tcPr/>
                </a:tc>
                <a:tc>
                  <a:txBody>
                    <a:bodyPr/>
                    <a:lstStyle/>
                    <a:p>
                      <a:pPr algn="ctr"/>
                      <a:r>
                        <a:rPr lang="en-US" sz="1800" b="1" dirty="0">
                          <a:latin typeface="Calibri" panose="020F0502020204030204" pitchFamily="34" charset="0"/>
                          <a:cs typeface="Calibri" panose="020F0502020204030204" pitchFamily="34" charset="0"/>
                        </a:rPr>
                        <a:t>V</a:t>
                      </a:r>
                    </a:p>
                  </a:txBody>
                  <a:tcPr/>
                </a:tc>
                <a:tc>
                  <a:txBody>
                    <a:bodyPr/>
                    <a:lstStyle/>
                    <a:p>
                      <a:pPr algn="ctr"/>
                      <a:r>
                        <a:rPr lang="en-US" sz="1800" b="1" dirty="0">
                          <a:latin typeface="Calibri" panose="020F0502020204030204" pitchFamily="34" charset="0"/>
                          <a:cs typeface="Calibri" panose="020F0502020204030204" pitchFamily="34" charset="0"/>
                        </a:rPr>
                        <a:t>K</a:t>
                      </a:r>
                    </a:p>
                  </a:txBody>
                  <a:tcPr/>
                </a:tc>
                <a:extLst>
                  <a:ext uri="{0D108BD9-81ED-4DB2-BD59-A6C34878D82A}">
                    <a16:rowId xmlns:a16="http://schemas.microsoft.com/office/drawing/2014/main" val="4173713212"/>
                  </a:ext>
                </a:extLst>
              </a:tr>
              <a:tr h="333525">
                <a:tc>
                  <a:txBody>
                    <a:bodyPr/>
                    <a:lstStyle/>
                    <a:p>
                      <a:pPr algn="ctr"/>
                      <a:r>
                        <a:rPr lang="en-US" sz="1800" b="1" dirty="0">
                          <a:latin typeface="Calibri" panose="020F0502020204030204" pitchFamily="34" charset="0"/>
                          <a:cs typeface="Calibri" panose="020F0502020204030204" pitchFamily="34" charset="0"/>
                        </a:rPr>
                        <a:t>Base</a:t>
                      </a:r>
                    </a:p>
                  </a:txBody>
                  <a:tcPr/>
                </a:tc>
                <a:tc>
                  <a:txBody>
                    <a:bodyPr/>
                    <a:lstStyle/>
                    <a:p>
                      <a:pPr algn="ctr"/>
                      <a:r>
                        <a:rPr lang="en-US" sz="1800" b="1" u="sng" dirty="0">
                          <a:latin typeface="Calibri" panose="020F0502020204030204" pitchFamily="34" charset="0"/>
                          <a:cs typeface="Calibri" panose="020F0502020204030204" pitchFamily="34" charset="0"/>
                        </a:rPr>
                        <a:t>0.52</a:t>
                      </a:r>
                    </a:p>
                  </a:txBody>
                  <a:tcPr/>
                </a:tc>
                <a:tc>
                  <a:txBody>
                    <a:bodyPr/>
                    <a:lstStyle/>
                    <a:p>
                      <a:pPr algn="ctr"/>
                      <a:r>
                        <a:rPr lang="en-US" sz="1800" b="1" dirty="0">
                          <a:latin typeface="Calibri" panose="020F0502020204030204" pitchFamily="34" charset="0"/>
                          <a:cs typeface="Calibri" panose="020F0502020204030204" pitchFamily="34" charset="0"/>
                        </a:rPr>
                        <a:t>0.30</a:t>
                      </a:r>
                    </a:p>
                  </a:txBody>
                  <a:tcPr/>
                </a:tc>
                <a:tc>
                  <a:txBody>
                    <a:bodyPr/>
                    <a:lstStyle/>
                    <a:p>
                      <a:pPr algn="ctr"/>
                      <a:r>
                        <a:rPr lang="en-US" sz="1800" b="1" dirty="0">
                          <a:latin typeface="Calibri" panose="020F0502020204030204" pitchFamily="34" charset="0"/>
                          <a:cs typeface="Calibri" panose="020F0502020204030204" pitchFamily="34" charset="0"/>
                        </a:rPr>
                        <a:t>0.73</a:t>
                      </a:r>
                    </a:p>
                  </a:txBody>
                  <a:tcPr/>
                </a:tc>
                <a:tc>
                  <a:txBody>
                    <a:bodyPr/>
                    <a:lstStyle/>
                    <a:p>
                      <a:pPr algn="ctr"/>
                      <a:r>
                        <a:rPr lang="en-US" sz="1800" b="1" u="sng" dirty="0">
                          <a:latin typeface="Calibri" panose="020F0502020204030204" pitchFamily="34" charset="0"/>
                          <a:cs typeface="Calibri" panose="020F0502020204030204" pitchFamily="34" charset="0"/>
                        </a:rPr>
                        <a:t>0.55</a:t>
                      </a:r>
                    </a:p>
                  </a:txBody>
                  <a:tcPr/>
                </a:tc>
                <a:extLst>
                  <a:ext uri="{0D108BD9-81ED-4DB2-BD59-A6C34878D82A}">
                    <a16:rowId xmlns:a16="http://schemas.microsoft.com/office/drawing/2014/main" val="2312159734"/>
                  </a:ext>
                </a:extLst>
              </a:tr>
              <a:tr h="333525">
                <a:tc>
                  <a:txBody>
                    <a:bodyPr/>
                    <a:lstStyle/>
                    <a:p>
                      <a:pPr algn="ctr"/>
                      <a:r>
                        <a:rPr lang="en-US" sz="1800" b="1" dirty="0">
                          <a:latin typeface="Calibri" panose="020F0502020204030204" pitchFamily="34" charset="0"/>
                          <a:cs typeface="Calibri" panose="020F0502020204030204" pitchFamily="34" charset="0"/>
                        </a:rPr>
                        <a:t>+ Prev 1</a:t>
                      </a:r>
                    </a:p>
                  </a:txBody>
                  <a:tcPr/>
                </a:tc>
                <a:tc>
                  <a:txBody>
                    <a:bodyPr/>
                    <a:lstStyle/>
                    <a:p>
                      <a:pPr algn="ctr"/>
                      <a:r>
                        <a:rPr lang="en-US" sz="1800" b="1" dirty="0">
                          <a:latin typeface="Calibri" panose="020F0502020204030204" pitchFamily="34" charset="0"/>
                          <a:cs typeface="Calibri" panose="020F0502020204030204" pitchFamily="34" charset="0"/>
                        </a:rPr>
                        <a:t>0.45</a:t>
                      </a:r>
                    </a:p>
                  </a:txBody>
                  <a:tcPr/>
                </a:tc>
                <a:tc>
                  <a:txBody>
                    <a:bodyPr/>
                    <a:lstStyle/>
                    <a:p>
                      <a:pPr algn="ctr"/>
                      <a:r>
                        <a:rPr lang="en-US" sz="1800" b="1" dirty="0">
                          <a:latin typeface="Calibri" panose="020F0502020204030204" pitchFamily="34" charset="0"/>
                          <a:cs typeface="Calibri" panose="020F0502020204030204" pitchFamily="34" charset="0"/>
                        </a:rPr>
                        <a:t>0.26</a:t>
                      </a:r>
                    </a:p>
                  </a:txBody>
                  <a:tcPr/>
                </a:tc>
                <a:tc>
                  <a:txBody>
                    <a:bodyPr/>
                    <a:lstStyle/>
                    <a:p>
                      <a:pPr algn="ctr"/>
                      <a:r>
                        <a:rPr lang="en-US" sz="1800" b="1" dirty="0">
                          <a:latin typeface="Calibri" panose="020F0502020204030204" pitchFamily="34" charset="0"/>
                          <a:cs typeface="Calibri" panose="020F0502020204030204" pitchFamily="34" charset="0"/>
                        </a:rPr>
                        <a:t>0.71</a:t>
                      </a:r>
                    </a:p>
                  </a:txBody>
                  <a:tcPr/>
                </a:tc>
                <a:tc>
                  <a:txBody>
                    <a:bodyPr/>
                    <a:lstStyle/>
                    <a:p>
                      <a:pPr algn="ctr"/>
                      <a:r>
                        <a:rPr lang="en-US" sz="1800" b="1" dirty="0">
                          <a:latin typeface="Calibri" panose="020F0502020204030204" pitchFamily="34" charset="0"/>
                          <a:cs typeface="Calibri" panose="020F0502020204030204" pitchFamily="34" charset="0"/>
                        </a:rPr>
                        <a:t>0.40</a:t>
                      </a:r>
                    </a:p>
                  </a:txBody>
                  <a:tcPr/>
                </a:tc>
                <a:extLst>
                  <a:ext uri="{0D108BD9-81ED-4DB2-BD59-A6C34878D82A}">
                    <a16:rowId xmlns:a16="http://schemas.microsoft.com/office/drawing/2014/main" val="3602317330"/>
                  </a:ext>
                </a:extLst>
              </a:tr>
              <a:tr h="333525">
                <a:tc>
                  <a:txBody>
                    <a:bodyPr/>
                    <a:lstStyle/>
                    <a:p>
                      <a:pPr algn="ctr"/>
                      <a:r>
                        <a:rPr lang="en-US" sz="1800" b="1" dirty="0">
                          <a:latin typeface="Calibri" panose="020F0502020204030204" pitchFamily="34" charset="0"/>
                          <a:cs typeface="Calibri" panose="020F0502020204030204" pitchFamily="34" charset="0"/>
                        </a:rPr>
                        <a:t>+ Prev 2</a:t>
                      </a:r>
                    </a:p>
                  </a:txBody>
                  <a:tcPr/>
                </a:tc>
                <a:tc>
                  <a:txBody>
                    <a:bodyPr/>
                    <a:lstStyle/>
                    <a:p>
                      <a:pPr algn="ctr"/>
                      <a:r>
                        <a:rPr lang="en-US" sz="1800" b="1" dirty="0">
                          <a:latin typeface="Calibri" panose="020F0502020204030204" pitchFamily="34" charset="0"/>
                          <a:cs typeface="Calibri" panose="020F0502020204030204" pitchFamily="34" charset="0"/>
                        </a:rPr>
                        <a:t>0.48</a:t>
                      </a:r>
                    </a:p>
                  </a:txBody>
                  <a:tcPr/>
                </a:tc>
                <a:tc>
                  <a:txBody>
                    <a:bodyPr/>
                    <a:lstStyle/>
                    <a:p>
                      <a:pPr algn="ctr"/>
                      <a:r>
                        <a:rPr lang="en-US" sz="1800" b="1" u="sng" dirty="0">
                          <a:latin typeface="Calibri" panose="020F0502020204030204" pitchFamily="34" charset="0"/>
                          <a:cs typeface="Calibri" panose="020F0502020204030204" pitchFamily="34" charset="0"/>
                        </a:rPr>
                        <a:t>0.34</a:t>
                      </a:r>
                    </a:p>
                  </a:txBody>
                  <a:tcPr/>
                </a:tc>
                <a:tc>
                  <a:txBody>
                    <a:bodyPr/>
                    <a:lstStyle/>
                    <a:p>
                      <a:pPr algn="ctr"/>
                      <a:r>
                        <a:rPr lang="en-US" sz="1800" b="1" u="sng" dirty="0">
                          <a:latin typeface="Calibri" panose="020F0502020204030204" pitchFamily="34" charset="0"/>
                          <a:cs typeface="Calibri" panose="020F0502020204030204" pitchFamily="34" charset="0"/>
                        </a:rPr>
                        <a:t>0.79</a:t>
                      </a:r>
                    </a:p>
                  </a:txBody>
                  <a:tcPr/>
                </a:tc>
                <a:tc>
                  <a:txBody>
                    <a:bodyPr/>
                    <a:lstStyle/>
                    <a:p>
                      <a:pPr algn="ctr"/>
                      <a:r>
                        <a:rPr lang="en-US" sz="1800" b="1" dirty="0">
                          <a:latin typeface="Calibri" panose="020F0502020204030204" pitchFamily="34" charset="0"/>
                          <a:cs typeface="Calibri" panose="020F0502020204030204" pitchFamily="34" charset="0"/>
                        </a:rPr>
                        <a:t>0.31</a:t>
                      </a:r>
                    </a:p>
                  </a:txBody>
                  <a:tcPr/>
                </a:tc>
                <a:extLst>
                  <a:ext uri="{0D108BD9-81ED-4DB2-BD59-A6C34878D82A}">
                    <a16:rowId xmlns:a16="http://schemas.microsoft.com/office/drawing/2014/main" val="3993441952"/>
                  </a:ext>
                </a:extLst>
              </a:tr>
            </a:tbl>
          </a:graphicData>
        </a:graphic>
      </p:graphicFrame>
      <p:sp>
        <p:nvSpPr>
          <p:cNvPr id="21" name="TextBox 20">
            <a:extLst>
              <a:ext uri="{FF2B5EF4-FFF2-40B4-BE49-F238E27FC236}">
                <a16:creationId xmlns:a16="http://schemas.microsoft.com/office/drawing/2014/main" id="{32424AB6-3CD0-6660-2DF1-045173478EB3}"/>
              </a:ext>
            </a:extLst>
          </p:cNvPr>
          <p:cNvSpPr txBox="1"/>
          <p:nvPr/>
        </p:nvSpPr>
        <p:spPr>
          <a:xfrm>
            <a:off x="1034827" y="3512145"/>
            <a:ext cx="3225339" cy="707886"/>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Context helps V and A modalities</a:t>
            </a:r>
          </a:p>
        </p:txBody>
      </p:sp>
      <p:pic>
        <p:nvPicPr>
          <p:cNvPr id="22" name="Graphic 21" descr="Star with solid fill">
            <a:extLst>
              <a:ext uri="{FF2B5EF4-FFF2-40B4-BE49-F238E27FC236}">
                <a16:creationId xmlns:a16="http://schemas.microsoft.com/office/drawing/2014/main" id="{E4B1CB4F-52C7-CE4C-1D70-B41C5FE693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761" y="3544777"/>
            <a:ext cx="400066" cy="400066"/>
          </a:xfrm>
          <a:prstGeom prst="rect">
            <a:avLst/>
          </a:prstGeom>
        </p:spPr>
      </p:pic>
      <p:sp>
        <p:nvSpPr>
          <p:cNvPr id="23" name="Rounded Rectangle 22">
            <a:extLst>
              <a:ext uri="{FF2B5EF4-FFF2-40B4-BE49-F238E27FC236}">
                <a16:creationId xmlns:a16="http://schemas.microsoft.com/office/drawing/2014/main" id="{D3D5F91A-5271-01D8-FD7D-0DF55EC3F06F}"/>
              </a:ext>
            </a:extLst>
          </p:cNvPr>
          <p:cNvSpPr/>
          <p:nvPr/>
        </p:nvSpPr>
        <p:spPr>
          <a:xfrm>
            <a:off x="634761" y="4567064"/>
            <a:ext cx="11089403" cy="1646531"/>
          </a:xfrm>
          <a:prstGeom prst="roundRect">
            <a:avLst/>
          </a:prstGeom>
          <a:noFill/>
          <a:ln w="190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44DA0093-6602-B8E9-0D49-5B8E4DD63269}"/>
              </a:ext>
            </a:extLst>
          </p:cNvPr>
          <p:cNvSpPr/>
          <p:nvPr/>
        </p:nvSpPr>
        <p:spPr>
          <a:xfrm>
            <a:off x="807714" y="4192925"/>
            <a:ext cx="4513586" cy="77595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500" dirty="0">
                <a:solidFill>
                  <a:schemeClr val="accent5">
                    <a:lumMod val="50000"/>
                  </a:schemeClr>
                </a:solidFill>
                <a:latin typeface="Calibri" panose="020F0502020204030204" pitchFamily="34" charset="0"/>
                <a:cs typeface="Calibri" panose="020F0502020204030204" pitchFamily="34" charset="0"/>
              </a:rPr>
              <a:t>GMOD: CR→GMOD pipeline. </a:t>
            </a:r>
          </a:p>
          <a:p>
            <a:r>
              <a:rPr lang="en-US" sz="2500" dirty="0">
                <a:solidFill>
                  <a:schemeClr val="accent5">
                    <a:lumMod val="50000"/>
                  </a:schemeClr>
                </a:solidFill>
                <a:latin typeface="Calibri" panose="020F0502020204030204" pitchFamily="34" charset="0"/>
                <a:cs typeface="Calibri" panose="020F0502020204030204" pitchFamily="34" charset="0"/>
              </a:rPr>
              <a:t>Llama Zero Shot</a:t>
            </a:r>
          </a:p>
        </p:txBody>
      </p:sp>
      <p:graphicFrame>
        <p:nvGraphicFramePr>
          <p:cNvPr id="25" name="Table 24">
            <a:extLst>
              <a:ext uri="{FF2B5EF4-FFF2-40B4-BE49-F238E27FC236}">
                <a16:creationId xmlns:a16="http://schemas.microsoft.com/office/drawing/2014/main" id="{DB891C26-84E1-5843-16BD-C31DC8E52BE1}"/>
              </a:ext>
            </a:extLst>
          </p:cNvPr>
          <p:cNvGraphicFramePr>
            <a:graphicFrameLocks noGrp="1"/>
          </p:cNvGraphicFramePr>
          <p:nvPr>
            <p:extLst>
              <p:ext uri="{D42A27DB-BD31-4B8C-83A1-F6EECF244321}">
                <p14:modId xmlns:p14="http://schemas.microsoft.com/office/powerpoint/2010/main" val="3762953300"/>
              </p:ext>
            </p:extLst>
          </p:nvPr>
        </p:nvGraphicFramePr>
        <p:xfrm>
          <a:off x="7062912" y="4628635"/>
          <a:ext cx="4399302" cy="1584960"/>
        </p:xfrm>
        <a:graphic>
          <a:graphicData uri="http://schemas.openxmlformats.org/drawingml/2006/table">
            <a:tbl>
              <a:tblPr firstRow="1" bandRow="1">
                <a:tableStyleId>{BDBED569-4797-4DF1-A0F4-6AAB3CD982D8}</a:tableStyleId>
              </a:tblPr>
              <a:tblGrid>
                <a:gridCol w="1073243">
                  <a:extLst>
                    <a:ext uri="{9D8B030D-6E8A-4147-A177-3AD203B41FA5}">
                      <a16:colId xmlns:a16="http://schemas.microsoft.com/office/drawing/2014/main" val="1093042307"/>
                    </a:ext>
                  </a:extLst>
                </a:gridCol>
                <a:gridCol w="1073243">
                  <a:extLst>
                    <a:ext uri="{9D8B030D-6E8A-4147-A177-3AD203B41FA5}">
                      <a16:colId xmlns:a16="http://schemas.microsoft.com/office/drawing/2014/main" val="1492307451"/>
                    </a:ext>
                  </a:extLst>
                </a:gridCol>
                <a:gridCol w="1073243">
                  <a:extLst>
                    <a:ext uri="{9D8B030D-6E8A-4147-A177-3AD203B41FA5}">
                      <a16:colId xmlns:a16="http://schemas.microsoft.com/office/drawing/2014/main" val="707495414"/>
                    </a:ext>
                  </a:extLst>
                </a:gridCol>
                <a:gridCol w="1179573">
                  <a:extLst>
                    <a:ext uri="{9D8B030D-6E8A-4147-A177-3AD203B41FA5}">
                      <a16:colId xmlns:a16="http://schemas.microsoft.com/office/drawing/2014/main" val="330616884"/>
                    </a:ext>
                  </a:extLst>
                </a:gridCol>
              </a:tblGrid>
              <a:tr h="333525">
                <a:tc>
                  <a:txBody>
                    <a:bodyPr/>
                    <a:lstStyle/>
                    <a:p>
                      <a:pPr algn="ctr"/>
                      <a:r>
                        <a:rPr lang="en-US" sz="2000" b="1" dirty="0">
                          <a:latin typeface="Calibri" panose="020F0502020204030204" pitchFamily="34" charset="0"/>
                          <a:cs typeface="Calibri" panose="020F0502020204030204" pitchFamily="34" charset="0"/>
                        </a:rPr>
                        <a:t>Context</a:t>
                      </a:r>
                    </a:p>
                  </a:txBody>
                  <a:tcPr/>
                </a:tc>
                <a:tc>
                  <a:txBody>
                    <a:bodyPr/>
                    <a:lstStyle/>
                    <a:p>
                      <a:pPr algn="ctr"/>
                      <a:r>
                        <a:rPr lang="en-US" sz="2000" b="1" dirty="0">
                          <a:latin typeface="Calibri" panose="020F0502020204030204" pitchFamily="34" charset="0"/>
                          <a:cs typeface="Calibri" panose="020F0502020204030204" pitchFamily="34" charset="0"/>
                        </a:rPr>
                        <a:t>A</a:t>
                      </a:r>
                    </a:p>
                  </a:txBody>
                  <a:tcPr/>
                </a:tc>
                <a:tc>
                  <a:txBody>
                    <a:bodyPr/>
                    <a:lstStyle/>
                    <a:p>
                      <a:pPr algn="ctr"/>
                      <a:r>
                        <a:rPr lang="en-US" sz="2000" b="1" dirty="0">
                          <a:latin typeface="Calibri" panose="020F0502020204030204" pitchFamily="34" charset="0"/>
                          <a:cs typeface="Calibri" panose="020F0502020204030204" pitchFamily="34" charset="0"/>
                        </a:rPr>
                        <a:t>V</a:t>
                      </a:r>
                    </a:p>
                  </a:txBody>
                  <a:tcPr/>
                </a:tc>
                <a:tc>
                  <a:txBody>
                    <a:bodyPr/>
                    <a:lstStyle/>
                    <a:p>
                      <a:pPr algn="ctr"/>
                      <a:r>
                        <a:rPr lang="en-US" sz="2000" b="1" dirty="0">
                          <a:latin typeface="Calibri" panose="020F0502020204030204" pitchFamily="34" charset="0"/>
                          <a:cs typeface="Calibri" panose="020F0502020204030204" pitchFamily="34" charset="0"/>
                        </a:rPr>
                        <a:t>K</a:t>
                      </a:r>
                    </a:p>
                  </a:txBody>
                  <a:tcPr/>
                </a:tc>
                <a:extLst>
                  <a:ext uri="{0D108BD9-81ED-4DB2-BD59-A6C34878D82A}">
                    <a16:rowId xmlns:a16="http://schemas.microsoft.com/office/drawing/2014/main" val="4173713212"/>
                  </a:ext>
                </a:extLst>
              </a:tr>
              <a:tr h="333525">
                <a:tc>
                  <a:txBody>
                    <a:bodyPr/>
                    <a:lstStyle/>
                    <a:p>
                      <a:pPr algn="ctr"/>
                      <a:r>
                        <a:rPr lang="en-US" sz="2000" b="1" dirty="0">
                          <a:latin typeface="Calibri" panose="020F0502020204030204" pitchFamily="34" charset="0"/>
                          <a:cs typeface="Calibri" panose="020F0502020204030204" pitchFamily="34" charset="0"/>
                        </a:rPr>
                        <a:t>Base</a:t>
                      </a:r>
                    </a:p>
                  </a:txBody>
                  <a:tcPr/>
                </a:tc>
                <a:tc>
                  <a:txBody>
                    <a:bodyPr/>
                    <a:lstStyle/>
                    <a:p>
                      <a:pPr algn="ctr"/>
                      <a:r>
                        <a:rPr lang="en-US" sz="2000" b="1" dirty="0">
                          <a:latin typeface="Calibri" panose="020F0502020204030204" pitchFamily="34" charset="0"/>
                          <a:cs typeface="Calibri" panose="020F0502020204030204" pitchFamily="34" charset="0"/>
                        </a:rPr>
                        <a:t>0.28</a:t>
                      </a:r>
                    </a:p>
                  </a:txBody>
                  <a:tcPr/>
                </a:tc>
                <a:tc>
                  <a:txBody>
                    <a:bodyPr/>
                    <a:lstStyle/>
                    <a:p>
                      <a:pPr algn="ctr"/>
                      <a:r>
                        <a:rPr lang="en-US" sz="2000" b="1" u="sng" dirty="0">
                          <a:latin typeface="Calibri" panose="020F0502020204030204" pitchFamily="34" charset="0"/>
                          <a:cs typeface="Calibri" panose="020F0502020204030204" pitchFamily="34" charset="0"/>
                        </a:rPr>
                        <a:t>0.61</a:t>
                      </a:r>
                    </a:p>
                  </a:txBody>
                  <a:tcPr/>
                </a:tc>
                <a:tc>
                  <a:txBody>
                    <a:bodyPr/>
                    <a:lstStyle/>
                    <a:p>
                      <a:pPr algn="ctr"/>
                      <a:r>
                        <a:rPr lang="en-US" sz="2000" b="1" dirty="0">
                          <a:latin typeface="Calibri" panose="020F0502020204030204" pitchFamily="34" charset="0"/>
                          <a:cs typeface="Calibri" panose="020F0502020204030204" pitchFamily="34" charset="0"/>
                        </a:rPr>
                        <a:t>0.26</a:t>
                      </a:r>
                    </a:p>
                  </a:txBody>
                  <a:tcPr/>
                </a:tc>
                <a:extLst>
                  <a:ext uri="{0D108BD9-81ED-4DB2-BD59-A6C34878D82A}">
                    <a16:rowId xmlns:a16="http://schemas.microsoft.com/office/drawing/2014/main" val="2312159734"/>
                  </a:ext>
                </a:extLst>
              </a:tr>
              <a:tr h="333525">
                <a:tc>
                  <a:txBody>
                    <a:bodyPr/>
                    <a:lstStyle/>
                    <a:p>
                      <a:pPr algn="ctr"/>
                      <a:r>
                        <a:rPr lang="en-US" sz="2000" b="1" dirty="0">
                          <a:latin typeface="Calibri" panose="020F0502020204030204" pitchFamily="34" charset="0"/>
                          <a:cs typeface="Calibri" panose="020F0502020204030204" pitchFamily="34" charset="0"/>
                        </a:rPr>
                        <a:t>+ Prev 1</a:t>
                      </a:r>
                    </a:p>
                  </a:txBody>
                  <a:tcPr/>
                </a:tc>
                <a:tc>
                  <a:txBody>
                    <a:bodyPr/>
                    <a:lstStyle/>
                    <a:p>
                      <a:pPr algn="ctr"/>
                      <a:r>
                        <a:rPr lang="en-US" sz="2000" b="1" dirty="0">
                          <a:latin typeface="Calibri" panose="020F0502020204030204" pitchFamily="34" charset="0"/>
                          <a:cs typeface="Calibri" panose="020F0502020204030204" pitchFamily="34" charset="0"/>
                        </a:rPr>
                        <a:t>0.29</a:t>
                      </a:r>
                    </a:p>
                  </a:txBody>
                  <a:tcPr/>
                </a:tc>
                <a:tc>
                  <a:txBody>
                    <a:bodyPr/>
                    <a:lstStyle/>
                    <a:p>
                      <a:pPr algn="ctr"/>
                      <a:r>
                        <a:rPr lang="en-US" sz="2000" b="1" dirty="0">
                          <a:latin typeface="Calibri" panose="020F0502020204030204" pitchFamily="34" charset="0"/>
                          <a:cs typeface="Calibri" panose="020F0502020204030204" pitchFamily="34" charset="0"/>
                        </a:rPr>
                        <a:t>0.56</a:t>
                      </a:r>
                    </a:p>
                  </a:txBody>
                  <a:tcPr/>
                </a:tc>
                <a:tc>
                  <a:txBody>
                    <a:bodyPr/>
                    <a:lstStyle/>
                    <a:p>
                      <a:pPr algn="ctr"/>
                      <a:r>
                        <a:rPr lang="en-US" sz="2000" b="1" dirty="0">
                          <a:latin typeface="Calibri" panose="020F0502020204030204" pitchFamily="34" charset="0"/>
                          <a:cs typeface="Calibri" panose="020F0502020204030204" pitchFamily="34" charset="0"/>
                        </a:rPr>
                        <a:t>0.26</a:t>
                      </a:r>
                    </a:p>
                  </a:txBody>
                  <a:tcPr/>
                </a:tc>
                <a:extLst>
                  <a:ext uri="{0D108BD9-81ED-4DB2-BD59-A6C34878D82A}">
                    <a16:rowId xmlns:a16="http://schemas.microsoft.com/office/drawing/2014/main" val="3602317330"/>
                  </a:ext>
                </a:extLst>
              </a:tr>
              <a:tr h="333525">
                <a:tc>
                  <a:txBody>
                    <a:bodyPr/>
                    <a:lstStyle/>
                    <a:p>
                      <a:pPr algn="ctr"/>
                      <a:r>
                        <a:rPr lang="en-US" sz="2000" b="1" dirty="0">
                          <a:latin typeface="Calibri" panose="020F0502020204030204" pitchFamily="34" charset="0"/>
                          <a:cs typeface="Calibri" panose="020F0502020204030204" pitchFamily="34" charset="0"/>
                        </a:rPr>
                        <a:t>+ Prev 2</a:t>
                      </a:r>
                    </a:p>
                  </a:txBody>
                  <a:tcPr/>
                </a:tc>
                <a:tc>
                  <a:txBody>
                    <a:bodyPr/>
                    <a:lstStyle/>
                    <a:p>
                      <a:pPr algn="ctr"/>
                      <a:r>
                        <a:rPr lang="en-US" sz="2000" b="1" u="sng" dirty="0">
                          <a:latin typeface="Calibri" panose="020F0502020204030204" pitchFamily="34" charset="0"/>
                          <a:cs typeface="Calibri" panose="020F0502020204030204" pitchFamily="34" charset="0"/>
                        </a:rPr>
                        <a:t>0.30</a:t>
                      </a:r>
                    </a:p>
                  </a:txBody>
                  <a:tcPr/>
                </a:tc>
                <a:tc>
                  <a:txBody>
                    <a:bodyPr/>
                    <a:lstStyle/>
                    <a:p>
                      <a:pPr algn="ctr"/>
                      <a:r>
                        <a:rPr lang="en-US" sz="2000" b="1" dirty="0">
                          <a:latin typeface="Calibri" panose="020F0502020204030204" pitchFamily="34" charset="0"/>
                          <a:cs typeface="Calibri" panose="020F0502020204030204" pitchFamily="34" charset="0"/>
                        </a:rPr>
                        <a:t>0.56</a:t>
                      </a:r>
                    </a:p>
                  </a:txBody>
                  <a:tcPr/>
                </a:tc>
                <a:tc>
                  <a:txBody>
                    <a:bodyPr/>
                    <a:lstStyle/>
                    <a:p>
                      <a:pPr algn="ctr"/>
                      <a:r>
                        <a:rPr lang="en-US" sz="2000" b="1" u="sng" dirty="0">
                          <a:latin typeface="Calibri" panose="020F0502020204030204" pitchFamily="34" charset="0"/>
                          <a:cs typeface="Calibri" panose="020F0502020204030204" pitchFamily="34" charset="0"/>
                        </a:rPr>
                        <a:t>0.27</a:t>
                      </a:r>
                    </a:p>
                  </a:txBody>
                  <a:tcPr/>
                </a:tc>
                <a:extLst>
                  <a:ext uri="{0D108BD9-81ED-4DB2-BD59-A6C34878D82A}">
                    <a16:rowId xmlns:a16="http://schemas.microsoft.com/office/drawing/2014/main" val="3993441952"/>
                  </a:ext>
                </a:extLst>
              </a:tr>
            </a:tbl>
          </a:graphicData>
        </a:graphic>
      </p:graphicFrame>
      <p:sp>
        <p:nvSpPr>
          <p:cNvPr id="26" name="TextBox 25">
            <a:extLst>
              <a:ext uri="{FF2B5EF4-FFF2-40B4-BE49-F238E27FC236}">
                <a16:creationId xmlns:a16="http://schemas.microsoft.com/office/drawing/2014/main" id="{8170D0FE-6D05-C394-6A6B-14DB8F3E72CB}"/>
              </a:ext>
            </a:extLst>
          </p:cNvPr>
          <p:cNvSpPr txBox="1"/>
          <p:nvPr/>
        </p:nvSpPr>
        <p:spPr>
          <a:xfrm>
            <a:off x="1008437" y="4978650"/>
            <a:ext cx="6054474" cy="1323439"/>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Llama zero-shot  0.50 macro F1 across context settings.  </a:t>
            </a:r>
          </a:p>
          <a:p>
            <a:r>
              <a:rPr lang="en-US" sz="2000" dirty="0">
                <a:latin typeface="Calibri" panose="020F0502020204030204" pitchFamily="34" charset="0"/>
                <a:cs typeface="Calibri" panose="020F0502020204030204" pitchFamily="34" charset="0"/>
              </a:rPr>
              <a:t>High CR recall passes many true CRs forward</a:t>
            </a:r>
          </a:p>
          <a:p>
            <a:r>
              <a:rPr lang="en-US" sz="2000" dirty="0">
                <a:latin typeface="Calibri" panose="020F0502020204030204" pitchFamily="34" charset="0"/>
                <a:cs typeface="Calibri" panose="020F0502020204030204" pitchFamily="34" charset="0"/>
              </a:rPr>
              <a:t>Low precision also sends non-CRs into A/V/K classification.</a:t>
            </a:r>
          </a:p>
        </p:txBody>
      </p:sp>
      <p:pic>
        <p:nvPicPr>
          <p:cNvPr id="27" name="Graphic 26" descr="Star with solid fill">
            <a:extLst>
              <a:ext uri="{FF2B5EF4-FFF2-40B4-BE49-F238E27FC236}">
                <a16:creationId xmlns:a16="http://schemas.microsoft.com/office/drawing/2014/main" id="{36BF3622-7C75-200E-3743-B3BD43F9C2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75" y="5112157"/>
            <a:ext cx="400066" cy="400066"/>
          </a:xfrm>
          <a:prstGeom prst="rect">
            <a:avLst/>
          </a:prstGeom>
        </p:spPr>
      </p:pic>
      <p:sp>
        <p:nvSpPr>
          <p:cNvPr id="28" name="Rounded Rectangle 27">
            <a:extLst>
              <a:ext uri="{FF2B5EF4-FFF2-40B4-BE49-F238E27FC236}">
                <a16:creationId xmlns:a16="http://schemas.microsoft.com/office/drawing/2014/main" id="{C7337AD7-D1B3-2E05-9A5B-F8F395F38653}"/>
              </a:ext>
            </a:extLst>
          </p:cNvPr>
          <p:cNvSpPr/>
          <p:nvPr/>
        </p:nvSpPr>
        <p:spPr>
          <a:xfrm>
            <a:off x="6347980" y="1327263"/>
            <a:ext cx="1432561" cy="810776"/>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accent2">
                    <a:lumMod val="50000"/>
                  </a:schemeClr>
                </a:solidFill>
                <a:latin typeface="Calibri" panose="020F0502020204030204" pitchFamily="34" charset="0"/>
                <a:cs typeface="Calibri" panose="020F0502020204030204" pitchFamily="34" charset="0"/>
              </a:rPr>
              <a:t>Base</a:t>
            </a:r>
          </a:p>
          <a:p>
            <a:pPr algn="ctr"/>
            <a:r>
              <a:rPr lang="en-US" sz="2200" b="1" dirty="0">
                <a:solidFill>
                  <a:schemeClr val="accent2">
                    <a:lumMod val="50000"/>
                  </a:schemeClr>
                </a:solidFill>
                <a:latin typeface="Calibri" panose="020F0502020204030204" pitchFamily="34" charset="0"/>
                <a:cs typeface="Calibri" panose="020F0502020204030204" pitchFamily="34" charset="0"/>
              </a:rPr>
              <a:t>0.65</a:t>
            </a:r>
          </a:p>
        </p:txBody>
      </p:sp>
      <p:sp>
        <p:nvSpPr>
          <p:cNvPr id="29" name="Rounded Rectangle 28">
            <a:extLst>
              <a:ext uri="{FF2B5EF4-FFF2-40B4-BE49-F238E27FC236}">
                <a16:creationId xmlns:a16="http://schemas.microsoft.com/office/drawing/2014/main" id="{25FE2A41-00DB-7827-5355-8804B45D323C}"/>
              </a:ext>
            </a:extLst>
          </p:cNvPr>
          <p:cNvSpPr/>
          <p:nvPr/>
        </p:nvSpPr>
        <p:spPr>
          <a:xfrm>
            <a:off x="9889714" y="1300753"/>
            <a:ext cx="1432561" cy="810776"/>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accent2">
                    <a:lumMod val="50000"/>
                  </a:schemeClr>
                </a:solidFill>
                <a:latin typeface="Calibri" panose="020F0502020204030204" pitchFamily="34" charset="0"/>
                <a:cs typeface="Calibri" panose="020F0502020204030204" pitchFamily="34" charset="0"/>
              </a:rPr>
              <a:t>+Prev 2</a:t>
            </a:r>
          </a:p>
          <a:p>
            <a:pPr algn="ctr"/>
            <a:r>
              <a:rPr lang="en-US" sz="2200" b="1" dirty="0">
                <a:solidFill>
                  <a:schemeClr val="accent2">
                    <a:lumMod val="50000"/>
                  </a:schemeClr>
                </a:solidFill>
                <a:latin typeface="Calibri" panose="020F0502020204030204" pitchFamily="34" charset="0"/>
                <a:cs typeface="Calibri" panose="020F0502020204030204" pitchFamily="34" charset="0"/>
              </a:rPr>
              <a:t>0.61</a:t>
            </a:r>
          </a:p>
        </p:txBody>
      </p:sp>
      <p:sp>
        <p:nvSpPr>
          <p:cNvPr id="30" name="Rounded Rectangle 29">
            <a:extLst>
              <a:ext uri="{FF2B5EF4-FFF2-40B4-BE49-F238E27FC236}">
                <a16:creationId xmlns:a16="http://schemas.microsoft.com/office/drawing/2014/main" id="{B6D07E87-E065-4EBC-1B97-4B0432BDA08C}"/>
              </a:ext>
            </a:extLst>
          </p:cNvPr>
          <p:cNvSpPr/>
          <p:nvPr/>
        </p:nvSpPr>
        <p:spPr>
          <a:xfrm>
            <a:off x="8115991" y="1300753"/>
            <a:ext cx="1432561" cy="810776"/>
          </a:xfrm>
          <a:prstGeom prst="roundRect">
            <a:avLst/>
          </a:prstGeom>
          <a:solidFill>
            <a:schemeClr val="accent2">
              <a:lumMod val="40000"/>
              <a:lumOff val="60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u="sng" dirty="0">
                <a:solidFill>
                  <a:schemeClr val="accent2">
                    <a:lumMod val="50000"/>
                  </a:schemeClr>
                </a:solidFill>
                <a:latin typeface="Calibri" panose="020F0502020204030204" pitchFamily="34" charset="0"/>
                <a:cs typeface="Calibri" panose="020F0502020204030204" pitchFamily="34" charset="0"/>
              </a:rPr>
              <a:t>+Prev 1</a:t>
            </a:r>
          </a:p>
          <a:p>
            <a:pPr algn="ctr"/>
            <a:r>
              <a:rPr lang="en-US" sz="2200" b="1" u="sng" dirty="0">
                <a:solidFill>
                  <a:schemeClr val="accent2">
                    <a:lumMod val="50000"/>
                  </a:schemeClr>
                </a:solidFill>
                <a:latin typeface="Calibri" panose="020F0502020204030204" pitchFamily="34" charset="0"/>
                <a:cs typeface="Calibri" panose="020F0502020204030204" pitchFamily="34" charset="0"/>
              </a:rPr>
              <a:t>0.66</a:t>
            </a:r>
          </a:p>
        </p:txBody>
      </p:sp>
      <p:sp>
        <p:nvSpPr>
          <p:cNvPr id="31" name="TextBox 30">
            <a:extLst>
              <a:ext uri="{FF2B5EF4-FFF2-40B4-BE49-F238E27FC236}">
                <a16:creationId xmlns:a16="http://schemas.microsoft.com/office/drawing/2014/main" id="{495B728E-91C0-C2B3-0933-9145E5E39FC8}"/>
              </a:ext>
            </a:extLst>
          </p:cNvPr>
          <p:cNvSpPr txBox="1"/>
          <p:nvPr/>
        </p:nvSpPr>
        <p:spPr>
          <a:xfrm>
            <a:off x="1008437" y="1345777"/>
            <a:ext cx="5334449" cy="1015663"/>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Best CR-ID: DistilBERT +Prev1 suggesting immediately preceding turn is most useful for detecting CRs</a:t>
            </a:r>
          </a:p>
        </p:txBody>
      </p:sp>
      <p:pic>
        <p:nvPicPr>
          <p:cNvPr id="32" name="Graphic 31" descr="Star with solid fill">
            <a:extLst>
              <a:ext uri="{FF2B5EF4-FFF2-40B4-BE49-F238E27FC236}">
                <a16:creationId xmlns:a16="http://schemas.microsoft.com/office/drawing/2014/main" id="{C93A8998-688D-F477-BF24-6CBA43603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3973" y="1396263"/>
            <a:ext cx="400066" cy="400066"/>
          </a:xfrm>
          <a:prstGeom prst="rect">
            <a:avLst/>
          </a:prstGeom>
        </p:spPr>
      </p:pic>
    </p:spTree>
    <p:extLst>
      <p:ext uri="{BB962C8B-B14F-4D97-AF65-F5344CB8AC3E}">
        <p14:creationId xmlns:p14="http://schemas.microsoft.com/office/powerpoint/2010/main" val="3239528919"/>
      </p:ext>
    </p:extLst>
  </p:cSld>
  <p:clrMapOvr>
    <a:masterClrMapping/>
  </p:clrMapOvr>
</p:sld>
</file>

<file path=ppt/theme/theme1.xml><?xml version="1.0" encoding="utf-8"?>
<a:theme xmlns:a="http://schemas.openxmlformats.org/drawingml/2006/main" name="ChitchatVTI">
  <a:themeElements>
    <a:clrScheme name="bubbles">
      <a:dk1>
        <a:sysClr val="windowText" lastClr="000000"/>
      </a:dk1>
      <a:lt1>
        <a:sysClr val="window" lastClr="FFFFFF"/>
      </a:lt1>
      <a:dk2>
        <a:srgbClr val="071819"/>
      </a:dk2>
      <a:lt2>
        <a:srgbClr val="D5F2EB"/>
      </a:lt2>
      <a:accent1>
        <a:srgbClr val="38B698"/>
      </a:accent1>
      <a:accent2>
        <a:srgbClr val="528BD6"/>
      </a:accent2>
      <a:accent3>
        <a:srgbClr val="31A7C7"/>
      </a:accent3>
      <a:accent4>
        <a:srgbClr val="F15843"/>
      </a:accent4>
      <a:accent5>
        <a:srgbClr val="DE3A6D"/>
      </a:accent5>
      <a:accent6>
        <a:srgbClr val="7AAE3C"/>
      </a:accent6>
      <a:hlink>
        <a:srgbClr val="2F9880"/>
      </a:hlink>
      <a:folHlink>
        <a:srgbClr val="396CD1"/>
      </a:folHlink>
    </a:clrScheme>
    <a:fontScheme name="The Hand">
      <a:majorFont>
        <a:latin typeface="The Serif Hand"/>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itchatVTI" id="{08BB1610-1071-4750-BA6F-EA15E875FFCD}" vid="{D7BDF053-2181-45AE-9365-FFAA906CB4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bubbles">
    <a:dk1>
      <a:sysClr val="windowText" lastClr="000000"/>
    </a:dk1>
    <a:lt1>
      <a:sysClr val="window" lastClr="FFFFFF"/>
    </a:lt1>
    <a:dk2>
      <a:srgbClr val="071819"/>
    </a:dk2>
    <a:lt2>
      <a:srgbClr val="D5F2EB"/>
    </a:lt2>
    <a:accent1>
      <a:srgbClr val="38B698"/>
    </a:accent1>
    <a:accent2>
      <a:srgbClr val="528BD6"/>
    </a:accent2>
    <a:accent3>
      <a:srgbClr val="31A7C7"/>
    </a:accent3>
    <a:accent4>
      <a:srgbClr val="F15843"/>
    </a:accent4>
    <a:accent5>
      <a:srgbClr val="DE3A6D"/>
    </a:accent5>
    <a:accent6>
      <a:srgbClr val="7AAE3C"/>
    </a:accent6>
    <a:hlink>
      <a:srgbClr val="2F9880"/>
    </a:hlink>
    <a:folHlink>
      <a:srgbClr val="396CD1"/>
    </a:folHlink>
  </a:clrScheme>
</a:themeOverride>
</file>

<file path=ppt/theme/themeOverride2.xml><?xml version="1.0" encoding="utf-8"?>
<a:themeOverride xmlns:a="http://schemas.openxmlformats.org/drawingml/2006/main">
  <a:clrScheme name="bubbles">
    <a:dk1>
      <a:sysClr val="windowText" lastClr="000000"/>
    </a:dk1>
    <a:lt1>
      <a:sysClr val="window" lastClr="FFFFFF"/>
    </a:lt1>
    <a:dk2>
      <a:srgbClr val="071819"/>
    </a:dk2>
    <a:lt2>
      <a:srgbClr val="D5F2EB"/>
    </a:lt2>
    <a:accent1>
      <a:srgbClr val="38B698"/>
    </a:accent1>
    <a:accent2>
      <a:srgbClr val="528BD6"/>
    </a:accent2>
    <a:accent3>
      <a:srgbClr val="31A7C7"/>
    </a:accent3>
    <a:accent4>
      <a:srgbClr val="F15843"/>
    </a:accent4>
    <a:accent5>
      <a:srgbClr val="DE3A6D"/>
    </a:accent5>
    <a:accent6>
      <a:srgbClr val="7AAE3C"/>
    </a:accent6>
    <a:hlink>
      <a:srgbClr val="2F9880"/>
    </a:hlink>
    <a:folHlink>
      <a:srgbClr val="396CD1"/>
    </a:folHlink>
  </a:clrScheme>
</a:themeOverride>
</file>

<file path=docProps/app.xml><?xml version="1.0" encoding="utf-8"?>
<Properties xmlns="http://schemas.openxmlformats.org/officeDocument/2006/extended-properties" xmlns:vt="http://schemas.openxmlformats.org/officeDocument/2006/docPropsVTypes">
  <Template/>
  <TotalTime>9881</TotalTime>
  <Words>5238</Words>
  <Application>Microsoft Macintosh PowerPoint</Application>
  <PresentationFormat>Widescreen</PresentationFormat>
  <Paragraphs>500</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Arial</vt:lpstr>
      <vt:lpstr>Calibri</vt:lpstr>
      <vt:lpstr>Calibri Light</vt:lpstr>
      <vt:lpstr>Cambria Math</vt:lpstr>
      <vt:lpstr>The Hand</vt:lpstr>
      <vt:lpstr>The Serif Hand</vt:lpstr>
      <vt:lpstr>ChitchatVTI</vt:lpstr>
      <vt:lpstr>ClarVis: A Dataset of Clarification Requests and Grounding in Collaborative Data Visualization Dialogues</vt:lpstr>
      <vt:lpstr>Roadmap</vt:lpstr>
      <vt:lpstr>What is a Clarification Request (CR)?</vt:lpstr>
      <vt:lpstr>Grounded Clarification</vt:lpstr>
      <vt:lpstr>Grounding Modalities and ClarVis</vt:lpstr>
      <vt:lpstr>      Origins of ClarVis: Source User Study [Bhattacharya et al. (2024)]</vt:lpstr>
      <vt:lpstr>What Does Grounding Modality Look Like in Dialogue?</vt:lpstr>
      <vt:lpstr>ClarVis Annotation</vt:lpstr>
      <vt:lpstr>Most Clarifications are Grounded in Recent Context</vt:lpstr>
      <vt:lpstr>ClarVis Dataset At A Glance</vt:lpstr>
      <vt:lpstr>Recovering Clarifications from Dialogue Text</vt:lpstr>
      <vt:lpstr>CR-ID Results</vt:lpstr>
      <vt:lpstr>Labeling Grounding Modality</vt:lpstr>
      <vt:lpstr>GMOD Results</vt:lpstr>
      <vt:lpstr>Error Analysis</vt:lpstr>
      <vt:lpstr>Takeaways</vt:lpstr>
      <vt:lpstr>Thank you!</vt:lpstr>
      <vt:lpstr>Appendix</vt:lpstr>
      <vt:lpstr>  Clarification Requests are infrequent but essential</vt:lpstr>
      <vt:lpstr>  Why ClarVis? </vt:lpstr>
      <vt:lpstr>PowerPoint Presentation</vt:lpstr>
      <vt:lpstr>PowerPoint Presentation</vt:lpstr>
      <vt:lpstr>A Question is not Always a Clarification Request</vt:lpstr>
      <vt:lpstr>Baseline Experiments and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Abari Bhattacharya</dc:creator>
  <cp:lastModifiedBy>Abari Bhattacharya</cp:lastModifiedBy>
  <cp:revision>205</cp:revision>
  <dcterms:created xsi:type="dcterms:W3CDTF">2026-07-24T15:30:46Z</dcterms:created>
  <dcterms:modified xsi:type="dcterms:W3CDTF">2026-08-02T05:18:41Z</dcterms:modified>
</cp:coreProperties>
</file>