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13950F-DA3C-4E20-A4AD-45A16CC80013}">
  <a:tblStyle styleId="{DE13950F-DA3C-4E20-A4AD-45A16CC800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863840" y="1691640"/>
            <a:ext cx="3566160" cy="3566160"/>
          </a:xfrm>
          <a:prstGeom prst="ellipse">
            <a:avLst/>
          </a:prstGeom>
          <a:solidFill>
            <a:srgbClr val="12171F">
              <a:alpha val="0"/>
            </a:srgbClr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75320" y="2103120"/>
            <a:ext cx="2743200" cy="2743200"/>
          </a:xfrm>
          <a:prstGeom prst="ellipse">
            <a:avLst/>
          </a:prstGeom>
          <a:solidFill>
            <a:srgbClr val="12171F">
              <a:alpha val="0"/>
            </a:srgbClr>
          </a:solidFill>
          <a:ln cap="flat" cmpd="sng" w="12700">
            <a:solidFill>
              <a:srgbClr val="E8541E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686800" y="2514600"/>
            <a:ext cx="1920240" cy="1920240"/>
          </a:xfrm>
          <a:prstGeom prst="ellipse">
            <a:avLst/>
          </a:prstGeom>
          <a:solidFill>
            <a:srgbClr val="12171F">
              <a:alpha val="0"/>
            </a:srgbClr>
          </a:solidFill>
          <a:ln cap="flat" cmpd="sng" w="12700">
            <a:solidFill>
              <a:srgbClr val="E8541E">
                <a:alpha val="5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098280" y="2926080"/>
            <a:ext cx="1097280" cy="1097280"/>
          </a:xfrm>
          <a:prstGeom prst="ellipse">
            <a:avLst/>
          </a:prstGeom>
          <a:solidFill>
            <a:srgbClr val="12171F">
              <a:alpha val="0"/>
            </a:srgbClr>
          </a:solidFill>
          <a:ln cap="flat" cmpd="sng" w="25400">
            <a:solidFill>
              <a:srgbClr val="E8541E">
                <a:alpha val="3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445752" y="3273552"/>
            <a:ext cx="402336" cy="402336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66928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SIGDIAL 2026  ·  ORAL PRESENTATION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" y="1783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0"/>
              <a:buFont typeface="Cambria"/>
              <a:buNone/>
            </a:pPr>
            <a:r>
              <a:rPr b="1" i="0" lang="en-US" sz="7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DiPS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" y="29260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BE4DA"/>
              </a:buClr>
              <a:buSzPts val="2700"/>
              <a:buFont typeface="Cambria"/>
              <a:buNone/>
            </a:pPr>
            <a:r>
              <a:rPr b="0" i="0" lang="en-US" sz="2700" u="none" cap="none" strike="noStrike">
                <a:solidFill>
                  <a:srgbClr val="FBE4DA"/>
                </a:solidFill>
                <a:latin typeface="Cambria"/>
                <a:ea typeface="Cambria"/>
                <a:cs typeface="Cambria"/>
                <a:sym typeface="Cambria"/>
              </a:rPr>
              <a:t>Dialogue Policy Selection for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BE4DA"/>
              </a:buClr>
              <a:buSzPts val="2700"/>
              <a:buFont typeface="Cambria"/>
              <a:buNone/>
            </a:pPr>
            <a:r>
              <a:rPr b="0" i="0" lang="en-US" sz="2700" u="none" cap="none" strike="noStrike">
                <a:solidFill>
                  <a:srgbClr val="FBE4DA"/>
                </a:solidFill>
                <a:latin typeface="Cambria"/>
                <a:ea typeface="Cambria"/>
                <a:cs typeface="Cambria"/>
                <a:sym typeface="Cambria"/>
              </a:rPr>
              <a:t>High-Stakes Persuasion Agents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6928" y="43434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Tianyi Zhang*  ·  Mousumi Das*  ·  Abrar Anwar  ·  Jesse Thomason  ·  David Traum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46451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6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D96A2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A wildfire is coming. Someone won't leave.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drone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51790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969264" y="146304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9264" y="1664208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Hi. Do you need assistance leaving?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person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" y="22768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969264" y="22219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RESIDENT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69264" y="242316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I'm not leaving. I have too much work here.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drone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303580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969264" y="298094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69264" y="3182112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You need to leave. It's not safe.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person.png" id="44" name="Google Shape;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" y="37947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969264" y="373989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RESIDENT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69264" y="3941064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You really think it's that bad?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drone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45537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969264" y="44988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69264" y="4700016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It is. You must leave now. Do you need a vehicle?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person.png"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" y="53126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969264" y="52578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RESIDENT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69264" y="5458968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2C3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Alright, I'll </a:t>
            </a:r>
            <a:r>
              <a:rPr lang="en-US" sz="1350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wait for</a:t>
            </a: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1350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vehicle</a:t>
            </a:r>
            <a:r>
              <a:rPr b="0" i="0" lang="en-US" sz="1350" u="none" cap="none" strike="noStrike">
                <a:solidFill>
                  <a:srgbClr val="2C333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85216" y="61264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The operator reaches residents through a drone relay (Chaffey et al., 2020).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903720" y="1481328"/>
            <a:ext cx="4709160" cy="1783080"/>
          </a:xfrm>
          <a:prstGeom prst="roundRect">
            <a:avLst>
              <a:gd fmla="val 3590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178040" y="166420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Stakes are asymmetric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178040" y="201168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5A443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A failed dialogue is not a bad user experience. It is property loss, injury, or death.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903720" y="3429000"/>
            <a:ext cx="4709160" cy="1965960"/>
          </a:xfrm>
          <a:prstGeom prst="roundRect">
            <a:avLst>
              <a:gd fmla="val 3256" name="adj"/>
            </a:avLst>
          </a:prstGeom>
          <a:solidFill>
            <a:srgbClr val="E4EFF4"/>
          </a:solidFill>
          <a:ln cap="flat" cmpd="sng" w="12700">
            <a:solidFill>
              <a:srgbClr val="C3D7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178040" y="361188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06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506A"/>
                </a:solidFill>
                <a:latin typeface="Calibri"/>
                <a:ea typeface="Calibri"/>
                <a:cs typeface="Calibri"/>
                <a:sym typeface="Calibri"/>
              </a:rPr>
              <a:t>There are never enough operators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178040" y="3959352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24404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4404E"/>
                </a:solidFill>
                <a:latin typeface="Calibri"/>
                <a:ea typeface="Calibri"/>
                <a:cs typeface="Calibri"/>
                <a:sym typeface="Calibri"/>
              </a:rPr>
              <a:t>Human dispatchers can't reach every resident in an affected area, which motivates an artificial operator (Vaidyanath &amp; Georgila, 2020).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THE IDEA, UP FRONT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DiPS: pick the persuasion strategy, turn by turn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66928" y="1417320"/>
            <a:ext cx="5074920" cy="1965960"/>
          </a:xfrm>
          <a:prstGeom prst="roundRect">
            <a:avLst>
              <a:gd fmla="val 3256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41248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Di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alogue </a:t>
            </a:r>
            <a:r>
              <a:rPr b="1" i="0" lang="en-US" sz="2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olicy </a:t>
            </a:r>
            <a:r>
              <a:rPr b="1" i="0" lang="en-US" sz="2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41248" y="2240280"/>
            <a:ext cx="4572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Instead of learning what words to say, DiPS learns which of a few persuasion strategies to deploy at each turn, using offline reinforcement learning over logged dialogues.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852160" y="1417320"/>
            <a:ext cx="5742432" cy="603504"/>
          </a:xfrm>
          <a:prstGeom prst="roundRect">
            <a:avLst>
              <a:gd fmla="val 1060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053328" y="1591056"/>
            <a:ext cx="256032" cy="256032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053328" y="15910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46520" y="14173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Strategy is the action   </a:t>
            </a:r>
            <a:r>
              <a:rPr b="0" i="0" lang="en-US" sz="12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the model chooses a persona, not a sentence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852160" y="2093976"/>
            <a:ext cx="5742432" cy="603504"/>
          </a:xfrm>
          <a:prstGeom prst="roundRect">
            <a:avLst>
              <a:gd fmla="val 1060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053328" y="2267712"/>
            <a:ext cx="256032" cy="256032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053328" y="22677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46520" y="2093976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Learned offline   </a:t>
            </a:r>
            <a:r>
              <a:rPr b="0" i="0" lang="en-US" sz="12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no live wildfire to explore; we only have logged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852160" y="2770632"/>
            <a:ext cx="5742432" cy="603504"/>
          </a:xfrm>
          <a:prstGeom prst="roundRect">
            <a:avLst>
              <a:gd fmla="val 10606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053328" y="2944368"/>
            <a:ext cx="256032" cy="256032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053328" y="29443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46520" y="2770632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Reused across residents   </a:t>
            </a:r>
            <a:r>
              <a:rPr b="0" i="0" lang="en-US" sz="12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a strategy learned from some residents transfers to new 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52160" y="3502152"/>
            <a:ext cx="5742432" cy="1709928"/>
          </a:xfrm>
          <a:prstGeom prst="roundRect">
            <a:avLst>
              <a:gd fmla="val 3743" name="adj"/>
            </a:avLst>
          </a:prstGeom>
          <a:solidFill>
            <a:srgbClr val="EAF3EE"/>
          </a:solidFill>
          <a:ln cap="flat" cmpd="sng" w="12700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108192" y="36576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The result to expect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08192" y="3950208"/>
            <a:ext cx="5285232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On residents it never trained on, DiPS is the most persuasive method in our human study (</a:t>
            </a:r>
            <a:r>
              <a:rPr b="1" i="0" lang="en-US" sz="1300" u="none" cap="none" strike="noStrike">
                <a:solidFill>
                  <a:srgbClr val="1F4A38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r>
              <a:rPr b="0" i="0" lang="en-US" sz="13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 overall), and reaches </a:t>
            </a:r>
            <a:r>
              <a:rPr b="1" i="0" lang="en-US" sz="1300" u="none" cap="none" strike="noStrike">
                <a:solidFill>
                  <a:srgbClr val="1F4A38"/>
                </a:solidFill>
                <a:latin typeface="Calibri"/>
                <a:ea typeface="Calibri"/>
                <a:cs typeface="Calibri"/>
                <a:sym typeface="Calibri"/>
              </a:rPr>
              <a:t>~92%</a:t>
            </a:r>
            <a:r>
              <a:rPr b="0" i="0" lang="en-US" sz="13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 in simulation, close to the ~85% acceptance rate reported for human operators.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66928" y="3502152"/>
            <a:ext cx="5074920" cy="1709928"/>
          </a:xfrm>
          <a:prstGeom prst="roundRect">
            <a:avLst>
              <a:gd fmla="val 3743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841248" y="3657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41248" y="3968496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Different residents need completely different persuasion. A single fixed policy can't fit them all, and that gap is exactly what DiPS closes.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THE CORE DIFFICULTY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One-size-fits-all protocols fail, because residents differ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66928" y="1463040"/>
            <a:ext cx="5532120" cy="1737360"/>
          </a:xfrm>
          <a:prstGeom prst="roundRect">
            <a:avLst>
              <a:gd fmla="val 368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22960" y="1719072"/>
            <a:ext cx="566928" cy="56692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22960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527048" y="17556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Michelle  </a:t>
            </a:r>
            <a:r>
              <a:rPr b="0" i="1" lang="en-US" sz="13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skeptical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527048" y="2176272"/>
            <a:ext cx="4343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Believes her house is well prepared. Needs the risk reframed, not repeated.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355080" y="1463040"/>
            <a:ext cx="5532120" cy="1737360"/>
          </a:xfrm>
          <a:prstGeom prst="roundRect">
            <a:avLst>
              <a:gd fmla="val 368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611112" y="1719072"/>
            <a:ext cx="566928" cy="566928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611112" y="17190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15200" y="175564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Ross  </a:t>
            </a:r>
            <a:r>
              <a:rPr b="0" i="1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logistically blocked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15200" y="2176272"/>
            <a:ext cx="4343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Stranded van, passengers in wheelchairs. Needs a concrete transport commitment.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66928" y="3456432"/>
            <a:ext cx="5532120" cy="1737360"/>
          </a:xfrm>
          <a:prstGeom prst="roundRect">
            <a:avLst>
              <a:gd fmla="val 368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22960" y="3712464"/>
            <a:ext cx="566928" cy="566928"/>
          </a:xfrm>
          <a:prstGeom prst="ellipse">
            <a:avLst/>
          </a:prstGeom>
          <a:solidFill>
            <a:srgbClr val="F2A03D"/>
          </a:solidFill>
          <a:ln cap="flat" cmpd="sng" w="12700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22960" y="37124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527048" y="37490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Lindsay  </a:t>
            </a:r>
            <a:r>
              <a:rPr b="0" i="1" lang="en-US" sz="13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responsible for others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527048" y="4169664"/>
            <a:ext cx="4343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Babysitting two children, no parental approval. Needs reassurance and permission.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55080" y="3456432"/>
            <a:ext cx="5532120" cy="1737360"/>
          </a:xfrm>
          <a:prstGeom prst="roundRect">
            <a:avLst>
              <a:gd fmla="val 368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611112" y="3712464"/>
            <a:ext cx="566928" cy="566928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611112" y="37124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315200" y="37490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Bob  </a:t>
            </a:r>
            <a:r>
              <a:rPr b="0" i="1" lang="en-US" sz="1300" u="none" cap="none" strike="noStrike">
                <a:solidFill>
                  <a:srgbClr val="2C7A5A"/>
                </a:solidFill>
                <a:latin typeface="Calibri"/>
                <a:ea typeface="Calibri"/>
                <a:cs typeface="Calibri"/>
                <a:sym typeface="Calibri"/>
              </a:rPr>
              <a:t>disengaged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315200" y="4169664"/>
            <a:ext cx="4343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Working from home, thinks there's still time. Needs a stay-vs-leave cost comparison.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66928" y="5193792"/>
            <a:ext cx="11027664" cy="777240"/>
          </a:xfrm>
          <a:prstGeom prst="roundRect">
            <a:avLst>
              <a:gd fmla="val 8235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41248" y="519379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Uniform instructions (“you must evacuate now”) ignore these differences.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strategy has to adapt to the person.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TESTBED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An offline dataset where one fixed policy won't fit everyone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66928" y="1463040"/>
            <a:ext cx="6172200" cy="3977640"/>
          </a:xfrm>
          <a:prstGeom prst="roundRect">
            <a:avLst>
              <a:gd fmla="val 1609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41248" y="1664208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simulation (existing framework)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41248" y="1993392"/>
            <a:ext cx="5623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A forest fire advances on a small town. A control-center operator manages drones, a ground vehicle, and an AI assistant to locate residents and get them out.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41248" y="2971800"/>
            <a:ext cx="5623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Humans played the operator; experimenters wizarded the residents. Dialogues were transcribed and annotated (Chaffey et al., 2020; Nasihati Gilani et al., 2023).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41248" y="4069080"/>
            <a:ext cx="5623560" cy="1143000"/>
          </a:xfrm>
          <a:prstGeom prst="roundRect">
            <a:avLst>
              <a:gd fmla="val 4800" name="adj"/>
            </a:avLst>
          </a:prstGeom>
          <a:solidFill>
            <a:srgbClr val="FDF1EC"/>
          </a:solidFill>
          <a:ln cap="flat" cmpd="sng" w="9525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024128" y="4069080"/>
            <a:ext cx="5303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This is our offline dataset: </a:t>
            </a:r>
            <a:r>
              <a:rPr b="0" i="0" lang="en-US" sz="135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real human persuasion attempts, both successful and failed, that a single fixed policy could never fit uniformly.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949440" y="1463040"/>
            <a:ext cx="4663440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178040" y="1627632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458200" y="16459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resident profiles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458200" y="1920240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5 from the original study, 5 new profiles with similar concerns but distinct backstories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949440" y="2761488"/>
            <a:ext cx="4663440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178040" y="292608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458200" y="294436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operator policies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458200" y="3218688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each a consistent persuasion strategy derived from one operator's style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949440" y="4059936"/>
            <a:ext cx="4663440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178040" y="4224528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8541E"/>
                </a:solidFill>
                <a:latin typeface="Cambria"/>
                <a:ea typeface="Cambria"/>
                <a:cs typeface="Cambria"/>
                <a:sym typeface="Cambria"/>
              </a:rPr>
              <a:t>85%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458200" y="424281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human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8458200" y="4517136"/>
            <a:ext cx="3017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acceptance rate reported for human operators (Nasihati Gilani et al., 2023)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1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66928" y="1828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Part 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66928" y="2240280"/>
            <a:ext cx="6035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Dialogue Policy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Selection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858000" y="1828800"/>
            <a:ext cx="4736592" cy="1207008"/>
          </a:xfrm>
          <a:prstGeom prst="roundRect">
            <a:avLst>
              <a:gd fmla="val 5303" name="adj"/>
            </a:avLst>
          </a:prstGeom>
          <a:solidFill>
            <a:srgbClr val="1E2530"/>
          </a:solidFill>
          <a:ln cap="flat" cmpd="sng" w="12700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086600" y="2148840"/>
            <a:ext cx="566928" cy="56692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7086600" y="2148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818120" y="20482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Persuasion as a POMDP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818120" y="24505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the resident's state is latent; we only see utterances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858000" y="3200400"/>
            <a:ext cx="4736592" cy="1207008"/>
          </a:xfrm>
          <a:prstGeom prst="roundRect">
            <a:avLst>
              <a:gd fmla="val 5303" name="adj"/>
            </a:avLst>
          </a:prstGeom>
          <a:solidFill>
            <a:srgbClr val="1E2530"/>
          </a:solidFill>
          <a:ln cap="flat" cmpd="sng" w="12700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086600" y="3520440"/>
            <a:ext cx="566928" cy="56692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7086600" y="35204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818120" y="34198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policy over policies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818120" y="38221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the action is a strategy, not an utterance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858000" y="4572000"/>
            <a:ext cx="4736592" cy="1207008"/>
          </a:xfrm>
          <a:prstGeom prst="roundRect">
            <a:avLst>
              <a:gd fmla="val 5303" name="adj"/>
            </a:avLst>
          </a:prstGeom>
          <a:solidFill>
            <a:srgbClr val="1E2530"/>
          </a:solidFill>
          <a:ln cap="flat" cmpd="sng" w="12700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086600" y="4892040"/>
            <a:ext cx="566928" cy="56692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7086600" y="48920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818120" y="47914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Implicit Q-Learning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818120" y="51937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learn the selector offline, from logged dialogues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FORMULATION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Persuasion under partial observability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66928" y="1371600"/>
            <a:ext cx="11027664" cy="713232"/>
          </a:xfrm>
          <a:prstGeom prst="roundRect">
            <a:avLst>
              <a:gd fmla="val 8974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66928" y="1371600"/>
            <a:ext cx="1102766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  =  ( S,  O,  A,  P,  R,  γ 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66928" y="2286000"/>
            <a:ext cx="7086600" cy="786384"/>
          </a:xfrm>
          <a:prstGeom prst="roundRect">
            <a:avLst>
              <a:gd fmla="val 8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749808" y="2468880"/>
            <a:ext cx="1600200" cy="420624"/>
          </a:xfrm>
          <a:prstGeom prst="roundRect">
            <a:avLst>
              <a:gd fmla="val 13043" name="adj"/>
            </a:avLst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749808" y="2468880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sₜ ∈ 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532888" y="239572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Latent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532888" y="267004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The resident's beliefs, emotional state, and risk perception. We never observe this.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66928" y="3182112"/>
            <a:ext cx="7086600" cy="786384"/>
          </a:xfrm>
          <a:prstGeom prst="roundRect">
            <a:avLst>
              <a:gd fmla="val 8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749808" y="3364992"/>
            <a:ext cx="1600200" cy="420624"/>
          </a:xfrm>
          <a:prstGeom prst="roundRect">
            <a:avLst>
              <a:gd fmla="val 13043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49808" y="3364992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oₜ ∈ 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2532888" y="32918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532888" y="356616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The resident's reply to our previous utterance aₜ₋₁. That is all we actually get.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66928" y="4078224"/>
            <a:ext cx="7086600" cy="786384"/>
          </a:xfrm>
          <a:prstGeom prst="roundRect">
            <a:avLst>
              <a:gd fmla="val 8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49808" y="4261104"/>
            <a:ext cx="1600200" cy="420624"/>
          </a:xfrm>
          <a:prstGeom prst="roundRect">
            <a:avLst>
              <a:gd fmla="val 13043" name="adj"/>
            </a:avLst>
          </a:prstGeom>
          <a:solidFill>
            <a:srgbClr val="F2A03D"/>
          </a:solidFill>
          <a:ln cap="flat" cmpd="sng" w="12700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49808" y="4261104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2532888" y="4187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532888" y="446227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hₜ = (a₀, o₁, a₁, …, oₜ). The operator's sufficient statistic in place of sₜ.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66928" y="4974336"/>
            <a:ext cx="7086600" cy="786384"/>
          </a:xfrm>
          <a:prstGeom prst="roundRect">
            <a:avLst>
              <a:gd fmla="val 8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749808" y="5157216"/>
            <a:ext cx="1600200" cy="420624"/>
          </a:xfrm>
          <a:prstGeom prst="roundRect">
            <a:avLst>
              <a:gd fmla="val 13043" name="adj"/>
            </a:avLst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49808" y="5157216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π(hₜ) = aₜ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2532888" y="50840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532888" y="535838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Maps history to the next operator action; then sₜ₊₁ ~ P(· | sₜ, aₜ).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909560" y="2286000"/>
            <a:ext cx="3685032" cy="3493008"/>
          </a:xfrm>
          <a:prstGeom prst="roundRect">
            <a:avLst>
              <a:gd fmla="val 1832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8183880" y="24871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183880" y="292608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ourier New"/>
                <a:ea typeface="Courier New"/>
                <a:cs typeface="Courier New"/>
                <a:sym typeface="Courier New"/>
              </a:rPr>
              <a:t>maxπ  𝔼π,P [ Σᵀₜ₌₁ γᵗ⁻¹ rₜ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183880" y="3520440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A44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Expected discounted return over a finite horizon T, where rₜ = R(sₜ).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183880" y="4480560"/>
            <a:ext cx="3154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In this domain the return has exactly one meaning: does the resident actually evacuate?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THE KEY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Choose a strategy, not an utterance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160520" y="1371600"/>
            <a:ext cx="1600200" cy="749808"/>
          </a:xfrm>
          <a:prstGeom prst="roundRect">
            <a:avLst>
              <a:gd fmla="val 853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160520" y="1371600"/>
            <a:ext cx="1600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2171F"/>
                </a:solidFill>
                <a:latin typeface="Courier New"/>
                <a:ea typeface="Courier New"/>
                <a:cs typeface="Courier New"/>
                <a:sym typeface="Courier New"/>
              </a:rPr>
              <a:t>hₜ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160520" y="2103120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dialogue history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172200" y="1371600"/>
            <a:ext cx="2331720" cy="749808"/>
          </a:xfrm>
          <a:prstGeom prst="roundRect">
            <a:avLst>
              <a:gd fmla="val 8537" name="adj"/>
            </a:avLst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172200" y="1371600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zₜ ∈ {1, …, K}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172200" y="2103120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learned selector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915400" y="1371600"/>
            <a:ext cx="2679192" cy="749808"/>
          </a:xfrm>
          <a:prstGeom prst="roundRect">
            <a:avLst>
              <a:gd fmla="val 8537" name="adj"/>
            </a:avLst>
          </a:prstGeom>
          <a:solidFill>
            <a:srgbClr val="E4EFF4"/>
          </a:solidFill>
          <a:ln cap="flat" cmpd="sng" w="12700">
            <a:solidFill>
              <a:srgbClr val="C3D7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915400" y="1371600"/>
            <a:ext cx="26791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06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16506A"/>
                </a:solidFill>
                <a:latin typeface="Courier New"/>
                <a:ea typeface="Courier New"/>
                <a:cs typeface="Courier New"/>
                <a:sym typeface="Courier New"/>
              </a:rPr>
              <a:t>aₜ ~ π⁽ᶻᵗ⁾( · | hₜ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915400" y="2103120"/>
            <a:ext cx="2679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the operator's utterance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66928" y="2606040"/>
            <a:ext cx="3429000" cy="3200400"/>
          </a:xfrm>
          <a:prstGeom prst="roundRect">
            <a:avLst>
              <a:gd fmla="val 200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822960" y="2788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Conventional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22960" y="312724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One monolithic policy over natural-language responses.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2960" y="50749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Huge action space · sparse reward · few hundred dialogues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160520" y="2606040"/>
            <a:ext cx="3703320" cy="3200400"/>
          </a:xfrm>
          <a:prstGeom prst="roundRect">
            <a:avLst>
              <a:gd fmla="val 2000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416552" y="2788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DiPS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416552" y="3108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policy over policies.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416552" y="345643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E8541E"/>
                </a:solidFill>
                <a:latin typeface="Courier New"/>
                <a:ea typeface="Courier New"/>
                <a:cs typeface="Courier New"/>
                <a:sym typeface="Courier New"/>
              </a:rPr>
              <a:t>Π = { π⁽¹⁾, …, π⁽ᵏ⁾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416552" y="39319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Each π⁽ᵏ⁾ is one persuasion strategy: empathetic, directive, informational, assertive.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416552" y="489204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Built from offline data, per operator. The selector over them is learned across the whole dataset.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092440" y="2606040"/>
            <a:ext cx="3502152" cy="32004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348472" y="27889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What is a policy πₖ, concretely?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8348472" y="3154680"/>
            <a:ext cx="306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a persona-specific block added to the operator prompt, plus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its own retrieval index of (history → operator response) pairs from that policy's dialogues.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348472" y="4709160"/>
            <a:ext cx="3063240" cy="960120"/>
          </a:xfrm>
          <a:prstGeom prst="roundRect">
            <a:avLst>
              <a:gd fmla="val 5714" name="adj"/>
            </a:avLst>
          </a:prstGeom>
          <a:solidFill>
            <a:srgbClr val="EAF3EE"/>
          </a:solidFill>
          <a:ln cap="flat" cmpd="sng" w="9525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503920" y="4709160"/>
            <a:ext cx="2788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Policies are reused across residents, so a strategy transfers to residents it never saw.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LEARNING THE SELECTOR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Why offline RL, and why Implicit Q-Learning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66928" y="1417320"/>
            <a:ext cx="5394960" cy="3703320"/>
          </a:xfrm>
          <a:prstGeom prst="roundRect">
            <a:avLst>
              <a:gd fmla="val 1728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435608" y="170078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problem: distributional shift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841248" y="2240280"/>
            <a:ext cx="4892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A44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We cannot let an agent explore. There is no live wildfire to practice on, so learning must come from a static, previously collected dataset (Kumar et al., 2020).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  <a:buClr>
                <a:srgbClr val="5A44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But an offline-learned Q-function overestimates values for out-of-distribution actions, ones never taken in the data, and the policy then chases those phantom values (Fujimoto et al., 2019).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  <a:buClr>
                <a:srgbClr val="5A4438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With a few hundred dialogues and sparse terminal reward, this failure mode is not hypothetical.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199632" y="1417320"/>
            <a:ext cx="5394960" cy="3703320"/>
          </a:xfrm>
          <a:prstGeom prst="roundRect">
            <a:avLst>
              <a:gd fmla="val 1728" name="adj"/>
            </a:avLst>
          </a:prstGeom>
          <a:solidFill>
            <a:srgbClr val="EAF3EE"/>
          </a:solidFill>
          <a:ln cap="flat" cmpd="sng" w="12700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455664" y="1645920"/>
            <a:ext cx="457200" cy="457200"/>
          </a:xfrm>
          <a:prstGeom prst="ellipse">
            <a:avLst/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5566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068312" y="170078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IQL (Kostrikov et al., 2021)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73952" y="2240280"/>
            <a:ext cx="4892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4463A"/>
              </a:buClr>
              <a:buSzPts val="1250"/>
              <a:buFont typeface="Calibri"/>
              <a:buChar char="•"/>
            </a:pPr>
            <a:r>
              <a:rPr b="1" i="0" lang="en-US" sz="1250" u="none" cap="none" strike="noStrike">
                <a:solidFill>
                  <a:srgbClr val="24463A"/>
                </a:solidFill>
                <a:latin typeface="Calibri"/>
                <a:ea typeface="Calibri"/>
                <a:cs typeface="Calibri"/>
                <a:sym typeface="Calibri"/>
              </a:rPr>
              <a:t>Never queries the Q-function on unseen actions at 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24463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4463A"/>
                </a:solidFill>
                <a:latin typeface="Calibri"/>
                <a:ea typeface="Calibri"/>
                <a:cs typeface="Calibri"/>
                <a:sym typeface="Calibri"/>
              </a:rPr>
              <a:t>Approximates the max over actions using expectile regression on a state-value function trained only on in-distribution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24463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4463A"/>
                </a:solidFill>
                <a:latin typeface="Calibri"/>
                <a:ea typeface="Calibri"/>
                <a:cs typeface="Calibri"/>
                <a:sym typeface="Calibri"/>
              </a:rPr>
              <a:t>Extracts the policy by advantage-weighted regression.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  <a:buClr>
                <a:srgbClr val="24463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4463A"/>
                </a:solidFill>
                <a:latin typeface="Calibri"/>
                <a:ea typeface="Calibri"/>
                <a:cs typeface="Calibri"/>
                <a:sym typeface="Calibri"/>
              </a:rPr>
              <a:t>Well-suited to complex action spaces with limited data coverage, exactly our regime.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66928" y="5285232"/>
            <a:ext cx="11027664" cy="658368"/>
          </a:xfrm>
          <a:prstGeom prst="roundRect">
            <a:avLst>
              <a:gd fmla="val 9722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841248" y="5285232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Intuition:  </a:t>
            </a:r>
            <a:r>
              <a:rPr b="0" i="0" lang="en-US" sz="130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up-weight the personas that appear when the resident evacuated, down-weight those in failures. The model infers which strategies work for which kinds of resident.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Turning dialogues into transitions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66928" y="1417320"/>
            <a:ext cx="3108960" cy="749808"/>
          </a:xfrm>
          <a:prstGeom prst="roundRect">
            <a:avLst>
              <a:gd fmla="val 853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566928" y="1417320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Each dialogue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3730752" y="1417320"/>
            <a:ext cx="457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251960" y="1417320"/>
            <a:ext cx="3657600" cy="749808"/>
          </a:xfrm>
          <a:prstGeom prst="roundRect">
            <a:avLst>
              <a:gd fmla="val 8537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251960" y="141732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 sₜ , aₜ , rₜ , sₜ₊₁ 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66928" y="2377440"/>
            <a:ext cx="7315200" cy="1042416"/>
          </a:xfrm>
          <a:prstGeom prst="roundRect">
            <a:avLst>
              <a:gd fmla="val 6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68096" y="2670048"/>
            <a:ext cx="822960" cy="457200"/>
          </a:xfrm>
          <a:prstGeom prst="roundRect">
            <a:avLst>
              <a:gd fmla="val 12000" name="adj"/>
            </a:avLst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768096" y="26700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1755648" y="256032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1755648" y="285292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A MiniLM sentence embedding of the resident's recent utterances, our observable proxy for the latent state.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66928" y="3529584"/>
            <a:ext cx="7315200" cy="1042416"/>
          </a:xfrm>
          <a:prstGeom prst="roundRect">
            <a:avLst>
              <a:gd fmla="val 6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68096" y="3822192"/>
            <a:ext cx="822960" cy="457200"/>
          </a:xfrm>
          <a:prstGeom prst="roundRect">
            <a:avLst>
              <a:gd fmla="val 12000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768096" y="3822192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755648" y="3712464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755648" y="400507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A discrete operator policy index. Not the message to the resident, but the strategy used to condition the LLM that writes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66928" y="4681728"/>
            <a:ext cx="7315200" cy="1042416"/>
          </a:xfrm>
          <a:prstGeom prst="roundRect">
            <a:avLst>
              <a:gd fmla="val 614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768096" y="4974336"/>
            <a:ext cx="822960" cy="457200"/>
          </a:xfrm>
          <a:prstGeom prst="roundRect">
            <a:avLst>
              <a:gd fmla="val 12000" name="adj"/>
            </a:avLst>
          </a:prstGeom>
          <a:solidFill>
            <a:srgbClr val="F2A03D"/>
          </a:solidFill>
          <a:ln cap="flat" cmpd="sng" w="12700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768096" y="4974336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1755648" y="4864608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755648" y="5157216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Sparse. 1 at the final turn of a successful dialogue (the resident agrees to evacuate), 0 everywhere else.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8046720" y="2377440"/>
            <a:ext cx="3547872" cy="3035808"/>
          </a:xfrm>
          <a:prstGeom prst="roundRect">
            <a:avLst>
              <a:gd fmla="val 210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8302752" y="2578608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Evaluating generalization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8302752" y="2926080"/>
            <a:ext cx="3108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Residents are partitioned into disjoint train and test sets.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 selector is trained only on training residents, and evaluated on unseen residents with distinct profiles.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Each training dialogue supplies one action per turn: the operator persona learned for that resident.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INFERENCE · 1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From the dialogue, choose a strategy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66928" y="1371600"/>
            <a:ext cx="5257800" cy="4480560"/>
          </a:xfrm>
          <a:prstGeom prst="roundRect">
            <a:avLst>
              <a:gd fmla="val 1429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ips/assets/person.png" id="302" name="Google Shape;3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" y="15179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/>
          <p:nvPr/>
        </p:nvSpPr>
        <p:spPr>
          <a:xfrm>
            <a:off x="1170432" y="15179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dialogue so far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3813048" y="1517904"/>
            <a:ext cx="1737360" cy="292608"/>
          </a:xfrm>
          <a:prstGeom prst="roundRect">
            <a:avLst>
              <a:gd fmla="val 15625" name="adj"/>
            </a:avLst>
          </a:prstGeom>
          <a:solidFill>
            <a:srgbClr val="EAF3EE"/>
          </a:solidFill>
          <a:ln cap="flat" cmpd="sng" w="9525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3813048" y="1517904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Mary · held-out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drone.png" id="306" name="Google Shape;3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9568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/>
          <p:nvPr/>
        </p:nvSpPr>
        <p:spPr>
          <a:xfrm>
            <a:off x="1133856" y="19202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133856" y="2103120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There's a mandatory evacuation order for your area.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person.png" id="309" name="Google Shape;3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560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/>
          <p:nvPr/>
        </p:nvSpPr>
        <p:spPr>
          <a:xfrm>
            <a:off x="1133856" y="252374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133856" y="2706624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I can't just go. My husband isn't back yet.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drone.png" id="312" name="Google Shape;3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31638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1133856" y="31272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1133856" y="331012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 fire is moving fast; we need to act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ips/assets/person.png" id="315" name="Google Shape;3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767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/>
          <p:nvPr/>
        </p:nvSpPr>
        <p:spPr>
          <a:xfrm>
            <a:off x="1133856" y="37307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133856" y="391363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Then help me reach him. I won't leave him behind.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822960" y="4480560"/>
            <a:ext cx="4709160" cy="566928"/>
          </a:xfrm>
          <a:prstGeom prst="roundRect">
            <a:avLst>
              <a:gd fmla="val 9677" name="adj"/>
            </a:avLst>
          </a:prstGeom>
          <a:solidFill>
            <a:srgbClr val="FDF1EC"/>
          </a:solidFill>
          <a:ln cap="flat" cmpd="sng" w="9525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978408" y="4480560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the last k turns  </a:t>
            </a:r>
            <a:r>
              <a:rPr b="1" i="0" lang="en-US" sz="1250" u="none" cap="none" strike="noStrike">
                <a:solidFill>
                  <a:srgbClr val="E8541E"/>
                </a:solidFill>
                <a:latin typeface="Courier New"/>
                <a:ea typeface="Courier New"/>
                <a:cs typeface="Courier New"/>
                <a:sym typeface="Courier New"/>
              </a:rPr>
              <a:t>= Hₖ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22960" y="5138928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Mary is one of the 5 held-out residents. The selector was trained on other residents entirely.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870448" y="3200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309360" y="1371600"/>
            <a:ext cx="5285232" cy="4480560"/>
          </a:xfrm>
          <a:prstGeom prst="roundRect">
            <a:avLst>
              <a:gd fmla="val 1429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583680" y="157276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IQL policy selector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583680" y="188366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score every strategy with the learned Q-function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583680" y="2286000"/>
            <a:ext cx="4754880" cy="420624"/>
          </a:xfrm>
          <a:prstGeom prst="roundRect">
            <a:avLst>
              <a:gd fmla="val 13043" name="adj"/>
            </a:avLst>
          </a:prstGeom>
          <a:solidFill>
            <a:srgbClr val="1E2530"/>
          </a:solidFill>
          <a:ln cap="flat" cmpd="sng" w="9525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6748272" y="2286000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Q(Hₖ, </a:t>
            </a:r>
            <a:r>
              <a:rPr lang="en-US" sz="1200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9966960" y="228600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1.31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583680" y="2779776"/>
            <a:ext cx="4754880" cy="420624"/>
          </a:xfrm>
          <a:prstGeom prst="roundRect">
            <a:avLst>
              <a:gd fmla="val 13043" name="adj"/>
            </a:avLst>
          </a:prstGeom>
          <a:solidFill>
            <a:srgbClr val="1E2530"/>
          </a:solidFill>
          <a:ln cap="flat" cmpd="sng" w="9525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748272" y="2779776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Q(Hₖ,</a:t>
            </a: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Niki</a:t>
            </a: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9966960" y="2779776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1.92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583680" y="3273552"/>
            <a:ext cx="4754880" cy="420624"/>
          </a:xfrm>
          <a:prstGeom prst="roundRect">
            <a:avLst>
              <a:gd fmla="val 13043" name="adj"/>
            </a:avLst>
          </a:prstGeom>
          <a:solidFill>
            <a:srgbClr val="E8541E"/>
          </a:solidFill>
          <a:ln cap="flat" cmpd="sng" w="9525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748272" y="3273552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Q(Hₖ, </a:t>
            </a:r>
            <a:r>
              <a:rPr lang="en-US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Lindsay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9966960" y="3273552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2.44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583680" y="3767328"/>
            <a:ext cx="4754880" cy="420624"/>
          </a:xfrm>
          <a:prstGeom prst="roundRect">
            <a:avLst>
              <a:gd fmla="val 13043" name="adj"/>
            </a:avLst>
          </a:prstGeom>
          <a:solidFill>
            <a:srgbClr val="1E2530"/>
          </a:solidFill>
          <a:ln cap="flat" cmpd="sng" w="9525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748272" y="3767328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Q(Hₖ, </a:t>
            </a:r>
            <a:r>
              <a:rPr lang="en-US" sz="1200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Ross</a:t>
            </a: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9966960" y="376732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2.20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583680" y="4261104"/>
            <a:ext cx="4754880" cy="420624"/>
          </a:xfrm>
          <a:prstGeom prst="roundRect">
            <a:avLst>
              <a:gd fmla="val 13043" name="adj"/>
            </a:avLst>
          </a:prstGeom>
          <a:solidFill>
            <a:srgbClr val="1E2530"/>
          </a:solidFill>
          <a:ln cap="flat" cmpd="sng" w="9525">
            <a:solidFill>
              <a:srgbClr val="343E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6748272" y="4261104"/>
            <a:ext cx="3108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Q(Hₖ, </a:t>
            </a:r>
            <a:r>
              <a:rPr lang="en-US" sz="1200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Michelle</a:t>
            </a:r>
            <a:r>
              <a:rPr b="0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9966960" y="4261104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9AA3AF"/>
                </a:solidFill>
                <a:latin typeface="Courier New"/>
                <a:ea typeface="Courier New"/>
                <a:cs typeface="Courier New"/>
                <a:sym typeface="Courier New"/>
              </a:rPr>
              <a:t>1.18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583680" y="52852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A03D"/>
                </a:solidFill>
                <a:latin typeface="Courier New"/>
                <a:ea typeface="Courier New"/>
                <a:cs typeface="Courier New"/>
                <a:sym typeface="Courier New"/>
              </a:rPr>
              <a:t>zₜ = argmaxₓ Q(Hₖ, z)   →   </a:t>
            </a:r>
            <a:r>
              <a:rPr b="1" lang="en-US" sz="1300">
                <a:solidFill>
                  <a:srgbClr val="F2A03D"/>
                </a:solidFill>
                <a:latin typeface="Courier New"/>
                <a:ea typeface="Courier New"/>
                <a:cs typeface="Courier New"/>
                <a:sym typeface="Courier New"/>
              </a:rPr>
              <a:t>Lindsay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INFERENCE · 2 OF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Assemble the prompt, generate the reply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66928" y="1371600"/>
            <a:ext cx="6675120" cy="448056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822960" y="1517904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What the selected strategy puts into the operator prompt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822960" y="1901952"/>
            <a:ext cx="6172200" cy="1005840"/>
          </a:xfrm>
          <a:prstGeom prst="roundRect">
            <a:avLst>
              <a:gd fmla="val 5455" name="adj"/>
            </a:avLst>
          </a:prstGeom>
          <a:solidFill>
            <a:srgbClr val="F4F5F7"/>
          </a:solidFill>
          <a:ln cap="flat" cmpd="sng" w="9525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978408" y="2048256"/>
            <a:ext cx="685800" cy="292608"/>
          </a:xfrm>
          <a:prstGeom prst="roundRect">
            <a:avLst>
              <a:gd fmla="val 15625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978408" y="2048256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801368" y="204825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the recent dialogue turns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024128" y="2414016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E4753"/>
                </a:solidFill>
                <a:latin typeface="Courier New"/>
                <a:ea typeface="Courier New"/>
                <a:cs typeface="Courier New"/>
                <a:sym typeface="Courier New"/>
              </a:rPr>
              <a:t>“…husband isn't back yet… won't leave him behind”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822960" y="3035808"/>
            <a:ext cx="6172200" cy="1243584"/>
          </a:xfrm>
          <a:prstGeom prst="roundRect">
            <a:avLst>
              <a:gd fmla="val 4412" name="adj"/>
            </a:avLst>
          </a:prstGeom>
          <a:solidFill>
            <a:srgbClr val="F4F5F7"/>
          </a:solidFill>
          <a:ln cap="flat" cmpd="sng" w="9525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978408" y="3182112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F2A03D"/>
          </a:solidFill>
          <a:ln cap="flat" cmpd="sng" w="12700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978408" y="31821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 description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2944368" y="31821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the empathetic policy (general, not about Mary)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24128" y="3547872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E4753"/>
                </a:solidFill>
                <a:latin typeface="Courier New"/>
                <a:ea typeface="Courier New"/>
                <a:cs typeface="Courier New"/>
                <a:sym typeface="Courier New"/>
              </a:rPr>
              <a:t>validate the concern first, then offer a concrete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024128" y="3785616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E4753"/>
                </a:solidFill>
                <a:latin typeface="Courier New"/>
                <a:ea typeface="Courier New"/>
                <a:cs typeface="Courier New"/>
                <a:sym typeface="Courier New"/>
              </a:rPr>
              <a:t>coordinated action; de-escalate before directing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22960" y="4407408"/>
            <a:ext cx="6172200" cy="1243584"/>
          </a:xfrm>
          <a:prstGeom prst="roundRect">
            <a:avLst>
              <a:gd fmla="val 4412" name="adj"/>
            </a:avLst>
          </a:prstGeom>
          <a:solidFill>
            <a:srgbClr val="F4F5F7"/>
          </a:solidFill>
          <a:ln cap="flat" cmpd="sng" w="9525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978408" y="4553712"/>
            <a:ext cx="1828800" cy="292608"/>
          </a:xfrm>
          <a:prstGeom prst="roundRect">
            <a:avLst>
              <a:gd fmla="val 15625" name="adj"/>
            </a:avLst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978408" y="45537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Top-k examples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2944368" y="45537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retrieved from the empathetic policy's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024128" y="4919472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E4753"/>
                </a:solidFill>
                <a:latin typeface="Courier New"/>
                <a:ea typeface="Courier New"/>
                <a:cs typeface="Courier New"/>
                <a:sym typeface="Courier New"/>
              </a:rPr>
              <a:t>…won't leave without X  →  we'll send a unit to locate them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24128" y="5157216"/>
            <a:ext cx="5806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3E4753"/>
                </a:solidFill>
                <a:latin typeface="Courier New"/>
                <a:ea typeface="Courier New"/>
                <a:cs typeface="Courier New"/>
                <a:sym typeface="Courier New"/>
              </a:rPr>
              <a:t>…scared to go alone  →  an assistant stays on the line with you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7269480" y="27432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498080" y="1371600"/>
            <a:ext cx="4096512" cy="3154680"/>
          </a:xfrm>
          <a:prstGeom prst="roundRect">
            <a:avLst>
              <a:gd fmla="val 2029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754112" y="15727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Generated operator turn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7754112" y="1938528"/>
            <a:ext cx="3611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“Mary, we won't leave him behind. I'm dispatching a unit to locate your husband now, and I'll stay on the line with you. Can we start moving you toward the pickup point while they reach him?”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7498080" y="4681728"/>
            <a:ext cx="4096512" cy="1170432"/>
          </a:xfrm>
          <a:prstGeom prst="roundRect">
            <a:avLst>
              <a:gd fmla="val 5469" name="adj"/>
            </a:avLst>
          </a:prstGeom>
          <a:solidFill>
            <a:srgbClr val="E4EFF4"/>
          </a:solidFill>
          <a:ln cap="flat" cmpd="sng" w="12700">
            <a:solidFill>
              <a:srgbClr val="C3D7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7754112" y="479145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06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506A"/>
                </a:solidFill>
                <a:latin typeface="Calibri"/>
                <a:ea typeface="Calibri"/>
                <a:cs typeface="Calibri"/>
                <a:sym typeface="Calibri"/>
              </a:rPr>
              <a:t>Then the loop closes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7754112" y="5084064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4404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4404E"/>
                </a:solidFill>
                <a:latin typeface="Calibri"/>
                <a:ea typeface="Calibri"/>
                <a:cs typeface="Calibri"/>
                <a:sym typeface="Calibri"/>
              </a:rPr>
              <a:t>Mary replies, the judge checks whether she agreed, and the strategy is re-selected every turn, so tone and approach adapt mid-dialogue.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1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/>
          <p:nvPr/>
        </p:nvSpPr>
        <p:spPr>
          <a:xfrm>
            <a:off x="566928" y="1874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Part II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66928" y="2286000"/>
            <a:ext cx="6035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it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generalize?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66928" y="42062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96A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D96A2"/>
                </a:solidFill>
                <a:latin typeface="Calibri"/>
                <a:ea typeface="Calibri"/>
                <a:cs typeface="Calibri"/>
                <a:sym typeface="Calibri"/>
              </a:rPr>
              <a:t>Success = the resident ultimately agrees to evacuate.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96A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D96A2"/>
                </a:solidFill>
                <a:latin typeface="Calibri"/>
                <a:ea typeface="Calibri"/>
                <a:cs typeface="Calibri"/>
                <a:sym typeface="Calibri"/>
              </a:rPr>
              <a:t>The real test: residents held out from training, with behavioral profiles the selector never saw.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Three dialogue strategies, one question: does it transfer?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66928" y="1417320"/>
            <a:ext cx="3703320" cy="4343400"/>
          </a:xfrm>
          <a:prstGeom prst="roundRect">
            <a:avLst>
              <a:gd fmla="val 172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82296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Evaluating generalization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822960" y="2011680"/>
            <a:ext cx="32918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Residents are split into disjoint train and test sets.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8461"/>
              </a:lnSpc>
              <a:spcBef>
                <a:spcPts val="1200"/>
              </a:spcBef>
              <a:spcAft>
                <a:spcPts val="0"/>
              </a:spcAft>
              <a:buClr>
                <a:srgbClr val="3E475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 selector is trained only on training residents.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8461"/>
              </a:lnSpc>
              <a:spcBef>
                <a:spcPts val="1200"/>
              </a:spcBef>
              <a:spcAft>
                <a:spcPts val="0"/>
              </a:spcAft>
              <a:buClr>
                <a:srgbClr val="3E475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Every method is then evaluated on unseen residents with distinct behavioral profiles.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822960" y="50749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Same test-bed for all three: text dialogue, ≤ 15 turns.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480560" y="1417320"/>
            <a:ext cx="7114032" cy="132588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4754880" y="161848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754880" y="2075688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the base operator prompt only. No retrieval, no selection.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480560" y="2926080"/>
            <a:ext cx="7114032" cy="132588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4754880" y="31272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4754880" y="3584448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prompt + top-k examples from one global pool of successful operator turns. Still no selection.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480560" y="4434840"/>
            <a:ext cx="7114032" cy="1325880"/>
          </a:xfrm>
          <a:prstGeom prst="roundRect">
            <a:avLst>
              <a:gd fmla="val 4828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4754880" y="463600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DiPS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754880" y="5093208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per-policy retrieval + the learned IQL selector choosing a strategy every turn.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9966960" y="4654296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our method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RESULT · HUMAN ROLE-PLAYERS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DiPS wins with real people, and holds up on unseen residents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750445"/>
            <a:ext cx="69495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/>
          <p:nvPr/>
        </p:nvSpPr>
        <p:spPr>
          <a:xfrm>
            <a:off x="7726680" y="1417320"/>
            <a:ext cx="3867912" cy="1371600"/>
          </a:xfrm>
          <a:prstGeom prst="roundRect">
            <a:avLst>
              <a:gd fmla="val 4667" name="adj"/>
            </a:avLst>
          </a:prstGeom>
          <a:solidFill>
            <a:srgbClr val="EAF3EE"/>
          </a:solidFill>
          <a:ln cap="flat" cmpd="sng" w="12700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7973568" y="141732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DiPS is best overall (79%), and the only method robust on both existing and unseen residents.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7726680" y="2944368"/>
            <a:ext cx="3867912" cy="12801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7973568" y="312724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baselines are brittle in opposite directions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7973568" y="3621024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Zero-shot collapses to 55% on existing residents; RAG drops to 66% on unseen ones. Only DiPS holds up on both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7726680" y="4370832"/>
            <a:ext cx="3867912" cy="1389888"/>
          </a:xfrm>
          <a:prstGeom prst="roundRect">
            <a:avLst>
              <a:gd fmla="val 4605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7973568" y="453542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Corroborated in simulation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973568" y="482803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With a faithful simulator, DiPS reaches 92%, close to the 85% acceptance rate reported for human operators, in the fewest turns.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515100" y="1651700"/>
            <a:ext cx="14340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Zero-shot</a:t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3627200" y="1651700"/>
            <a:ext cx="1434000" cy="65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RAG over all operator utterances</a:t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5583413" y="1651700"/>
            <a:ext cx="1434000" cy="34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DiPS</a:t>
            </a:r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563853" y="781733"/>
            <a:ext cx="11064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Adaptive strategy selection reaches near human-level persuasion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63878" y="1837935"/>
            <a:ext cx="7589400" cy="1572900"/>
          </a:xfrm>
          <a:prstGeom prst="roundRect">
            <a:avLst>
              <a:gd fmla="val 4070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/>
          <p:nvPr/>
        </p:nvSpPr>
        <p:spPr>
          <a:xfrm>
            <a:off x="874774" y="2313423"/>
            <a:ext cx="621900" cy="621900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874774" y="2313423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697734" y="2057391"/>
            <a:ext cx="621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works, on residents it never trained 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1697734" y="2624319"/>
            <a:ext cx="6309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Offline RL learns turn-level strategy selection from heterogeneous dialogue data, and reaches near human-level evacuation success on unseen residents.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563878" y="4032570"/>
            <a:ext cx="7589400" cy="1572900"/>
          </a:xfrm>
          <a:prstGeom prst="roundRect">
            <a:avLst>
              <a:gd fmla="val 4070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874774" y="4224658"/>
            <a:ext cx="621900" cy="621900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874724" y="4224608"/>
            <a:ext cx="62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697734" y="3950276"/>
            <a:ext cx="621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selection is what carries 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697771" y="4526417"/>
            <a:ext cx="6309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Ablations show every piece is load-bearing: scoped per-policy retrieval, persona conditioning, and the learned choice. Good personas aren't enough; you have to pick the right one each turn.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8321040" y="1508760"/>
            <a:ext cx="3273552" cy="2194560"/>
          </a:xfrm>
          <a:prstGeom prst="roundRect">
            <a:avLst>
              <a:gd fmla="val 291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8577072" y="1691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method, in one 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8577072" y="2029968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3E4753"/>
                </a:solidFill>
                <a:latin typeface="Cambria"/>
                <a:ea typeface="Cambria"/>
                <a:cs typeface="Cambria"/>
                <a:sym typeface="Cambria"/>
              </a:rPr>
              <a:t>Treat the persuasion strategy as the action. Learn, from offline data, which strategy to deploy each turn.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8321040" y="3840480"/>
            <a:ext cx="3273552" cy="2084832"/>
          </a:xfrm>
          <a:prstGeom prst="roundRect">
            <a:avLst>
              <a:gd fmla="val 3070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8577072" y="40416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577072" y="45537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577072" y="4919472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{tzhang62, mousumid}@usc.edu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8577072" y="5230368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D66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D6672"/>
                </a:solidFill>
                <a:latin typeface="Calibri"/>
                <a:ea typeface="Calibri"/>
                <a:cs typeface="Calibri"/>
                <a:sym typeface="Calibri"/>
              </a:rPr>
              <a:t>Supported by ARL A2I2 (W911NF-23-2-0010) and Cooperative Agreement W911NF-20-2-0053.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1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9"/>
          <p:cNvSpPr/>
          <p:nvPr/>
        </p:nvSpPr>
        <p:spPr>
          <a:xfrm>
            <a:off x="566928" y="18745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566928" y="22860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Backup slides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566928" y="3383280"/>
            <a:ext cx="8686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500"/>
              <a:buFont typeface="Calibri"/>
              <a:buChar char="→"/>
            </a:pPr>
            <a:r>
              <a:rPr b="0" i="0" lang="en-US" sz="15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In a naive simulator, the ranking reverses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How much can we trust an LLM judge?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Where LLM operators still lose to humans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Improved simulation: full baseline &amp; ablation sweep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Ablations: every component earns its place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 · NAIVE SIMULATION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In a naive simulator, the ranking reverses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417320"/>
            <a:ext cx="694944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0"/>
          <p:cNvSpPr/>
          <p:nvPr/>
        </p:nvSpPr>
        <p:spPr>
          <a:xfrm>
            <a:off x="7726680" y="1417320"/>
            <a:ext cx="3867912" cy="960120"/>
          </a:xfrm>
          <a:prstGeom prst="roundRect">
            <a:avLst>
              <a:gd fmla="val 6667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7973568" y="14173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Here DiPS is last on both groups, the opposite of the human result.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7726680" y="2606040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Three candidate explanations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7726680" y="2971800"/>
            <a:ext cx="3867912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0"/>
          <p:cNvSpPr/>
          <p:nvPr/>
        </p:nvSpPr>
        <p:spPr>
          <a:xfrm>
            <a:off x="7936992" y="3218688"/>
            <a:ext cx="365760" cy="365760"/>
          </a:xfrm>
          <a:prstGeom prst="ellipse">
            <a:avLst/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7936992" y="32186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8412480" y="3118104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simulator isn't human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8412480" y="337413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LLM residents may not reproduce human resistance.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7726680" y="3931920"/>
            <a:ext cx="3867912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"/>
          <p:cNvSpPr/>
          <p:nvPr/>
        </p:nvSpPr>
        <p:spPr>
          <a:xfrm>
            <a:off x="7936992" y="4178808"/>
            <a:ext cx="365760" cy="365760"/>
          </a:xfrm>
          <a:prstGeom prst="ellipse">
            <a:avLst/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7936992" y="41788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8412480" y="4078224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prompts are too thin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8412480" y="433425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Maybe the selector isn't given enough to choose well.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7726680" y="4892040"/>
            <a:ext cx="3867912" cy="868680"/>
          </a:xfrm>
          <a:prstGeom prst="roundRect">
            <a:avLst>
              <a:gd fmla="val 7368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0"/>
          <p:cNvSpPr/>
          <p:nvPr/>
        </p:nvSpPr>
        <p:spPr>
          <a:xfrm>
            <a:off x="7936992" y="5138928"/>
            <a:ext cx="365760" cy="365760"/>
          </a:xfrm>
          <a:prstGeom prst="ellipse">
            <a:avLst/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0"/>
          <p:cNvSpPr/>
          <p:nvPr/>
        </p:nvSpPr>
        <p:spPr>
          <a:xfrm>
            <a:off x="7936992" y="51389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8412480" y="5038344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method is wrong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8412480" y="5294376"/>
            <a:ext cx="3063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Switching personas mid-dialogue could break coherence.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7726680" y="5870448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The human study (main talk) resolved this: it was (a).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1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 ·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How much can we trust an LLM judge?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0" name="Google Shape;500;p21"/>
          <p:cNvGraphicFramePr/>
          <p:nvPr/>
        </p:nvGraphicFramePr>
        <p:xfrm>
          <a:off x="566928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{DE13950F-DA3C-4E20-A4AD-45A16CC80013}</a:tableStyleId>
              </a:tblPr>
              <a:tblGrid>
                <a:gridCol w="1828800"/>
                <a:gridCol w="1280150"/>
                <a:gridCol w="731525"/>
                <a:gridCol w="1097275"/>
                <a:gridCol w="109727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Agreement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κ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judge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Zero-shot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66.7%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66.7%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DiPS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72.2%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01" name="Google Shape;501;p21"/>
          <p:cNvSpPr/>
          <p:nvPr/>
        </p:nvSpPr>
        <p:spPr>
          <a:xfrm>
            <a:off x="566928" y="35661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n = 30 dialogues per setting (Table 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66928" y="3977640"/>
            <a:ext cx="6035040" cy="1783080"/>
          </a:xfrm>
          <a:prstGeom prst="roundRect">
            <a:avLst>
              <a:gd fmla="val 3590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841248" y="416052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Two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841248" y="4480560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DiPS dialogues are the most interpretable (83.3%, κ = 0.67). Baselines produce more borderline endings where commitment is open to reading.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3E475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The judge is systematically conservative (55.6 vs 67.8), labelling conditional agreements “maybe” where humans say yes.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6858000" y="1463040"/>
            <a:ext cx="4736592" cy="2377440"/>
          </a:xfrm>
          <a:prstGeom prst="roundRect">
            <a:avLst>
              <a:gd fmla="val 2692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7132320" y="166420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three-way scheme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7132320" y="2066544"/>
            <a:ext cx="777240" cy="292608"/>
          </a:xfrm>
          <a:prstGeom prst="roundRect">
            <a:avLst>
              <a:gd fmla="val 18750" name="adj"/>
            </a:avLst>
          </a:prstGeom>
          <a:solidFill>
            <a:srgbClr val="2C7A5A"/>
          </a:solidFill>
          <a:ln cap="flat" cmpd="sng" w="12700">
            <a:solidFill>
              <a:srgbClr val="2C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7132320" y="20665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8028432" y="2048256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explicit agreement + a viable plan, no unresolved blocker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7132320" y="2633472"/>
            <a:ext cx="777240" cy="292608"/>
          </a:xfrm>
          <a:prstGeom prst="roundRect">
            <a:avLst>
              <a:gd fmla="val 18750" name="adj"/>
            </a:avLst>
          </a:prstGeom>
          <a:solidFill>
            <a:srgbClr val="F2A03D"/>
          </a:solidFill>
          <a:ln cap="flat" cmpd="sng" w="12700">
            <a:solidFill>
              <a:srgbClr val="F2A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7132320" y="263347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8028432" y="2615184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conditional compliance, time-dependent promises, ends mid-negotiation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7132320" y="3200400"/>
            <a:ext cx="777240" cy="292608"/>
          </a:xfrm>
          <a:prstGeom prst="roundRect">
            <a:avLst>
              <a:gd fmla="val 18750" name="adj"/>
            </a:avLst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7132320" y="320040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8028432" y="3182112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explicit refusal, or a precondition that cannot be met in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7132320" y="376732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Identical instructions for human annotators and the judge. Annotators agreed with each other &gt; 80%.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858000" y="3977640"/>
            <a:ext cx="4736592" cy="1783080"/>
          </a:xfrm>
          <a:prstGeom prst="roundRect">
            <a:avLst>
              <a:gd fmla="val 3590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7132320" y="41605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03D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7132320" y="4498848"/>
            <a:ext cx="4206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C6CD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6CDD6"/>
                </a:solidFill>
                <a:latin typeface="Calibri"/>
                <a:ea typeface="Calibri"/>
                <a:cs typeface="Calibri"/>
                <a:sym typeface="Calibri"/>
              </a:rPr>
              <a:t>An LLM judge is a usable training and evaluation signal at scale, but not a substitute for human evaluation, especially on the ambiguous interactions that matter most.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2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 ·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Where LLM operators still lose to humans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9" name="Google Shape;529;p22"/>
          <p:cNvGraphicFramePr/>
          <p:nvPr/>
        </p:nvGraphicFramePr>
        <p:xfrm>
          <a:off x="566928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{DE13950F-DA3C-4E20-A4AD-45A16CC80013}</a:tableStyleId>
              </a:tblPr>
              <a:tblGrid>
                <a:gridCol w="1371600"/>
                <a:gridCol w="1188725"/>
                <a:gridCol w="1097275"/>
                <a:gridCol w="12801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Character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 op.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op.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4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4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Lindsay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Niki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0.044 *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Ross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41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854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0.0001 **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71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217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0.043 *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7EA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30" name="Google Shape;530;p22"/>
          <p:cNvSpPr/>
          <p:nvPr/>
        </p:nvSpPr>
        <p:spPr>
          <a:xfrm>
            <a:off x="566928" y="4041648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Fisher's exact test vs. the human-operator WoZ data (Table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806440" y="1463040"/>
            <a:ext cx="5788152" cy="1234440"/>
          </a:xfrm>
          <a:prstGeom prst="roundRect">
            <a:avLst>
              <a:gd fmla="val 5185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2"/>
          <p:cNvSpPr/>
          <p:nvPr/>
        </p:nvSpPr>
        <p:spPr>
          <a:xfrm>
            <a:off x="6053328" y="1709928"/>
            <a:ext cx="384048" cy="38404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6053328" y="1709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6565392" y="171907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logistical commitment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6053328" y="2029968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A44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LLM operators produce plausible language but won't commit to concrete action. Failures cluster on Ross and Niki, who need dispatch and coordination, not argument.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5806440" y="2834640"/>
            <a:ext cx="5788152" cy="1207008"/>
          </a:xfrm>
          <a:prstGeom prst="roundRect">
            <a:avLst>
              <a:gd fmla="val 5303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2"/>
          <p:cNvSpPr/>
          <p:nvPr/>
        </p:nvSpPr>
        <p:spPr>
          <a:xfrm>
            <a:off x="6053328" y="3081528"/>
            <a:ext cx="384048" cy="384048"/>
          </a:xfrm>
          <a:prstGeom prst="ellipse">
            <a:avLst/>
          </a:prstGeom>
          <a:solidFill>
            <a:srgbClr val="E8541E"/>
          </a:solidFill>
          <a:ln cap="flat" cmpd="sng" w="12700">
            <a:solidFill>
              <a:srgbClr val="E85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2"/>
          <p:cNvSpPr/>
          <p:nvPr/>
        </p:nvSpPr>
        <p:spPr>
          <a:xfrm>
            <a:off x="6053328" y="30815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6565392" y="3090672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The off-script adaptation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6053328" y="340156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A443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4438"/>
                </a:solidFill>
                <a:latin typeface="Calibri"/>
                <a:ea typeface="Calibri"/>
                <a:cs typeface="Calibri"/>
                <a:sym typeface="Calibri"/>
              </a:rPr>
              <a:t>When participants follow the expected script, success is 77-84%. When they introduce new demands, it falls to 47-60%.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566928" y="443484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Ross, stranded with wheelchair passengers: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566928" y="4754880"/>
            <a:ext cx="5486400" cy="1005840"/>
          </a:xfrm>
          <a:prstGeom prst="roundRect">
            <a:avLst>
              <a:gd fmla="val 6364" name="adj"/>
            </a:avLst>
          </a:prstGeom>
          <a:solidFill>
            <a:srgbClr val="EAF3EE"/>
          </a:solidFill>
          <a:ln cap="flat" cmpd="sng" w="12700">
            <a:solidFill>
              <a:srgbClr val="C4DE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795528" y="4864608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5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7A5A"/>
                </a:solidFill>
                <a:latin typeface="Calibri"/>
                <a:ea typeface="Calibri"/>
                <a:cs typeface="Calibri"/>
                <a:sym typeface="Calibri"/>
              </a:rPr>
              <a:t>HUMAN OPERATOR  →  convinced, 7 turns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795528" y="5120640"/>
            <a:ext cx="5074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5F4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C5F4A"/>
                </a:solidFill>
                <a:latin typeface="Calibri"/>
                <a:ea typeface="Calibri"/>
                <a:cs typeface="Calibri"/>
                <a:sym typeface="Calibri"/>
              </a:rPr>
              <a:t>“I'm going to send a van out to you so we can get you evacuated. Does that sound good?”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6108192" y="4754880"/>
            <a:ext cx="5486400" cy="1005840"/>
          </a:xfrm>
          <a:prstGeom prst="roundRect">
            <a:avLst>
              <a:gd fmla="val 6364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6336792" y="4864608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LLM OPERATOR  →  failed, 15 turns (call abandoned)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6336792" y="5120640"/>
            <a:ext cx="5074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“Rescue units are overwhelmed and cannot send a vehicle. You must evacuate on your own.”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 · IMPROVED SIMULATION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Fix the environment, and the picture inverts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566928" y="1417320"/>
            <a:ext cx="3931920" cy="4343400"/>
          </a:xfrm>
          <a:prstGeom prst="roundRect">
            <a:avLst>
              <a:gd fmla="val 1628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822960" y="1627632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What we changed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822960" y="201168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Residents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822960" y="226771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Prompts now encode explicit barriers: Ross requires a concrete transport plan; Bob requires a stay-vs-leave cost comparison.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822960" y="329184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822960" y="354787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Simplified, shortened, manually verified. About 90% agreement with a human judge.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822960" y="457200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822960" y="4828032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4A5361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4A5361"/>
                </a:solidFill>
                <a:latin typeface="Calibri"/>
                <a:ea typeface="Calibri"/>
                <a:cs typeface="Calibri"/>
                <a:sym typeface="Calibri"/>
              </a:rPr>
              <a:t>Policy descriptions add structured resident concerns from training data, valuable even on unseen residents.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822960" y="5138928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Not tuning for DiPS. Encoding the resistance real humans showed us.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6" name="Google Shape;5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1417320"/>
            <a:ext cx="685800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3"/>
          <p:cNvSpPr/>
          <p:nvPr/>
        </p:nvSpPr>
        <p:spPr>
          <a:xfrm>
            <a:off x="4709160" y="5486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Success rate (%) under the improved simulation (Table 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4709160" y="5779008"/>
            <a:ext cx="3291840" cy="502920"/>
          </a:xfrm>
          <a:prstGeom prst="roundRect">
            <a:avLst>
              <a:gd fmla="val 12727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3"/>
          <p:cNvSpPr/>
          <p:nvPr/>
        </p:nvSpPr>
        <p:spPr>
          <a:xfrm>
            <a:off x="4709160" y="57790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DiPS 92% · fewest turns (11.2 vs 11.9)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8183880" y="5779008"/>
            <a:ext cx="3383280" cy="502920"/>
          </a:xfrm>
          <a:prstGeom prst="roundRect">
            <a:avLst>
              <a:gd fmla="val 12727" name="adj"/>
            </a:avLst>
          </a:prstGeom>
          <a:solidFill>
            <a:srgbClr val="FDF1EC"/>
          </a:solidFill>
          <a:ln cap="flat" cmpd="sng" w="12700">
            <a:solidFill>
              <a:srgbClr val="F2C4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8183880" y="577900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3A1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3A18"/>
                </a:solidFill>
                <a:latin typeface="Calibri"/>
                <a:ea typeface="Calibri"/>
                <a:cs typeface="Calibri"/>
                <a:sym typeface="Calibri"/>
              </a:rPr>
              <a:t>Wrong strategy, held throughout: 51%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"/>
          <p:cNvSpPr/>
          <p:nvPr/>
        </p:nvSpPr>
        <p:spPr>
          <a:xfrm>
            <a:off x="566928" y="438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1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41E"/>
                </a:solidFill>
                <a:latin typeface="Calibri"/>
                <a:ea typeface="Calibri"/>
                <a:cs typeface="Calibri"/>
                <a:sym typeface="Calibri"/>
              </a:rPr>
              <a:t>BACKUP · ABLATIONS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566928" y="73152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2171F"/>
                </a:solidFill>
                <a:latin typeface="Cambria"/>
                <a:ea typeface="Cambria"/>
                <a:cs typeface="Cambria"/>
                <a:sym typeface="Cambria"/>
              </a:rPr>
              <a:t>Every component earns its place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DiPS · SIGDIAL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11155680" y="643737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566928" y="1463040"/>
            <a:ext cx="7772400" cy="969264"/>
          </a:xfrm>
          <a:prstGeom prst="roundRect">
            <a:avLst>
              <a:gd fmla="val 6604" name="adj"/>
            </a:avLst>
          </a:prstGeom>
          <a:solidFill>
            <a:srgbClr val="12171F"/>
          </a:solidFill>
          <a:ln cap="flat" cmpd="sng" w="12700">
            <a:solidFill>
              <a:srgbClr val="121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859536" y="1645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DiPS (full)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859536" y="194767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policy selection + persona prompt + per-policy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5230368" y="1664208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03D"/>
                </a:solidFill>
                <a:latin typeface="Cambria"/>
                <a:ea typeface="Cambria"/>
                <a:cs typeface="Cambria"/>
                <a:sym typeface="Cambria"/>
              </a:rPr>
              <a:t>92%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6693408" y="1664208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A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AA3AF"/>
                </a:solidFill>
                <a:latin typeface="Calibri"/>
                <a:ea typeface="Calibri"/>
                <a:cs typeface="Calibri"/>
                <a:sym typeface="Calibri"/>
              </a:rPr>
              <a:t>11.2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566928" y="2542032"/>
            <a:ext cx="7772400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859536" y="27249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– per-policy 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859536" y="3026664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swap the policy's own index for one global pool of successful operator utterances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5230368" y="2743200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86%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6693408" y="2743200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13.0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566928" y="3621024"/>
            <a:ext cx="7772400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859536" y="38039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– retrieval entirely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859536" y="4105656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persona conditioning only, no in-context examples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5230368" y="382219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0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03D"/>
                </a:solidFill>
                <a:latin typeface="Cambria"/>
                <a:ea typeface="Cambria"/>
                <a:cs typeface="Cambria"/>
                <a:sym typeface="Cambria"/>
              </a:rPr>
              <a:t>80%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6693408" y="3822192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12.9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566928" y="4700016"/>
            <a:ext cx="7772400" cy="969264"/>
          </a:xfrm>
          <a:prstGeom prst="roundRect">
            <a:avLst>
              <a:gd fmla="val 6604" name="adj"/>
            </a:avLst>
          </a:prstGeom>
          <a:solidFill>
            <a:srgbClr val="FFFFFF"/>
          </a:solidFill>
          <a:ln cap="flat" cmpd="sng" w="12700">
            <a:solidFill>
              <a:srgbClr val="DDE1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859536" y="48828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– strategy prompt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859536" y="51846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policy still selected, but its description is withheld from the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5230368" y="4901184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B7480"/>
                </a:solidFill>
                <a:latin typeface="Cambria"/>
                <a:ea typeface="Cambria"/>
                <a:cs typeface="Cambria"/>
                <a:sym typeface="Cambria"/>
              </a:rPr>
              <a:t>80%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6693408" y="4901184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12.9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5230368" y="1207008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6693408" y="120700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avg turns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8641080" y="1463040"/>
            <a:ext cx="2953512" cy="4297680"/>
          </a:xfrm>
          <a:prstGeom prst="roundRect">
            <a:avLst>
              <a:gd fmla="val 2167" name="adj"/>
            </a:avLst>
          </a:prstGeom>
          <a:solidFill>
            <a:srgbClr val="F4F5F7"/>
          </a:solidFill>
          <a:ln cap="flat" cmpd="sng" w="12700">
            <a:solidFill>
              <a:srgbClr val="F4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4"/>
          <p:cNvSpPr/>
          <p:nvPr/>
        </p:nvSpPr>
        <p:spPr>
          <a:xfrm>
            <a:off x="8897112" y="16916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71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71F"/>
                </a:solidFill>
                <a:latin typeface="Calibri"/>
                <a:ea typeface="Calibri"/>
                <a:cs typeface="Calibri"/>
                <a:sym typeface="Calibri"/>
              </a:rPr>
              <a:t>Reading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8897112" y="2057400"/>
            <a:ext cx="246888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E4753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Removing anything costs both success and efficiency; dialogues get longer as well as worse.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593"/>
              </a:lnSpc>
              <a:spcBef>
                <a:spcPts val="1000"/>
              </a:spcBef>
              <a:spcAft>
                <a:spcPts val="0"/>
              </a:spcAft>
              <a:buClr>
                <a:srgbClr val="3E4753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Retrieval matters, but scoped retrieval matters more: a global pool of “good” utterances is worth 6 points less than the selected policy's own examples.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5593"/>
              </a:lnSpc>
              <a:spcBef>
                <a:spcPts val="1000"/>
              </a:spcBef>
              <a:spcAft>
                <a:spcPts val="0"/>
              </a:spcAft>
              <a:buClr>
                <a:srgbClr val="3E4753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3E4753"/>
                </a:solidFill>
                <a:latin typeface="Calibri"/>
                <a:ea typeface="Calibri"/>
                <a:cs typeface="Calibri"/>
                <a:sym typeface="Calibri"/>
              </a:rPr>
              <a:t>Selecting a policy but not describing it costs as much as dropping retrieval altogether. The choice has to reach the generator.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566928" y="58704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480"/>
                </a:solidFill>
                <a:latin typeface="Calibri"/>
                <a:ea typeface="Calibri"/>
                <a:cs typeface="Calibri"/>
                <a:sym typeface="Calibri"/>
              </a:rPr>
              <a:t>Table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