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323106-469C-4C0F-A72C-643C95268605}">
  <a:tblStyle styleId="{3A323106-469C-4C0F-A72C-643C9526860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 name="Google Shape;2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Let's start with </a:t>
            </a:r>
            <a:r>
              <a:rPr lang="en-US" sz="1200">
                <a:solidFill>
                  <a:schemeClr val="dk1"/>
                </a:solidFill>
              </a:rPr>
              <a:t>the motivation behind the work</a:t>
            </a:r>
            <a:r>
              <a:rPr lang="en-US" sz="1200">
                <a:solidFill>
                  <a:schemeClr val="dk1"/>
                </a:solidFill>
                <a:latin typeface="Arial"/>
                <a:ea typeface="Arial"/>
                <a:cs typeface="Arial"/>
                <a:sym typeface="Arial"/>
              </a:rPr>
              <a:t>. AI is already a common creative partner for adults. </a:t>
            </a:r>
            <a:r>
              <a:rPr lang="en-US" sz="1200">
                <a:solidFill>
                  <a:schemeClr val="dk1"/>
                </a:solidFill>
              </a:rPr>
              <a:t>W</a:t>
            </a:r>
            <a:r>
              <a:rPr lang="en-US" sz="1200">
                <a:solidFill>
                  <a:schemeClr val="dk1"/>
                </a:solidFill>
                <a:latin typeface="Arial"/>
                <a:ea typeface="Arial"/>
                <a:cs typeface="Arial"/>
                <a:sym typeface="Arial"/>
              </a:rPr>
              <a:t>e</a:t>
            </a:r>
            <a:r>
              <a:rPr lang="en-US" sz="1200">
                <a:solidFill>
                  <a:schemeClr val="dk1"/>
                </a:solidFill>
                <a:latin typeface="Arial"/>
                <a:ea typeface="Arial"/>
                <a:cs typeface="Arial"/>
                <a:sym typeface="Arial"/>
              </a:rPr>
              <a:t> brainstorm, draft, and iterate together with AI</a:t>
            </a:r>
            <a:r>
              <a:rPr lang="en-US" sz="1200">
                <a:solidFill>
                  <a:schemeClr val="dk1"/>
                </a:solidFill>
              </a:rPr>
              <a:t> for the shared artifact</a:t>
            </a:r>
            <a:r>
              <a:rPr lang="en-US" sz="1200">
                <a:solidFill>
                  <a:schemeClr val="dk1"/>
                </a:solidFill>
                <a:latin typeface="Arial"/>
                <a:ea typeface="Arial"/>
                <a:cs typeface="Arial"/>
                <a:sym typeface="Arial"/>
              </a:rPr>
              <a:t>. But when we look at AI for children, the picture is different: most existing work is AI-led and instructional, usually screen-based. So</a:t>
            </a:r>
            <a:r>
              <a:rPr lang="en-US" sz="1200">
                <a:solidFill>
                  <a:schemeClr val="dk1"/>
                </a:solidFill>
              </a:rPr>
              <a:t> the</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gap </a:t>
            </a:r>
            <a:r>
              <a:rPr lang="en-US" sz="1200">
                <a:solidFill>
                  <a:schemeClr val="dk1"/>
                </a:solidFill>
              </a:rPr>
              <a:t>here is, children are increasingly exposed to AI co-creative environment, but </a:t>
            </a:r>
            <a:r>
              <a:rPr lang="en-US" sz="1200">
                <a:solidFill>
                  <a:schemeClr val="dk1"/>
                </a:solidFill>
                <a:latin typeface="Arial"/>
                <a:ea typeface="Arial"/>
                <a:cs typeface="Arial"/>
                <a:sym typeface="Arial"/>
              </a:rPr>
              <a:t>we don't actually know how </a:t>
            </a:r>
            <a:r>
              <a:rPr lang="en-US" sz="1200">
                <a:solidFill>
                  <a:schemeClr val="dk1"/>
                </a:solidFill>
              </a:rPr>
              <a:t>to design</a:t>
            </a:r>
            <a:r>
              <a:rPr lang="en-US" sz="1200">
                <a:solidFill>
                  <a:schemeClr val="dk1"/>
                </a:solidFill>
                <a:latin typeface="Arial"/>
                <a:ea typeface="Arial"/>
                <a:cs typeface="Arial"/>
                <a:sym typeface="Arial"/>
              </a:rPr>
              <a:t> Child-AI </a:t>
            </a:r>
            <a:r>
              <a:rPr lang="en-US" sz="1200">
                <a:solidFill>
                  <a:schemeClr val="dk1"/>
                </a:solidFill>
              </a:rPr>
              <a:t>interaction</a:t>
            </a:r>
            <a:r>
              <a:rPr lang="en-US" sz="1200">
                <a:solidFill>
                  <a:schemeClr val="dk1"/>
                </a:solidFill>
                <a:latin typeface="Arial"/>
                <a:ea typeface="Arial"/>
                <a:cs typeface="Arial"/>
                <a:sym typeface="Arial"/>
              </a:rPr>
              <a:t> </a:t>
            </a:r>
            <a:r>
              <a:rPr lang="en-US" sz="1200">
                <a:solidFill>
                  <a:schemeClr val="dk1"/>
                </a:solidFill>
              </a:rPr>
              <a:t>to support co-creative activity properly</a:t>
            </a:r>
            <a:r>
              <a:rPr lang="en-US" sz="1200">
                <a:solidFill>
                  <a:schemeClr val="dk1"/>
                </a:solidFill>
                <a:latin typeface="Arial"/>
                <a:ea typeface="Arial"/>
                <a:cs typeface="Arial"/>
                <a:sym typeface="Arial"/>
              </a:rPr>
              <a:t>. For </a:t>
            </a:r>
            <a:r>
              <a:rPr lang="en-US" sz="1200">
                <a:solidFill>
                  <a:schemeClr val="dk1"/>
                </a:solidFill>
              </a:rPr>
              <a:t>the activity that could be a shared artifact between child and AI</a:t>
            </a:r>
            <a:r>
              <a:rPr lang="en-US" sz="1200">
                <a:solidFill>
                  <a:schemeClr val="dk1"/>
                </a:solidFill>
                <a:latin typeface="Arial"/>
                <a:ea typeface="Arial"/>
                <a:cs typeface="Arial"/>
                <a:sym typeface="Arial"/>
              </a:rPr>
              <a:t>, </a:t>
            </a:r>
            <a:r>
              <a:rPr lang="en-US" sz="1200">
                <a:solidFill>
                  <a:schemeClr val="dk1"/>
                </a:solidFill>
              </a:rPr>
              <a:t>w</a:t>
            </a:r>
            <a:r>
              <a:rPr lang="en-US" sz="1200">
                <a:solidFill>
                  <a:schemeClr val="dk1"/>
                </a:solidFill>
                <a:latin typeface="Arial"/>
                <a:ea typeface="Arial"/>
                <a:cs typeface="Arial"/>
                <a:sym typeface="Arial"/>
              </a:rPr>
              <a:t>e chose </a:t>
            </a:r>
            <a:r>
              <a:rPr lang="en-US" sz="1200">
                <a:solidFill>
                  <a:schemeClr val="dk1"/>
                </a:solidFill>
              </a:rPr>
              <a:t>story generation</a:t>
            </a:r>
            <a:r>
              <a:rPr lang="en-US" sz="1200">
                <a:solidFill>
                  <a:schemeClr val="dk1"/>
                </a:solidFill>
                <a:latin typeface="Arial"/>
                <a:ea typeface="Arial"/>
                <a:cs typeface="Arial"/>
                <a:sym typeface="Arial"/>
              </a:rPr>
              <a:t> as our testbed because narrative activities naturally invite shared idea-building between a child and a partner.</a:t>
            </a:r>
            <a:endParaRPr/>
          </a:p>
        </p:txBody>
      </p:sp>
      <p:sp>
        <p:nvSpPr>
          <p:cNvPr id="21" name="Google Shape;2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Before I explain how it works, let me show you what Tinker Tales actually looks like. It has three parts.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First, the physical setup</a:t>
            </a:r>
            <a:r>
              <a:rPr lang="en-US" sz="1200">
                <a:solidFill>
                  <a:schemeClr val="dk1"/>
                </a:solidFill>
              </a:rPr>
              <a:t>:</a:t>
            </a:r>
            <a:r>
              <a:rPr lang="en-US" sz="1200">
                <a:solidFill>
                  <a:schemeClr val="dk1"/>
                </a:solidFill>
                <a:latin typeface="Arial"/>
                <a:ea typeface="Arial"/>
                <a:cs typeface="Arial"/>
                <a:sym typeface="Arial"/>
              </a:rPr>
              <a:t> a story board laid out as four narrative stages: Start, Journey, Climax, and End</a:t>
            </a:r>
            <a:r>
              <a:rPr lang="en-US" sz="1200">
                <a:solidFill>
                  <a:schemeClr val="dk1"/>
                </a:solidFill>
              </a:rPr>
              <a:t>, which corresponds to introduction, development, crisis and conclusion in narrative stages,</a:t>
            </a:r>
            <a:r>
              <a:rPr lang="en-US" sz="1200">
                <a:solidFill>
                  <a:schemeClr val="dk1"/>
                </a:solidFill>
                <a:latin typeface="Arial"/>
                <a:ea typeface="Arial"/>
                <a:cs typeface="Arial"/>
                <a:sym typeface="Arial"/>
              </a:rPr>
              <a:t> with NFC-embedded toys for characters, places, items, and emotions </a:t>
            </a:r>
            <a:r>
              <a:rPr lang="en-US" sz="1200">
                <a:solidFill>
                  <a:schemeClr val="dk1"/>
                </a:solidFill>
              </a:rPr>
              <a:t>which are tangible story elements</a:t>
            </a:r>
            <a:r>
              <a:rPr lang="en-US" sz="1200">
                <a:solidFill>
                  <a:schemeClr val="dk1"/>
                </a:solidFill>
                <a:latin typeface="Arial"/>
                <a:ea typeface="Arial"/>
                <a:cs typeface="Arial"/>
                <a:sym typeface="Arial"/>
              </a:rPr>
              <a:t>. Second, a mobile app, it senses </a:t>
            </a:r>
            <a:r>
              <a:rPr lang="en-US" sz="1200">
                <a:solidFill>
                  <a:schemeClr val="dk1"/>
                </a:solidFill>
              </a:rPr>
              <a:t>child’s </a:t>
            </a:r>
            <a:r>
              <a:rPr lang="en-US" sz="1200">
                <a:solidFill>
                  <a:schemeClr val="dk1"/>
                </a:solidFill>
                <a:latin typeface="Arial"/>
                <a:ea typeface="Arial"/>
                <a:cs typeface="Arial"/>
                <a:sym typeface="Arial"/>
              </a:rPr>
              <a:t>NFC scans and mediates the conversation between the child and the AI through voice. And third, the AI itsel</a:t>
            </a:r>
            <a:r>
              <a:rPr lang="en-US" sz="1200">
                <a:solidFill>
                  <a:schemeClr val="dk1"/>
                </a:solidFill>
                <a:latin typeface="Arial"/>
                <a:ea typeface="Arial"/>
                <a:cs typeface="Arial"/>
                <a:sym typeface="Arial"/>
              </a:rPr>
              <a:t>f</a:t>
            </a:r>
            <a:r>
              <a:rPr lang="en-US" sz="1200">
                <a:solidFill>
                  <a:schemeClr val="dk1"/>
                </a:solidFill>
                <a:latin typeface="Arial"/>
                <a:ea typeface="Arial"/>
                <a:cs typeface="Arial"/>
                <a:sym typeface="Arial"/>
              </a:rPr>
              <a:t> which </a:t>
            </a:r>
            <a:r>
              <a:rPr lang="en-US" sz="1200">
                <a:solidFill>
                  <a:schemeClr val="dk1"/>
                </a:solidFill>
              </a:rPr>
              <a:t>is </a:t>
            </a:r>
            <a:r>
              <a:rPr lang="en-US" sz="1200">
                <a:solidFill>
                  <a:schemeClr val="dk1"/>
                </a:solidFill>
                <a:latin typeface="Arial"/>
                <a:ea typeface="Arial"/>
                <a:cs typeface="Arial"/>
                <a:sym typeface="Arial"/>
              </a:rPr>
              <a:t>a co-creative partner to generate the sotry, and how it talks, its conversation design, is exactly what we study in this work.</a:t>
            </a:r>
            <a:endParaRPr/>
          </a:p>
        </p:txBody>
      </p:sp>
      <p:sp>
        <p:nvSpPr>
          <p:cNvPr id="47" name="Google Shape;4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the loop that repeats at every narrative stage. The child places and scans an NFC toy </a:t>
            </a:r>
            <a:r>
              <a:rPr lang="en-US" sz="1200">
                <a:solidFill>
                  <a:schemeClr val="dk1"/>
                </a:solidFill>
              </a:rPr>
              <a:t>(</a:t>
            </a:r>
            <a:r>
              <a:rPr lang="en-US" sz="1200">
                <a:solidFill>
                  <a:schemeClr val="dk1"/>
                </a:solidFill>
                <a:latin typeface="Arial"/>
                <a:ea typeface="Arial"/>
                <a:cs typeface="Arial"/>
                <a:sym typeface="Arial"/>
              </a:rPr>
              <a:t>a character, place, item, or emotion). The AI drafts a short story segment using that choice, then asks a question to help the child elaborate the story further, and finally updates the story and narrates it back. This loop repeats across all four narrative stages, so the child and the AI are really building the story together</a:t>
            </a:r>
            <a:r>
              <a:rPr lang="en-US" sz="1200">
                <a:solidFill>
                  <a:schemeClr val="dk1"/>
                </a:solidFill>
              </a:rPr>
              <a:t>.</a:t>
            </a:r>
            <a:endParaRPr/>
          </a:p>
        </p:txBody>
      </p:sp>
      <p:sp>
        <p:nvSpPr>
          <p:cNvPr id="71" name="Google Shape;7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On top of this tangible, co-creative setup, the question we </a:t>
            </a:r>
            <a:r>
              <a:rPr lang="en-US" sz="1200">
                <a:solidFill>
                  <a:schemeClr val="dk1"/>
                </a:solidFill>
              </a:rPr>
              <a:t>had is</a:t>
            </a:r>
            <a:r>
              <a:rPr lang="en-US" sz="1200">
                <a:solidFill>
                  <a:schemeClr val="dk1"/>
                </a:solidFill>
                <a:latin typeface="Arial"/>
                <a:ea typeface="Arial"/>
                <a:cs typeface="Arial"/>
                <a:sym typeface="Arial"/>
              </a:rPr>
              <a:t>: how should we design the conversation between the child and the AI? Because a collaborator's attitude really shapes how a child responds. So we did three things.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First, we grounded the AI's questions in educational frameworks</a:t>
            </a:r>
            <a:r>
              <a:rPr lang="en-US" sz="1200">
                <a:solidFill>
                  <a:schemeClr val="dk1"/>
                </a:solidFill>
              </a:rPr>
              <a:t>,</a:t>
            </a:r>
            <a:r>
              <a:rPr lang="en-US" sz="1200">
                <a:solidFill>
                  <a:schemeClr val="dk1"/>
                </a:solidFill>
                <a:latin typeface="Arial"/>
                <a:ea typeface="Arial"/>
                <a:cs typeface="Arial"/>
                <a:sym typeface="Arial"/>
              </a:rPr>
              <a:t> Applebee's narrative development model and CASEL's social-emotional learning framework</a:t>
            </a:r>
            <a:r>
              <a:rPr lang="en-US" sz="1200">
                <a:solidFill>
                  <a:schemeClr val="dk1"/>
                </a:solidFill>
              </a:rPr>
              <a:t>,</a:t>
            </a:r>
            <a:r>
              <a:rPr lang="en-US" sz="1200">
                <a:solidFill>
                  <a:schemeClr val="dk1"/>
                </a:solidFill>
                <a:latin typeface="Arial"/>
                <a:ea typeface="Arial"/>
                <a:cs typeface="Arial"/>
                <a:sym typeface="Arial"/>
              </a:rPr>
              <a:t> instantiated directly as conversation design.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Second, we designed the dialogue to be controllable yet flexible: a structured dialogue graph for each activity phase that still allows unscripted questions or side talk.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And third, we ran a home-based user study with 10 children and analyzed the resulting dialogues to see what kind of interaction our design actually produced.</a:t>
            </a:r>
            <a:endParaRPr/>
          </a:p>
        </p:txBody>
      </p:sp>
      <p:sp>
        <p:nvSpPr>
          <p:cNvPr id="90" name="Google Shape;9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Our design rests on two inspirations.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first axis is collaborative roles: we drew on adult-AI creative writing, where people contribute partial ideas and iteratively develop them together with AI-generated content, and on adult-child storytelling, where caregivers elicit ideas but children keep control of the narrative decisions.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second axis is educational scaffolding</a:t>
            </a:r>
            <a:r>
              <a:rPr lang="en-US" sz="1200">
                <a:solidFill>
                  <a:schemeClr val="dk1"/>
                </a:solidFill>
              </a:rPr>
              <a:t>, which is explicitly embedded on our system to help child </a:t>
            </a:r>
            <a:r>
              <a:rPr lang="en-US" sz="1200">
                <a:solidFill>
                  <a:schemeClr val="dk1"/>
                </a:solidFill>
              </a:rPr>
              <a:t>elicit ideas</a:t>
            </a:r>
            <a:r>
              <a:rPr lang="en-US" sz="1200">
                <a:solidFill>
                  <a:schemeClr val="dk1"/>
                </a:solidFill>
              </a:rPr>
              <a:t> and is also configurable. We used</a:t>
            </a:r>
            <a:r>
              <a:rPr lang="en-US" sz="1200">
                <a:solidFill>
                  <a:schemeClr val="dk1"/>
                </a:solidFill>
                <a:latin typeface="Arial"/>
                <a:ea typeface="Arial"/>
                <a:cs typeface="Arial"/>
                <a:sym typeface="Arial"/>
              </a:rPr>
              <a:t> Applebee's narrative development model</a:t>
            </a:r>
            <a:r>
              <a:rPr lang="en-US" sz="1200">
                <a:solidFill>
                  <a:schemeClr val="dk1"/>
                </a:solidFill>
              </a:rPr>
              <a:t>,</a:t>
            </a:r>
            <a:r>
              <a:rPr lang="en-US" sz="1200">
                <a:solidFill>
                  <a:schemeClr val="dk1"/>
                </a:solidFill>
                <a:latin typeface="Arial"/>
                <a:ea typeface="Arial"/>
                <a:cs typeface="Arial"/>
                <a:sym typeface="Arial"/>
              </a:rPr>
              <a:t> and CASEL's social-emotional learning framework as first step</a:t>
            </a:r>
            <a:r>
              <a:rPr lang="en-US" sz="1200">
                <a:solidFill>
                  <a:schemeClr val="dk1"/>
                </a:solidFill>
              </a:rPr>
              <a:t>, since narrative and social emotional understanding is skills that are known to be naturally developed with story activities.</a:t>
            </a:r>
            <a:endParaRPr/>
          </a:p>
        </p:txBody>
      </p:sp>
      <p:sp>
        <p:nvSpPr>
          <p:cNvPr id="109" name="Google Shape;10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solidFill>
                  <a:schemeClr val="dk1"/>
                </a:solidFill>
              </a:rPr>
              <a:t>These two tables show how </a:t>
            </a:r>
            <a:r>
              <a:rPr lang="en-US">
                <a:solidFill>
                  <a:schemeClr val="dk1"/>
                </a:solidFill>
              </a:rPr>
              <a:t>Applebee's model and CASEL's framework are embedded in our system as questions to help children elaborate the story.</a:t>
            </a:r>
            <a:endParaRPr>
              <a:solidFill>
                <a:schemeClr val="dk1"/>
              </a:solidFill>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Applebee's model describes children's narrative development progressing from Heap, isolated actions with no theme, through Sequence, to Primitive, Chain, and True narratives, which add causality and structure. </a:t>
            </a:r>
            <a:endParaRPr/>
          </a:p>
          <a:p>
            <a:pPr indent="0" lvl="0" marL="0" marR="0" rtl="0" algn="l">
              <a:spcBef>
                <a:spcPts val="0"/>
              </a:spcBef>
              <a:spcAft>
                <a:spcPts val="0"/>
              </a:spcAft>
              <a:buNone/>
            </a:pPr>
            <a:r>
              <a:rPr lang="en-US"/>
              <a:t>Heap and Sequence are already handled by the tangible activity itself, just selecting and sequencing story elements, Instead, we scaffolds Primitive narratives with questions for new events, Chain narratives with questions targeting causal relations, and True narratives with post-story activity to retell the story and imagine alternative endings.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CASEL works the same way: we skip Self-awareness and Self-management since the story centers on the characters, not the child directly, and scaffold Social awareness, Relationship skills, and Responsible decision-making instead, through elaboration and post-story questions, grounded on each socio-emotional competency.</a:t>
            </a:r>
            <a:endParaRPr/>
          </a:p>
          <a:p>
            <a:pPr indent="0" lvl="0" marL="0" marR="0" rtl="0" algn="l">
              <a:spcBef>
                <a:spcPts val="0"/>
              </a:spcBef>
              <a:spcAft>
                <a:spcPts val="0"/>
              </a:spcAft>
              <a:buNone/>
            </a:pPr>
            <a:r>
              <a:t/>
            </a:r>
            <a:endParaRPr/>
          </a:p>
        </p:txBody>
      </p:sp>
      <p:sp>
        <p:nvSpPr>
          <p:cNvPr id="122" name="Google Shape;12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a</a:t>
            </a:r>
            <a:r>
              <a:rPr lang="en-US" sz="1200">
                <a:solidFill>
                  <a:schemeClr val="dk1"/>
                </a:solidFill>
              </a:rPr>
              <a:t>n </a:t>
            </a:r>
            <a:r>
              <a:rPr lang="en-US" sz="1200">
                <a:solidFill>
                  <a:schemeClr val="dk1"/>
                </a:solidFill>
                <a:latin typeface="Arial"/>
                <a:ea typeface="Arial"/>
                <a:cs typeface="Arial"/>
                <a:sym typeface="Arial"/>
              </a:rPr>
              <a:t>example of how this gets instantiated as a prompt to the AI. For the Chain narratives stage, we instruct the AI agent to ask a question that encourages the child to elaborate the story, grounded in what's happened so far, and phrased to spark the child's imagination</a:t>
            </a:r>
            <a:r>
              <a:rPr lang="en-US" sz="1200">
                <a:solidFill>
                  <a:schemeClr val="dk1"/>
                </a:solidFill>
              </a:rPr>
              <a:t>,</a:t>
            </a:r>
            <a:r>
              <a:rPr lang="en-US" sz="1200">
                <a:solidFill>
                  <a:schemeClr val="dk1"/>
                </a:solidFill>
                <a:latin typeface="Arial"/>
                <a:ea typeface="Arial"/>
                <a:cs typeface="Arial"/>
                <a:sym typeface="Arial"/>
              </a:rPr>
              <a:t> specifically scaffolded toward causal connections, like 'Why did [a character] do [an action]?' or 'How did [an event] happen?'. This is really how each educational framework gets translated directly into the AI's language</a:t>
            </a:r>
            <a:r>
              <a:rPr lang="en-US" sz="1200">
                <a:solidFill>
                  <a:schemeClr val="dk1"/>
                </a:solidFill>
              </a:rPr>
              <a:t>.</a:t>
            </a:r>
            <a:endParaRPr/>
          </a:p>
        </p:txBody>
      </p:sp>
      <p:sp>
        <p:nvSpPr>
          <p:cNvPr id="133" name="Google Shape;13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how we designed the overall conversation progression. A session moves through eight phases: opening, character selection, the four narrative stages</a:t>
            </a:r>
            <a:r>
              <a:rPr lang="en-US" sz="1200">
                <a:solidFill>
                  <a:schemeClr val="dk1"/>
                </a:solidFill>
              </a:rPr>
              <a:t>,</a:t>
            </a:r>
            <a:r>
              <a:rPr lang="en-US" sz="1200">
                <a:solidFill>
                  <a:schemeClr val="dk1"/>
                </a:solidFill>
                <a:latin typeface="Arial"/>
                <a:ea typeface="Arial"/>
                <a:cs typeface="Arial"/>
                <a:sym typeface="Arial"/>
              </a:rPr>
              <a:t> a post-story activity, and session closing. Each phase is implemented as a dialogue graph with conditional transitions.</a:t>
            </a:r>
            <a:r>
              <a:rPr lang="en-US" sz="1200">
                <a:solidFill>
                  <a:schemeClr val="dk1"/>
                </a:solidFill>
              </a:rPr>
              <a:t> </a:t>
            </a:r>
            <a:r>
              <a:rPr lang="en-US" sz="1200">
                <a:solidFill>
                  <a:schemeClr val="dk1"/>
                </a:solidFill>
                <a:latin typeface="Arial"/>
                <a:ea typeface="Arial"/>
                <a:cs typeface="Arial"/>
                <a:sym typeface="Arial"/>
              </a:rPr>
              <a:t>Once the current phase's dialogue graph is fulfilled, the AI issues an explicit transition marker, ##NEXT##, and only then moves on to the next phase's prompt. But within a phase, the agent can still answer unscripted questions or side talk as </a:t>
            </a:r>
            <a:r>
              <a:rPr lang="en-US" sz="1200">
                <a:solidFill>
                  <a:schemeClr val="dk1"/>
                </a:solidFill>
              </a:rPr>
              <a:t>instructed in the system prompt,</a:t>
            </a:r>
            <a:r>
              <a:rPr lang="en-US" sz="1200">
                <a:solidFill>
                  <a:schemeClr val="dk1"/>
                </a:solidFill>
                <a:latin typeface="Arial"/>
                <a:ea typeface="Arial"/>
                <a:cs typeface="Arial"/>
                <a:sym typeface="Arial"/>
              </a:rPr>
              <a:t> so </a:t>
            </a:r>
            <a:r>
              <a:rPr lang="en-US" sz="1200">
                <a:solidFill>
                  <a:schemeClr val="dk1"/>
                </a:solidFill>
                <a:latin typeface="Arial"/>
                <a:ea typeface="Arial"/>
                <a:cs typeface="Arial"/>
                <a:sym typeface="Arial"/>
              </a:rPr>
              <a:t>it</a:t>
            </a:r>
            <a:r>
              <a:rPr lang="en-US" sz="1200">
                <a:solidFill>
                  <a:schemeClr val="dk1"/>
                </a:solidFill>
                <a:latin typeface="Arial"/>
                <a:ea typeface="Arial"/>
                <a:cs typeface="Arial"/>
                <a:sym typeface="Arial"/>
              </a:rPr>
              <a:t> stays structured without feeling rigid to the child.</a:t>
            </a:r>
            <a:endParaRPr/>
          </a:p>
        </p:txBody>
      </p:sp>
      <p:sp>
        <p:nvSpPr>
          <p:cNvPr id="146" name="Google Shape;14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four narrative stages, Start through End, are really the heart of the system. Within each stage, the flow is: move the character pawns forward from the previous stage, select and scan story elements </a:t>
            </a:r>
            <a:r>
              <a:rPr lang="en-US" sz="1200">
                <a:solidFill>
                  <a:schemeClr val="dk1"/>
                </a:solidFill>
              </a:rPr>
              <a:t>(</a:t>
            </a:r>
            <a:r>
              <a:rPr lang="en-US" sz="1200">
                <a:solidFill>
                  <a:schemeClr val="dk1"/>
                </a:solidFill>
                <a:latin typeface="Arial"/>
                <a:ea typeface="Arial"/>
                <a:cs typeface="Arial"/>
                <a:sym typeface="Arial"/>
              </a:rPr>
              <a:t>a place, an item, and an emotion token</a:t>
            </a:r>
            <a:r>
              <a:rPr lang="en-US" sz="1200">
                <a:solidFill>
                  <a:schemeClr val="dk1"/>
                </a:solidFill>
              </a:rPr>
              <a:t>)</a:t>
            </a:r>
            <a:r>
              <a:rPr lang="en-US" sz="1200">
                <a:solidFill>
                  <a:schemeClr val="dk1"/>
                </a:solidFill>
                <a:latin typeface="Arial"/>
                <a:ea typeface="Arial"/>
                <a:cs typeface="Arial"/>
                <a:sym typeface="Arial"/>
              </a:rPr>
              <a:t> for this stage, the AI generates a story draft based on </a:t>
            </a:r>
            <a:r>
              <a:rPr lang="en-US" sz="1200">
                <a:solidFill>
                  <a:schemeClr val="dk1"/>
                </a:solidFill>
              </a:rPr>
              <a:t>these selection and the</a:t>
            </a:r>
            <a:r>
              <a:rPr lang="en-US" sz="1200">
                <a:solidFill>
                  <a:schemeClr val="dk1"/>
                </a:solidFill>
                <a:latin typeface="Arial"/>
                <a:ea typeface="Arial"/>
                <a:cs typeface="Arial"/>
                <a:sym typeface="Arial"/>
              </a:rPr>
              <a:t> story so far, asks</a:t>
            </a:r>
            <a:r>
              <a:rPr lang="en-US" sz="1200">
                <a:solidFill>
                  <a:schemeClr val="dk1"/>
                </a:solidFill>
              </a:rPr>
              <a:t> </a:t>
            </a:r>
            <a:r>
              <a:rPr lang="en-US" sz="1200">
                <a:solidFill>
                  <a:schemeClr val="dk1"/>
                </a:solidFill>
                <a:latin typeface="Arial"/>
                <a:ea typeface="Arial"/>
                <a:cs typeface="Arial"/>
                <a:sym typeface="Arial"/>
              </a:rPr>
              <a:t>questions to help the child elaborate further, and then updates the story.</a:t>
            </a:r>
            <a:endParaRPr/>
          </a:p>
        </p:txBody>
      </p:sp>
      <p:sp>
        <p:nvSpPr>
          <p:cNvPr id="180" name="Google Shape;18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Of everything in this loop, the piece that matters most for our research question is that elaboration question</a:t>
            </a:r>
            <a:r>
              <a:rPr lang="en-US" sz="1200">
                <a:solidFill>
                  <a:schemeClr val="dk1"/>
                </a:solidFill>
              </a:rPr>
              <a:t>,</a:t>
            </a:r>
            <a:r>
              <a:rPr lang="en-US" sz="1200">
                <a:solidFill>
                  <a:schemeClr val="dk1"/>
                </a:solidFill>
                <a:latin typeface="Arial"/>
                <a:ea typeface="Arial"/>
                <a:cs typeface="Arial"/>
                <a:sym typeface="Arial"/>
              </a:rPr>
              <a:t> the scaffolded question the AI asks right after drafting the story.</a:t>
            </a:r>
            <a:endParaRPr/>
          </a:p>
        </p:txBody>
      </p:sp>
      <p:sp>
        <p:nvSpPr>
          <p:cNvPr id="212" name="Google Shape;21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To see how this plays out, we ran a home-based study with 10 children, ages 6 to 8. Each child experienced two conditions in separate sessions: Structured, where the AI's questions were grounded in Applebee's and CASEL's frameworks, and Generic, where the AI just asked open-ended elaboration questions like </a:t>
            </a:r>
            <a:r>
              <a:rPr lang="en-US" sz="1200">
                <a:solidFill>
                  <a:schemeClr val="dk1"/>
                </a:solidFill>
              </a:rPr>
              <a:t>“what do you want to add more in the story?”,</a:t>
            </a:r>
            <a:r>
              <a:rPr lang="en-US" sz="1200">
                <a:solidFill>
                  <a:schemeClr val="dk1"/>
                </a:solidFill>
                <a:latin typeface="Arial"/>
                <a:ea typeface="Arial"/>
                <a:cs typeface="Arial"/>
                <a:sym typeface="Arial"/>
              </a:rPr>
              <a:t> with the order counterbalanced across children.</a:t>
            </a:r>
            <a:r>
              <a:rPr lang="en-US" sz="1200">
                <a:solidFill>
                  <a:schemeClr val="dk1"/>
                </a:solidFill>
              </a:rPr>
              <a:t> </a:t>
            </a:r>
            <a:r>
              <a:rPr lang="en-US" sz="1200">
                <a:solidFill>
                  <a:schemeClr val="dk1"/>
                </a:solidFill>
                <a:latin typeface="Arial"/>
                <a:ea typeface="Arial"/>
                <a:cs typeface="Arial"/>
                <a:sym typeface="Arial"/>
              </a:rPr>
              <a:t>Sessions ran about 32 minutes on average, with around 53 turns of child-AI exchange.</a:t>
            </a:r>
            <a:endParaRPr/>
          </a:p>
        </p:txBody>
      </p:sp>
      <p:sp>
        <p:nvSpPr>
          <p:cNvPr id="244" name="Google Shape;24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We then took the resulting dialogue transcripts and coded them turn by turn w</a:t>
            </a:r>
            <a:r>
              <a:rPr lang="en-US" sz="1200">
                <a:solidFill>
                  <a:schemeClr val="dk1"/>
                </a:solidFill>
              </a:rPr>
              <a:t>ith our coding scheme on the screen,</a:t>
            </a:r>
            <a:r>
              <a:rPr lang="en-US" sz="1200">
                <a:solidFill>
                  <a:schemeClr val="dk1"/>
                </a:solidFill>
                <a:latin typeface="Arial"/>
                <a:ea typeface="Arial"/>
                <a:cs typeface="Arial"/>
                <a:sym typeface="Arial"/>
              </a:rPr>
              <a:t> looking at how children contributed to and refined narrative ideas, how the AI responded, and how the story was jointly constructed over multiple turns.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what we found. When the AI asked a Primitive narrative-scaffolded question, children added a new event 90% of the time. When it asked a Chain narrative-scaffolded question, children engaged in causal reasoning 100% of the time. And Social awareness-scaffolded questions got children to elaborate on a character's emotion 62% of the time.</a:t>
            </a:r>
            <a:r>
              <a:rPr lang="en-US" sz="1200">
                <a:solidFill>
                  <a:schemeClr val="dk1"/>
                </a:solidFill>
              </a:rPr>
              <a:t> </a:t>
            </a:r>
            <a:r>
              <a:rPr lang="en-US" sz="1200">
                <a:solidFill>
                  <a:schemeClr val="dk1"/>
                </a:solidFill>
                <a:latin typeface="Arial"/>
                <a:ea typeface="Arial"/>
                <a:cs typeface="Arial"/>
                <a:sym typeface="Arial"/>
              </a:rPr>
              <a:t>On the other hand, </a:t>
            </a:r>
            <a:r>
              <a:rPr lang="en-US" sz="1200">
                <a:solidFill>
                  <a:schemeClr val="dk1"/>
                </a:solidFill>
              </a:rPr>
              <a:t>generic questions with open invitation like “what do you want to add?” only yield 36% of story contribution from children. </a:t>
            </a:r>
            <a:r>
              <a:rPr lang="en-US" sz="1200">
                <a:solidFill>
                  <a:schemeClr val="dk1"/>
                </a:solidFill>
              </a:rPr>
              <a:t>So scaffolding increased how much children contributed, and also it shaped the specific kind of narrative thinking they did. </a:t>
            </a:r>
            <a:endParaRPr/>
          </a:p>
        </p:txBody>
      </p:sp>
      <p:sp>
        <p:nvSpPr>
          <p:cNvPr id="274" name="Google Shape;27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what that actually sounds like. In this Climax-stag</a:t>
            </a:r>
            <a:r>
              <a:rPr lang="en-US" sz="1200">
                <a:solidFill>
                  <a:schemeClr val="dk1"/>
                </a:solidFill>
              </a:rPr>
              <a:t>e</a:t>
            </a:r>
            <a:r>
              <a:rPr lang="en-US" sz="1200">
                <a:solidFill>
                  <a:schemeClr val="dk1"/>
                </a:solidFill>
                <a:latin typeface="Arial"/>
                <a:ea typeface="Arial"/>
                <a:cs typeface="Arial"/>
                <a:sym typeface="Arial"/>
              </a:rPr>
              <a:t>, the AI asks, 'What else might they do when they see the dragon?' </a:t>
            </a:r>
            <a:r>
              <a:rPr lang="en-US" sz="1200">
                <a:solidFill>
                  <a:schemeClr val="dk1"/>
                </a:solidFill>
              </a:rPr>
              <a:t>(</a:t>
            </a:r>
            <a:r>
              <a:rPr lang="en-US" sz="1200">
                <a:solidFill>
                  <a:schemeClr val="dk1"/>
                </a:solidFill>
                <a:latin typeface="Arial"/>
                <a:ea typeface="Arial"/>
                <a:cs typeface="Arial"/>
                <a:sym typeface="Arial"/>
              </a:rPr>
              <a:t>a Primitive narrative </a:t>
            </a:r>
            <a:r>
              <a:rPr lang="en-US" sz="1200">
                <a:solidFill>
                  <a:schemeClr val="dk1"/>
                </a:solidFill>
              </a:rPr>
              <a:t>instructed question)</a:t>
            </a:r>
            <a:r>
              <a:rPr lang="en-US" sz="1200">
                <a:solidFill>
                  <a:schemeClr val="dk1"/>
                </a:solidFill>
                <a:latin typeface="Arial"/>
                <a:ea typeface="Arial"/>
                <a:cs typeface="Arial"/>
                <a:sym typeface="Arial"/>
              </a:rPr>
              <a:t> and the child says, 'Rabbit will scream and the dragon will wake up.' Then the AI asks a Social awareness question: 'How do you think each of them feels about the dragon?' And the child responds w</a:t>
            </a:r>
            <a:r>
              <a:rPr lang="en-US" sz="1200">
                <a:solidFill>
                  <a:schemeClr val="dk1"/>
                </a:solidFill>
              </a:rPr>
              <a:t>ith</a:t>
            </a:r>
            <a:r>
              <a:rPr lang="en-US" sz="1200">
                <a:solidFill>
                  <a:schemeClr val="dk1"/>
                </a:solidFill>
                <a:latin typeface="Arial"/>
                <a:ea typeface="Arial"/>
                <a:cs typeface="Arial"/>
                <a:sym typeface="Arial"/>
              </a:rPr>
              <a:t>: 'The rabbit feels scared and the lion is frightened, and the bear wants to be friends with a dragon.' That's a child doing narrative and emotional reasoning, directly prompted by our scaffolding.</a:t>
            </a:r>
            <a:endParaRPr/>
          </a:p>
        </p:txBody>
      </p:sp>
      <p:sp>
        <p:nvSpPr>
          <p:cNvPr id="289" name="Google Shape;28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Beside the content, i</a:t>
            </a:r>
            <a:r>
              <a:rPr lang="en-US" sz="1200">
                <a:solidFill>
                  <a:schemeClr val="dk1"/>
                </a:solidFill>
                <a:latin typeface="Arial"/>
                <a:ea typeface="Arial"/>
                <a:cs typeface="Arial"/>
                <a:sym typeface="Arial"/>
              </a:rPr>
              <a:t>nteraction wasn't always perfect</a:t>
            </a:r>
            <a:r>
              <a:rPr lang="en-US" sz="1200">
                <a:solidFill>
                  <a:schemeClr val="dk1"/>
                </a:solidFill>
              </a:rPr>
              <a:t>,</a:t>
            </a:r>
            <a:r>
              <a:rPr lang="en-US" sz="1200">
                <a:solidFill>
                  <a:schemeClr val="dk1"/>
                </a:solidFill>
                <a:latin typeface="Arial"/>
                <a:ea typeface="Arial"/>
                <a:cs typeface="Arial"/>
                <a:sym typeface="Arial"/>
              </a:rPr>
              <a:t> there was background noise, misheard speech, ambiguous input. But breakdowns didn't stall the story, they got repaired. Sometimes the child corrected the agent directly</a:t>
            </a:r>
            <a:r>
              <a:rPr lang="en-US" sz="1200">
                <a:solidFill>
                  <a:schemeClr val="dk1"/>
                </a:solidFill>
              </a:rPr>
              <a:t>,</a:t>
            </a:r>
            <a:r>
              <a:rPr lang="en-US" sz="1200">
                <a:solidFill>
                  <a:schemeClr val="dk1"/>
                </a:solidFill>
                <a:latin typeface="Arial"/>
                <a:ea typeface="Arial"/>
                <a:cs typeface="Arial"/>
                <a:sym typeface="Arial"/>
              </a:rPr>
              <a:t> like when speech-to-text misheard 'Lion' as 'a liar,' and the child immediately said, 'No, Lion is not a liar, he is friendly and funny.</a:t>
            </a:r>
            <a:r>
              <a:rPr lang="en-US" sz="1200">
                <a:solidFill>
                  <a:schemeClr val="dk1"/>
                </a:solidFill>
              </a:rPr>
              <a:t> It showed us the child had their own agency when participating in the story generation activity as a story owner in our system.</a:t>
            </a:r>
            <a:endParaRPr/>
          </a:p>
        </p:txBody>
      </p:sp>
      <p:sp>
        <p:nvSpPr>
          <p:cNvPr id="300" name="Google Shape;300;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And when we asked the children afterward, they didn't describe this as learning how AI works or being instructed by it — they described it as collaboratively making something together. 'I enjoyed building the story together.' 'It was fun talking to Tinker Tales and making a story with Tinker Tales.' 'I can make stories.' 'I made fun stories.' That framing, as a creative partnership rather than instruction, is exactly what we were aiming for.</a:t>
            </a:r>
            <a:endParaRPr/>
          </a:p>
        </p:txBody>
      </p:sp>
      <p:sp>
        <p:nvSpPr>
          <p:cNvPr id="325" name="Google Shape;32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 here's the takeaway. Conversation design shapes what children can contribute, while still preserving their agency over the story. Pedagogically-grounded questions led to far more consistent, elaborated contributions than open-ended ones. Primitive versus Chain scaffolds shaped different kinds of narrative thinking</a:t>
            </a:r>
            <a:r>
              <a:rPr lang="en-US" sz="1200">
                <a:solidFill>
                  <a:schemeClr val="dk1"/>
                </a:solidFill>
              </a:rPr>
              <a:t>,</a:t>
            </a:r>
            <a:r>
              <a:rPr lang="en-US" sz="1200">
                <a:solidFill>
                  <a:schemeClr val="dk1"/>
                </a:solidFill>
                <a:latin typeface="Arial"/>
                <a:ea typeface="Arial"/>
                <a:cs typeface="Arial"/>
                <a:sym typeface="Arial"/>
              </a:rPr>
              <a:t> events versus causal reasoning. And collaborative continuity needed both turn-level repair and the agent staying attentive to the broader interaction state, not just individual turns. In short, prompt framing functions as interaction design in child-AI co-creative dialogue.</a:t>
            </a:r>
            <a:endParaRPr/>
          </a:p>
        </p:txBody>
      </p:sp>
      <p:sp>
        <p:nvSpPr>
          <p:cNvPr id="334" name="Google Shape;334;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347" name="Google Shape;347;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73D"/>
        </a:solidFill>
      </p:bgPr>
    </p:bg>
    <p:spTree>
      <p:nvGrpSpPr>
        <p:cNvPr id="11" name="Shape 11"/>
        <p:cNvGrpSpPr/>
        <p:nvPr/>
      </p:nvGrpSpPr>
      <p:grpSpPr>
        <a:xfrm>
          <a:off x="0" y="0"/>
          <a:ext cx="0" cy="0"/>
          <a:chOff x="0" y="0"/>
          <a:chExt cx="0" cy="0"/>
        </a:xfrm>
      </p:grpSpPr>
      <p:sp>
        <p:nvSpPr>
          <p:cNvPr id="12" name="Google Shape;12;p3"/>
          <p:cNvSpPr/>
          <p:nvPr/>
        </p:nvSpPr>
        <p:spPr>
          <a:xfrm>
            <a:off x="640080" y="59436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A154"/>
              </a:buClr>
              <a:buSzPts val="1400"/>
              <a:buFont typeface="Calibri"/>
              <a:buNone/>
            </a:pPr>
            <a:r>
              <a:rPr b="1" i="0" lang="en-US" sz="1400" u="none" cap="none" strike="noStrike">
                <a:solidFill>
                  <a:srgbClr val="F2A154"/>
                </a:solidFill>
                <a:latin typeface="Calibri"/>
                <a:ea typeface="Calibri"/>
                <a:cs typeface="Calibri"/>
                <a:sym typeface="Calibri"/>
              </a:rPr>
              <a:t>SIGDIAL 2026</a:t>
            </a:r>
            <a:endParaRPr b="0" i="0" sz="1400" u="none" cap="none" strike="noStrike">
              <a:solidFill>
                <a:schemeClr val="dk1"/>
              </a:solidFill>
              <a:latin typeface="Calibri"/>
              <a:ea typeface="Calibri"/>
              <a:cs typeface="Calibri"/>
              <a:sym typeface="Calibri"/>
            </a:endParaRPr>
          </a:p>
        </p:txBody>
      </p:sp>
      <p:sp>
        <p:nvSpPr>
          <p:cNvPr id="13" name="Google Shape;13;p3"/>
          <p:cNvSpPr/>
          <p:nvPr/>
        </p:nvSpPr>
        <p:spPr>
          <a:xfrm>
            <a:off x="621792" y="2148840"/>
            <a:ext cx="91440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Tinker Tales</a:t>
            </a:r>
            <a:endParaRPr b="0" i="0" sz="5400" u="none" cap="none" strike="noStrike">
              <a:solidFill>
                <a:schemeClr val="dk1"/>
              </a:solidFill>
              <a:latin typeface="Calibri"/>
              <a:ea typeface="Calibri"/>
              <a:cs typeface="Calibri"/>
              <a:sym typeface="Calibri"/>
            </a:endParaRPr>
          </a:p>
        </p:txBody>
      </p:sp>
      <p:sp>
        <p:nvSpPr>
          <p:cNvPr id="14" name="Google Shape;14;p3"/>
          <p:cNvSpPr/>
          <p:nvPr/>
        </p:nvSpPr>
        <p:spPr>
          <a:xfrm>
            <a:off x="679836" y="3195320"/>
            <a:ext cx="932688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CBEF"/>
              </a:buClr>
              <a:buSzPts val="2500"/>
              <a:buFont typeface="Calibri"/>
              <a:buNone/>
            </a:pPr>
            <a:r>
              <a:rPr b="0" i="1" lang="en-US" sz="2500" u="none" cap="none" strike="noStrike">
                <a:solidFill>
                  <a:srgbClr val="C9CBEF"/>
                </a:solidFill>
                <a:latin typeface="Calibri"/>
                <a:ea typeface="Calibri"/>
                <a:cs typeface="Calibri"/>
                <a:sym typeface="Calibri"/>
              </a:rPr>
              <a:t>A Tangible Dialogue System for Child–AI Co-Creative Storytelling</a:t>
            </a:r>
            <a:endParaRPr b="0" i="0" sz="2500" u="none" cap="none" strike="noStrike">
              <a:solidFill>
                <a:schemeClr val="dk1"/>
              </a:solidFill>
              <a:latin typeface="Calibri"/>
              <a:ea typeface="Calibri"/>
              <a:cs typeface="Calibri"/>
              <a:sym typeface="Calibri"/>
            </a:endParaRPr>
          </a:p>
        </p:txBody>
      </p:sp>
      <p:cxnSp>
        <p:nvCxnSpPr>
          <p:cNvPr id="15" name="Google Shape;15;p3"/>
          <p:cNvCxnSpPr/>
          <p:nvPr/>
        </p:nvCxnSpPr>
        <p:spPr>
          <a:xfrm>
            <a:off x="658368" y="4160520"/>
            <a:ext cx="2011680" cy="0"/>
          </a:xfrm>
          <a:prstGeom prst="straightConnector1">
            <a:avLst/>
          </a:prstGeom>
          <a:noFill/>
          <a:ln cap="flat" cmpd="sng" w="31750">
            <a:solidFill>
              <a:srgbClr val="F2A154"/>
            </a:solidFill>
            <a:prstDash val="solid"/>
            <a:round/>
            <a:headEnd len="sm" w="sm" type="none"/>
            <a:tailEnd len="sm" w="sm" type="none"/>
          </a:ln>
        </p:spPr>
      </p:cxnSp>
      <p:sp>
        <p:nvSpPr>
          <p:cNvPr id="16" name="Google Shape;16;p3"/>
          <p:cNvSpPr/>
          <p:nvPr/>
        </p:nvSpPr>
        <p:spPr>
          <a:xfrm>
            <a:off x="640080" y="4434840"/>
            <a:ext cx="10058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Nayoung Choi¹, Jiseung Hong², Peace Cyebukayire¹, Ikseon Choi³, Jinho D. Choi¹</a:t>
            </a:r>
            <a:endParaRPr b="0" i="0" sz="1500" u="none" cap="none" strike="noStrike">
              <a:solidFill>
                <a:schemeClr val="lt1"/>
              </a:solidFill>
              <a:latin typeface="Calibri"/>
              <a:ea typeface="Calibri"/>
              <a:cs typeface="Calibri"/>
              <a:sym typeface="Calibri"/>
            </a:endParaRPr>
          </a:p>
        </p:txBody>
      </p:sp>
      <p:sp>
        <p:nvSpPr>
          <p:cNvPr id="17" name="Google Shape;17;p3"/>
          <p:cNvSpPr/>
          <p:nvPr/>
        </p:nvSpPr>
        <p:spPr>
          <a:xfrm>
            <a:off x="640080" y="4800600"/>
            <a:ext cx="10058400" cy="848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50" u="none" cap="none" strike="noStrike">
                <a:solidFill>
                  <a:srgbClr val="9EA1D6"/>
                </a:solidFill>
                <a:latin typeface="Calibri"/>
                <a:ea typeface="Calibri"/>
                <a:cs typeface="Calibri"/>
                <a:sym typeface="Calibri"/>
              </a:rPr>
              <a:t>¹Department of Computer Science, Emory University</a:t>
            </a:r>
            <a:endParaRPr/>
          </a:p>
          <a:p>
            <a:pPr indent="0" lvl="0" marL="0" marR="0" rtl="0" algn="l">
              <a:spcBef>
                <a:spcPts val="0"/>
              </a:spcBef>
              <a:spcAft>
                <a:spcPts val="0"/>
              </a:spcAft>
              <a:buNone/>
            </a:pPr>
            <a:r>
              <a:rPr lang="en-US" sz="1250">
                <a:solidFill>
                  <a:srgbClr val="9EA1D6"/>
                </a:solidFill>
                <a:latin typeface="Calibri"/>
                <a:ea typeface="Calibri"/>
                <a:cs typeface="Calibri"/>
                <a:sym typeface="Calibri"/>
              </a:rPr>
              <a:t>²Department of Computer Science, Carnegie Mellon University</a:t>
            </a:r>
            <a:endParaRPr/>
          </a:p>
          <a:p>
            <a:pPr indent="0" lvl="0" marL="0" marR="0" rtl="0" algn="l">
              <a:spcBef>
                <a:spcPts val="0"/>
              </a:spcBef>
              <a:spcAft>
                <a:spcPts val="0"/>
              </a:spcAft>
              <a:buNone/>
            </a:pPr>
            <a:r>
              <a:rPr lang="en-US" sz="1250">
                <a:solidFill>
                  <a:srgbClr val="9EA1D6"/>
                </a:solidFill>
                <a:latin typeface="Calibri"/>
                <a:ea typeface="Calibri"/>
                <a:cs typeface="Calibri"/>
                <a:sym typeface="Calibri"/>
              </a:rPr>
              <a:t>³School of Nursing, Emory University</a:t>
            </a:r>
            <a:endParaRPr sz="12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 name="Shape 22"/>
        <p:cNvGrpSpPr/>
        <p:nvPr/>
      </p:nvGrpSpPr>
      <p:grpSpPr>
        <a:xfrm>
          <a:off x="0" y="0"/>
          <a:ext cx="0" cy="0"/>
          <a:chOff x="0" y="0"/>
          <a:chExt cx="0" cy="0"/>
        </a:xfrm>
      </p:grpSpPr>
      <p:sp>
        <p:nvSpPr>
          <p:cNvPr id="23" name="Google Shape;23;p4"/>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MOTIVATION</a:t>
            </a:r>
            <a:endParaRPr sz="1300">
              <a:solidFill>
                <a:schemeClr val="dk1"/>
              </a:solidFill>
              <a:latin typeface="Calibri"/>
              <a:ea typeface="Calibri"/>
              <a:cs typeface="Calibri"/>
              <a:sym typeface="Calibri"/>
            </a:endParaRPr>
          </a:p>
        </p:txBody>
      </p:sp>
      <p:sp>
        <p:nvSpPr>
          <p:cNvPr id="24" name="Google Shape;24;p4"/>
          <p:cNvSpPr/>
          <p:nvPr/>
        </p:nvSpPr>
        <p:spPr>
          <a:xfrm>
            <a:off x="548640" y="741368"/>
            <a:ext cx="10698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85"/>
              </a:buClr>
              <a:buSzPts val="2000"/>
              <a:buFont typeface="Calibri"/>
              <a:buNone/>
            </a:pPr>
            <a:r>
              <a:rPr i="1" lang="en-US" sz="2000">
                <a:solidFill>
                  <a:srgbClr val="6B6B85"/>
                </a:solidFill>
                <a:latin typeface="Calibri"/>
                <a:ea typeface="Calibri"/>
                <a:cs typeface="Calibri"/>
                <a:sym typeface="Calibri"/>
              </a:rPr>
              <a:t>AI is already a common creative collaborator for adults: brainstorming, writing, design.</a:t>
            </a:r>
            <a:endParaRPr sz="2000">
              <a:solidFill>
                <a:schemeClr val="dk1"/>
              </a:solidFill>
              <a:latin typeface="Calibri"/>
              <a:ea typeface="Calibri"/>
              <a:cs typeface="Calibri"/>
              <a:sym typeface="Calibri"/>
            </a:endParaRPr>
          </a:p>
        </p:txBody>
      </p:sp>
      <p:sp>
        <p:nvSpPr>
          <p:cNvPr id="25" name="Google Shape;25;p4"/>
          <p:cNvSpPr/>
          <p:nvPr/>
        </p:nvSpPr>
        <p:spPr>
          <a:xfrm>
            <a:off x="548640" y="1170432"/>
            <a:ext cx="10515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700"/>
              <a:buFont typeface="Cambria"/>
              <a:buNone/>
            </a:pPr>
            <a:r>
              <a:rPr b="1" lang="en-US" sz="2700">
                <a:solidFill>
                  <a:srgbClr val="23245C"/>
                </a:solidFill>
                <a:latin typeface="Cambria"/>
                <a:ea typeface="Cambria"/>
                <a:cs typeface="Cambria"/>
                <a:sym typeface="Cambria"/>
              </a:rPr>
              <a:t>Children's AI use tells a different story</a:t>
            </a:r>
            <a:endParaRPr sz="2700">
              <a:solidFill>
                <a:schemeClr val="dk1"/>
              </a:solidFill>
              <a:latin typeface="Calibri"/>
              <a:ea typeface="Calibri"/>
              <a:cs typeface="Calibri"/>
              <a:sym typeface="Calibri"/>
            </a:endParaRPr>
          </a:p>
        </p:txBody>
      </p:sp>
      <p:sp>
        <p:nvSpPr>
          <p:cNvPr id="26" name="Google Shape;26;p4"/>
          <p:cNvSpPr/>
          <p:nvPr/>
        </p:nvSpPr>
        <p:spPr>
          <a:xfrm>
            <a:off x="629920" y="2148840"/>
            <a:ext cx="3246120" cy="2926080"/>
          </a:xfrm>
          <a:prstGeom prst="roundRect">
            <a:avLst>
              <a:gd fmla="val 3750" name="adj"/>
            </a:avLst>
          </a:prstGeom>
          <a:solidFill>
            <a:srgbClr val="F7F7FB"/>
          </a:solidFill>
          <a:ln>
            <a:noFill/>
          </a:ln>
          <a:effectLst>
            <a:outerShdw blurRad="76200" rotWithShape="0" algn="bl" dir="5400000" dist="25400">
              <a:srgbClr val="888899">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4"/>
          <p:cNvSpPr/>
          <p:nvPr/>
        </p:nvSpPr>
        <p:spPr>
          <a:xfrm>
            <a:off x="949960" y="2367280"/>
            <a:ext cx="658368" cy="658368"/>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4"/>
          <p:cNvSpPr/>
          <p:nvPr/>
        </p:nvSpPr>
        <p:spPr>
          <a:xfrm>
            <a:off x="949960" y="2418080"/>
            <a:ext cx="658368"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a:t>
            </a:r>
            <a:endParaRPr/>
          </a:p>
        </p:txBody>
      </p:sp>
      <p:sp>
        <p:nvSpPr>
          <p:cNvPr id="29" name="Google Shape;29;p4"/>
          <p:cNvSpPr/>
          <p:nvPr/>
        </p:nvSpPr>
        <p:spPr>
          <a:xfrm>
            <a:off x="904240" y="3190240"/>
            <a:ext cx="2697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000"/>
              <a:buFont typeface="Cambria"/>
              <a:buNone/>
            </a:pPr>
            <a:r>
              <a:rPr b="1" lang="en-US" sz="2000">
                <a:solidFill>
                  <a:srgbClr val="23245C"/>
                </a:solidFill>
                <a:latin typeface="Cambria"/>
                <a:ea typeface="Cambria"/>
                <a:cs typeface="Cambria"/>
                <a:sym typeface="Cambria"/>
              </a:rPr>
              <a:t>Adults &amp; AI</a:t>
            </a:r>
            <a:endParaRPr sz="2000">
              <a:solidFill>
                <a:schemeClr val="dk1"/>
              </a:solidFill>
              <a:latin typeface="Calibri"/>
              <a:ea typeface="Calibri"/>
              <a:cs typeface="Calibri"/>
              <a:sym typeface="Calibri"/>
            </a:endParaRPr>
          </a:p>
        </p:txBody>
      </p:sp>
      <p:sp>
        <p:nvSpPr>
          <p:cNvPr id="30" name="Google Shape;30;p4"/>
          <p:cNvSpPr/>
          <p:nvPr/>
        </p:nvSpPr>
        <p:spPr>
          <a:xfrm>
            <a:off x="904240" y="3620008"/>
            <a:ext cx="269748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232336"/>
              </a:buClr>
              <a:buSzPts val="1450"/>
              <a:buFont typeface="Calibri"/>
              <a:buNone/>
            </a:pPr>
            <a:r>
              <a:rPr lang="en-US" sz="1450">
                <a:solidFill>
                  <a:srgbClr val="232336"/>
                </a:solidFill>
                <a:latin typeface="Calibri"/>
                <a:ea typeface="Calibri"/>
                <a:cs typeface="Calibri"/>
                <a:sym typeface="Calibri"/>
              </a:rPr>
              <a:t>A common creative partner: people brainstorm, draft, and iteratively develop ideas together with AI.</a:t>
            </a:r>
            <a:endParaRPr sz="1450">
              <a:solidFill>
                <a:schemeClr val="dk1"/>
              </a:solidFill>
              <a:latin typeface="Calibri"/>
              <a:ea typeface="Calibri"/>
              <a:cs typeface="Calibri"/>
              <a:sym typeface="Calibri"/>
            </a:endParaRPr>
          </a:p>
        </p:txBody>
      </p:sp>
      <p:sp>
        <p:nvSpPr>
          <p:cNvPr id="31" name="Google Shape;31;p4"/>
          <p:cNvSpPr/>
          <p:nvPr/>
        </p:nvSpPr>
        <p:spPr>
          <a:xfrm>
            <a:off x="3977640" y="3291840"/>
            <a:ext cx="3200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2000"/>
              <a:buFont typeface="Calibri"/>
              <a:buNone/>
            </a:pPr>
            <a:r>
              <a:rPr lang="en-US" sz="2000">
                <a:solidFill>
                  <a:srgbClr val="6B6B85"/>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32" name="Google Shape;32;p4"/>
          <p:cNvSpPr/>
          <p:nvPr/>
        </p:nvSpPr>
        <p:spPr>
          <a:xfrm>
            <a:off x="4399280" y="2148840"/>
            <a:ext cx="3246120" cy="2926080"/>
          </a:xfrm>
          <a:prstGeom prst="roundRect">
            <a:avLst>
              <a:gd fmla="val 3750" name="adj"/>
            </a:avLst>
          </a:prstGeom>
          <a:solidFill>
            <a:srgbClr val="F7F7FB"/>
          </a:solidFill>
          <a:ln>
            <a:noFill/>
          </a:ln>
          <a:effectLst>
            <a:outerShdw blurRad="76200" rotWithShape="0" algn="bl" dir="5400000" dist="25400">
              <a:srgbClr val="888899">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4719320" y="2367280"/>
            <a:ext cx="658368" cy="658368"/>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4"/>
          <p:cNvSpPr/>
          <p:nvPr/>
        </p:nvSpPr>
        <p:spPr>
          <a:xfrm>
            <a:off x="4719320" y="2407920"/>
            <a:ext cx="658368"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a:t>
            </a:r>
            <a:endParaRPr/>
          </a:p>
        </p:txBody>
      </p:sp>
      <p:sp>
        <p:nvSpPr>
          <p:cNvPr id="35" name="Google Shape;35;p4"/>
          <p:cNvSpPr/>
          <p:nvPr/>
        </p:nvSpPr>
        <p:spPr>
          <a:xfrm>
            <a:off x="4673600" y="3190240"/>
            <a:ext cx="2697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000"/>
              <a:buFont typeface="Cambria"/>
              <a:buNone/>
            </a:pPr>
            <a:r>
              <a:rPr b="1" lang="en-US" sz="2000">
                <a:solidFill>
                  <a:srgbClr val="23245C"/>
                </a:solidFill>
                <a:latin typeface="Cambria"/>
                <a:ea typeface="Cambria"/>
                <a:cs typeface="Cambria"/>
                <a:sym typeface="Cambria"/>
              </a:rPr>
              <a:t>Kids &amp; AI, today</a:t>
            </a:r>
            <a:endParaRPr sz="2000">
              <a:solidFill>
                <a:schemeClr val="dk1"/>
              </a:solidFill>
              <a:latin typeface="Calibri"/>
              <a:ea typeface="Calibri"/>
              <a:cs typeface="Calibri"/>
              <a:sym typeface="Calibri"/>
            </a:endParaRPr>
          </a:p>
        </p:txBody>
      </p:sp>
      <p:sp>
        <p:nvSpPr>
          <p:cNvPr id="36" name="Google Shape;36;p4"/>
          <p:cNvSpPr/>
          <p:nvPr/>
        </p:nvSpPr>
        <p:spPr>
          <a:xfrm>
            <a:off x="4673600" y="3620008"/>
            <a:ext cx="269748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232336"/>
              </a:buClr>
              <a:buSzPts val="1450"/>
              <a:buFont typeface="Calibri"/>
              <a:buNone/>
            </a:pPr>
            <a:r>
              <a:rPr lang="en-US" sz="1450">
                <a:solidFill>
                  <a:srgbClr val="232336"/>
                </a:solidFill>
                <a:latin typeface="Calibri"/>
                <a:ea typeface="Calibri"/>
                <a:cs typeface="Calibri"/>
                <a:sym typeface="Calibri"/>
              </a:rPr>
              <a:t>Existing work centers on AI-led, instructional activities; guided reading, adaptive feedback, screen-based.</a:t>
            </a:r>
            <a:endParaRPr sz="1450">
              <a:solidFill>
                <a:schemeClr val="dk1"/>
              </a:solidFill>
              <a:latin typeface="Calibri"/>
              <a:ea typeface="Calibri"/>
              <a:cs typeface="Calibri"/>
              <a:sym typeface="Calibri"/>
            </a:endParaRPr>
          </a:p>
        </p:txBody>
      </p:sp>
      <p:sp>
        <p:nvSpPr>
          <p:cNvPr id="37" name="Google Shape;37;p4"/>
          <p:cNvSpPr/>
          <p:nvPr/>
        </p:nvSpPr>
        <p:spPr>
          <a:xfrm>
            <a:off x="7757160" y="3291840"/>
            <a:ext cx="3200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2000"/>
              <a:buFont typeface="Calibri"/>
              <a:buNone/>
            </a:pPr>
            <a:r>
              <a:rPr lang="en-US" sz="2000">
                <a:solidFill>
                  <a:srgbClr val="6B6B85"/>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38" name="Google Shape;38;p4"/>
          <p:cNvSpPr/>
          <p:nvPr/>
        </p:nvSpPr>
        <p:spPr>
          <a:xfrm>
            <a:off x="8178800" y="2148840"/>
            <a:ext cx="3246120" cy="2926080"/>
          </a:xfrm>
          <a:prstGeom prst="roundRect">
            <a:avLst>
              <a:gd fmla="val 3750" name="adj"/>
            </a:avLst>
          </a:prstGeom>
          <a:solidFill>
            <a:srgbClr val="F7F7FB"/>
          </a:solidFill>
          <a:ln>
            <a:noFill/>
          </a:ln>
          <a:effectLst>
            <a:outerShdw blurRad="76200" rotWithShape="0" algn="bl" dir="5400000" dist="25400">
              <a:srgbClr val="888899">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8498840" y="2367280"/>
            <a:ext cx="658368" cy="658368"/>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22245C"/>
              </a:solidFill>
              <a:latin typeface="Calibri"/>
              <a:ea typeface="Calibri"/>
              <a:cs typeface="Calibri"/>
              <a:sym typeface="Calibri"/>
            </a:endParaRPr>
          </a:p>
        </p:txBody>
      </p:sp>
      <p:sp>
        <p:nvSpPr>
          <p:cNvPr id="40" name="Google Shape;40;p4"/>
          <p:cNvSpPr/>
          <p:nvPr/>
        </p:nvSpPr>
        <p:spPr>
          <a:xfrm>
            <a:off x="8498840" y="2377440"/>
            <a:ext cx="658368"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2400"/>
              <a:buFont typeface="Arial"/>
              <a:buNone/>
            </a:pPr>
            <a:r>
              <a:rPr b="1" lang="en-US" sz="2400">
                <a:solidFill>
                  <a:schemeClr val="lt1"/>
                </a:solidFill>
                <a:latin typeface="Arial"/>
                <a:ea typeface="Arial"/>
                <a:cs typeface="Arial"/>
                <a:sym typeface="Arial"/>
              </a:rPr>
              <a:t>?</a:t>
            </a:r>
            <a:endParaRPr sz="2400">
              <a:solidFill>
                <a:schemeClr val="lt1"/>
              </a:solidFill>
              <a:latin typeface="Arial"/>
              <a:ea typeface="Arial"/>
              <a:cs typeface="Arial"/>
              <a:sym typeface="Arial"/>
            </a:endParaRPr>
          </a:p>
        </p:txBody>
      </p:sp>
      <p:sp>
        <p:nvSpPr>
          <p:cNvPr id="41" name="Google Shape;41;p4"/>
          <p:cNvSpPr/>
          <p:nvPr/>
        </p:nvSpPr>
        <p:spPr>
          <a:xfrm>
            <a:off x="8453120" y="3190240"/>
            <a:ext cx="2697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000"/>
              <a:buFont typeface="Cambria"/>
              <a:buNone/>
            </a:pPr>
            <a:r>
              <a:rPr b="1" lang="en-US" sz="2000">
                <a:solidFill>
                  <a:srgbClr val="23245C"/>
                </a:solidFill>
                <a:latin typeface="Cambria"/>
                <a:ea typeface="Cambria"/>
                <a:cs typeface="Cambria"/>
                <a:sym typeface="Cambria"/>
              </a:rPr>
              <a:t>The real gap</a:t>
            </a:r>
            <a:endParaRPr sz="2000">
              <a:solidFill>
                <a:schemeClr val="dk1"/>
              </a:solidFill>
              <a:latin typeface="Calibri"/>
              <a:ea typeface="Calibri"/>
              <a:cs typeface="Calibri"/>
              <a:sym typeface="Calibri"/>
            </a:endParaRPr>
          </a:p>
        </p:txBody>
      </p:sp>
      <p:sp>
        <p:nvSpPr>
          <p:cNvPr id="42" name="Google Shape;42;p4"/>
          <p:cNvSpPr/>
          <p:nvPr/>
        </p:nvSpPr>
        <p:spPr>
          <a:xfrm>
            <a:off x="8453120" y="3620008"/>
            <a:ext cx="269748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232336"/>
              </a:buClr>
              <a:buSzPts val="1450"/>
              <a:buFont typeface="Calibri"/>
              <a:buNone/>
            </a:pPr>
            <a:r>
              <a:rPr lang="en-US" sz="1450">
                <a:solidFill>
                  <a:srgbClr val="232336"/>
                </a:solidFill>
                <a:latin typeface="Calibri"/>
                <a:ea typeface="Calibri"/>
                <a:cs typeface="Calibri"/>
                <a:sym typeface="Calibri"/>
              </a:rPr>
              <a:t>Not whether kids can co-create with AI; but how its conversation design shapes what they contribute. Underexplored.</a:t>
            </a:r>
            <a:endParaRPr sz="1450">
              <a:solidFill>
                <a:schemeClr val="dk1"/>
              </a:solidFill>
              <a:latin typeface="Calibri"/>
              <a:ea typeface="Calibri"/>
              <a:cs typeface="Calibri"/>
              <a:sym typeface="Calibri"/>
            </a:endParaRPr>
          </a:p>
        </p:txBody>
      </p:sp>
      <p:sp>
        <p:nvSpPr>
          <p:cNvPr id="43" name="Google Shape;43;p4"/>
          <p:cNvSpPr/>
          <p:nvPr/>
        </p:nvSpPr>
        <p:spPr>
          <a:xfrm>
            <a:off x="629920" y="5440680"/>
            <a:ext cx="110642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6B85"/>
              </a:buClr>
              <a:buSzPts val="2000"/>
              <a:buFont typeface="Calibri"/>
              <a:buNone/>
            </a:pPr>
            <a:r>
              <a:rPr b="1" i="1" lang="en-US" sz="2000">
                <a:solidFill>
                  <a:srgbClr val="6B6B85"/>
                </a:solidFill>
                <a:latin typeface="Calibri"/>
                <a:ea typeface="Calibri"/>
                <a:cs typeface="Calibri"/>
                <a:sym typeface="Calibri"/>
              </a:rPr>
              <a:t>Narrative activities</a:t>
            </a:r>
            <a:r>
              <a:rPr i="1" lang="en-US" sz="2000">
                <a:solidFill>
                  <a:srgbClr val="6B6B85"/>
                </a:solidFill>
                <a:latin typeface="Calibri"/>
                <a:ea typeface="Calibri"/>
                <a:cs typeface="Calibri"/>
                <a:sym typeface="Calibri"/>
              </a:rPr>
              <a:t> naturally invite shared idea-building; but young learners' contributions are directly shaped by </a:t>
            </a:r>
            <a:r>
              <a:rPr b="1" i="1" lang="en-US" sz="2000">
                <a:solidFill>
                  <a:srgbClr val="6B6B85"/>
                </a:solidFill>
                <a:latin typeface="Calibri"/>
                <a:ea typeface="Calibri"/>
                <a:cs typeface="Calibri"/>
                <a:sym typeface="Calibri"/>
              </a:rPr>
              <a:t>how the AI frames questions and structures elaboration</a:t>
            </a:r>
            <a:r>
              <a:rPr i="1" lang="en-US" sz="2000">
                <a:solidFill>
                  <a:srgbClr val="6B6B85"/>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pic>
        <p:nvPicPr>
          <p:cNvPr id="49" name="Google Shape;49;p5"/>
          <p:cNvPicPr preferRelativeResize="0"/>
          <p:nvPr/>
        </p:nvPicPr>
        <p:blipFill rotWithShape="1">
          <a:blip r:embed="rId3">
            <a:alphaModFix/>
          </a:blip>
          <a:srcRect b="35383" l="0" r="0" t="0"/>
          <a:stretch/>
        </p:blipFill>
        <p:spPr>
          <a:xfrm>
            <a:off x="483108" y="1506728"/>
            <a:ext cx="11255304" cy="1778862"/>
          </a:xfrm>
          <a:prstGeom prst="rect">
            <a:avLst/>
          </a:prstGeom>
          <a:noFill/>
          <a:ln>
            <a:noFill/>
          </a:ln>
        </p:spPr>
      </p:pic>
      <p:sp>
        <p:nvSpPr>
          <p:cNvPr id="50" name="Google Shape;50;p5"/>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MEET THE SYSTEM</a:t>
            </a:r>
            <a:endParaRPr sz="1300">
              <a:solidFill>
                <a:schemeClr val="dk1"/>
              </a:solidFill>
              <a:latin typeface="Calibri"/>
              <a:ea typeface="Calibri"/>
              <a:cs typeface="Calibri"/>
              <a:sym typeface="Calibri"/>
            </a:endParaRPr>
          </a:p>
        </p:txBody>
      </p:sp>
      <p:sp>
        <p:nvSpPr>
          <p:cNvPr id="51" name="Google Shape;51;p5"/>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This is what Tinker Tales looks like</a:t>
            </a:r>
            <a:endParaRPr sz="3000">
              <a:solidFill>
                <a:schemeClr val="dk1"/>
              </a:solidFill>
              <a:latin typeface="Calibri"/>
              <a:ea typeface="Calibri"/>
              <a:cs typeface="Calibri"/>
              <a:sym typeface="Calibri"/>
            </a:endParaRPr>
          </a:p>
        </p:txBody>
      </p:sp>
      <p:sp>
        <p:nvSpPr>
          <p:cNvPr id="52" name="Google Shape;52;p5"/>
          <p:cNvSpPr/>
          <p:nvPr/>
        </p:nvSpPr>
        <p:spPr>
          <a:xfrm>
            <a:off x="548640" y="3662680"/>
            <a:ext cx="3520440" cy="1778862"/>
          </a:xfrm>
          <a:prstGeom prst="roundRect">
            <a:avLst>
              <a:gd fmla="val 5714" name="adj"/>
            </a:avLst>
          </a:prstGeom>
          <a:solidFill>
            <a:srgbClr val="FFFFFF"/>
          </a:solid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5"/>
          <p:cNvSpPr/>
          <p:nvPr/>
        </p:nvSpPr>
        <p:spPr>
          <a:xfrm>
            <a:off x="719328" y="3802888"/>
            <a:ext cx="548640" cy="548640"/>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5"/>
          <p:cNvSpPr/>
          <p:nvPr/>
        </p:nvSpPr>
        <p:spPr>
          <a:xfrm>
            <a:off x="719328" y="384352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a:t>
            </a:r>
            <a:endParaRPr/>
          </a:p>
        </p:txBody>
      </p:sp>
      <p:sp>
        <p:nvSpPr>
          <p:cNvPr id="55" name="Google Shape;55;p5"/>
          <p:cNvSpPr/>
          <p:nvPr/>
        </p:nvSpPr>
        <p:spPr>
          <a:xfrm>
            <a:off x="1315720" y="3896360"/>
            <a:ext cx="24688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000"/>
              <a:buFont typeface="Cambria"/>
              <a:buNone/>
            </a:pPr>
            <a:r>
              <a:rPr b="1" lang="en-US" sz="2000">
                <a:solidFill>
                  <a:srgbClr val="23245C"/>
                </a:solidFill>
                <a:latin typeface="Cambria"/>
                <a:ea typeface="Cambria"/>
                <a:cs typeface="Cambria"/>
                <a:sym typeface="Cambria"/>
              </a:rPr>
              <a:t>Physical setup</a:t>
            </a:r>
            <a:endParaRPr sz="2000">
              <a:solidFill>
                <a:schemeClr val="dk1"/>
              </a:solidFill>
              <a:latin typeface="Calibri"/>
              <a:ea typeface="Calibri"/>
              <a:cs typeface="Calibri"/>
              <a:sym typeface="Calibri"/>
            </a:endParaRPr>
          </a:p>
        </p:txBody>
      </p:sp>
      <p:sp>
        <p:nvSpPr>
          <p:cNvPr id="56" name="Google Shape;56;p5"/>
          <p:cNvSpPr/>
          <p:nvPr/>
        </p:nvSpPr>
        <p:spPr>
          <a:xfrm>
            <a:off x="617728" y="4475480"/>
            <a:ext cx="3392424" cy="685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en-US" sz="1400">
                <a:solidFill>
                  <a:srgbClr val="232336"/>
                </a:solidFill>
                <a:latin typeface="Calibri"/>
                <a:ea typeface="Calibri"/>
                <a:cs typeface="Calibri"/>
                <a:sym typeface="Calibri"/>
              </a:rPr>
              <a:t>The story board is laid out as four narrative stages (Start, Journey, Climax, End) with NFC-embedded toys.</a:t>
            </a:r>
            <a:endParaRPr sz="1400">
              <a:solidFill>
                <a:schemeClr val="dk1"/>
              </a:solidFill>
              <a:latin typeface="Calibri"/>
              <a:ea typeface="Calibri"/>
              <a:cs typeface="Calibri"/>
              <a:sym typeface="Calibri"/>
            </a:endParaRPr>
          </a:p>
        </p:txBody>
      </p:sp>
      <p:sp>
        <p:nvSpPr>
          <p:cNvPr id="57" name="Google Shape;57;p5"/>
          <p:cNvSpPr/>
          <p:nvPr/>
        </p:nvSpPr>
        <p:spPr>
          <a:xfrm>
            <a:off x="4343400" y="3662680"/>
            <a:ext cx="3520440" cy="1778862"/>
          </a:xfrm>
          <a:prstGeom prst="roundRect">
            <a:avLst>
              <a:gd fmla="val 5714" name="adj"/>
            </a:avLst>
          </a:prstGeom>
          <a:solidFill>
            <a:srgbClr val="FFFFFF"/>
          </a:solid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5"/>
          <p:cNvSpPr/>
          <p:nvPr/>
        </p:nvSpPr>
        <p:spPr>
          <a:xfrm>
            <a:off x="4514088" y="3802888"/>
            <a:ext cx="548640" cy="548640"/>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5"/>
          <p:cNvSpPr/>
          <p:nvPr/>
        </p:nvSpPr>
        <p:spPr>
          <a:xfrm>
            <a:off x="4514088" y="384352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a:t>
            </a:r>
            <a:endParaRPr/>
          </a:p>
        </p:txBody>
      </p:sp>
      <p:sp>
        <p:nvSpPr>
          <p:cNvPr id="60" name="Google Shape;60;p5"/>
          <p:cNvSpPr/>
          <p:nvPr/>
        </p:nvSpPr>
        <p:spPr>
          <a:xfrm>
            <a:off x="5110480" y="3896360"/>
            <a:ext cx="24688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000"/>
              <a:buFont typeface="Cambria"/>
              <a:buNone/>
            </a:pPr>
            <a:r>
              <a:rPr b="1" lang="en-US" sz="2000">
                <a:solidFill>
                  <a:srgbClr val="23245C"/>
                </a:solidFill>
                <a:latin typeface="Cambria"/>
                <a:ea typeface="Cambria"/>
                <a:cs typeface="Cambria"/>
                <a:sym typeface="Cambria"/>
              </a:rPr>
              <a:t>Mobile app</a:t>
            </a:r>
            <a:endParaRPr sz="2000">
              <a:solidFill>
                <a:schemeClr val="dk1"/>
              </a:solidFill>
              <a:latin typeface="Calibri"/>
              <a:ea typeface="Calibri"/>
              <a:cs typeface="Calibri"/>
              <a:sym typeface="Calibri"/>
            </a:endParaRPr>
          </a:p>
        </p:txBody>
      </p:sp>
      <p:sp>
        <p:nvSpPr>
          <p:cNvPr id="61" name="Google Shape;61;p5"/>
          <p:cNvSpPr/>
          <p:nvPr/>
        </p:nvSpPr>
        <p:spPr>
          <a:xfrm>
            <a:off x="4514088" y="4485640"/>
            <a:ext cx="3207512" cy="685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en-US" sz="1400">
                <a:solidFill>
                  <a:srgbClr val="232336"/>
                </a:solidFill>
                <a:latin typeface="Calibri"/>
                <a:ea typeface="Calibri"/>
                <a:cs typeface="Calibri"/>
                <a:sym typeface="Calibri"/>
              </a:rPr>
              <a:t>The go-between: senses NFC scans and mediates the child–AI interaction through voice.</a:t>
            </a:r>
            <a:endParaRPr sz="1400">
              <a:solidFill>
                <a:schemeClr val="dk1"/>
              </a:solidFill>
              <a:latin typeface="Calibri"/>
              <a:ea typeface="Calibri"/>
              <a:cs typeface="Calibri"/>
              <a:sym typeface="Calibri"/>
            </a:endParaRPr>
          </a:p>
        </p:txBody>
      </p:sp>
      <p:sp>
        <p:nvSpPr>
          <p:cNvPr id="62" name="Google Shape;62;p5"/>
          <p:cNvSpPr/>
          <p:nvPr/>
        </p:nvSpPr>
        <p:spPr>
          <a:xfrm>
            <a:off x="8138160" y="3662680"/>
            <a:ext cx="3520440" cy="1778862"/>
          </a:xfrm>
          <a:prstGeom prst="roundRect">
            <a:avLst>
              <a:gd fmla="val 5714" name="adj"/>
            </a:avLst>
          </a:prstGeom>
          <a:solidFill>
            <a:srgbClr val="FFFFFF"/>
          </a:solid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5"/>
          <p:cNvSpPr/>
          <p:nvPr/>
        </p:nvSpPr>
        <p:spPr>
          <a:xfrm>
            <a:off x="8308848" y="3802888"/>
            <a:ext cx="548640" cy="548640"/>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5"/>
          <p:cNvSpPr/>
          <p:nvPr/>
        </p:nvSpPr>
        <p:spPr>
          <a:xfrm>
            <a:off x="8308848" y="384352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a:t>
            </a:r>
            <a:endParaRPr/>
          </a:p>
        </p:txBody>
      </p:sp>
      <p:sp>
        <p:nvSpPr>
          <p:cNvPr id="65" name="Google Shape;65;p5"/>
          <p:cNvSpPr/>
          <p:nvPr/>
        </p:nvSpPr>
        <p:spPr>
          <a:xfrm>
            <a:off x="8905240" y="3896360"/>
            <a:ext cx="24688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000"/>
              <a:buFont typeface="Cambria"/>
              <a:buNone/>
            </a:pPr>
            <a:r>
              <a:rPr b="1" lang="en-US" sz="2000">
                <a:solidFill>
                  <a:srgbClr val="23245C"/>
                </a:solidFill>
                <a:latin typeface="Cambria"/>
                <a:ea typeface="Cambria"/>
                <a:cs typeface="Cambria"/>
                <a:sym typeface="Cambria"/>
              </a:rPr>
              <a:t>Co-creative AI</a:t>
            </a:r>
            <a:endParaRPr sz="2000">
              <a:solidFill>
                <a:schemeClr val="dk1"/>
              </a:solidFill>
              <a:latin typeface="Calibri"/>
              <a:ea typeface="Calibri"/>
              <a:cs typeface="Calibri"/>
              <a:sym typeface="Calibri"/>
            </a:endParaRPr>
          </a:p>
        </p:txBody>
      </p:sp>
      <p:sp>
        <p:nvSpPr>
          <p:cNvPr id="66" name="Google Shape;66;p5"/>
          <p:cNvSpPr/>
          <p:nvPr/>
        </p:nvSpPr>
        <p:spPr>
          <a:xfrm>
            <a:off x="8308848" y="4495800"/>
            <a:ext cx="3265424" cy="685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en-US" sz="1400">
                <a:solidFill>
                  <a:srgbClr val="232336"/>
                </a:solidFill>
                <a:latin typeface="Calibri"/>
                <a:ea typeface="Calibri"/>
                <a:cs typeface="Calibri"/>
                <a:sym typeface="Calibri"/>
              </a:rPr>
              <a:t>Not just a narrator but a co-creative partner. Its conversation design is exactly what we study.</a:t>
            </a:r>
            <a:endParaRPr sz="1400">
              <a:solidFill>
                <a:schemeClr val="dk1"/>
              </a:solidFill>
              <a:latin typeface="Calibri"/>
              <a:ea typeface="Calibri"/>
              <a:cs typeface="Calibri"/>
              <a:sym typeface="Calibri"/>
            </a:endParaRPr>
          </a:p>
        </p:txBody>
      </p:sp>
      <p:sp>
        <p:nvSpPr>
          <p:cNvPr id="67" name="Google Shape;67;p5"/>
          <p:cNvSpPr/>
          <p:nvPr/>
        </p:nvSpPr>
        <p:spPr>
          <a:xfrm>
            <a:off x="548640" y="5704840"/>
            <a:ext cx="110642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85"/>
              </a:buClr>
              <a:buSzPts val="2000"/>
              <a:buFont typeface="Calibri"/>
              <a:buNone/>
            </a:pPr>
            <a:r>
              <a:rPr i="1" lang="en-US" sz="2000">
                <a:solidFill>
                  <a:srgbClr val="6B6B85"/>
                </a:solidFill>
                <a:latin typeface="Calibri"/>
                <a:ea typeface="Calibri"/>
                <a:cs typeface="Calibri"/>
                <a:sym typeface="Calibri"/>
              </a:rPr>
              <a:t>Children </a:t>
            </a:r>
            <a:r>
              <a:rPr b="1" i="1" lang="en-US" sz="2000">
                <a:solidFill>
                  <a:srgbClr val="6B6B85"/>
                </a:solidFill>
                <a:latin typeface="Calibri"/>
                <a:ea typeface="Calibri"/>
                <a:cs typeface="Calibri"/>
                <a:sym typeface="Calibri"/>
              </a:rPr>
              <a:t>iteratively develop and refine stories </a:t>
            </a:r>
            <a:r>
              <a:rPr i="1" lang="en-US" sz="2000">
                <a:solidFill>
                  <a:srgbClr val="6B6B85"/>
                </a:solidFill>
                <a:latin typeface="Calibri"/>
                <a:ea typeface="Calibri"/>
                <a:cs typeface="Calibri"/>
                <a:sym typeface="Calibri"/>
              </a:rPr>
              <a:t>through interaction with a conversational AI while placing and </a:t>
            </a:r>
            <a:r>
              <a:rPr b="1" i="1" lang="en-US" sz="2000">
                <a:solidFill>
                  <a:srgbClr val="6B6B85"/>
                </a:solidFill>
                <a:latin typeface="Calibri"/>
                <a:ea typeface="Calibri"/>
                <a:cs typeface="Calibri"/>
                <a:sym typeface="Calibri"/>
              </a:rPr>
              <a:t>moving tangible story elements</a:t>
            </a:r>
            <a:r>
              <a:rPr i="1" lang="en-US" sz="2000">
                <a:solidFill>
                  <a:srgbClr val="6B6B85"/>
                </a:solidFill>
                <a:latin typeface="Calibri"/>
                <a:ea typeface="Calibri"/>
                <a:cs typeface="Calibri"/>
                <a:sym typeface="Calibri"/>
              </a:rPr>
              <a:t> on a physical board.</a:t>
            </a:r>
            <a:endParaRPr sz="2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6"/>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000">
                <a:solidFill>
                  <a:srgbClr val="23245C"/>
                </a:solidFill>
                <a:latin typeface="Cambria"/>
                <a:ea typeface="Cambria"/>
                <a:cs typeface="Cambria"/>
                <a:sym typeface="Cambria"/>
              </a:rPr>
              <a:t>The co-creative loop: Place · Scan · Say</a:t>
            </a:r>
            <a:endParaRPr sz="3000">
              <a:solidFill>
                <a:schemeClr val="dk1"/>
              </a:solidFill>
              <a:latin typeface="Calibri"/>
              <a:ea typeface="Calibri"/>
              <a:cs typeface="Calibri"/>
              <a:sym typeface="Calibri"/>
            </a:endParaRPr>
          </a:p>
        </p:txBody>
      </p:sp>
      <p:sp>
        <p:nvSpPr>
          <p:cNvPr id="74" name="Google Shape;74;p6"/>
          <p:cNvSpPr/>
          <p:nvPr/>
        </p:nvSpPr>
        <p:spPr>
          <a:xfrm>
            <a:off x="436880" y="5232399"/>
            <a:ext cx="2606040" cy="1099127"/>
          </a:xfrm>
          <a:prstGeom prst="roundRect">
            <a:avLst>
              <a:gd fmla="val 8421" name="adj"/>
            </a:avLst>
          </a:prstGeom>
          <a:solidFill>
            <a:srgbClr val="23245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75" name="Google Shape;75;p6"/>
          <p:cNvSpPr/>
          <p:nvPr/>
        </p:nvSpPr>
        <p:spPr>
          <a:xfrm>
            <a:off x="546608" y="5343240"/>
            <a:ext cx="2386584"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Place and scan NFC toys (story elements: character, place, item, emotion)</a:t>
            </a:r>
            <a:endParaRPr b="1" sz="1500">
              <a:solidFill>
                <a:schemeClr val="dk1"/>
              </a:solidFill>
              <a:latin typeface="Calibri"/>
              <a:ea typeface="Calibri"/>
              <a:cs typeface="Calibri"/>
              <a:sym typeface="Calibri"/>
            </a:endParaRPr>
          </a:p>
        </p:txBody>
      </p:sp>
      <p:sp>
        <p:nvSpPr>
          <p:cNvPr id="76" name="Google Shape;76;p6"/>
          <p:cNvSpPr/>
          <p:nvPr/>
        </p:nvSpPr>
        <p:spPr>
          <a:xfrm>
            <a:off x="3107575" y="5315530"/>
            <a:ext cx="18288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b="1" lang="en-US" sz="1600">
                <a:solidFill>
                  <a:srgbClr val="6B6B85"/>
                </a:solidFill>
                <a:latin typeface="Calibri"/>
                <a:ea typeface="Calibri"/>
                <a:cs typeface="Calibri"/>
                <a:sym typeface="Calibri"/>
              </a:rPr>
              <a:t>→</a:t>
            </a:r>
            <a:endParaRPr b="1" sz="1600">
              <a:solidFill>
                <a:schemeClr val="dk1"/>
              </a:solidFill>
              <a:latin typeface="Calibri"/>
              <a:ea typeface="Calibri"/>
              <a:cs typeface="Calibri"/>
              <a:sym typeface="Calibri"/>
            </a:endParaRPr>
          </a:p>
        </p:txBody>
      </p:sp>
      <p:sp>
        <p:nvSpPr>
          <p:cNvPr id="77" name="Google Shape;77;p6"/>
          <p:cNvSpPr/>
          <p:nvPr/>
        </p:nvSpPr>
        <p:spPr>
          <a:xfrm>
            <a:off x="3337560" y="5232399"/>
            <a:ext cx="2606040" cy="1099127"/>
          </a:xfrm>
          <a:prstGeom prst="roundRect">
            <a:avLst>
              <a:gd fmla="val 8421" name="adj"/>
            </a:avLst>
          </a:prstGeom>
          <a:solidFill>
            <a:srgbClr val="F2A25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78" name="Google Shape;78;p6"/>
          <p:cNvSpPr/>
          <p:nvPr/>
        </p:nvSpPr>
        <p:spPr>
          <a:xfrm>
            <a:off x="3447288" y="5343240"/>
            <a:ext cx="2386584"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AI drafts a story segment based on selected story elements</a:t>
            </a:r>
            <a:endParaRPr b="1" sz="1500">
              <a:solidFill>
                <a:schemeClr val="dk1"/>
              </a:solidFill>
              <a:latin typeface="Calibri"/>
              <a:ea typeface="Calibri"/>
              <a:cs typeface="Calibri"/>
              <a:sym typeface="Calibri"/>
            </a:endParaRPr>
          </a:p>
        </p:txBody>
      </p:sp>
      <p:sp>
        <p:nvSpPr>
          <p:cNvPr id="79" name="Google Shape;79;p6"/>
          <p:cNvSpPr/>
          <p:nvPr/>
        </p:nvSpPr>
        <p:spPr>
          <a:xfrm>
            <a:off x="5994400" y="5315530"/>
            <a:ext cx="18288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b="1" lang="en-US" sz="1600">
                <a:solidFill>
                  <a:srgbClr val="6B6B85"/>
                </a:solidFill>
                <a:latin typeface="Calibri"/>
                <a:ea typeface="Calibri"/>
                <a:cs typeface="Calibri"/>
                <a:sym typeface="Calibri"/>
              </a:rPr>
              <a:t>→</a:t>
            </a:r>
            <a:endParaRPr b="1" sz="1600">
              <a:solidFill>
                <a:schemeClr val="dk1"/>
              </a:solidFill>
              <a:latin typeface="Calibri"/>
              <a:ea typeface="Calibri"/>
              <a:cs typeface="Calibri"/>
              <a:sym typeface="Calibri"/>
            </a:endParaRPr>
          </a:p>
        </p:txBody>
      </p:sp>
      <p:sp>
        <p:nvSpPr>
          <p:cNvPr id="80" name="Google Shape;80;p6"/>
          <p:cNvSpPr/>
          <p:nvPr/>
        </p:nvSpPr>
        <p:spPr>
          <a:xfrm>
            <a:off x="6228080" y="5232399"/>
            <a:ext cx="2606040" cy="1099127"/>
          </a:xfrm>
          <a:prstGeom prst="roundRect">
            <a:avLst>
              <a:gd fmla="val 8421" name="adj"/>
            </a:avLst>
          </a:prstGeom>
          <a:solidFill>
            <a:srgbClr val="23245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81" name="Google Shape;81;p6"/>
          <p:cNvSpPr/>
          <p:nvPr/>
        </p:nvSpPr>
        <p:spPr>
          <a:xfrm>
            <a:off x="6337808" y="5343240"/>
            <a:ext cx="2386584"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FFFFFF"/>
                </a:solidFill>
                <a:latin typeface="Calibri"/>
                <a:ea typeface="Calibri"/>
                <a:cs typeface="Calibri"/>
                <a:sym typeface="Calibri"/>
              </a:rPr>
              <a:t>Question to help child to elaborate the story further</a:t>
            </a:r>
            <a:endParaRPr b="1" sz="1500">
              <a:solidFill>
                <a:schemeClr val="dk1"/>
              </a:solidFill>
              <a:latin typeface="Calibri"/>
              <a:ea typeface="Calibri"/>
              <a:cs typeface="Calibri"/>
              <a:sym typeface="Calibri"/>
            </a:endParaRPr>
          </a:p>
        </p:txBody>
      </p:sp>
      <p:sp>
        <p:nvSpPr>
          <p:cNvPr id="82" name="Google Shape;82;p6"/>
          <p:cNvSpPr/>
          <p:nvPr/>
        </p:nvSpPr>
        <p:spPr>
          <a:xfrm>
            <a:off x="8895080" y="5315530"/>
            <a:ext cx="18288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b="1" lang="en-US" sz="1600">
                <a:solidFill>
                  <a:srgbClr val="6B6B85"/>
                </a:solidFill>
                <a:latin typeface="Calibri"/>
                <a:ea typeface="Calibri"/>
                <a:cs typeface="Calibri"/>
                <a:sym typeface="Calibri"/>
              </a:rPr>
              <a:t>→</a:t>
            </a:r>
            <a:endParaRPr b="1" sz="1600">
              <a:solidFill>
                <a:schemeClr val="dk1"/>
              </a:solidFill>
              <a:latin typeface="Calibri"/>
              <a:ea typeface="Calibri"/>
              <a:cs typeface="Calibri"/>
              <a:sym typeface="Calibri"/>
            </a:endParaRPr>
          </a:p>
        </p:txBody>
      </p:sp>
      <p:sp>
        <p:nvSpPr>
          <p:cNvPr id="83" name="Google Shape;83;p6"/>
          <p:cNvSpPr/>
          <p:nvPr/>
        </p:nvSpPr>
        <p:spPr>
          <a:xfrm>
            <a:off x="9128760" y="5232399"/>
            <a:ext cx="2606040" cy="1099127"/>
          </a:xfrm>
          <a:prstGeom prst="roundRect">
            <a:avLst>
              <a:gd fmla="val 8421" name="adj"/>
            </a:avLst>
          </a:prstGeom>
          <a:solidFill>
            <a:srgbClr val="F2A25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84" name="Google Shape;84;p6"/>
          <p:cNvSpPr/>
          <p:nvPr/>
        </p:nvSpPr>
        <p:spPr>
          <a:xfrm>
            <a:off x="9238488" y="5343240"/>
            <a:ext cx="2386584"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Updates the story and narrates it back</a:t>
            </a:r>
            <a:endParaRPr b="1" sz="1500">
              <a:solidFill>
                <a:schemeClr val="dk1"/>
              </a:solidFill>
              <a:latin typeface="Calibri"/>
              <a:ea typeface="Calibri"/>
              <a:cs typeface="Calibri"/>
              <a:sym typeface="Calibri"/>
            </a:endParaRPr>
          </a:p>
        </p:txBody>
      </p:sp>
      <p:sp>
        <p:nvSpPr>
          <p:cNvPr id="85" name="Google Shape;85;p6"/>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MEET THE SYSTEM</a:t>
            </a:r>
            <a:endParaRPr sz="1300">
              <a:solidFill>
                <a:schemeClr val="dk1"/>
              </a:solidFill>
              <a:latin typeface="Calibri"/>
              <a:ea typeface="Calibri"/>
              <a:cs typeface="Calibri"/>
              <a:sym typeface="Calibri"/>
            </a:endParaRPr>
          </a:p>
        </p:txBody>
      </p:sp>
      <p:pic>
        <p:nvPicPr>
          <p:cNvPr id="86" name="Google Shape;86;p6"/>
          <p:cNvPicPr preferRelativeResize="0"/>
          <p:nvPr/>
        </p:nvPicPr>
        <p:blipFill rotWithShape="1">
          <a:blip r:embed="rId3">
            <a:alphaModFix/>
          </a:blip>
          <a:srcRect b="0" l="0" r="0" t="0"/>
          <a:stretch/>
        </p:blipFill>
        <p:spPr>
          <a:xfrm>
            <a:off x="2403098" y="1578313"/>
            <a:ext cx="7385804" cy="32327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RESEARCH QUESTION</a:t>
            </a:r>
            <a:endParaRPr sz="1300">
              <a:solidFill>
                <a:schemeClr val="dk1"/>
              </a:solidFill>
              <a:latin typeface="Calibri"/>
              <a:ea typeface="Calibri"/>
              <a:cs typeface="Calibri"/>
              <a:sym typeface="Calibri"/>
            </a:endParaRPr>
          </a:p>
        </p:txBody>
      </p:sp>
      <p:sp>
        <p:nvSpPr>
          <p:cNvPr id="93" name="Google Shape;93;p7"/>
          <p:cNvSpPr/>
          <p:nvPr/>
        </p:nvSpPr>
        <p:spPr>
          <a:xfrm>
            <a:off x="548640" y="101617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000">
                <a:solidFill>
                  <a:srgbClr val="23245C"/>
                </a:solidFill>
                <a:latin typeface="Cambria"/>
                <a:ea typeface="Cambria"/>
                <a:cs typeface="Cambria"/>
                <a:sym typeface="Cambria"/>
              </a:rPr>
              <a:t>How does conversation design shape child–AI co-creative storytelling?</a:t>
            </a:r>
            <a:endParaRPr sz="3000">
              <a:solidFill>
                <a:schemeClr val="dk1"/>
              </a:solidFill>
              <a:latin typeface="Calibri"/>
              <a:ea typeface="Calibri"/>
              <a:cs typeface="Calibri"/>
              <a:sym typeface="Calibri"/>
            </a:endParaRPr>
          </a:p>
        </p:txBody>
      </p:sp>
      <p:sp>
        <p:nvSpPr>
          <p:cNvPr id="94" name="Google Shape;94;p7"/>
          <p:cNvSpPr/>
          <p:nvPr/>
        </p:nvSpPr>
        <p:spPr>
          <a:xfrm>
            <a:off x="548640" y="3684101"/>
            <a:ext cx="777240" cy="777240"/>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7"/>
          <p:cNvSpPr/>
          <p:nvPr/>
        </p:nvSpPr>
        <p:spPr>
          <a:xfrm>
            <a:off x="548640" y="3684101"/>
            <a:ext cx="77724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00"/>
              <a:buFont typeface="Cambria"/>
              <a:buNone/>
            </a:pPr>
            <a:r>
              <a:rPr b="1" lang="en-US" sz="1700">
                <a:solidFill>
                  <a:srgbClr val="FFFFFF"/>
                </a:solidFill>
                <a:latin typeface="Cambria"/>
                <a:ea typeface="Cambria"/>
                <a:cs typeface="Cambria"/>
                <a:sym typeface="Cambria"/>
              </a:rPr>
              <a:t>02</a:t>
            </a:r>
            <a:endParaRPr sz="1700">
              <a:solidFill>
                <a:schemeClr val="dk1"/>
              </a:solidFill>
              <a:latin typeface="Calibri"/>
              <a:ea typeface="Calibri"/>
              <a:cs typeface="Calibri"/>
              <a:sym typeface="Calibri"/>
            </a:endParaRPr>
          </a:p>
        </p:txBody>
      </p:sp>
      <p:sp>
        <p:nvSpPr>
          <p:cNvPr id="96" name="Google Shape;96;p7"/>
          <p:cNvSpPr/>
          <p:nvPr/>
        </p:nvSpPr>
        <p:spPr>
          <a:xfrm>
            <a:off x="1539240" y="3725801"/>
            <a:ext cx="9052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23245C"/>
                </a:solidFill>
                <a:latin typeface="Cambria"/>
                <a:ea typeface="Cambria"/>
                <a:cs typeface="Cambria"/>
                <a:sym typeface="Cambria"/>
              </a:rPr>
              <a:t>Controllable yet flexible interaction</a:t>
            </a:r>
            <a:endParaRPr sz="1800">
              <a:solidFill>
                <a:schemeClr val="dk1"/>
              </a:solidFill>
              <a:latin typeface="Calibri"/>
              <a:ea typeface="Calibri"/>
              <a:cs typeface="Calibri"/>
              <a:sym typeface="Calibri"/>
            </a:endParaRPr>
          </a:p>
        </p:txBody>
      </p:sp>
      <p:sp>
        <p:nvSpPr>
          <p:cNvPr id="97" name="Google Shape;97;p7"/>
          <p:cNvSpPr/>
          <p:nvPr/>
        </p:nvSpPr>
        <p:spPr>
          <a:xfrm>
            <a:off x="1559560" y="4068193"/>
            <a:ext cx="969264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rgbClr val="232336"/>
                </a:solidFill>
                <a:latin typeface="Calibri"/>
                <a:ea typeface="Calibri"/>
                <a:cs typeface="Calibri"/>
                <a:sym typeface="Calibri"/>
              </a:rPr>
              <a:t>Structured dialogue graphs per activity phase; allows unscripted questions or side talk.</a:t>
            </a:r>
            <a:endParaRPr sz="1500">
              <a:solidFill>
                <a:schemeClr val="dk1"/>
              </a:solidFill>
              <a:latin typeface="Calibri"/>
              <a:ea typeface="Calibri"/>
              <a:cs typeface="Calibri"/>
              <a:sym typeface="Calibri"/>
            </a:endParaRPr>
          </a:p>
        </p:txBody>
      </p:sp>
      <p:sp>
        <p:nvSpPr>
          <p:cNvPr id="98" name="Google Shape;98;p7"/>
          <p:cNvSpPr/>
          <p:nvPr/>
        </p:nvSpPr>
        <p:spPr>
          <a:xfrm>
            <a:off x="548640" y="2407917"/>
            <a:ext cx="777240" cy="777240"/>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7"/>
          <p:cNvSpPr/>
          <p:nvPr/>
        </p:nvSpPr>
        <p:spPr>
          <a:xfrm>
            <a:off x="548640" y="2407917"/>
            <a:ext cx="77724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00"/>
              <a:buFont typeface="Cambria"/>
              <a:buNone/>
            </a:pPr>
            <a:r>
              <a:rPr b="1" lang="en-US" sz="1700">
                <a:solidFill>
                  <a:srgbClr val="FFFFFF"/>
                </a:solidFill>
                <a:latin typeface="Cambria"/>
                <a:ea typeface="Cambria"/>
                <a:cs typeface="Cambria"/>
                <a:sym typeface="Cambria"/>
              </a:rPr>
              <a:t>01</a:t>
            </a:r>
            <a:endParaRPr sz="1700">
              <a:solidFill>
                <a:schemeClr val="dk1"/>
              </a:solidFill>
              <a:latin typeface="Calibri"/>
              <a:ea typeface="Calibri"/>
              <a:cs typeface="Calibri"/>
              <a:sym typeface="Calibri"/>
            </a:endParaRPr>
          </a:p>
        </p:txBody>
      </p:sp>
      <p:sp>
        <p:nvSpPr>
          <p:cNvPr id="100" name="Google Shape;100;p7"/>
          <p:cNvSpPr/>
          <p:nvPr/>
        </p:nvSpPr>
        <p:spPr>
          <a:xfrm>
            <a:off x="1539240" y="2436365"/>
            <a:ext cx="9052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245C"/>
              </a:buClr>
              <a:buSzPts val="1800"/>
              <a:buFont typeface="Cambria"/>
              <a:buNone/>
            </a:pPr>
            <a:r>
              <a:rPr b="1" lang="en-US" sz="1800">
                <a:solidFill>
                  <a:srgbClr val="23245C"/>
                </a:solidFill>
                <a:latin typeface="Cambria"/>
                <a:ea typeface="Cambria"/>
                <a:cs typeface="Cambria"/>
                <a:sym typeface="Cambria"/>
              </a:rPr>
              <a:t>Educational scaffolding</a:t>
            </a:r>
            <a:endParaRPr sz="1800">
              <a:solidFill>
                <a:schemeClr val="dk1"/>
              </a:solidFill>
              <a:latin typeface="Calibri"/>
              <a:ea typeface="Calibri"/>
              <a:cs typeface="Calibri"/>
              <a:sym typeface="Calibri"/>
            </a:endParaRPr>
          </a:p>
        </p:txBody>
      </p:sp>
      <p:sp>
        <p:nvSpPr>
          <p:cNvPr id="101" name="Google Shape;101;p7"/>
          <p:cNvSpPr/>
          <p:nvPr/>
        </p:nvSpPr>
        <p:spPr>
          <a:xfrm>
            <a:off x="1559560" y="2792009"/>
            <a:ext cx="969264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2336"/>
              </a:buClr>
              <a:buSzPts val="1500"/>
              <a:buFont typeface="Calibri"/>
              <a:buNone/>
            </a:pPr>
            <a:r>
              <a:rPr lang="en-US" sz="1500">
                <a:solidFill>
                  <a:srgbClr val="232336"/>
                </a:solidFill>
                <a:latin typeface="Calibri"/>
                <a:ea typeface="Calibri"/>
                <a:cs typeface="Calibri"/>
                <a:sym typeface="Calibri"/>
              </a:rPr>
              <a:t>Applebee's narrative development model + CASEL's SEL framework, instantiated directly as conversation design.</a:t>
            </a:r>
            <a:endParaRPr sz="1500">
              <a:solidFill>
                <a:schemeClr val="dk1"/>
              </a:solidFill>
              <a:latin typeface="Calibri"/>
              <a:ea typeface="Calibri"/>
              <a:cs typeface="Calibri"/>
              <a:sym typeface="Calibri"/>
            </a:endParaRPr>
          </a:p>
        </p:txBody>
      </p:sp>
      <p:sp>
        <p:nvSpPr>
          <p:cNvPr id="102" name="Google Shape;102;p7"/>
          <p:cNvSpPr/>
          <p:nvPr/>
        </p:nvSpPr>
        <p:spPr>
          <a:xfrm>
            <a:off x="548640" y="5027873"/>
            <a:ext cx="777240" cy="777240"/>
          </a:xfrm>
          <a:prstGeom prst="ellipse">
            <a:avLst/>
          </a:prstGeom>
          <a:solidFill>
            <a:srgbClr val="F2A2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7"/>
          <p:cNvSpPr/>
          <p:nvPr/>
        </p:nvSpPr>
        <p:spPr>
          <a:xfrm>
            <a:off x="548640" y="5027873"/>
            <a:ext cx="77724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00"/>
              <a:buFont typeface="Cambria"/>
              <a:buNone/>
            </a:pPr>
            <a:r>
              <a:rPr b="1" lang="en-US" sz="1700">
                <a:solidFill>
                  <a:srgbClr val="FFFFFF"/>
                </a:solidFill>
                <a:latin typeface="Cambria"/>
                <a:ea typeface="Cambria"/>
                <a:cs typeface="Cambria"/>
                <a:sym typeface="Cambria"/>
              </a:rPr>
              <a:t>03</a:t>
            </a:r>
            <a:endParaRPr sz="1700">
              <a:solidFill>
                <a:schemeClr val="dk1"/>
              </a:solidFill>
              <a:latin typeface="Calibri"/>
              <a:ea typeface="Calibri"/>
              <a:cs typeface="Calibri"/>
              <a:sym typeface="Calibri"/>
            </a:endParaRPr>
          </a:p>
        </p:txBody>
      </p:sp>
      <p:sp>
        <p:nvSpPr>
          <p:cNvPr id="104" name="Google Shape;104;p7"/>
          <p:cNvSpPr/>
          <p:nvPr/>
        </p:nvSpPr>
        <p:spPr>
          <a:xfrm>
            <a:off x="1539240" y="5056321"/>
            <a:ext cx="9052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245C"/>
              </a:buClr>
              <a:buSzPts val="1800"/>
              <a:buFont typeface="Cambria"/>
              <a:buNone/>
            </a:pPr>
            <a:r>
              <a:rPr b="1" lang="en-US" sz="1800">
                <a:solidFill>
                  <a:srgbClr val="23245C"/>
                </a:solidFill>
                <a:latin typeface="Cambria"/>
                <a:ea typeface="Cambria"/>
                <a:cs typeface="Cambria"/>
                <a:sym typeface="Cambria"/>
              </a:rPr>
              <a:t>Dialogue analysis</a:t>
            </a:r>
            <a:endParaRPr sz="1800">
              <a:solidFill>
                <a:schemeClr val="dk1"/>
              </a:solidFill>
              <a:latin typeface="Calibri"/>
              <a:ea typeface="Calibri"/>
              <a:cs typeface="Calibri"/>
              <a:sym typeface="Calibri"/>
            </a:endParaRPr>
          </a:p>
        </p:txBody>
      </p:sp>
      <p:sp>
        <p:nvSpPr>
          <p:cNvPr id="105" name="Google Shape;105;p7"/>
          <p:cNvSpPr/>
          <p:nvPr/>
        </p:nvSpPr>
        <p:spPr>
          <a:xfrm>
            <a:off x="1559560" y="5398713"/>
            <a:ext cx="1033272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2336"/>
              </a:buClr>
              <a:buSzPts val="1500"/>
              <a:buFont typeface="Calibri"/>
              <a:buNone/>
            </a:pPr>
            <a:r>
              <a:rPr lang="en-US" sz="1500">
                <a:solidFill>
                  <a:srgbClr val="232336"/>
                </a:solidFill>
                <a:latin typeface="Calibri"/>
                <a:ea typeface="Calibri"/>
                <a:cs typeface="Calibri"/>
                <a:sym typeface="Calibri"/>
              </a:rPr>
              <a:t>A home-based study with 10 children showing how conversation design shapes child-AI co-creative activity.</a:t>
            </a:r>
            <a:endParaRPr sz="15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8"/>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DESIGN RATIONALE</a:t>
            </a:r>
            <a:endParaRPr sz="1300">
              <a:solidFill>
                <a:schemeClr val="dk1"/>
              </a:solidFill>
              <a:latin typeface="Calibri"/>
              <a:ea typeface="Calibri"/>
              <a:cs typeface="Calibri"/>
              <a:sym typeface="Calibri"/>
            </a:endParaRPr>
          </a:p>
        </p:txBody>
      </p:sp>
      <p:sp>
        <p:nvSpPr>
          <p:cNvPr id="112" name="Google Shape;112;p8"/>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Two design inspirations, two frameworks</a:t>
            </a:r>
            <a:endParaRPr sz="3000">
              <a:solidFill>
                <a:schemeClr val="dk1"/>
              </a:solidFill>
              <a:latin typeface="Calibri"/>
              <a:ea typeface="Calibri"/>
              <a:cs typeface="Calibri"/>
              <a:sym typeface="Calibri"/>
            </a:endParaRPr>
          </a:p>
        </p:txBody>
      </p:sp>
      <p:sp>
        <p:nvSpPr>
          <p:cNvPr id="113" name="Google Shape;113;p8"/>
          <p:cNvSpPr/>
          <p:nvPr/>
        </p:nvSpPr>
        <p:spPr>
          <a:xfrm>
            <a:off x="548640" y="2155876"/>
            <a:ext cx="5349240" cy="3370282"/>
          </a:xfrm>
          <a:prstGeom prst="roundRect">
            <a:avLst>
              <a:gd fmla="val 2637" name="adj"/>
            </a:avLst>
          </a:prstGeom>
          <a:solidFill>
            <a:srgbClr val="F7F7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8"/>
          <p:cNvSpPr/>
          <p:nvPr/>
        </p:nvSpPr>
        <p:spPr>
          <a:xfrm>
            <a:off x="775916" y="2410980"/>
            <a:ext cx="47548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2000"/>
              <a:buFont typeface="Cambria"/>
              <a:buNone/>
            </a:pPr>
            <a:r>
              <a:rPr b="1" lang="en-US" sz="2000">
                <a:solidFill>
                  <a:srgbClr val="23245C"/>
                </a:solidFill>
                <a:latin typeface="Cambria"/>
                <a:ea typeface="Cambria"/>
                <a:cs typeface="Cambria"/>
                <a:sym typeface="Cambria"/>
              </a:rPr>
              <a:t>Collaborative roles</a:t>
            </a:r>
            <a:endParaRPr sz="2000">
              <a:solidFill>
                <a:schemeClr val="dk1"/>
              </a:solidFill>
              <a:latin typeface="Calibri"/>
              <a:ea typeface="Calibri"/>
              <a:cs typeface="Calibri"/>
              <a:sym typeface="Calibri"/>
            </a:endParaRPr>
          </a:p>
        </p:txBody>
      </p:sp>
      <p:sp>
        <p:nvSpPr>
          <p:cNvPr id="115" name="Google Shape;115;p8"/>
          <p:cNvSpPr/>
          <p:nvPr/>
        </p:nvSpPr>
        <p:spPr>
          <a:xfrm>
            <a:off x="802420" y="3043772"/>
            <a:ext cx="4942840" cy="324612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1800">
                <a:solidFill>
                  <a:srgbClr val="23245C"/>
                </a:solidFill>
                <a:latin typeface="Calibri"/>
                <a:ea typeface="Calibri"/>
                <a:cs typeface="Calibri"/>
                <a:sym typeface="Calibri"/>
              </a:rPr>
              <a:t>☑️ Adult–AI creative writing</a:t>
            </a:r>
            <a:br>
              <a:rPr b="1" lang="en-US" sz="1600">
                <a:solidFill>
                  <a:srgbClr val="23245C"/>
                </a:solidFill>
                <a:latin typeface="Calibri"/>
                <a:ea typeface="Calibri"/>
                <a:cs typeface="Calibri"/>
                <a:sym typeface="Calibri"/>
              </a:rPr>
            </a:br>
            <a:r>
              <a:rPr lang="en-US" sz="1600">
                <a:solidFill>
                  <a:srgbClr val="232336"/>
                </a:solidFill>
                <a:latin typeface="Calibri"/>
                <a:ea typeface="Calibri"/>
                <a:cs typeface="Calibri"/>
                <a:sym typeface="Calibri"/>
              </a:rPr>
              <a:t>partial ideas in, AI-generated content out, iteratively developed.</a:t>
            </a:r>
            <a:br>
              <a:rPr lang="en-US" sz="1600">
                <a:solidFill>
                  <a:srgbClr val="232336"/>
                </a:solidFill>
                <a:latin typeface="Calibri"/>
                <a:ea typeface="Calibri"/>
                <a:cs typeface="Calibri"/>
                <a:sym typeface="Calibri"/>
              </a:rPr>
            </a:br>
            <a:br>
              <a:rPr lang="en-US" sz="1600">
                <a:solidFill>
                  <a:srgbClr val="232336"/>
                </a:solidFill>
                <a:latin typeface="Calibri"/>
                <a:ea typeface="Calibri"/>
                <a:cs typeface="Calibri"/>
                <a:sym typeface="Calibri"/>
              </a:rPr>
            </a:br>
            <a:r>
              <a:rPr b="1" lang="en-US" sz="1800">
                <a:solidFill>
                  <a:srgbClr val="23245C"/>
                </a:solidFill>
                <a:latin typeface="Calibri"/>
                <a:ea typeface="Calibri"/>
                <a:cs typeface="Calibri"/>
                <a:sym typeface="Calibri"/>
              </a:rPr>
              <a:t>☑️ Adult–child storytelling</a:t>
            </a:r>
            <a:br>
              <a:rPr b="1" lang="en-US" sz="1600">
                <a:solidFill>
                  <a:srgbClr val="23245C"/>
                </a:solidFill>
                <a:latin typeface="Calibri"/>
                <a:ea typeface="Calibri"/>
                <a:cs typeface="Calibri"/>
                <a:sym typeface="Calibri"/>
              </a:rPr>
            </a:br>
            <a:r>
              <a:rPr lang="en-US" sz="1600">
                <a:solidFill>
                  <a:srgbClr val="232336"/>
                </a:solidFill>
                <a:latin typeface="Calibri"/>
                <a:ea typeface="Calibri"/>
                <a:cs typeface="Calibri"/>
                <a:sym typeface="Calibri"/>
              </a:rPr>
              <a:t>caregivers elicit ideas while children keep control of narrative decisions.</a:t>
            </a:r>
            <a:endParaRPr sz="1600">
              <a:solidFill>
                <a:schemeClr val="dk1"/>
              </a:solidFill>
              <a:latin typeface="Calibri"/>
              <a:ea typeface="Calibri"/>
              <a:cs typeface="Calibri"/>
              <a:sym typeface="Calibri"/>
            </a:endParaRPr>
          </a:p>
        </p:txBody>
      </p:sp>
      <p:sp>
        <p:nvSpPr>
          <p:cNvPr id="116" name="Google Shape;116;p8"/>
          <p:cNvSpPr/>
          <p:nvPr/>
        </p:nvSpPr>
        <p:spPr>
          <a:xfrm>
            <a:off x="6172200" y="2155876"/>
            <a:ext cx="5440680" cy="3370282"/>
          </a:xfrm>
          <a:prstGeom prst="roundRect">
            <a:avLst>
              <a:gd fmla="val 2637"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6399476" y="2410980"/>
            <a:ext cx="48463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Educational scaffolding</a:t>
            </a:r>
            <a:endParaRPr sz="2000">
              <a:solidFill>
                <a:schemeClr val="dk1"/>
              </a:solidFill>
              <a:latin typeface="Calibri"/>
              <a:ea typeface="Calibri"/>
              <a:cs typeface="Calibri"/>
              <a:sym typeface="Calibri"/>
            </a:endParaRPr>
          </a:p>
        </p:txBody>
      </p:sp>
      <p:sp>
        <p:nvSpPr>
          <p:cNvPr id="118" name="Google Shape;118;p8"/>
          <p:cNvSpPr/>
          <p:nvPr/>
        </p:nvSpPr>
        <p:spPr>
          <a:xfrm>
            <a:off x="6425980" y="3043772"/>
            <a:ext cx="4983480" cy="324612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1800">
                <a:solidFill>
                  <a:srgbClr val="23245C"/>
                </a:solidFill>
                <a:latin typeface="Calibri"/>
                <a:ea typeface="Calibri"/>
                <a:cs typeface="Calibri"/>
                <a:sym typeface="Calibri"/>
              </a:rPr>
              <a:t>☑️ </a:t>
            </a:r>
            <a:r>
              <a:rPr b="1" lang="en-US" sz="1800">
                <a:solidFill>
                  <a:srgbClr val="F2A154"/>
                </a:solidFill>
                <a:latin typeface="Calibri"/>
                <a:ea typeface="Calibri"/>
                <a:cs typeface="Calibri"/>
                <a:sym typeface="Calibri"/>
              </a:rPr>
              <a:t>Applebee's Narrative Development</a:t>
            </a:r>
            <a:br>
              <a:rPr b="1" lang="en-US" sz="1600">
                <a:solidFill>
                  <a:srgbClr val="F2A154"/>
                </a:solidFill>
                <a:latin typeface="Calibri"/>
                <a:ea typeface="Calibri"/>
                <a:cs typeface="Calibri"/>
                <a:sym typeface="Calibri"/>
              </a:rPr>
            </a:br>
            <a:r>
              <a:rPr lang="en-US" sz="1600">
                <a:solidFill>
                  <a:srgbClr val="E4E4F7"/>
                </a:solidFill>
                <a:latin typeface="Calibri"/>
                <a:ea typeface="Calibri"/>
                <a:cs typeface="Calibri"/>
                <a:sym typeface="Calibri"/>
              </a:rPr>
              <a:t>Heap → Sequence → Primitive → Chain → True narratives</a:t>
            </a:r>
            <a:endParaRPr/>
          </a:p>
          <a:p>
            <a:pPr indent="0" lvl="0" marL="0" marR="0" rtl="0" algn="l">
              <a:lnSpc>
                <a:spcPct val="120000"/>
              </a:lnSpc>
              <a:spcBef>
                <a:spcPts val="0"/>
              </a:spcBef>
              <a:spcAft>
                <a:spcPts val="0"/>
              </a:spcAft>
              <a:buNone/>
            </a:pPr>
            <a:r>
              <a:rPr lang="en-US" sz="1600">
                <a:solidFill>
                  <a:srgbClr val="E4E4F7"/>
                </a:solidFill>
                <a:latin typeface="Calibri"/>
                <a:ea typeface="Calibri"/>
                <a:cs typeface="Calibri"/>
                <a:sym typeface="Calibri"/>
              </a:rPr>
              <a:t>scaffolds event &amp; causal elaboration.</a:t>
            </a:r>
            <a:br>
              <a:rPr lang="en-US" sz="1600">
                <a:solidFill>
                  <a:srgbClr val="E4E4F7"/>
                </a:solidFill>
                <a:latin typeface="Calibri"/>
                <a:ea typeface="Calibri"/>
                <a:cs typeface="Calibri"/>
                <a:sym typeface="Calibri"/>
              </a:rPr>
            </a:br>
            <a:br>
              <a:rPr lang="en-US" sz="1600">
                <a:solidFill>
                  <a:srgbClr val="E4E4F7"/>
                </a:solidFill>
                <a:latin typeface="Calibri"/>
                <a:ea typeface="Calibri"/>
                <a:cs typeface="Calibri"/>
                <a:sym typeface="Calibri"/>
              </a:rPr>
            </a:br>
            <a:r>
              <a:rPr b="1" lang="en-US" sz="1800">
                <a:solidFill>
                  <a:srgbClr val="23245C"/>
                </a:solidFill>
                <a:latin typeface="Calibri"/>
                <a:ea typeface="Calibri"/>
                <a:cs typeface="Calibri"/>
                <a:sym typeface="Calibri"/>
              </a:rPr>
              <a:t>☑️ </a:t>
            </a:r>
            <a:r>
              <a:rPr b="1" lang="en-US" sz="1800">
                <a:solidFill>
                  <a:srgbClr val="F2A154"/>
                </a:solidFill>
                <a:latin typeface="Calibri"/>
                <a:ea typeface="Calibri"/>
                <a:cs typeface="Calibri"/>
                <a:sym typeface="Calibri"/>
              </a:rPr>
              <a:t>CASEL Social–Emotional Learning</a:t>
            </a:r>
            <a:br>
              <a:rPr b="1" lang="en-US" sz="1600">
                <a:solidFill>
                  <a:srgbClr val="F2A154"/>
                </a:solidFill>
                <a:latin typeface="Calibri"/>
                <a:ea typeface="Calibri"/>
                <a:cs typeface="Calibri"/>
                <a:sym typeface="Calibri"/>
              </a:rPr>
            </a:br>
            <a:r>
              <a:rPr lang="en-US" sz="1600">
                <a:solidFill>
                  <a:srgbClr val="E4E4F7"/>
                </a:solidFill>
                <a:latin typeface="Calibri"/>
                <a:ea typeface="Calibri"/>
                <a:cs typeface="Calibri"/>
                <a:sym typeface="Calibri"/>
              </a:rPr>
              <a:t>socially-oriented competencies guide to elicit characters' emotions &amp; perspectives.</a:t>
            </a:r>
            <a:endParaRPr sz="16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9"/>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DESIGN RATIONALE · Educational Scaffolding</a:t>
            </a:r>
            <a:endParaRPr sz="1300">
              <a:solidFill>
                <a:schemeClr val="dk1"/>
              </a:solidFill>
              <a:latin typeface="Calibri"/>
              <a:ea typeface="Calibri"/>
              <a:cs typeface="Calibri"/>
              <a:sym typeface="Calibri"/>
            </a:endParaRPr>
          </a:p>
        </p:txBody>
      </p:sp>
      <p:sp>
        <p:nvSpPr>
          <p:cNvPr id="125" name="Google Shape;125;p9"/>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How each framework becomes a question</a:t>
            </a:r>
            <a:endParaRPr sz="3000">
              <a:solidFill>
                <a:schemeClr val="dk1"/>
              </a:solidFill>
              <a:latin typeface="Calibri"/>
              <a:ea typeface="Calibri"/>
              <a:cs typeface="Calibri"/>
              <a:sym typeface="Calibri"/>
            </a:endParaRPr>
          </a:p>
        </p:txBody>
      </p:sp>
      <p:graphicFrame>
        <p:nvGraphicFramePr>
          <p:cNvPr id="126" name="Google Shape;126;p9"/>
          <p:cNvGraphicFramePr/>
          <p:nvPr/>
        </p:nvGraphicFramePr>
        <p:xfrm>
          <a:off x="548640" y="2319997"/>
          <a:ext cx="3000000" cy="3000000"/>
        </p:xfrm>
        <a:graphic>
          <a:graphicData uri="http://schemas.openxmlformats.org/drawingml/2006/table">
            <a:tbl>
              <a:tblPr>
                <a:noFill/>
                <a:tableStyleId>{3A323106-469C-4C0F-A72C-643C95268605}</a:tableStyleId>
              </a:tblPr>
              <a:tblGrid>
                <a:gridCol w="1828800"/>
                <a:gridCol w="3566150"/>
              </a:tblGrid>
              <a:tr h="457200">
                <a:tc>
                  <a:txBody>
                    <a:bodyPr/>
                    <a:lstStyle/>
                    <a:p>
                      <a:pPr indent="0" lvl="0" marL="0" marR="0" rtl="0" algn="l">
                        <a:spcBef>
                          <a:spcPts val="0"/>
                        </a:spcBef>
                        <a:spcAft>
                          <a:spcPts val="0"/>
                        </a:spcAft>
                        <a:buClr>
                          <a:srgbClr val="F2A254"/>
                        </a:buClr>
                        <a:buSzPts val="1400"/>
                        <a:buFont typeface="Calibri"/>
                        <a:buNone/>
                      </a:pPr>
                      <a:r>
                        <a:rPr b="1" lang="en-US" sz="1400" u="none" cap="none" strike="noStrike">
                          <a:solidFill>
                            <a:srgbClr val="F2A254"/>
                          </a:solidFill>
                          <a:latin typeface="Calibri"/>
                          <a:ea typeface="Calibri"/>
                          <a:cs typeface="Calibri"/>
                          <a:sym typeface="Calibri"/>
                        </a:rPr>
                        <a:t>Narrative stage</a:t>
                      </a:r>
                      <a:endParaRPr sz="1400" u="none" cap="none" strike="noStrike">
                        <a:solidFill>
                          <a:srgbClr val="F2A254"/>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23245C"/>
                    </a:solidFill>
                  </a:tcPr>
                </a:tc>
                <a:tc>
                  <a:txBody>
                    <a:bodyPr/>
                    <a:lstStyle/>
                    <a:p>
                      <a:pPr indent="0" lvl="0" marL="0" marR="0" rtl="0" algn="l">
                        <a:spcBef>
                          <a:spcPts val="0"/>
                        </a:spcBef>
                        <a:spcAft>
                          <a:spcPts val="0"/>
                        </a:spcAft>
                        <a:buClr>
                          <a:srgbClr val="F2A254"/>
                        </a:buClr>
                        <a:buSzPts val="1400"/>
                        <a:buFont typeface="Calibri"/>
                        <a:buNone/>
                      </a:pPr>
                      <a:r>
                        <a:rPr b="1" lang="en-US" sz="1400" u="none" cap="none" strike="noStrike">
                          <a:solidFill>
                            <a:srgbClr val="F2A254"/>
                          </a:solidFill>
                          <a:latin typeface="Calibri"/>
                          <a:ea typeface="Calibri"/>
                          <a:cs typeface="Calibri"/>
                          <a:sym typeface="Calibri"/>
                        </a:rPr>
                        <a:t>Scaffolding</a:t>
                      </a:r>
                      <a:endParaRPr sz="1400" u="none" cap="none" strike="noStrike">
                        <a:solidFill>
                          <a:srgbClr val="F2A254"/>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23245C"/>
                    </a:solidFill>
                  </a:tcPr>
                </a:tc>
              </a:tr>
              <a:tr h="736600">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Heap / Sequence</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c>
                  <a:txBody>
                    <a:bodyPr/>
                    <a:lstStyle/>
                    <a:p>
                      <a:pPr indent="0" lvl="0" marL="0" marR="0" rtl="0" algn="l">
                        <a:spcBef>
                          <a:spcPts val="0"/>
                        </a:spcBef>
                        <a:spcAft>
                          <a:spcPts val="0"/>
                        </a:spcAft>
                        <a:buClr>
                          <a:srgbClr val="22245C"/>
                        </a:buClr>
                        <a:buSzPts val="1300"/>
                        <a:buFont typeface="Calibri"/>
                        <a:buNone/>
                      </a:pPr>
                      <a:r>
                        <a:rPr i="1" lang="en-US" sz="1300" u="none" cap="none" strike="noStrike">
                          <a:solidFill>
                            <a:srgbClr val="22245C"/>
                          </a:solidFill>
                          <a:latin typeface="Calibri"/>
                          <a:ea typeface="Calibri"/>
                          <a:cs typeface="Calibri"/>
                          <a:sym typeface="Calibri"/>
                        </a:rPr>
                        <a:t>Selection &amp; sequencing of story elements (tangible, not asked)</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Primitive narratives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Elaboration prompts for new events or actions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Chain narratives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Elaboration prompts targeting causal relations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True narratives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Post-story prompts: retell, then alternative endings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bl>
          </a:graphicData>
        </a:graphic>
      </p:graphicFrame>
      <p:sp>
        <p:nvSpPr>
          <p:cNvPr id="127" name="Google Shape;127;p9"/>
          <p:cNvSpPr/>
          <p:nvPr/>
        </p:nvSpPr>
        <p:spPr>
          <a:xfrm>
            <a:off x="497840" y="1869909"/>
            <a:ext cx="5394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85"/>
              </a:buClr>
              <a:buSzPts val="1500"/>
              <a:buFont typeface="Calibri"/>
              <a:buNone/>
            </a:pPr>
            <a:r>
              <a:rPr i="1" lang="en-US" sz="1500">
                <a:solidFill>
                  <a:srgbClr val="6B6B85"/>
                </a:solidFill>
                <a:latin typeface="Calibri"/>
                <a:ea typeface="Calibri"/>
                <a:cs typeface="Calibri"/>
                <a:sym typeface="Calibri"/>
              </a:rPr>
              <a:t>Applebee — Narrative Development Model</a:t>
            </a:r>
            <a:endParaRPr sz="1500">
              <a:solidFill>
                <a:schemeClr val="dk1"/>
              </a:solidFill>
              <a:latin typeface="Calibri"/>
              <a:ea typeface="Calibri"/>
              <a:cs typeface="Calibri"/>
              <a:sym typeface="Calibri"/>
            </a:endParaRPr>
          </a:p>
        </p:txBody>
      </p:sp>
      <p:graphicFrame>
        <p:nvGraphicFramePr>
          <p:cNvPr id="128" name="Google Shape;128;p9"/>
          <p:cNvGraphicFramePr/>
          <p:nvPr/>
        </p:nvGraphicFramePr>
        <p:xfrm>
          <a:off x="6217920" y="2319997"/>
          <a:ext cx="3000000" cy="3000000"/>
        </p:xfrm>
        <a:graphic>
          <a:graphicData uri="http://schemas.openxmlformats.org/drawingml/2006/table">
            <a:tbl>
              <a:tblPr>
                <a:noFill/>
                <a:tableStyleId>{3A323106-469C-4C0F-A72C-643C95268605}</a:tableStyleId>
              </a:tblPr>
              <a:tblGrid>
                <a:gridCol w="2103125"/>
                <a:gridCol w="3291850"/>
              </a:tblGrid>
              <a:tr h="457200">
                <a:tc>
                  <a:txBody>
                    <a:bodyPr/>
                    <a:lstStyle/>
                    <a:p>
                      <a:pPr indent="0" lvl="0" marL="0" marR="0" rtl="0" algn="l">
                        <a:spcBef>
                          <a:spcPts val="0"/>
                        </a:spcBef>
                        <a:spcAft>
                          <a:spcPts val="0"/>
                        </a:spcAft>
                        <a:buClr>
                          <a:srgbClr val="22245C"/>
                        </a:buClr>
                        <a:buSzPts val="1400"/>
                        <a:buFont typeface="Calibri"/>
                        <a:buNone/>
                      </a:pPr>
                      <a:r>
                        <a:rPr b="1" lang="en-US" sz="1400" u="none" cap="none" strike="noStrike">
                          <a:solidFill>
                            <a:srgbClr val="22245C"/>
                          </a:solidFill>
                          <a:latin typeface="Calibri"/>
                          <a:ea typeface="Calibri"/>
                          <a:cs typeface="Calibri"/>
                          <a:sym typeface="Calibri"/>
                        </a:rPr>
                        <a:t>SEL competency</a:t>
                      </a:r>
                      <a:endParaRPr sz="14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2A154"/>
                    </a:solidFill>
                  </a:tcPr>
                </a:tc>
                <a:tc>
                  <a:txBody>
                    <a:bodyPr/>
                    <a:lstStyle/>
                    <a:p>
                      <a:pPr indent="0" lvl="0" marL="0" marR="0" rtl="0" algn="l">
                        <a:spcBef>
                          <a:spcPts val="0"/>
                        </a:spcBef>
                        <a:spcAft>
                          <a:spcPts val="0"/>
                        </a:spcAft>
                        <a:buClr>
                          <a:srgbClr val="22245C"/>
                        </a:buClr>
                        <a:buSzPts val="1400"/>
                        <a:buFont typeface="Calibri"/>
                        <a:buNone/>
                      </a:pPr>
                      <a:r>
                        <a:rPr b="1" lang="en-US" sz="1400" u="none" cap="none" strike="noStrike">
                          <a:solidFill>
                            <a:srgbClr val="22245C"/>
                          </a:solidFill>
                          <a:latin typeface="Calibri"/>
                          <a:ea typeface="Calibri"/>
                          <a:cs typeface="Calibri"/>
                          <a:sym typeface="Calibri"/>
                        </a:rPr>
                        <a:t>Scaffolding</a:t>
                      </a:r>
                      <a:endParaRPr sz="14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2A154"/>
                    </a:solidFill>
                  </a:tcPr>
                </a:tc>
              </a:tr>
              <a:tr h="736600">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Self-awareness / Self-management</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c>
                  <a:txBody>
                    <a:bodyPr/>
                    <a:lstStyle/>
                    <a:p>
                      <a:pPr indent="0" lvl="0" marL="0" marR="0" rtl="0" algn="l">
                        <a:spcBef>
                          <a:spcPts val="0"/>
                        </a:spcBef>
                        <a:spcAft>
                          <a:spcPts val="0"/>
                        </a:spcAft>
                        <a:buClr>
                          <a:srgbClr val="22245C"/>
                        </a:buClr>
                        <a:buSzPts val="1300"/>
                        <a:buFont typeface="Calibri"/>
                        <a:buNone/>
                      </a:pPr>
                      <a:r>
                        <a:rPr i="1" lang="en-US" sz="1300" u="none" cap="none" strike="noStrike">
                          <a:solidFill>
                            <a:srgbClr val="22245C"/>
                          </a:solidFill>
                          <a:latin typeface="Calibri"/>
                          <a:ea typeface="Calibri"/>
                          <a:cs typeface="Calibri"/>
                          <a:sym typeface="Calibri"/>
                        </a:rPr>
                        <a:t>not used (story centers on characters, not the child)</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Social awareness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Elaboration prompts to infer characters' emotions &amp; perspectives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Relationship skills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Post-story prompts to reflect on characters' interactions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Responsible decision-making</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Post-story prompts to suggest alternative actions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bl>
          </a:graphicData>
        </a:graphic>
      </p:graphicFrame>
      <p:sp>
        <p:nvSpPr>
          <p:cNvPr id="129" name="Google Shape;129;p9"/>
          <p:cNvSpPr/>
          <p:nvPr/>
        </p:nvSpPr>
        <p:spPr>
          <a:xfrm>
            <a:off x="6167120" y="1869909"/>
            <a:ext cx="5394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85"/>
              </a:buClr>
              <a:buSzPts val="1500"/>
              <a:buFont typeface="Calibri"/>
              <a:buNone/>
            </a:pPr>
            <a:r>
              <a:rPr i="1" lang="en-US" sz="1500">
                <a:solidFill>
                  <a:srgbClr val="6B6B85"/>
                </a:solidFill>
                <a:latin typeface="Calibri"/>
                <a:ea typeface="Calibri"/>
                <a:cs typeface="Calibri"/>
                <a:sym typeface="Calibri"/>
              </a:rPr>
              <a:t>CASEL — Social–Emotional Learning Framework</a:t>
            </a:r>
            <a:endParaRPr sz="15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DESIGN RATIONALE · Educational Scaffolding</a:t>
            </a:r>
            <a:endParaRPr sz="1300">
              <a:solidFill>
                <a:schemeClr val="dk1"/>
              </a:solidFill>
              <a:latin typeface="Calibri"/>
              <a:ea typeface="Calibri"/>
              <a:cs typeface="Calibri"/>
              <a:sym typeface="Calibri"/>
            </a:endParaRPr>
          </a:p>
        </p:txBody>
      </p:sp>
      <p:sp>
        <p:nvSpPr>
          <p:cNvPr id="136" name="Google Shape;136;p10"/>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How each framework becomes a question</a:t>
            </a:r>
            <a:endParaRPr sz="3000">
              <a:solidFill>
                <a:schemeClr val="dk1"/>
              </a:solidFill>
              <a:latin typeface="Calibri"/>
              <a:ea typeface="Calibri"/>
              <a:cs typeface="Calibri"/>
              <a:sym typeface="Calibri"/>
            </a:endParaRPr>
          </a:p>
        </p:txBody>
      </p:sp>
      <p:graphicFrame>
        <p:nvGraphicFramePr>
          <p:cNvPr id="137" name="Google Shape;137;p10"/>
          <p:cNvGraphicFramePr/>
          <p:nvPr/>
        </p:nvGraphicFramePr>
        <p:xfrm>
          <a:off x="548640" y="2179320"/>
          <a:ext cx="3000000" cy="3000000"/>
        </p:xfrm>
        <a:graphic>
          <a:graphicData uri="http://schemas.openxmlformats.org/drawingml/2006/table">
            <a:tbl>
              <a:tblPr>
                <a:noFill/>
                <a:tableStyleId>{3A323106-469C-4C0F-A72C-643C95268605}</a:tableStyleId>
              </a:tblPr>
              <a:tblGrid>
                <a:gridCol w="1828800"/>
                <a:gridCol w="3566150"/>
              </a:tblGrid>
              <a:tr h="457200">
                <a:tc>
                  <a:txBody>
                    <a:bodyPr/>
                    <a:lstStyle/>
                    <a:p>
                      <a:pPr indent="0" lvl="0" marL="0" marR="0" rtl="0" algn="l">
                        <a:spcBef>
                          <a:spcPts val="0"/>
                        </a:spcBef>
                        <a:spcAft>
                          <a:spcPts val="0"/>
                        </a:spcAft>
                        <a:buClr>
                          <a:srgbClr val="F2A254"/>
                        </a:buClr>
                        <a:buSzPts val="1400"/>
                        <a:buFont typeface="Calibri"/>
                        <a:buNone/>
                      </a:pPr>
                      <a:r>
                        <a:rPr b="1" lang="en-US" sz="1400" u="none" cap="none" strike="noStrike">
                          <a:solidFill>
                            <a:srgbClr val="F2A254"/>
                          </a:solidFill>
                          <a:latin typeface="Calibri"/>
                          <a:ea typeface="Calibri"/>
                          <a:cs typeface="Calibri"/>
                          <a:sym typeface="Calibri"/>
                        </a:rPr>
                        <a:t>Narrative stage</a:t>
                      </a:r>
                      <a:endParaRPr sz="1400" u="none" cap="none" strike="noStrike">
                        <a:solidFill>
                          <a:srgbClr val="F2A254"/>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23245C"/>
                    </a:solidFill>
                  </a:tcPr>
                </a:tc>
                <a:tc>
                  <a:txBody>
                    <a:bodyPr/>
                    <a:lstStyle/>
                    <a:p>
                      <a:pPr indent="0" lvl="0" marL="0" marR="0" rtl="0" algn="l">
                        <a:spcBef>
                          <a:spcPts val="0"/>
                        </a:spcBef>
                        <a:spcAft>
                          <a:spcPts val="0"/>
                        </a:spcAft>
                        <a:buClr>
                          <a:srgbClr val="F2A254"/>
                        </a:buClr>
                        <a:buSzPts val="1400"/>
                        <a:buFont typeface="Calibri"/>
                        <a:buNone/>
                      </a:pPr>
                      <a:r>
                        <a:rPr b="1" lang="en-US" sz="1400" u="none" cap="none" strike="noStrike">
                          <a:solidFill>
                            <a:srgbClr val="F2A254"/>
                          </a:solidFill>
                          <a:latin typeface="Calibri"/>
                          <a:ea typeface="Calibri"/>
                          <a:cs typeface="Calibri"/>
                          <a:sym typeface="Calibri"/>
                        </a:rPr>
                        <a:t>Scaffolding</a:t>
                      </a:r>
                      <a:endParaRPr sz="1400" u="none" cap="none" strike="noStrike">
                        <a:solidFill>
                          <a:srgbClr val="F2A254"/>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23245C"/>
                    </a:solidFill>
                  </a:tcPr>
                </a:tc>
              </a:tr>
              <a:tr h="736600">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Heap / Sequence</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c>
                  <a:txBody>
                    <a:bodyPr/>
                    <a:lstStyle/>
                    <a:p>
                      <a:pPr indent="0" lvl="0" marL="0" marR="0" rtl="0" algn="l">
                        <a:spcBef>
                          <a:spcPts val="0"/>
                        </a:spcBef>
                        <a:spcAft>
                          <a:spcPts val="0"/>
                        </a:spcAft>
                        <a:buClr>
                          <a:srgbClr val="22245C"/>
                        </a:buClr>
                        <a:buSzPts val="1300"/>
                        <a:buFont typeface="Calibri"/>
                        <a:buNone/>
                      </a:pPr>
                      <a:r>
                        <a:rPr i="1" lang="en-US" sz="1300" u="none" cap="none" strike="noStrike">
                          <a:solidFill>
                            <a:srgbClr val="22245C"/>
                          </a:solidFill>
                          <a:latin typeface="Calibri"/>
                          <a:ea typeface="Calibri"/>
                          <a:cs typeface="Calibri"/>
                          <a:sym typeface="Calibri"/>
                        </a:rPr>
                        <a:t>Selection &amp; sequencing of story elements (tangible, not asked)</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Primitive narratives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Elaboration prompts for new events or actions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Chain narratives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Elaboration prompts targeting causal relations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True narratives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Post-story prompts: retell, then alternative endings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bl>
          </a:graphicData>
        </a:graphic>
      </p:graphicFrame>
      <p:sp>
        <p:nvSpPr>
          <p:cNvPr id="138" name="Google Shape;138;p10"/>
          <p:cNvSpPr/>
          <p:nvPr/>
        </p:nvSpPr>
        <p:spPr>
          <a:xfrm>
            <a:off x="497840" y="1729232"/>
            <a:ext cx="5394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85"/>
              </a:buClr>
              <a:buSzPts val="1500"/>
              <a:buFont typeface="Calibri"/>
              <a:buNone/>
            </a:pPr>
            <a:r>
              <a:rPr i="1" lang="en-US" sz="1500">
                <a:solidFill>
                  <a:srgbClr val="6B6B85"/>
                </a:solidFill>
                <a:latin typeface="Calibri"/>
                <a:ea typeface="Calibri"/>
                <a:cs typeface="Calibri"/>
                <a:sym typeface="Calibri"/>
              </a:rPr>
              <a:t>Applebee — Narrative Development Model</a:t>
            </a:r>
            <a:endParaRPr sz="1500">
              <a:solidFill>
                <a:schemeClr val="dk1"/>
              </a:solidFill>
              <a:latin typeface="Calibri"/>
              <a:ea typeface="Calibri"/>
              <a:cs typeface="Calibri"/>
              <a:sym typeface="Calibri"/>
            </a:endParaRPr>
          </a:p>
        </p:txBody>
      </p:sp>
      <p:graphicFrame>
        <p:nvGraphicFramePr>
          <p:cNvPr id="139" name="Google Shape;139;p10"/>
          <p:cNvGraphicFramePr/>
          <p:nvPr/>
        </p:nvGraphicFramePr>
        <p:xfrm>
          <a:off x="6217920" y="2179320"/>
          <a:ext cx="3000000" cy="3000000"/>
        </p:xfrm>
        <a:graphic>
          <a:graphicData uri="http://schemas.openxmlformats.org/drawingml/2006/table">
            <a:tbl>
              <a:tblPr>
                <a:noFill/>
                <a:tableStyleId>{3A323106-469C-4C0F-A72C-643C95268605}</a:tableStyleId>
              </a:tblPr>
              <a:tblGrid>
                <a:gridCol w="2103125"/>
                <a:gridCol w="3291850"/>
              </a:tblGrid>
              <a:tr h="457200">
                <a:tc>
                  <a:txBody>
                    <a:bodyPr/>
                    <a:lstStyle/>
                    <a:p>
                      <a:pPr indent="0" lvl="0" marL="0" marR="0" rtl="0" algn="l">
                        <a:spcBef>
                          <a:spcPts val="0"/>
                        </a:spcBef>
                        <a:spcAft>
                          <a:spcPts val="0"/>
                        </a:spcAft>
                        <a:buClr>
                          <a:srgbClr val="22245C"/>
                        </a:buClr>
                        <a:buSzPts val="1400"/>
                        <a:buFont typeface="Calibri"/>
                        <a:buNone/>
                      </a:pPr>
                      <a:r>
                        <a:rPr b="1" lang="en-US" sz="1400" u="none" cap="none" strike="noStrike">
                          <a:solidFill>
                            <a:srgbClr val="22245C"/>
                          </a:solidFill>
                          <a:latin typeface="Calibri"/>
                          <a:ea typeface="Calibri"/>
                          <a:cs typeface="Calibri"/>
                          <a:sym typeface="Calibri"/>
                        </a:rPr>
                        <a:t>SEL competency</a:t>
                      </a:r>
                      <a:endParaRPr sz="14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2A154"/>
                    </a:solidFill>
                  </a:tcPr>
                </a:tc>
                <a:tc>
                  <a:txBody>
                    <a:bodyPr/>
                    <a:lstStyle/>
                    <a:p>
                      <a:pPr indent="0" lvl="0" marL="0" marR="0" rtl="0" algn="l">
                        <a:spcBef>
                          <a:spcPts val="0"/>
                        </a:spcBef>
                        <a:spcAft>
                          <a:spcPts val="0"/>
                        </a:spcAft>
                        <a:buClr>
                          <a:srgbClr val="22245C"/>
                        </a:buClr>
                        <a:buSzPts val="1400"/>
                        <a:buFont typeface="Calibri"/>
                        <a:buNone/>
                      </a:pPr>
                      <a:r>
                        <a:rPr b="1" lang="en-US" sz="1400" u="none" cap="none" strike="noStrike">
                          <a:solidFill>
                            <a:srgbClr val="22245C"/>
                          </a:solidFill>
                          <a:latin typeface="Calibri"/>
                          <a:ea typeface="Calibri"/>
                          <a:cs typeface="Calibri"/>
                          <a:sym typeface="Calibri"/>
                        </a:rPr>
                        <a:t>Scaffolding</a:t>
                      </a:r>
                      <a:endParaRPr sz="14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2A154"/>
                    </a:solidFill>
                  </a:tcPr>
                </a:tc>
              </a:tr>
              <a:tr h="736600">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Self-awareness / Self-management</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c>
                  <a:txBody>
                    <a:bodyPr/>
                    <a:lstStyle/>
                    <a:p>
                      <a:pPr indent="0" lvl="0" marL="0" marR="0" rtl="0" algn="l">
                        <a:spcBef>
                          <a:spcPts val="0"/>
                        </a:spcBef>
                        <a:spcAft>
                          <a:spcPts val="0"/>
                        </a:spcAft>
                        <a:buClr>
                          <a:srgbClr val="22245C"/>
                        </a:buClr>
                        <a:buSzPts val="1300"/>
                        <a:buFont typeface="Calibri"/>
                        <a:buNone/>
                      </a:pPr>
                      <a:r>
                        <a:rPr i="1" lang="en-US" sz="1300" u="none" cap="none" strike="noStrike">
                          <a:solidFill>
                            <a:srgbClr val="22245C"/>
                          </a:solidFill>
                          <a:latin typeface="Calibri"/>
                          <a:ea typeface="Calibri"/>
                          <a:cs typeface="Calibri"/>
                          <a:sym typeface="Calibri"/>
                        </a:rPr>
                        <a:t>not used (story centers on characters, not the child)</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Social awareness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Elaboration prompts to infer characters' emotions &amp; perspectives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Relationship skills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Post-story prompts to reflect on characters' interactions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22245C"/>
                        </a:buClr>
                        <a:buSzPts val="1300"/>
                        <a:buFont typeface="Calibri"/>
                        <a:buNone/>
                      </a:pPr>
                      <a:r>
                        <a:rPr b="1" lang="en-US" sz="1300" u="none" cap="none" strike="noStrike">
                          <a:solidFill>
                            <a:srgbClr val="22245C"/>
                          </a:solidFill>
                          <a:latin typeface="Calibri"/>
                          <a:ea typeface="Calibri"/>
                          <a:cs typeface="Calibri"/>
                          <a:sym typeface="Calibri"/>
                        </a:rPr>
                        <a:t>Responsible decision-making</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2245C"/>
                        </a:buClr>
                        <a:buSzPts val="1300"/>
                        <a:buFont typeface="Calibri"/>
                        <a:buNone/>
                      </a:pPr>
                      <a:r>
                        <a:rPr lang="en-US" sz="1300" u="none" cap="none" strike="noStrike">
                          <a:solidFill>
                            <a:srgbClr val="22245C"/>
                          </a:solidFill>
                          <a:latin typeface="Calibri"/>
                          <a:ea typeface="Calibri"/>
                          <a:cs typeface="Calibri"/>
                          <a:sym typeface="Calibri"/>
                        </a:rPr>
                        <a:t>Post-story prompts to suggest alternative actions</a:t>
                      </a:r>
                      <a:endParaRPr sz="1300" u="none" cap="none" strike="noStrike">
                        <a:solidFill>
                          <a:srgbClr val="22245C"/>
                        </a:solidFill>
                        <a:latin typeface="Calibri"/>
                        <a:ea typeface="Calibri"/>
                        <a:cs typeface="Calibri"/>
                        <a:sym typeface="Calibri"/>
                      </a:endParaRPr>
                    </a:p>
                  </a:txBody>
                  <a:tcPr marT="45725" marB="45725" marR="91450" marL="91450" anchor="ctr">
                    <a:lnL cap="flat" cmpd="sng" w="12700">
                      <a:solidFill>
                        <a:srgbClr val="E1E1EE"/>
                      </a:solidFill>
                      <a:prstDash val="solid"/>
                      <a:round/>
                      <a:headEnd len="sm" w="sm" type="none"/>
                      <a:tailEnd len="sm" w="sm" type="none"/>
                    </a:lnL>
                    <a:lnR cap="flat" cmpd="sng" w="12700">
                      <a:solidFill>
                        <a:srgbClr val="E1E1EE"/>
                      </a:solidFill>
                      <a:prstDash val="solid"/>
                      <a:round/>
                      <a:headEnd len="sm" w="sm" type="none"/>
                      <a:tailEnd len="sm" w="sm" type="none"/>
                    </a:lnR>
                    <a:lnT cap="flat" cmpd="sng" w="12700">
                      <a:solidFill>
                        <a:srgbClr val="E1E1EE"/>
                      </a:solidFill>
                      <a:prstDash val="solid"/>
                      <a:round/>
                      <a:headEnd len="sm" w="sm" type="none"/>
                      <a:tailEnd len="sm" w="sm" type="none"/>
                    </a:lnT>
                    <a:lnB cap="flat" cmpd="sng" w="12700">
                      <a:solidFill>
                        <a:srgbClr val="E1E1EE"/>
                      </a:solidFill>
                      <a:prstDash val="solid"/>
                      <a:round/>
                      <a:headEnd len="sm" w="sm" type="none"/>
                      <a:tailEnd len="sm" w="sm" type="none"/>
                    </a:lnB>
                    <a:solidFill>
                      <a:srgbClr val="FFFFFF"/>
                    </a:solidFill>
                  </a:tcPr>
                </a:tc>
              </a:tr>
            </a:tbl>
          </a:graphicData>
        </a:graphic>
      </p:graphicFrame>
      <p:sp>
        <p:nvSpPr>
          <p:cNvPr id="140" name="Google Shape;140;p10"/>
          <p:cNvSpPr/>
          <p:nvPr/>
        </p:nvSpPr>
        <p:spPr>
          <a:xfrm>
            <a:off x="6167120" y="1729232"/>
            <a:ext cx="5394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85"/>
              </a:buClr>
              <a:buSzPts val="1500"/>
              <a:buFont typeface="Calibri"/>
              <a:buNone/>
            </a:pPr>
            <a:r>
              <a:rPr i="1" lang="en-US" sz="1500">
                <a:solidFill>
                  <a:srgbClr val="6B6B85"/>
                </a:solidFill>
                <a:latin typeface="Calibri"/>
                <a:ea typeface="Calibri"/>
                <a:cs typeface="Calibri"/>
                <a:sym typeface="Calibri"/>
              </a:rPr>
              <a:t>CASEL — Social–Emotional Learning Framework</a:t>
            </a:r>
            <a:endParaRPr sz="1500">
              <a:solidFill>
                <a:schemeClr val="dk1"/>
              </a:solidFill>
              <a:latin typeface="Calibri"/>
              <a:ea typeface="Calibri"/>
              <a:cs typeface="Calibri"/>
              <a:sym typeface="Calibri"/>
            </a:endParaRPr>
          </a:p>
        </p:txBody>
      </p:sp>
      <p:sp>
        <p:nvSpPr>
          <p:cNvPr id="141" name="Google Shape;141;p10"/>
          <p:cNvSpPr/>
          <p:nvPr/>
        </p:nvSpPr>
        <p:spPr>
          <a:xfrm>
            <a:off x="497840" y="1481328"/>
            <a:ext cx="11308080" cy="4553712"/>
          </a:xfrm>
          <a:prstGeom prst="rect">
            <a:avLst/>
          </a:prstGeom>
          <a:solidFill>
            <a:schemeClr val="lt1">
              <a:alpha val="9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0"/>
          <p:cNvSpPr txBox="1"/>
          <p:nvPr/>
        </p:nvSpPr>
        <p:spPr>
          <a:xfrm>
            <a:off x="1515932" y="1548370"/>
            <a:ext cx="9438600" cy="501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Dialogue Graph:</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(B) </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(C) </a:t>
            </a:r>
            <a:r>
              <a:rPr lang="en-US" sz="2000">
                <a:solidFill>
                  <a:schemeClr val="dk1"/>
                </a:solidFill>
                <a:latin typeface="Calibri"/>
                <a:ea typeface="Calibri"/>
                <a:cs typeface="Calibri"/>
                <a:sym typeface="Calibri"/>
              </a:rPr>
              <a:t>Ask a question that encourages the child to </a:t>
            </a:r>
            <a:r>
              <a:rPr b="1" lang="en-US" sz="2000">
                <a:solidFill>
                  <a:schemeClr val="dk1"/>
                </a:solidFill>
                <a:latin typeface="Calibri"/>
                <a:ea typeface="Calibri"/>
                <a:cs typeface="Calibri"/>
                <a:sym typeface="Calibri"/>
              </a:rPr>
              <a:t>elaborate and refine the story’s narrative</a:t>
            </a:r>
            <a:r>
              <a:rPr lang="en-US" sz="2000">
                <a:solidFill>
                  <a:schemeClr val="dk1"/>
                </a:solidFill>
                <a:latin typeface="Calibri"/>
                <a:ea typeface="Calibri"/>
                <a:cs typeface="Calibri"/>
                <a:sym typeface="Calibri"/>
              </a:rPr>
              <a:t>. Ground the question in the story created so far, and phrase it in a way that sparks the child’s imagination. Make sure to scaffold this question for the </a:t>
            </a:r>
            <a:r>
              <a:rPr b="1" lang="en-US" sz="2000">
                <a:solidFill>
                  <a:schemeClr val="dk1"/>
                </a:solidFill>
                <a:latin typeface="Calibri"/>
                <a:ea typeface="Calibri"/>
                <a:cs typeface="Calibri"/>
                <a:sym typeface="Calibri"/>
              </a:rPr>
              <a:t>Chain narratives </a:t>
            </a:r>
            <a:r>
              <a:rPr lang="en-US" sz="2000">
                <a:solidFill>
                  <a:schemeClr val="dk1"/>
                </a:solidFill>
                <a:latin typeface="Calibri"/>
                <a:ea typeface="Calibri"/>
                <a:cs typeface="Calibri"/>
                <a:sym typeface="Calibri"/>
              </a:rPr>
              <a:t>stage from Applebee’s narrative development model, which emphasizes the emergence of causal connections. For example, the question may be framed along the lines of: </a:t>
            </a:r>
            <a:r>
              <a:rPr b="1" i="1" lang="en-US" sz="2000">
                <a:solidFill>
                  <a:schemeClr val="dk1"/>
                </a:solidFill>
                <a:latin typeface="Calibri"/>
                <a:ea typeface="Calibri"/>
                <a:cs typeface="Calibri"/>
                <a:sym typeface="Calibri"/>
              </a:rPr>
              <a:t>"Why did [a character] do [an action]?"</a:t>
            </a:r>
            <a:r>
              <a:rPr lang="en-US" sz="2000">
                <a:solidFill>
                  <a:schemeClr val="dk1"/>
                </a:solidFill>
                <a:latin typeface="Calibri"/>
                <a:ea typeface="Calibri"/>
                <a:cs typeface="Calibri"/>
                <a:sym typeface="Calibri"/>
              </a:rPr>
              <a:t> or </a:t>
            </a:r>
            <a:r>
              <a:rPr b="1" i="1" lang="en-US" sz="2000">
                <a:solidFill>
                  <a:schemeClr val="dk1"/>
                </a:solidFill>
                <a:latin typeface="Calibri"/>
                <a:ea typeface="Calibri"/>
                <a:cs typeface="Calibri"/>
                <a:sym typeface="Calibri"/>
              </a:rPr>
              <a:t>"How did [an event] happen?"</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 </a:t>
            </a:r>
            <a:r>
              <a:rPr lang="en-US" sz="2000">
                <a:solidFill>
                  <a:schemeClr val="dk1"/>
                </a:solidFill>
                <a:latin typeface="Calibri"/>
                <a:ea typeface="Calibri"/>
                <a:cs typeface="Calibri"/>
                <a:sym typeface="Calibri"/>
              </a:rPr>
              <a:t>-&gt; (B) -&gt; </a:t>
            </a:r>
            <a:r>
              <a:rPr lang="en-US" sz="2000">
                <a:solidFill>
                  <a:schemeClr val="dk1"/>
                </a:solidFill>
                <a:latin typeface="Calibri"/>
                <a:ea typeface="Calibri"/>
                <a:cs typeface="Calibri"/>
                <a:sym typeface="Calibri"/>
              </a:rPr>
              <a:t>(C) -&gt; …</a:t>
            </a:r>
            <a:endParaRPr sz="2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Eight scripted phases, structured yet flexible conversation</a:t>
            </a:r>
            <a:endParaRPr sz="3000">
              <a:solidFill>
                <a:schemeClr val="dk1"/>
              </a:solidFill>
              <a:latin typeface="Calibri"/>
              <a:ea typeface="Calibri"/>
              <a:cs typeface="Calibri"/>
              <a:sym typeface="Calibri"/>
            </a:endParaRPr>
          </a:p>
        </p:txBody>
      </p:sp>
      <p:sp>
        <p:nvSpPr>
          <p:cNvPr id="149" name="Google Shape;149;p11"/>
          <p:cNvSpPr/>
          <p:nvPr/>
        </p:nvSpPr>
        <p:spPr>
          <a:xfrm>
            <a:off x="534785" y="2914501"/>
            <a:ext cx="11102761" cy="3647356"/>
          </a:xfrm>
          <a:prstGeom prst="roundRect">
            <a:avLst>
              <a:gd fmla="val 3509" name="adj"/>
            </a:avLst>
          </a:prstGeom>
          <a:noFill/>
          <a:ln cap="flat" cmpd="sng" w="9525">
            <a:solidFill>
              <a:srgbClr val="AEABA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11"/>
          <p:cNvSpPr/>
          <p:nvPr/>
        </p:nvSpPr>
        <p:spPr>
          <a:xfrm>
            <a:off x="773085" y="3105441"/>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A154"/>
              </a:buClr>
              <a:buSzPts val="2000"/>
              <a:buFont typeface="Cambria"/>
              <a:buNone/>
            </a:pPr>
            <a:r>
              <a:rPr b="1" lang="en-US" sz="2000">
                <a:solidFill>
                  <a:srgbClr val="F2A154"/>
                </a:solidFill>
                <a:latin typeface="Cambria"/>
                <a:ea typeface="Cambria"/>
                <a:cs typeface="Cambria"/>
                <a:sym typeface="Cambria"/>
              </a:rPr>
              <a:t>Progression rule</a:t>
            </a:r>
            <a:endParaRPr sz="2000">
              <a:solidFill>
                <a:schemeClr val="dk1"/>
              </a:solidFill>
              <a:latin typeface="Calibri"/>
              <a:ea typeface="Calibri"/>
              <a:cs typeface="Calibri"/>
              <a:sym typeface="Calibri"/>
            </a:endParaRPr>
          </a:p>
        </p:txBody>
      </p:sp>
      <p:sp>
        <p:nvSpPr>
          <p:cNvPr id="151" name="Google Shape;151;p11"/>
          <p:cNvSpPr/>
          <p:nvPr/>
        </p:nvSpPr>
        <p:spPr>
          <a:xfrm>
            <a:off x="6790393" y="3164365"/>
            <a:ext cx="4594547" cy="3194234"/>
          </a:xfrm>
          <a:prstGeom prst="rect">
            <a:avLst/>
          </a:prstGeom>
          <a:noFill/>
          <a:ln>
            <a:noFill/>
          </a:ln>
        </p:spPr>
        <p:txBody>
          <a:bodyPr anchorCtr="0" anchor="t" bIns="45700" lIns="91425" spcFirstLastPara="1" rIns="91425" wrap="square" tIns="45700">
            <a:noAutofit/>
          </a:bodyPr>
          <a:lstStyle/>
          <a:p>
            <a:pPr indent="-285750" lvl="0" marL="285750" marR="0" rtl="0" algn="l">
              <a:lnSpc>
                <a:spcPct val="125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Each phase is a dialogue graph with conditional transitions.</a:t>
            </a:r>
            <a:endParaRPr/>
          </a:p>
          <a:p>
            <a:pPr indent="-285750" lvl="0" marL="285750" marR="0" rtl="0" algn="l">
              <a:lnSpc>
                <a:spcPct val="125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AI agent issues an explicit transition marker (</a:t>
            </a:r>
            <a:r>
              <a:rPr lang="en-US" sz="1800">
                <a:solidFill>
                  <a:schemeClr val="dk1"/>
                </a:solidFill>
                <a:latin typeface="Courier New"/>
                <a:ea typeface="Courier New"/>
                <a:cs typeface="Courier New"/>
                <a:sym typeface="Courier New"/>
              </a:rPr>
              <a:t>##NEXT##</a:t>
            </a:r>
            <a:r>
              <a:rPr lang="en-US" sz="1800">
                <a:solidFill>
                  <a:schemeClr val="dk1"/>
                </a:solidFill>
                <a:latin typeface="Calibri"/>
                <a:ea typeface="Calibri"/>
                <a:cs typeface="Calibri"/>
                <a:sym typeface="Calibri"/>
              </a:rPr>
              <a:t>) when the current dialogue graph is fulfilled. After the transition marker, the next phase prompt is provided to the AI.</a:t>
            </a:r>
            <a:endParaRPr/>
          </a:p>
          <a:p>
            <a:pPr indent="-285750" lvl="0" marL="285750" marR="0" rtl="0" algn="l">
              <a:lnSpc>
                <a:spcPct val="125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Can still answer unscripted questions or side talk along the way, within a phase.</a:t>
            </a:r>
            <a:endParaRPr sz="1800">
              <a:solidFill>
                <a:schemeClr val="dk1"/>
              </a:solidFill>
              <a:latin typeface="Calibri"/>
              <a:ea typeface="Calibri"/>
              <a:cs typeface="Calibri"/>
              <a:sym typeface="Calibri"/>
            </a:endParaRPr>
          </a:p>
        </p:txBody>
      </p:sp>
      <p:pic>
        <p:nvPicPr>
          <p:cNvPr id="152" name="Google Shape;152;p11"/>
          <p:cNvPicPr preferRelativeResize="0"/>
          <p:nvPr/>
        </p:nvPicPr>
        <p:blipFill rotWithShape="1">
          <a:blip r:embed="rId3">
            <a:alphaModFix/>
          </a:blip>
          <a:srcRect b="16399" l="0" r="0" t="0"/>
          <a:stretch/>
        </p:blipFill>
        <p:spPr>
          <a:xfrm>
            <a:off x="3077206" y="3021037"/>
            <a:ext cx="3598510" cy="3431212"/>
          </a:xfrm>
          <a:prstGeom prst="rect">
            <a:avLst/>
          </a:prstGeom>
          <a:noFill/>
          <a:ln>
            <a:noFill/>
          </a:ln>
        </p:spPr>
      </p:pic>
      <p:sp>
        <p:nvSpPr>
          <p:cNvPr id="153" name="Google Shape;153;p11"/>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CONVERSATION DESIGN</a:t>
            </a:r>
            <a:endParaRPr sz="1300">
              <a:solidFill>
                <a:schemeClr val="dk1"/>
              </a:solidFill>
              <a:latin typeface="Calibri"/>
              <a:ea typeface="Calibri"/>
              <a:cs typeface="Calibri"/>
              <a:sym typeface="Calibri"/>
            </a:endParaRPr>
          </a:p>
        </p:txBody>
      </p:sp>
      <p:sp>
        <p:nvSpPr>
          <p:cNvPr id="154" name="Google Shape;154;p11"/>
          <p:cNvSpPr/>
          <p:nvPr/>
        </p:nvSpPr>
        <p:spPr>
          <a:xfrm>
            <a:off x="534785"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55" name="Google Shape;155;p11"/>
          <p:cNvSpPr/>
          <p:nvPr/>
        </p:nvSpPr>
        <p:spPr>
          <a:xfrm>
            <a:off x="534785"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opening</a:t>
            </a:r>
            <a:endParaRPr sz="1600">
              <a:solidFill>
                <a:schemeClr val="dk1"/>
              </a:solidFill>
              <a:latin typeface="Calibri"/>
              <a:ea typeface="Calibri"/>
              <a:cs typeface="Calibri"/>
              <a:sym typeface="Calibri"/>
            </a:endParaRPr>
          </a:p>
        </p:txBody>
      </p:sp>
      <p:sp>
        <p:nvSpPr>
          <p:cNvPr id="156" name="Google Shape;156;p11"/>
          <p:cNvSpPr/>
          <p:nvPr/>
        </p:nvSpPr>
        <p:spPr>
          <a:xfrm>
            <a:off x="1792224"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57" name="Google Shape;157;p11"/>
          <p:cNvSpPr/>
          <p:nvPr/>
        </p:nvSpPr>
        <p:spPr>
          <a:xfrm>
            <a:off x="1943239"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58" name="Google Shape;158;p11"/>
          <p:cNvSpPr/>
          <p:nvPr/>
        </p:nvSpPr>
        <p:spPr>
          <a:xfrm>
            <a:off x="1943239"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Character</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selection</a:t>
            </a:r>
            <a:endParaRPr sz="1600">
              <a:solidFill>
                <a:schemeClr val="dk1"/>
              </a:solidFill>
              <a:latin typeface="Calibri"/>
              <a:ea typeface="Calibri"/>
              <a:cs typeface="Calibri"/>
              <a:sym typeface="Calibri"/>
            </a:endParaRPr>
          </a:p>
        </p:txBody>
      </p:sp>
      <p:sp>
        <p:nvSpPr>
          <p:cNvPr id="159" name="Google Shape;159;p11"/>
          <p:cNvSpPr/>
          <p:nvPr/>
        </p:nvSpPr>
        <p:spPr>
          <a:xfrm>
            <a:off x="3200678"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60" name="Google Shape;160;p11"/>
          <p:cNvSpPr/>
          <p:nvPr/>
        </p:nvSpPr>
        <p:spPr>
          <a:xfrm>
            <a:off x="3351693"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61" name="Google Shape;161;p11"/>
          <p:cNvSpPr/>
          <p:nvPr/>
        </p:nvSpPr>
        <p:spPr>
          <a:xfrm>
            <a:off x="3351693"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Start</a:t>
            </a:r>
            <a:endParaRPr sz="1600">
              <a:solidFill>
                <a:schemeClr val="dk1"/>
              </a:solidFill>
              <a:latin typeface="Calibri"/>
              <a:ea typeface="Calibri"/>
              <a:cs typeface="Calibri"/>
              <a:sym typeface="Calibri"/>
            </a:endParaRPr>
          </a:p>
        </p:txBody>
      </p:sp>
      <p:sp>
        <p:nvSpPr>
          <p:cNvPr id="162" name="Google Shape;162;p11"/>
          <p:cNvSpPr/>
          <p:nvPr/>
        </p:nvSpPr>
        <p:spPr>
          <a:xfrm>
            <a:off x="4609132"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63" name="Google Shape;163;p11"/>
          <p:cNvSpPr/>
          <p:nvPr/>
        </p:nvSpPr>
        <p:spPr>
          <a:xfrm>
            <a:off x="4760147"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64" name="Google Shape;164;p11"/>
          <p:cNvSpPr/>
          <p:nvPr/>
        </p:nvSpPr>
        <p:spPr>
          <a:xfrm>
            <a:off x="4760147"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Journey</a:t>
            </a:r>
            <a:endParaRPr sz="1600">
              <a:solidFill>
                <a:schemeClr val="dk1"/>
              </a:solidFill>
              <a:latin typeface="Calibri"/>
              <a:ea typeface="Calibri"/>
              <a:cs typeface="Calibri"/>
              <a:sym typeface="Calibri"/>
            </a:endParaRPr>
          </a:p>
        </p:txBody>
      </p:sp>
      <p:sp>
        <p:nvSpPr>
          <p:cNvPr id="165" name="Google Shape;165;p11"/>
          <p:cNvSpPr/>
          <p:nvPr/>
        </p:nvSpPr>
        <p:spPr>
          <a:xfrm>
            <a:off x="6017586"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66" name="Google Shape;166;p11"/>
          <p:cNvSpPr/>
          <p:nvPr/>
        </p:nvSpPr>
        <p:spPr>
          <a:xfrm>
            <a:off x="6168601"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67" name="Google Shape;167;p11"/>
          <p:cNvSpPr/>
          <p:nvPr/>
        </p:nvSpPr>
        <p:spPr>
          <a:xfrm>
            <a:off x="6168601"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Climax</a:t>
            </a:r>
            <a:endParaRPr sz="1600">
              <a:solidFill>
                <a:schemeClr val="dk1"/>
              </a:solidFill>
              <a:latin typeface="Calibri"/>
              <a:ea typeface="Calibri"/>
              <a:cs typeface="Calibri"/>
              <a:sym typeface="Calibri"/>
            </a:endParaRPr>
          </a:p>
        </p:txBody>
      </p:sp>
      <p:sp>
        <p:nvSpPr>
          <p:cNvPr id="168" name="Google Shape;168;p11"/>
          <p:cNvSpPr/>
          <p:nvPr/>
        </p:nvSpPr>
        <p:spPr>
          <a:xfrm>
            <a:off x="7426040"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69" name="Google Shape;169;p11"/>
          <p:cNvSpPr/>
          <p:nvPr/>
        </p:nvSpPr>
        <p:spPr>
          <a:xfrm>
            <a:off x="7577055"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70" name="Google Shape;170;p11"/>
          <p:cNvSpPr/>
          <p:nvPr/>
        </p:nvSpPr>
        <p:spPr>
          <a:xfrm>
            <a:off x="7577055"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End</a:t>
            </a:r>
            <a:endParaRPr sz="1600">
              <a:solidFill>
                <a:schemeClr val="dk1"/>
              </a:solidFill>
              <a:latin typeface="Calibri"/>
              <a:ea typeface="Calibri"/>
              <a:cs typeface="Calibri"/>
              <a:sym typeface="Calibri"/>
            </a:endParaRPr>
          </a:p>
        </p:txBody>
      </p:sp>
      <p:sp>
        <p:nvSpPr>
          <p:cNvPr id="171" name="Google Shape;171;p11"/>
          <p:cNvSpPr/>
          <p:nvPr/>
        </p:nvSpPr>
        <p:spPr>
          <a:xfrm>
            <a:off x="8834494"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72" name="Google Shape;172;p11"/>
          <p:cNvSpPr/>
          <p:nvPr/>
        </p:nvSpPr>
        <p:spPr>
          <a:xfrm>
            <a:off x="8985509"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73" name="Google Shape;173;p11"/>
          <p:cNvSpPr/>
          <p:nvPr/>
        </p:nvSpPr>
        <p:spPr>
          <a:xfrm>
            <a:off x="8985509"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Post-story</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activity</a:t>
            </a:r>
            <a:endParaRPr sz="1600">
              <a:solidFill>
                <a:schemeClr val="dk1"/>
              </a:solidFill>
              <a:latin typeface="Calibri"/>
              <a:ea typeface="Calibri"/>
              <a:cs typeface="Calibri"/>
              <a:sym typeface="Calibri"/>
            </a:endParaRPr>
          </a:p>
        </p:txBody>
      </p:sp>
      <p:sp>
        <p:nvSpPr>
          <p:cNvPr id="174" name="Google Shape;174;p11"/>
          <p:cNvSpPr/>
          <p:nvPr/>
        </p:nvSpPr>
        <p:spPr>
          <a:xfrm>
            <a:off x="10242948"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75" name="Google Shape;175;p11"/>
          <p:cNvSpPr/>
          <p:nvPr/>
        </p:nvSpPr>
        <p:spPr>
          <a:xfrm>
            <a:off x="10393963"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76" name="Google Shape;176;p11"/>
          <p:cNvSpPr/>
          <p:nvPr/>
        </p:nvSpPr>
        <p:spPr>
          <a:xfrm>
            <a:off x="10393963"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closing</a:t>
            </a:r>
            <a:endParaRPr sz="16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12"/>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CONVERSATION DESIGN</a:t>
            </a:r>
            <a:endParaRPr sz="1300">
              <a:solidFill>
                <a:schemeClr val="dk1"/>
              </a:solidFill>
              <a:latin typeface="Calibri"/>
              <a:ea typeface="Calibri"/>
              <a:cs typeface="Calibri"/>
              <a:sym typeface="Calibri"/>
            </a:endParaRPr>
          </a:p>
        </p:txBody>
      </p:sp>
      <p:sp>
        <p:nvSpPr>
          <p:cNvPr id="183" name="Google Shape;183;p12"/>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Eight scripted phases, structured yet flexible conversation</a:t>
            </a:r>
            <a:endParaRPr sz="3000">
              <a:solidFill>
                <a:schemeClr val="dk1"/>
              </a:solidFill>
              <a:latin typeface="Calibri"/>
              <a:ea typeface="Calibri"/>
              <a:cs typeface="Calibri"/>
              <a:sym typeface="Calibri"/>
            </a:endParaRPr>
          </a:p>
        </p:txBody>
      </p:sp>
      <p:sp>
        <p:nvSpPr>
          <p:cNvPr id="184" name="Google Shape;184;p12"/>
          <p:cNvSpPr/>
          <p:nvPr/>
        </p:nvSpPr>
        <p:spPr>
          <a:xfrm>
            <a:off x="534785"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85" name="Google Shape;185;p12"/>
          <p:cNvSpPr/>
          <p:nvPr/>
        </p:nvSpPr>
        <p:spPr>
          <a:xfrm>
            <a:off x="534785"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opening</a:t>
            </a:r>
            <a:endParaRPr sz="1600">
              <a:solidFill>
                <a:schemeClr val="dk1"/>
              </a:solidFill>
              <a:latin typeface="Calibri"/>
              <a:ea typeface="Calibri"/>
              <a:cs typeface="Calibri"/>
              <a:sym typeface="Calibri"/>
            </a:endParaRPr>
          </a:p>
        </p:txBody>
      </p:sp>
      <p:sp>
        <p:nvSpPr>
          <p:cNvPr id="186" name="Google Shape;186;p12"/>
          <p:cNvSpPr/>
          <p:nvPr/>
        </p:nvSpPr>
        <p:spPr>
          <a:xfrm>
            <a:off x="1792224"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87" name="Google Shape;187;p12"/>
          <p:cNvSpPr/>
          <p:nvPr/>
        </p:nvSpPr>
        <p:spPr>
          <a:xfrm>
            <a:off x="1943239"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88" name="Google Shape;188;p12"/>
          <p:cNvSpPr/>
          <p:nvPr/>
        </p:nvSpPr>
        <p:spPr>
          <a:xfrm>
            <a:off x="1943239"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Character</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selection</a:t>
            </a:r>
            <a:endParaRPr sz="1600">
              <a:solidFill>
                <a:schemeClr val="dk1"/>
              </a:solidFill>
              <a:latin typeface="Calibri"/>
              <a:ea typeface="Calibri"/>
              <a:cs typeface="Calibri"/>
              <a:sym typeface="Calibri"/>
            </a:endParaRPr>
          </a:p>
        </p:txBody>
      </p:sp>
      <p:sp>
        <p:nvSpPr>
          <p:cNvPr id="189" name="Google Shape;189;p12"/>
          <p:cNvSpPr/>
          <p:nvPr/>
        </p:nvSpPr>
        <p:spPr>
          <a:xfrm>
            <a:off x="3200678"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90" name="Google Shape;190;p12"/>
          <p:cNvSpPr/>
          <p:nvPr/>
        </p:nvSpPr>
        <p:spPr>
          <a:xfrm>
            <a:off x="3351693"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91" name="Google Shape;191;p12"/>
          <p:cNvSpPr/>
          <p:nvPr/>
        </p:nvSpPr>
        <p:spPr>
          <a:xfrm>
            <a:off x="3351693"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Start</a:t>
            </a:r>
            <a:endParaRPr sz="1600">
              <a:solidFill>
                <a:schemeClr val="dk1"/>
              </a:solidFill>
              <a:latin typeface="Calibri"/>
              <a:ea typeface="Calibri"/>
              <a:cs typeface="Calibri"/>
              <a:sym typeface="Calibri"/>
            </a:endParaRPr>
          </a:p>
        </p:txBody>
      </p:sp>
      <p:sp>
        <p:nvSpPr>
          <p:cNvPr id="192" name="Google Shape;192;p12"/>
          <p:cNvSpPr/>
          <p:nvPr/>
        </p:nvSpPr>
        <p:spPr>
          <a:xfrm>
            <a:off x="4609132"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93" name="Google Shape;193;p12"/>
          <p:cNvSpPr/>
          <p:nvPr/>
        </p:nvSpPr>
        <p:spPr>
          <a:xfrm>
            <a:off x="4760147"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94" name="Google Shape;194;p12"/>
          <p:cNvSpPr/>
          <p:nvPr/>
        </p:nvSpPr>
        <p:spPr>
          <a:xfrm>
            <a:off x="4760147"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Journey</a:t>
            </a:r>
            <a:endParaRPr sz="1600">
              <a:solidFill>
                <a:schemeClr val="dk1"/>
              </a:solidFill>
              <a:latin typeface="Calibri"/>
              <a:ea typeface="Calibri"/>
              <a:cs typeface="Calibri"/>
              <a:sym typeface="Calibri"/>
            </a:endParaRPr>
          </a:p>
        </p:txBody>
      </p:sp>
      <p:sp>
        <p:nvSpPr>
          <p:cNvPr id="195" name="Google Shape;195;p12"/>
          <p:cNvSpPr/>
          <p:nvPr/>
        </p:nvSpPr>
        <p:spPr>
          <a:xfrm>
            <a:off x="6017586"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96" name="Google Shape;196;p12"/>
          <p:cNvSpPr/>
          <p:nvPr/>
        </p:nvSpPr>
        <p:spPr>
          <a:xfrm>
            <a:off x="6168601"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97" name="Google Shape;197;p12"/>
          <p:cNvSpPr/>
          <p:nvPr/>
        </p:nvSpPr>
        <p:spPr>
          <a:xfrm>
            <a:off x="6168601"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Climax</a:t>
            </a:r>
            <a:endParaRPr sz="1600">
              <a:solidFill>
                <a:schemeClr val="dk1"/>
              </a:solidFill>
              <a:latin typeface="Calibri"/>
              <a:ea typeface="Calibri"/>
              <a:cs typeface="Calibri"/>
              <a:sym typeface="Calibri"/>
            </a:endParaRPr>
          </a:p>
        </p:txBody>
      </p:sp>
      <p:sp>
        <p:nvSpPr>
          <p:cNvPr id="198" name="Google Shape;198;p12"/>
          <p:cNvSpPr/>
          <p:nvPr/>
        </p:nvSpPr>
        <p:spPr>
          <a:xfrm>
            <a:off x="7426040"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99" name="Google Shape;199;p12"/>
          <p:cNvSpPr/>
          <p:nvPr/>
        </p:nvSpPr>
        <p:spPr>
          <a:xfrm>
            <a:off x="7577055"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00" name="Google Shape;200;p12"/>
          <p:cNvSpPr/>
          <p:nvPr/>
        </p:nvSpPr>
        <p:spPr>
          <a:xfrm>
            <a:off x="7577055"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End</a:t>
            </a:r>
            <a:endParaRPr sz="1600">
              <a:solidFill>
                <a:schemeClr val="dk1"/>
              </a:solidFill>
              <a:latin typeface="Calibri"/>
              <a:ea typeface="Calibri"/>
              <a:cs typeface="Calibri"/>
              <a:sym typeface="Calibri"/>
            </a:endParaRPr>
          </a:p>
        </p:txBody>
      </p:sp>
      <p:sp>
        <p:nvSpPr>
          <p:cNvPr id="201" name="Google Shape;201;p12"/>
          <p:cNvSpPr/>
          <p:nvPr/>
        </p:nvSpPr>
        <p:spPr>
          <a:xfrm>
            <a:off x="8834494"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02" name="Google Shape;202;p12"/>
          <p:cNvSpPr/>
          <p:nvPr/>
        </p:nvSpPr>
        <p:spPr>
          <a:xfrm>
            <a:off x="8985509"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03" name="Google Shape;203;p12"/>
          <p:cNvSpPr/>
          <p:nvPr/>
        </p:nvSpPr>
        <p:spPr>
          <a:xfrm>
            <a:off x="8985509"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Post-story</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activity</a:t>
            </a:r>
            <a:endParaRPr sz="1600">
              <a:solidFill>
                <a:schemeClr val="dk1"/>
              </a:solidFill>
              <a:latin typeface="Calibri"/>
              <a:ea typeface="Calibri"/>
              <a:cs typeface="Calibri"/>
              <a:sym typeface="Calibri"/>
            </a:endParaRPr>
          </a:p>
        </p:txBody>
      </p:sp>
      <p:sp>
        <p:nvSpPr>
          <p:cNvPr id="204" name="Google Shape;204;p12"/>
          <p:cNvSpPr/>
          <p:nvPr/>
        </p:nvSpPr>
        <p:spPr>
          <a:xfrm>
            <a:off x="10242948"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05" name="Google Shape;205;p12"/>
          <p:cNvSpPr/>
          <p:nvPr/>
        </p:nvSpPr>
        <p:spPr>
          <a:xfrm>
            <a:off x="10393963"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06" name="Google Shape;206;p12"/>
          <p:cNvSpPr/>
          <p:nvPr/>
        </p:nvSpPr>
        <p:spPr>
          <a:xfrm>
            <a:off x="10393963"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closing</a:t>
            </a:r>
            <a:endParaRPr sz="1600">
              <a:solidFill>
                <a:schemeClr val="dk1"/>
              </a:solidFill>
              <a:latin typeface="Calibri"/>
              <a:ea typeface="Calibri"/>
              <a:cs typeface="Calibri"/>
              <a:sym typeface="Calibri"/>
            </a:endParaRPr>
          </a:p>
        </p:txBody>
      </p:sp>
      <p:sp>
        <p:nvSpPr>
          <p:cNvPr id="207" name="Google Shape;207;p12"/>
          <p:cNvSpPr/>
          <p:nvPr/>
        </p:nvSpPr>
        <p:spPr>
          <a:xfrm>
            <a:off x="3362696" y="2993602"/>
            <a:ext cx="539773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1800"/>
              <a:buFont typeface="Cambria"/>
              <a:buNone/>
            </a:pPr>
            <a:r>
              <a:rPr b="1" lang="en-US" sz="1800">
                <a:solidFill>
                  <a:srgbClr val="23245C"/>
                </a:solidFill>
                <a:latin typeface="Cambria"/>
                <a:ea typeface="Cambria"/>
                <a:cs typeface="Cambria"/>
                <a:sym typeface="Cambria"/>
              </a:rPr>
              <a:t>Within each narrative stage (Start – End):</a:t>
            </a:r>
            <a:endParaRPr sz="1800">
              <a:solidFill>
                <a:schemeClr val="dk1"/>
              </a:solidFill>
              <a:latin typeface="Calibri"/>
              <a:ea typeface="Calibri"/>
              <a:cs typeface="Calibri"/>
              <a:sym typeface="Calibri"/>
            </a:endParaRPr>
          </a:p>
        </p:txBody>
      </p:sp>
      <p:sp>
        <p:nvSpPr>
          <p:cNvPr id="208" name="Google Shape;208;p12"/>
          <p:cNvSpPr/>
          <p:nvPr/>
        </p:nvSpPr>
        <p:spPr>
          <a:xfrm>
            <a:off x="3479106" y="3372021"/>
            <a:ext cx="7933358" cy="180788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Move character pawns from the previous narrative stage</a:t>
            </a:r>
            <a:endParaRPr/>
          </a:p>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Select and scan story elements (place, item, emotion tokens) for this stage</a:t>
            </a:r>
            <a:endParaRPr/>
          </a:p>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AI generates a story draft based on the story progression so far</a:t>
            </a:r>
            <a:endParaRPr/>
          </a:p>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Question to help child further elaborate the story </a:t>
            </a:r>
            <a:endParaRPr/>
          </a:p>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Story updates</a:t>
            </a:r>
            <a:endParaRPr sz="16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3"/>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CONVERSATION DESIGN</a:t>
            </a:r>
            <a:endParaRPr sz="1300">
              <a:solidFill>
                <a:schemeClr val="dk1"/>
              </a:solidFill>
              <a:latin typeface="Calibri"/>
              <a:ea typeface="Calibri"/>
              <a:cs typeface="Calibri"/>
              <a:sym typeface="Calibri"/>
            </a:endParaRPr>
          </a:p>
        </p:txBody>
      </p:sp>
      <p:sp>
        <p:nvSpPr>
          <p:cNvPr id="215" name="Google Shape;215;p13"/>
          <p:cNvSpPr/>
          <p:nvPr/>
        </p:nvSpPr>
        <p:spPr>
          <a:xfrm>
            <a:off x="534785"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16" name="Google Shape;216;p13"/>
          <p:cNvSpPr/>
          <p:nvPr/>
        </p:nvSpPr>
        <p:spPr>
          <a:xfrm>
            <a:off x="534785"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opening</a:t>
            </a:r>
            <a:endParaRPr sz="1600">
              <a:solidFill>
                <a:schemeClr val="dk1"/>
              </a:solidFill>
              <a:latin typeface="Calibri"/>
              <a:ea typeface="Calibri"/>
              <a:cs typeface="Calibri"/>
              <a:sym typeface="Calibri"/>
            </a:endParaRPr>
          </a:p>
        </p:txBody>
      </p:sp>
      <p:sp>
        <p:nvSpPr>
          <p:cNvPr id="217" name="Google Shape;217;p13"/>
          <p:cNvSpPr/>
          <p:nvPr/>
        </p:nvSpPr>
        <p:spPr>
          <a:xfrm>
            <a:off x="1792224"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18" name="Google Shape;218;p13"/>
          <p:cNvSpPr/>
          <p:nvPr/>
        </p:nvSpPr>
        <p:spPr>
          <a:xfrm>
            <a:off x="1943239"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19" name="Google Shape;219;p13"/>
          <p:cNvSpPr/>
          <p:nvPr/>
        </p:nvSpPr>
        <p:spPr>
          <a:xfrm>
            <a:off x="1943239"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Character</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selection</a:t>
            </a:r>
            <a:endParaRPr sz="1600">
              <a:solidFill>
                <a:schemeClr val="dk1"/>
              </a:solidFill>
              <a:latin typeface="Calibri"/>
              <a:ea typeface="Calibri"/>
              <a:cs typeface="Calibri"/>
              <a:sym typeface="Calibri"/>
            </a:endParaRPr>
          </a:p>
        </p:txBody>
      </p:sp>
      <p:sp>
        <p:nvSpPr>
          <p:cNvPr id="220" name="Google Shape;220;p13"/>
          <p:cNvSpPr/>
          <p:nvPr/>
        </p:nvSpPr>
        <p:spPr>
          <a:xfrm>
            <a:off x="3200678"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21" name="Google Shape;221;p13"/>
          <p:cNvSpPr/>
          <p:nvPr/>
        </p:nvSpPr>
        <p:spPr>
          <a:xfrm>
            <a:off x="3351693"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22" name="Google Shape;222;p13"/>
          <p:cNvSpPr/>
          <p:nvPr/>
        </p:nvSpPr>
        <p:spPr>
          <a:xfrm>
            <a:off x="3351693"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Start</a:t>
            </a:r>
            <a:endParaRPr sz="1600">
              <a:solidFill>
                <a:schemeClr val="dk1"/>
              </a:solidFill>
              <a:latin typeface="Calibri"/>
              <a:ea typeface="Calibri"/>
              <a:cs typeface="Calibri"/>
              <a:sym typeface="Calibri"/>
            </a:endParaRPr>
          </a:p>
        </p:txBody>
      </p:sp>
      <p:sp>
        <p:nvSpPr>
          <p:cNvPr id="223" name="Google Shape;223;p13"/>
          <p:cNvSpPr/>
          <p:nvPr/>
        </p:nvSpPr>
        <p:spPr>
          <a:xfrm>
            <a:off x="4609132"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24" name="Google Shape;224;p13"/>
          <p:cNvSpPr/>
          <p:nvPr/>
        </p:nvSpPr>
        <p:spPr>
          <a:xfrm>
            <a:off x="4760147"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25" name="Google Shape;225;p13"/>
          <p:cNvSpPr/>
          <p:nvPr/>
        </p:nvSpPr>
        <p:spPr>
          <a:xfrm>
            <a:off x="4760147"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Journey</a:t>
            </a:r>
            <a:endParaRPr sz="1600">
              <a:solidFill>
                <a:schemeClr val="dk1"/>
              </a:solidFill>
              <a:latin typeface="Calibri"/>
              <a:ea typeface="Calibri"/>
              <a:cs typeface="Calibri"/>
              <a:sym typeface="Calibri"/>
            </a:endParaRPr>
          </a:p>
        </p:txBody>
      </p:sp>
      <p:sp>
        <p:nvSpPr>
          <p:cNvPr id="226" name="Google Shape;226;p13"/>
          <p:cNvSpPr/>
          <p:nvPr/>
        </p:nvSpPr>
        <p:spPr>
          <a:xfrm>
            <a:off x="6017586"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27" name="Google Shape;227;p13"/>
          <p:cNvSpPr/>
          <p:nvPr/>
        </p:nvSpPr>
        <p:spPr>
          <a:xfrm>
            <a:off x="6168601"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28" name="Google Shape;228;p13"/>
          <p:cNvSpPr/>
          <p:nvPr/>
        </p:nvSpPr>
        <p:spPr>
          <a:xfrm>
            <a:off x="6168601"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Climax</a:t>
            </a:r>
            <a:endParaRPr sz="1600">
              <a:solidFill>
                <a:schemeClr val="dk1"/>
              </a:solidFill>
              <a:latin typeface="Calibri"/>
              <a:ea typeface="Calibri"/>
              <a:cs typeface="Calibri"/>
              <a:sym typeface="Calibri"/>
            </a:endParaRPr>
          </a:p>
        </p:txBody>
      </p:sp>
      <p:sp>
        <p:nvSpPr>
          <p:cNvPr id="229" name="Google Shape;229;p13"/>
          <p:cNvSpPr/>
          <p:nvPr/>
        </p:nvSpPr>
        <p:spPr>
          <a:xfrm>
            <a:off x="7426040"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30" name="Google Shape;230;p13"/>
          <p:cNvSpPr/>
          <p:nvPr/>
        </p:nvSpPr>
        <p:spPr>
          <a:xfrm>
            <a:off x="7577055" y="1717854"/>
            <a:ext cx="1243584" cy="960120"/>
          </a:xfrm>
          <a:prstGeom prst="roundRect">
            <a:avLst>
              <a:gd fmla="val 7619" name="adj"/>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31" name="Google Shape;231;p13"/>
          <p:cNvSpPr/>
          <p:nvPr/>
        </p:nvSpPr>
        <p:spPr>
          <a:xfrm>
            <a:off x="7577055"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End</a:t>
            </a:r>
            <a:endParaRPr sz="1600">
              <a:solidFill>
                <a:schemeClr val="dk1"/>
              </a:solidFill>
              <a:latin typeface="Calibri"/>
              <a:ea typeface="Calibri"/>
              <a:cs typeface="Calibri"/>
              <a:sym typeface="Calibri"/>
            </a:endParaRPr>
          </a:p>
        </p:txBody>
      </p:sp>
      <p:sp>
        <p:nvSpPr>
          <p:cNvPr id="232" name="Google Shape;232;p13"/>
          <p:cNvSpPr/>
          <p:nvPr/>
        </p:nvSpPr>
        <p:spPr>
          <a:xfrm>
            <a:off x="8834494"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33" name="Google Shape;233;p13"/>
          <p:cNvSpPr/>
          <p:nvPr/>
        </p:nvSpPr>
        <p:spPr>
          <a:xfrm>
            <a:off x="8985509"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34" name="Google Shape;234;p13"/>
          <p:cNvSpPr/>
          <p:nvPr/>
        </p:nvSpPr>
        <p:spPr>
          <a:xfrm>
            <a:off x="8985509"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Post-story</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activity</a:t>
            </a:r>
            <a:endParaRPr sz="1600">
              <a:solidFill>
                <a:schemeClr val="dk1"/>
              </a:solidFill>
              <a:latin typeface="Calibri"/>
              <a:ea typeface="Calibri"/>
              <a:cs typeface="Calibri"/>
              <a:sym typeface="Calibri"/>
            </a:endParaRPr>
          </a:p>
        </p:txBody>
      </p:sp>
      <p:sp>
        <p:nvSpPr>
          <p:cNvPr id="235" name="Google Shape;235;p13"/>
          <p:cNvSpPr/>
          <p:nvPr/>
        </p:nvSpPr>
        <p:spPr>
          <a:xfrm>
            <a:off x="10242948" y="1717854"/>
            <a:ext cx="13716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85"/>
              </a:buClr>
              <a:buSzPts val="1600"/>
              <a:buFont typeface="Calibri"/>
              <a:buNone/>
            </a:pPr>
            <a:r>
              <a:rPr lang="en-US" sz="1600">
                <a:solidFill>
                  <a:srgbClr val="6B6B85"/>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36" name="Google Shape;236;p13"/>
          <p:cNvSpPr/>
          <p:nvPr/>
        </p:nvSpPr>
        <p:spPr>
          <a:xfrm>
            <a:off x="10393963" y="1717854"/>
            <a:ext cx="1243584" cy="960120"/>
          </a:xfrm>
          <a:prstGeom prst="roundRect">
            <a:avLst>
              <a:gd fmla="val 761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37" name="Google Shape;237;p13"/>
          <p:cNvSpPr/>
          <p:nvPr/>
        </p:nvSpPr>
        <p:spPr>
          <a:xfrm>
            <a:off x="10393963" y="1717854"/>
            <a:ext cx="1243584"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closing</a:t>
            </a:r>
            <a:endParaRPr sz="1600">
              <a:solidFill>
                <a:schemeClr val="dk1"/>
              </a:solidFill>
              <a:latin typeface="Calibri"/>
              <a:ea typeface="Calibri"/>
              <a:cs typeface="Calibri"/>
              <a:sym typeface="Calibri"/>
            </a:endParaRPr>
          </a:p>
        </p:txBody>
      </p:sp>
      <p:sp>
        <p:nvSpPr>
          <p:cNvPr id="238" name="Google Shape;238;p13"/>
          <p:cNvSpPr/>
          <p:nvPr/>
        </p:nvSpPr>
        <p:spPr>
          <a:xfrm>
            <a:off x="3362696" y="2993602"/>
            <a:ext cx="539773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1800"/>
              <a:buFont typeface="Cambria"/>
              <a:buNone/>
            </a:pPr>
            <a:r>
              <a:rPr b="1" lang="en-US" sz="1800">
                <a:solidFill>
                  <a:srgbClr val="23245C"/>
                </a:solidFill>
                <a:latin typeface="Cambria"/>
                <a:ea typeface="Cambria"/>
                <a:cs typeface="Cambria"/>
                <a:sym typeface="Cambria"/>
              </a:rPr>
              <a:t>Within each narrative stage (Start – End):</a:t>
            </a:r>
            <a:endParaRPr sz="1800">
              <a:solidFill>
                <a:schemeClr val="dk1"/>
              </a:solidFill>
              <a:latin typeface="Calibri"/>
              <a:ea typeface="Calibri"/>
              <a:cs typeface="Calibri"/>
              <a:sym typeface="Calibri"/>
            </a:endParaRPr>
          </a:p>
        </p:txBody>
      </p:sp>
      <p:sp>
        <p:nvSpPr>
          <p:cNvPr id="239" name="Google Shape;239;p13"/>
          <p:cNvSpPr/>
          <p:nvPr/>
        </p:nvSpPr>
        <p:spPr>
          <a:xfrm>
            <a:off x="3479106" y="3372021"/>
            <a:ext cx="7933358" cy="180788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Move character pawns from the previous narrative stage</a:t>
            </a:r>
            <a:endParaRPr/>
          </a:p>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Select and scan story elements (place, item, emotion tokens) for this stage</a:t>
            </a:r>
            <a:endParaRPr/>
          </a:p>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AI generates a story draft based on the story progression so far</a:t>
            </a:r>
            <a:endParaRPr/>
          </a:p>
          <a:p>
            <a:pPr indent="-285750" lvl="0" marL="285750" marR="0" rtl="0" algn="l">
              <a:spcBef>
                <a:spcPts val="0"/>
              </a:spcBef>
              <a:spcAft>
                <a:spcPts val="0"/>
              </a:spcAft>
              <a:buClr>
                <a:srgbClr val="232336"/>
              </a:buClr>
              <a:buSzPts val="1600"/>
              <a:buFont typeface="Arial"/>
              <a:buChar char="•"/>
            </a:pPr>
            <a:r>
              <a:rPr b="1" lang="en-US" sz="1600">
                <a:solidFill>
                  <a:srgbClr val="232336"/>
                </a:solidFill>
                <a:latin typeface="Calibri"/>
                <a:ea typeface="Calibri"/>
                <a:cs typeface="Calibri"/>
                <a:sym typeface="Calibri"/>
              </a:rPr>
              <a:t>Question to help child further elaborate the story </a:t>
            </a:r>
            <a:endParaRPr/>
          </a:p>
          <a:p>
            <a:pPr indent="-285750" lvl="0" marL="285750" marR="0" rtl="0" algn="l">
              <a:spcBef>
                <a:spcPts val="0"/>
              </a:spcBef>
              <a:spcAft>
                <a:spcPts val="0"/>
              </a:spcAft>
              <a:buClr>
                <a:srgbClr val="232336"/>
              </a:buClr>
              <a:buSzPts val="1600"/>
              <a:buFont typeface="Arial"/>
              <a:buChar char="•"/>
            </a:pPr>
            <a:r>
              <a:rPr lang="en-US" sz="1600">
                <a:solidFill>
                  <a:srgbClr val="232336"/>
                </a:solidFill>
                <a:latin typeface="Calibri"/>
                <a:ea typeface="Calibri"/>
                <a:cs typeface="Calibri"/>
                <a:sym typeface="Calibri"/>
              </a:rPr>
              <a:t>Story updates</a:t>
            </a:r>
            <a:endParaRPr sz="1600">
              <a:solidFill>
                <a:schemeClr val="dk1"/>
              </a:solidFill>
              <a:latin typeface="Calibri"/>
              <a:ea typeface="Calibri"/>
              <a:cs typeface="Calibri"/>
              <a:sym typeface="Calibri"/>
            </a:endParaRPr>
          </a:p>
        </p:txBody>
      </p:sp>
      <p:sp>
        <p:nvSpPr>
          <p:cNvPr id="240" name="Google Shape;240;p13"/>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Eight scripted phases, structured yet flexible conversation</a:t>
            </a:r>
            <a:endParaRPr sz="3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4"/>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USER STUDY</a:t>
            </a:r>
            <a:endParaRPr sz="1300">
              <a:solidFill>
                <a:schemeClr val="dk1"/>
              </a:solidFill>
              <a:latin typeface="Calibri"/>
              <a:ea typeface="Calibri"/>
              <a:cs typeface="Calibri"/>
              <a:sym typeface="Calibri"/>
            </a:endParaRPr>
          </a:p>
        </p:txBody>
      </p:sp>
      <p:sp>
        <p:nvSpPr>
          <p:cNvPr id="247" name="Google Shape;247;p14"/>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10 children, two conditions, home-based</a:t>
            </a:r>
            <a:endParaRPr sz="3000">
              <a:solidFill>
                <a:schemeClr val="dk1"/>
              </a:solidFill>
              <a:latin typeface="Calibri"/>
              <a:ea typeface="Calibri"/>
              <a:cs typeface="Calibri"/>
              <a:sym typeface="Calibri"/>
            </a:endParaRPr>
          </a:p>
        </p:txBody>
      </p:sp>
      <p:sp>
        <p:nvSpPr>
          <p:cNvPr id="248" name="Google Shape;248;p14"/>
          <p:cNvSpPr/>
          <p:nvPr/>
        </p:nvSpPr>
        <p:spPr>
          <a:xfrm>
            <a:off x="548640" y="1641975"/>
            <a:ext cx="2606040" cy="1600200"/>
          </a:xfrm>
          <a:prstGeom prst="roundRect">
            <a:avLst>
              <a:gd fmla="val 5714" name="adj"/>
            </a:avLst>
          </a:prstGeom>
          <a:solidFill>
            <a:srgbClr val="F7F7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22245C"/>
              </a:solidFill>
              <a:latin typeface="Calibri"/>
              <a:ea typeface="Calibri"/>
              <a:cs typeface="Calibri"/>
              <a:sym typeface="Calibri"/>
            </a:endParaRPr>
          </a:p>
        </p:txBody>
      </p:sp>
      <p:sp>
        <p:nvSpPr>
          <p:cNvPr id="249" name="Google Shape;249;p14"/>
          <p:cNvSpPr/>
          <p:nvPr/>
        </p:nvSpPr>
        <p:spPr>
          <a:xfrm>
            <a:off x="548640" y="1733415"/>
            <a:ext cx="26060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245C"/>
              </a:buClr>
              <a:buSzPts val="4000"/>
              <a:buFont typeface="Cambria"/>
              <a:buNone/>
            </a:pPr>
            <a:r>
              <a:rPr b="1" lang="en-US" sz="4000">
                <a:solidFill>
                  <a:srgbClr val="22245C"/>
                </a:solidFill>
                <a:latin typeface="Cambria"/>
                <a:ea typeface="Cambria"/>
                <a:cs typeface="Cambria"/>
                <a:sym typeface="Cambria"/>
              </a:rPr>
              <a:t>10</a:t>
            </a:r>
            <a:endParaRPr sz="4000">
              <a:solidFill>
                <a:srgbClr val="22245C"/>
              </a:solidFill>
              <a:latin typeface="Calibri"/>
              <a:ea typeface="Calibri"/>
              <a:cs typeface="Calibri"/>
              <a:sym typeface="Calibri"/>
            </a:endParaRPr>
          </a:p>
        </p:txBody>
      </p:sp>
      <p:sp>
        <p:nvSpPr>
          <p:cNvPr id="250" name="Google Shape;250;p14"/>
          <p:cNvSpPr/>
          <p:nvPr/>
        </p:nvSpPr>
        <p:spPr>
          <a:xfrm>
            <a:off x="548640" y="2471967"/>
            <a:ext cx="260604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children,</a:t>
            </a:r>
            <a:endParaRPr sz="1500">
              <a:solidFill>
                <a:srgbClr val="22245C"/>
              </a:solidFill>
              <a:latin typeface="Calibri"/>
              <a:ea typeface="Calibri"/>
              <a:cs typeface="Calibri"/>
              <a:sym typeface="Calibri"/>
            </a:endParaRPr>
          </a:p>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ages 6–8</a:t>
            </a:r>
            <a:endParaRPr sz="1500">
              <a:solidFill>
                <a:srgbClr val="22245C"/>
              </a:solidFill>
              <a:latin typeface="Calibri"/>
              <a:ea typeface="Calibri"/>
              <a:cs typeface="Calibri"/>
              <a:sym typeface="Calibri"/>
            </a:endParaRPr>
          </a:p>
        </p:txBody>
      </p:sp>
      <p:sp>
        <p:nvSpPr>
          <p:cNvPr id="251" name="Google Shape;251;p14"/>
          <p:cNvSpPr/>
          <p:nvPr/>
        </p:nvSpPr>
        <p:spPr>
          <a:xfrm>
            <a:off x="3291840" y="1641975"/>
            <a:ext cx="2606040" cy="1600200"/>
          </a:xfrm>
          <a:prstGeom prst="roundRect">
            <a:avLst>
              <a:gd fmla="val 5714" name="adj"/>
            </a:avLst>
          </a:prstGeom>
          <a:solidFill>
            <a:srgbClr val="F7F7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22245C"/>
              </a:solidFill>
              <a:latin typeface="Calibri"/>
              <a:ea typeface="Calibri"/>
              <a:cs typeface="Calibri"/>
              <a:sym typeface="Calibri"/>
            </a:endParaRPr>
          </a:p>
        </p:txBody>
      </p:sp>
      <p:sp>
        <p:nvSpPr>
          <p:cNvPr id="252" name="Google Shape;252;p14"/>
          <p:cNvSpPr/>
          <p:nvPr/>
        </p:nvSpPr>
        <p:spPr>
          <a:xfrm>
            <a:off x="3291840" y="1733415"/>
            <a:ext cx="26060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245C"/>
              </a:buClr>
              <a:buSzPts val="4000"/>
              <a:buFont typeface="Cambria"/>
              <a:buNone/>
            </a:pPr>
            <a:r>
              <a:rPr b="1" lang="en-US" sz="4000">
                <a:solidFill>
                  <a:srgbClr val="22245C"/>
                </a:solidFill>
                <a:latin typeface="Cambria"/>
                <a:ea typeface="Cambria"/>
                <a:cs typeface="Cambria"/>
                <a:sym typeface="Cambria"/>
              </a:rPr>
              <a:t>2</a:t>
            </a:r>
            <a:endParaRPr sz="4000">
              <a:solidFill>
                <a:srgbClr val="22245C"/>
              </a:solidFill>
              <a:latin typeface="Calibri"/>
              <a:ea typeface="Calibri"/>
              <a:cs typeface="Calibri"/>
              <a:sym typeface="Calibri"/>
            </a:endParaRPr>
          </a:p>
        </p:txBody>
      </p:sp>
      <p:sp>
        <p:nvSpPr>
          <p:cNvPr id="253" name="Google Shape;253;p14"/>
          <p:cNvSpPr/>
          <p:nvPr/>
        </p:nvSpPr>
        <p:spPr>
          <a:xfrm>
            <a:off x="3291840" y="2471967"/>
            <a:ext cx="260604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conditions:</a:t>
            </a:r>
            <a:endParaRPr sz="1500">
              <a:solidFill>
                <a:srgbClr val="22245C"/>
              </a:solidFill>
              <a:latin typeface="Calibri"/>
              <a:ea typeface="Calibri"/>
              <a:cs typeface="Calibri"/>
              <a:sym typeface="Calibri"/>
            </a:endParaRPr>
          </a:p>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Structured vs. Generic</a:t>
            </a:r>
            <a:endParaRPr sz="1500">
              <a:solidFill>
                <a:srgbClr val="22245C"/>
              </a:solidFill>
              <a:latin typeface="Calibri"/>
              <a:ea typeface="Calibri"/>
              <a:cs typeface="Calibri"/>
              <a:sym typeface="Calibri"/>
            </a:endParaRPr>
          </a:p>
        </p:txBody>
      </p:sp>
      <p:sp>
        <p:nvSpPr>
          <p:cNvPr id="254" name="Google Shape;254;p14"/>
          <p:cNvSpPr/>
          <p:nvPr/>
        </p:nvSpPr>
        <p:spPr>
          <a:xfrm>
            <a:off x="6035040" y="1641975"/>
            <a:ext cx="2606040" cy="1600200"/>
          </a:xfrm>
          <a:prstGeom prst="roundRect">
            <a:avLst>
              <a:gd fmla="val 5714" name="adj"/>
            </a:avLst>
          </a:prstGeom>
          <a:solidFill>
            <a:srgbClr val="F7F7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22245C"/>
              </a:solidFill>
              <a:latin typeface="Calibri"/>
              <a:ea typeface="Calibri"/>
              <a:cs typeface="Calibri"/>
              <a:sym typeface="Calibri"/>
            </a:endParaRPr>
          </a:p>
        </p:txBody>
      </p:sp>
      <p:sp>
        <p:nvSpPr>
          <p:cNvPr id="255" name="Google Shape;255;p14"/>
          <p:cNvSpPr/>
          <p:nvPr/>
        </p:nvSpPr>
        <p:spPr>
          <a:xfrm>
            <a:off x="6035040" y="1733415"/>
            <a:ext cx="26060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245C"/>
              </a:buClr>
              <a:buSzPts val="4000"/>
              <a:buFont typeface="Cambria"/>
              <a:buNone/>
            </a:pPr>
            <a:r>
              <a:rPr b="1" lang="en-US" sz="4000">
                <a:solidFill>
                  <a:srgbClr val="22245C"/>
                </a:solidFill>
                <a:latin typeface="Cambria"/>
                <a:ea typeface="Cambria"/>
                <a:cs typeface="Cambria"/>
                <a:sym typeface="Cambria"/>
              </a:rPr>
              <a:t>~32</a:t>
            </a:r>
            <a:endParaRPr sz="4000">
              <a:solidFill>
                <a:srgbClr val="22245C"/>
              </a:solidFill>
              <a:latin typeface="Calibri"/>
              <a:ea typeface="Calibri"/>
              <a:cs typeface="Calibri"/>
              <a:sym typeface="Calibri"/>
            </a:endParaRPr>
          </a:p>
        </p:txBody>
      </p:sp>
      <p:sp>
        <p:nvSpPr>
          <p:cNvPr id="256" name="Google Shape;256;p14"/>
          <p:cNvSpPr/>
          <p:nvPr/>
        </p:nvSpPr>
        <p:spPr>
          <a:xfrm>
            <a:off x="6035040" y="2471967"/>
            <a:ext cx="260604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minutes</a:t>
            </a:r>
            <a:endParaRPr sz="1500">
              <a:solidFill>
                <a:srgbClr val="22245C"/>
              </a:solidFill>
              <a:latin typeface="Calibri"/>
              <a:ea typeface="Calibri"/>
              <a:cs typeface="Calibri"/>
              <a:sym typeface="Calibri"/>
            </a:endParaRPr>
          </a:p>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per session</a:t>
            </a:r>
            <a:endParaRPr sz="1500">
              <a:solidFill>
                <a:srgbClr val="22245C"/>
              </a:solidFill>
              <a:latin typeface="Calibri"/>
              <a:ea typeface="Calibri"/>
              <a:cs typeface="Calibri"/>
              <a:sym typeface="Calibri"/>
            </a:endParaRPr>
          </a:p>
        </p:txBody>
      </p:sp>
      <p:sp>
        <p:nvSpPr>
          <p:cNvPr id="257" name="Google Shape;257;p14"/>
          <p:cNvSpPr/>
          <p:nvPr/>
        </p:nvSpPr>
        <p:spPr>
          <a:xfrm>
            <a:off x="8778240" y="1641975"/>
            <a:ext cx="2606040" cy="1600200"/>
          </a:xfrm>
          <a:prstGeom prst="roundRect">
            <a:avLst>
              <a:gd fmla="val 5714" name="adj"/>
            </a:avLst>
          </a:prstGeom>
          <a:solidFill>
            <a:srgbClr val="F7F7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22245C"/>
              </a:solidFill>
              <a:latin typeface="Calibri"/>
              <a:ea typeface="Calibri"/>
              <a:cs typeface="Calibri"/>
              <a:sym typeface="Calibri"/>
            </a:endParaRPr>
          </a:p>
        </p:txBody>
      </p:sp>
      <p:sp>
        <p:nvSpPr>
          <p:cNvPr id="258" name="Google Shape;258;p14"/>
          <p:cNvSpPr/>
          <p:nvPr/>
        </p:nvSpPr>
        <p:spPr>
          <a:xfrm>
            <a:off x="8778240" y="1733415"/>
            <a:ext cx="26060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245C"/>
              </a:buClr>
              <a:buSzPts val="4000"/>
              <a:buFont typeface="Cambria"/>
              <a:buNone/>
            </a:pPr>
            <a:r>
              <a:rPr b="1" lang="en-US" sz="4000">
                <a:solidFill>
                  <a:srgbClr val="22245C"/>
                </a:solidFill>
                <a:latin typeface="Cambria"/>
                <a:ea typeface="Cambria"/>
                <a:cs typeface="Cambria"/>
                <a:sym typeface="Cambria"/>
              </a:rPr>
              <a:t>~53</a:t>
            </a:r>
            <a:endParaRPr sz="4000">
              <a:solidFill>
                <a:srgbClr val="22245C"/>
              </a:solidFill>
              <a:latin typeface="Calibri"/>
              <a:ea typeface="Calibri"/>
              <a:cs typeface="Calibri"/>
              <a:sym typeface="Calibri"/>
            </a:endParaRPr>
          </a:p>
        </p:txBody>
      </p:sp>
      <p:sp>
        <p:nvSpPr>
          <p:cNvPr id="259" name="Google Shape;259;p14"/>
          <p:cNvSpPr/>
          <p:nvPr/>
        </p:nvSpPr>
        <p:spPr>
          <a:xfrm>
            <a:off x="8778240" y="2471967"/>
            <a:ext cx="260604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turns</a:t>
            </a:r>
            <a:endParaRPr sz="1500">
              <a:solidFill>
                <a:srgbClr val="22245C"/>
              </a:solidFill>
              <a:latin typeface="Calibri"/>
              <a:ea typeface="Calibri"/>
              <a:cs typeface="Calibri"/>
              <a:sym typeface="Calibri"/>
            </a:endParaRPr>
          </a:p>
          <a:p>
            <a:pPr indent="0" lvl="0" marL="0" marR="0" rtl="0" algn="ctr">
              <a:spcBef>
                <a:spcPts val="0"/>
              </a:spcBef>
              <a:spcAft>
                <a:spcPts val="0"/>
              </a:spcAft>
              <a:buClr>
                <a:srgbClr val="22245C"/>
              </a:buClr>
              <a:buSzPts val="1500"/>
              <a:buFont typeface="Calibri"/>
              <a:buNone/>
            </a:pPr>
            <a:r>
              <a:rPr lang="en-US" sz="1500">
                <a:solidFill>
                  <a:srgbClr val="22245C"/>
                </a:solidFill>
                <a:latin typeface="Calibri"/>
                <a:ea typeface="Calibri"/>
                <a:cs typeface="Calibri"/>
                <a:sym typeface="Calibri"/>
              </a:rPr>
              <a:t>per session</a:t>
            </a:r>
            <a:endParaRPr sz="1500">
              <a:solidFill>
                <a:srgbClr val="22245C"/>
              </a:solidFill>
              <a:latin typeface="Calibri"/>
              <a:ea typeface="Calibri"/>
              <a:cs typeface="Calibri"/>
              <a:sym typeface="Calibri"/>
            </a:endParaRPr>
          </a:p>
        </p:txBody>
      </p:sp>
      <p:sp>
        <p:nvSpPr>
          <p:cNvPr id="260" name="Google Shape;260;p14"/>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61" name="Google Shape;261;p14"/>
          <p:cNvPicPr preferRelativeResize="0"/>
          <p:nvPr/>
        </p:nvPicPr>
        <p:blipFill rotWithShape="1">
          <a:blip r:embed="rId3">
            <a:alphaModFix/>
          </a:blip>
          <a:srcRect b="57884" l="0" r="0" t="0"/>
          <a:stretch/>
        </p:blipFill>
        <p:spPr>
          <a:xfrm>
            <a:off x="738582" y="3576286"/>
            <a:ext cx="10592916" cy="2810447"/>
          </a:xfrm>
          <a:prstGeom prst="rect">
            <a:avLst/>
          </a:prstGeom>
          <a:noFill/>
          <a:ln>
            <a:noFill/>
          </a:ln>
        </p:spPr>
      </p:pic>
      <p:cxnSp>
        <p:nvCxnSpPr>
          <p:cNvPr id="262" name="Google Shape;262;p14"/>
          <p:cNvCxnSpPr/>
          <p:nvPr/>
        </p:nvCxnSpPr>
        <p:spPr>
          <a:xfrm>
            <a:off x="4614203" y="3312515"/>
            <a:ext cx="0" cy="305975"/>
          </a:xfrm>
          <a:prstGeom prst="straightConnector1">
            <a:avLst/>
          </a:prstGeom>
          <a:noFill/>
          <a:ln cap="flat" cmpd="sng" w="38100">
            <a:solidFill>
              <a:schemeClr val="dk1"/>
            </a:solidFill>
            <a:prstDash val="dot"/>
            <a:miter lim="8000"/>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15"/>
          <p:cNvPicPr preferRelativeResize="0"/>
          <p:nvPr/>
        </p:nvPicPr>
        <p:blipFill rotWithShape="1">
          <a:blip r:embed="rId3">
            <a:alphaModFix/>
          </a:blip>
          <a:srcRect b="0" l="0" r="0" t="44485"/>
          <a:stretch/>
        </p:blipFill>
        <p:spPr>
          <a:xfrm>
            <a:off x="1287098" y="2575795"/>
            <a:ext cx="9533396" cy="3334044"/>
          </a:xfrm>
          <a:prstGeom prst="rect">
            <a:avLst/>
          </a:prstGeom>
          <a:noFill/>
          <a:ln>
            <a:noFill/>
          </a:ln>
        </p:spPr>
      </p:pic>
      <p:sp>
        <p:nvSpPr>
          <p:cNvPr id="268" name="Google Shape;268;p15"/>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USER STUDY</a:t>
            </a:r>
            <a:endParaRPr sz="1300">
              <a:solidFill>
                <a:schemeClr val="dk1"/>
              </a:solidFill>
              <a:latin typeface="Calibri"/>
              <a:ea typeface="Calibri"/>
              <a:cs typeface="Calibri"/>
              <a:sym typeface="Calibri"/>
            </a:endParaRPr>
          </a:p>
        </p:txBody>
      </p:sp>
      <p:sp>
        <p:nvSpPr>
          <p:cNvPr id="269" name="Google Shape;269;p15"/>
          <p:cNvSpPr/>
          <p:nvPr/>
        </p:nvSpPr>
        <p:spPr>
          <a:xfrm>
            <a:off x="548640" y="896112"/>
            <a:ext cx="10515600" cy="1719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i="1" lang="en-US" sz="2000">
                <a:solidFill>
                  <a:srgbClr val="757070"/>
                </a:solidFill>
                <a:latin typeface="Cambria"/>
                <a:ea typeface="Cambria"/>
                <a:cs typeface="Cambria"/>
                <a:sym typeface="Cambria"/>
              </a:rPr>
              <a:t>How children contributed to and refined narrative ideas, how the AI responded, and how stories were jointly constructed over multiple turns.</a:t>
            </a:r>
            <a:endParaRPr i="1" sz="2000">
              <a:solidFill>
                <a:srgbClr val="757070"/>
              </a:solidFill>
              <a:latin typeface="Calibri"/>
              <a:ea typeface="Calibri"/>
              <a:cs typeface="Calibri"/>
              <a:sym typeface="Calibri"/>
            </a:endParaRPr>
          </a:p>
        </p:txBody>
      </p:sp>
      <p:sp>
        <p:nvSpPr>
          <p:cNvPr id="270" name="Google Shape;270;p15"/>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Coding child–AI dialogue, turn by turn</a:t>
            </a:r>
            <a:endParaRPr sz="3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16"/>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FINDINGS</a:t>
            </a:r>
            <a:endParaRPr sz="1300">
              <a:solidFill>
                <a:schemeClr val="dk1"/>
              </a:solidFill>
              <a:latin typeface="Calibri"/>
              <a:ea typeface="Calibri"/>
              <a:cs typeface="Calibri"/>
              <a:sym typeface="Calibri"/>
            </a:endParaRPr>
          </a:p>
        </p:txBody>
      </p:sp>
      <p:sp>
        <p:nvSpPr>
          <p:cNvPr id="277" name="Google Shape;277;p16"/>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Scaffolding shapes whether and how children contribute</a:t>
            </a:r>
            <a:endParaRPr sz="3000">
              <a:solidFill>
                <a:schemeClr val="dk1"/>
              </a:solidFill>
              <a:latin typeface="Calibri"/>
              <a:ea typeface="Calibri"/>
              <a:cs typeface="Calibri"/>
              <a:sym typeface="Calibri"/>
            </a:endParaRPr>
          </a:p>
        </p:txBody>
      </p:sp>
      <p:sp>
        <p:nvSpPr>
          <p:cNvPr id="278" name="Google Shape;278;p16"/>
          <p:cNvSpPr/>
          <p:nvPr/>
        </p:nvSpPr>
        <p:spPr>
          <a:xfrm>
            <a:off x="548639" y="1691640"/>
            <a:ext cx="11211951" cy="2834640"/>
          </a:xfrm>
          <a:prstGeom prst="roundRect">
            <a:avLst>
              <a:gd fmla="val 2410" name="adj"/>
            </a:avLst>
          </a:prstGeom>
          <a:no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6"/>
          <p:cNvSpPr/>
          <p:nvPr/>
        </p:nvSpPr>
        <p:spPr>
          <a:xfrm>
            <a:off x="548639" y="5105507"/>
            <a:ext cx="1463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A254"/>
              </a:buClr>
              <a:buSzPts val="3400"/>
              <a:buFont typeface="Cambria"/>
              <a:buNone/>
            </a:pPr>
            <a:r>
              <a:rPr b="1" lang="en-US" sz="3400">
                <a:solidFill>
                  <a:srgbClr val="F2A254"/>
                </a:solidFill>
                <a:latin typeface="Cambria"/>
                <a:ea typeface="Cambria"/>
                <a:cs typeface="Cambria"/>
                <a:sym typeface="Cambria"/>
              </a:rPr>
              <a:t>90%</a:t>
            </a:r>
            <a:endParaRPr sz="3400">
              <a:solidFill>
                <a:srgbClr val="F2A254"/>
              </a:solidFill>
              <a:latin typeface="Calibri"/>
              <a:ea typeface="Calibri"/>
              <a:cs typeface="Calibri"/>
              <a:sym typeface="Calibri"/>
            </a:endParaRPr>
          </a:p>
        </p:txBody>
      </p:sp>
      <p:sp>
        <p:nvSpPr>
          <p:cNvPr id="280" name="Google Shape;280;p16"/>
          <p:cNvSpPr/>
          <p:nvPr/>
        </p:nvSpPr>
        <p:spPr>
          <a:xfrm>
            <a:off x="1719772" y="5122387"/>
            <a:ext cx="2514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336"/>
              </a:buClr>
              <a:buSzPts val="1600"/>
              <a:buFont typeface="Calibri"/>
              <a:buNone/>
            </a:pPr>
            <a:r>
              <a:rPr lang="en-US" sz="1600">
                <a:solidFill>
                  <a:srgbClr val="232336"/>
                </a:solidFill>
                <a:latin typeface="Calibri"/>
                <a:ea typeface="Calibri"/>
                <a:cs typeface="Calibri"/>
                <a:sym typeface="Calibri"/>
              </a:rPr>
              <a:t>Primitive narrative</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232336"/>
              </a:buClr>
              <a:buSzPts val="1600"/>
              <a:buFont typeface="Calibri"/>
              <a:buNone/>
            </a:pPr>
            <a:r>
              <a:rPr lang="en-US" sz="1600">
                <a:solidFill>
                  <a:srgbClr val="232336"/>
                </a:solidFill>
                <a:latin typeface="Calibri"/>
                <a:ea typeface="Calibri"/>
                <a:cs typeface="Calibri"/>
                <a:sym typeface="Calibri"/>
              </a:rPr>
              <a:t>scaffold → Add Event</a:t>
            </a:r>
            <a:endParaRPr sz="1600">
              <a:solidFill>
                <a:schemeClr val="dk1"/>
              </a:solidFill>
              <a:latin typeface="Calibri"/>
              <a:ea typeface="Calibri"/>
              <a:cs typeface="Calibri"/>
              <a:sym typeface="Calibri"/>
            </a:endParaRPr>
          </a:p>
        </p:txBody>
      </p:sp>
      <p:sp>
        <p:nvSpPr>
          <p:cNvPr id="281" name="Google Shape;281;p16"/>
          <p:cNvSpPr/>
          <p:nvPr/>
        </p:nvSpPr>
        <p:spPr>
          <a:xfrm>
            <a:off x="3960711" y="5082295"/>
            <a:ext cx="1463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A254"/>
              </a:buClr>
              <a:buSzPts val="3400"/>
              <a:buFont typeface="Cambria"/>
              <a:buNone/>
            </a:pPr>
            <a:r>
              <a:rPr b="1" lang="en-US" sz="3400">
                <a:solidFill>
                  <a:srgbClr val="F2A254"/>
                </a:solidFill>
                <a:latin typeface="Cambria"/>
                <a:ea typeface="Cambria"/>
                <a:cs typeface="Cambria"/>
                <a:sym typeface="Cambria"/>
              </a:rPr>
              <a:t>100%</a:t>
            </a:r>
            <a:endParaRPr sz="3400">
              <a:solidFill>
                <a:srgbClr val="F2A254"/>
              </a:solidFill>
              <a:latin typeface="Calibri"/>
              <a:ea typeface="Calibri"/>
              <a:cs typeface="Calibri"/>
              <a:sym typeface="Calibri"/>
            </a:endParaRPr>
          </a:p>
        </p:txBody>
      </p:sp>
      <p:sp>
        <p:nvSpPr>
          <p:cNvPr id="282" name="Google Shape;282;p16"/>
          <p:cNvSpPr/>
          <p:nvPr/>
        </p:nvSpPr>
        <p:spPr>
          <a:xfrm>
            <a:off x="5399131" y="5127311"/>
            <a:ext cx="2514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336"/>
              </a:buClr>
              <a:buSzPts val="1600"/>
              <a:buFont typeface="Calibri"/>
              <a:buNone/>
            </a:pPr>
            <a:r>
              <a:rPr lang="en-US" sz="1600">
                <a:solidFill>
                  <a:srgbClr val="232336"/>
                </a:solidFill>
                <a:latin typeface="Calibri"/>
                <a:ea typeface="Calibri"/>
                <a:cs typeface="Calibri"/>
                <a:sym typeface="Calibri"/>
              </a:rPr>
              <a:t>Chain narrative</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232336"/>
              </a:buClr>
              <a:buSzPts val="1600"/>
              <a:buFont typeface="Calibri"/>
              <a:buNone/>
            </a:pPr>
            <a:r>
              <a:rPr lang="en-US" sz="1600">
                <a:solidFill>
                  <a:srgbClr val="232336"/>
                </a:solidFill>
                <a:latin typeface="Calibri"/>
                <a:ea typeface="Calibri"/>
                <a:cs typeface="Calibri"/>
                <a:sym typeface="Calibri"/>
              </a:rPr>
              <a:t>scaffold → causal reasoning</a:t>
            </a:r>
            <a:endParaRPr sz="1600">
              <a:solidFill>
                <a:schemeClr val="dk1"/>
              </a:solidFill>
              <a:latin typeface="Calibri"/>
              <a:ea typeface="Calibri"/>
              <a:cs typeface="Calibri"/>
              <a:sym typeface="Calibri"/>
            </a:endParaRPr>
          </a:p>
        </p:txBody>
      </p:sp>
      <p:pic>
        <p:nvPicPr>
          <p:cNvPr id="283" name="Google Shape;283;p16"/>
          <p:cNvPicPr preferRelativeResize="0"/>
          <p:nvPr/>
        </p:nvPicPr>
        <p:blipFill rotWithShape="1">
          <a:blip r:embed="rId3">
            <a:alphaModFix/>
          </a:blip>
          <a:srcRect b="0" l="0" r="0" t="0"/>
          <a:stretch/>
        </p:blipFill>
        <p:spPr>
          <a:xfrm>
            <a:off x="1161758" y="1719775"/>
            <a:ext cx="9767667" cy="2748317"/>
          </a:xfrm>
          <a:prstGeom prst="rect">
            <a:avLst/>
          </a:prstGeom>
          <a:noFill/>
          <a:ln>
            <a:noFill/>
          </a:ln>
        </p:spPr>
      </p:pic>
      <p:sp>
        <p:nvSpPr>
          <p:cNvPr id="284" name="Google Shape;284;p16"/>
          <p:cNvSpPr/>
          <p:nvPr/>
        </p:nvSpPr>
        <p:spPr>
          <a:xfrm>
            <a:off x="8041230" y="5122387"/>
            <a:ext cx="1463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A254"/>
              </a:buClr>
              <a:buSzPts val="3400"/>
              <a:buFont typeface="Cambria"/>
              <a:buNone/>
            </a:pPr>
            <a:r>
              <a:rPr b="1" lang="en-US" sz="3400">
                <a:solidFill>
                  <a:srgbClr val="F2A254"/>
                </a:solidFill>
                <a:latin typeface="Cambria"/>
                <a:ea typeface="Cambria"/>
                <a:cs typeface="Cambria"/>
                <a:sym typeface="Cambria"/>
              </a:rPr>
              <a:t>62%</a:t>
            </a:r>
            <a:endParaRPr sz="3400">
              <a:solidFill>
                <a:srgbClr val="F2A254"/>
              </a:solidFill>
              <a:latin typeface="Calibri"/>
              <a:ea typeface="Calibri"/>
              <a:cs typeface="Calibri"/>
              <a:sym typeface="Calibri"/>
            </a:endParaRPr>
          </a:p>
        </p:txBody>
      </p:sp>
      <p:sp>
        <p:nvSpPr>
          <p:cNvPr id="285" name="Google Shape;285;p16"/>
          <p:cNvSpPr/>
          <p:nvPr/>
        </p:nvSpPr>
        <p:spPr>
          <a:xfrm>
            <a:off x="9156096" y="5125199"/>
            <a:ext cx="266025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None/>
            </a:pPr>
            <a:r>
              <a:rPr lang="en-US" sz="1600">
                <a:solidFill>
                  <a:srgbClr val="232336"/>
                </a:solidFill>
                <a:latin typeface="Calibri"/>
                <a:ea typeface="Calibri"/>
                <a:cs typeface="Calibri"/>
                <a:sym typeface="Calibri"/>
              </a:rPr>
              <a:t>Social awareness </a:t>
            </a:r>
            <a:endParaRPr/>
          </a:p>
          <a:p>
            <a:pPr indent="0" lvl="0" marL="0" marR="0" rtl="0" algn="l">
              <a:lnSpc>
                <a:spcPct val="120000"/>
              </a:lnSpc>
              <a:spcBef>
                <a:spcPts val="0"/>
              </a:spcBef>
              <a:spcAft>
                <a:spcPts val="0"/>
              </a:spcAft>
              <a:buNone/>
            </a:pPr>
            <a:r>
              <a:rPr lang="en-US" sz="1600">
                <a:solidFill>
                  <a:srgbClr val="232336"/>
                </a:solidFill>
                <a:latin typeface="Calibri"/>
                <a:ea typeface="Calibri"/>
                <a:cs typeface="Calibri"/>
                <a:sym typeface="Calibri"/>
              </a:rPr>
              <a:t>scaffold -&gt; Elaborate Emotion</a:t>
            </a:r>
            <a:endParaRPr sz="16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17"/>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23245C"/>
                </a:solidFill>
                <a:latin typeface="Cambria"/>
                <a:ea typeface="Cambria"/>
                <a:cs typeface="Cambria"/>
                <a:sym typeface="Cambria"/>
              </a:rPr>
              <a:t>P3, Structured Condition</a:t>
            </a:r>
            <a:endParaRPr sz="2800">
              <a:solidFill>
                <a:schemeClr val="dk1"/>
              </a:solidFill>
              <a:latin typeface="Calibri"/>
              <a:ea typeface="Calibri"/>
              <a:cs typeface="Calibri"/>
              <a:sym typeface="Calibri"/>
            </a:endParaRPr>
          </a:p>
        </p:txBody>
      </p:sp>
      <p:sp>
        <p:nvSpPr>
          <p:cNvPr id="292" name="Google Shape;292;p17"/>
          <p:cNvSpPr/>
          <p:nvPr/>
        </p:nvSpPr>
        <p:spPr>
          <a:xfrm>
            <a:off x="1611317" y="1989436"/>
            <a:ext cx="3703320" cy="3501658"/>
          </a:xfrm>
          <a:prstGeom prst="roundRect">
            <a:avLst>
              <a:gd fmla="val 2469" name="adj"/>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7"/>
          <p:cNvSpPr/>
          <p:nvPr/>
        </p:nvSpPr>
        <p:spPr>
          <a:xfrm>
            <a:off x="1885637" y="2441448"/>
            <a:ext cx="32004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2A154"/>
              </a:buClr>
              <a:buSzPts val="1250"/>
              <a:buFont typeface="Calibri"/>
              <a:buNone/>
            </a:pPr>
            <a:r>
              <a:rPr b="1" lang="en-US" sz="1250">
                <a:solidFill>
                  <a:srgbClr val="F2A154"/>
                </a:solidFill>
                <a:latin typeface="Calibri"/>
                <a:ea typeface="Calibri"/>
                <a:cs typeface="Calibri"/>
                <a:sym typeface="Calibri"/>
              </a:rPr>
              <a:t>AI: </a:t>
            </a:r>
            <a:r>
              <a:rPr lang="en-US" sz="1250">
                <a:solidFill>
                  <a:schemeClr val="lt1"/>
                </a:solidFill>
                <a:latin typeface="Calibri"/>
                <a:ea typeface="Calibri"/>
                <a:cs typeface="Calibri"/>
                <a:sym typeface="Calibri"/>
              </a:rPr>
              <a:t>“What else might they do when they see the dragon?”</a:t>
            </a:r>
            <a:br>
              <a:rPr lang="en-US" sz="1250">
                <a:solidFill>
                  <a:schemeClr val="lt1"/>
                </a:solidFill>
                <a:latin typeface="Calibri"/>
                <a:ea typeface="Calibri"/>
                <a:cs typeface="Calibri"/>
                <a:sym typeface="Calibri"/>
              </a:rPr>
            </a:br>
            <a:br>
              <a:rPr lang="en-US" sz="1250">
                <a:solidFill>
                  <a:srgbClr val="E4E4F7"/>
                </a:solidFill>
                <a:latin typeface="Calibri"/>
                <a:ea typeface="Calibri"/>
                <a:cs typeface="Calibri"/>
                <a:sym typeface="Calibri"/>
              </a:rPr>
            </a:br>
            <a:r>
              <a:rPr b="1" lang="en-US" sz="1250">
                <a:solidFill>
                  <a:srgbClr val="F2A154"/>
                </a:solidFill>
                <a:latin typeface="Calibri"/>
                <a:ea typeface="Calibri"/>
                <a:cs typeface="Calibri"/>
                <a:sym typeface="Calibri"/>
              </a:rPr>
              <a:t>Child: </a:t>
            </a:r>
            <a:r>
              <a:rPr lang="en-US" sz="1250">
                <a:solidFill>
                  <a:schemeClr val="lt1"/>
                </a:solidFill>
                <a:latin typeface="Calibri"/>
                <a:ea typeface="Calibri"/>
                <a:cs typeface="Calibri"/>
                <a:sym typeface="Calibri"/>
              </a:rPr>
              <a:t>“Rabbit will scream and the dragon will wake up.”</a:t>
            </a:r>
            <a:br>
              <a:rPr lang="en-US" sz="1250">
                <a:solidFill>
                  <a:schemeClr val="lt1"/>
                </a:solidFill>
                <a:latin typeface="Calibri"/>
                <a:ea typeface="Calibri"/>
                <a:cs typeface="Calibri"/>
                <a:sym typeface="Calibri"/>
              </a:rPr>
            </a:br>
            <a:br>
              <a:rPr lang="en-US" sz="1250">
                <a:solidFill>
                  <a:srgbClr val="FFFFFF"/>
                </a:solidFill>
                <a:latin typeface="Calibri"/>
                <a:ea typeface="Calibri"/>
                <a:cs typeface="Calibri"/>
                <a:sym typeface="Calibri"/>
              </a:rPr>
            </a:br>
            <a:r>
              <a:rPr b="1" lang="en-US" sz="1250">
                <a:solidFill>
                  <a:srgbClr val="F2A154"/>
                </a:solidFill>
                <a:latin typeface="Calibri"/>
                <a:ea typeface="Calibri"/>
                <a:cs typeface="Calibri"/>
                <a:sym typeface="Calibri"/>
              </a:rPr>
              <a:t>AI: </a:t>
            </a:r>
            <a:r>
              <a:rPr lang="en-US" sz="1250">
                <a:solidFill>
                  <a:schemeClr val="lt1"/>
                </a:solidFill>
                <a:latin typeface="Calibri"/>
                <a:ea typeface="Calibri"/>
                <a:cs typeface="Calibri"/>
                <a:sym typeface="Calibri"/>
              </a:rPr>
              <a:t>“How do you think each of them feels about the dragon?”</a:t>
            </a:r>
            <a:br>
              <a:rPr lang="en-US" sz="1250">
                <a:solidFill>
                  <a:schemeClr val="lt1"/>
                </a:solidFill>
                <a:latin typeface="Calibri"/>
                <a:ea typeface="Calibri"/>
                <a:cs typeface="Calibri"/>
                <a:sym typeface="Calibri"/>
              </a:rPr>
            </a:br>
            <a:br>
              <a:rPr lang="en-US" sz="1250">
                <a:solidFill>
                  <a:srgbClr val="E4E4F7"/>
                </a:solidFill>
                <a:latin typeface="Calibri"/>
                <a:ea typeface="Calibri"/>
                <a:cs typeface="Calibri"/>
                <a:sym typeface="Calibri"/>
              </a:rPr>
            </a:br>
            <a:r>
              <a:rPr b="1" lang="en-US" sz="1250">
                <a:solidFill>
                  <a:srgbClr val="F2A154"/>
                </a:solidFill>
                <a:latin typeface="Calibri"/>
                <a:ea typeface="Calibri"/>
                <a:cs typeface="Calibri"/>
                <a:sym typeface="Calibri"/>
              </a:rPr>
              <a:t>Child: </a:t>
            </a:r>
            <a:r>
              <a:rPr lang="en-US" sz="1250">
                <a:solidFill>
                  <a:schemeClr val="lt1"/>
                </a:solidFill>
                <a:latin typeface="Calibri"/>
                <a:ea typeface="Calibri"/>
                <a:cs typeface="Calibri"/>
                <a:sym typeface="Calibri"/>
              </a:rPr>
              <a:t>“The rabbit feels scared and the lion is frightened, and the bear wants to be friends with a dragon.”</a:t>
            </a:r>
            <a:endParaRPr sz="1250">
              <a:solidFill>
                <a:schemeClr val="lt1"/>
              </a:solidFill>
              <a:latin typeface="Calibri"/>
              <a:ea typeface="Calibri"/>
              <a:cs typeface="Calibri"/>
              <a:sym typeface="Calibri"/>
            </a:endParaRPr>
          </a:p>
        </p:txBody>
      </p:sp>
      <p:pic>
        <p:nvPicPr>
          <p:cNvPr id="294" name="Google Shape;294;p17"/>
          <p:cNvPicPr preferRelativeResize="0"/>
          <p:nvPr/>
        </p:nvPicPr>
        <p:blipFill rotWithShape="1">
          <a:blip r:embed="rId3">
            <a:alphaModFix/>
          </a:blip>
          <a:srcRect b="0" l="0" r="0" t="0"/>
          <a:stretch/>
        </p:blipFill>
        <p:spPr>
          <a:xfrm>
            <a:off x="6659055" y="544068"/>
            <a:ext cx="4153106" cy="5863208"/>
          </a:xfrm>
          <a:prstGeom prst="rect">
            <a:avLst/>
          </a:prstGeom>
          <a:noFill/>
          <a:ln>
            <a:noFill/>
          </a:ln>
        </p:spPr>
      </p:pic>
      <p:cxnSp>
        <p:nvCxnSpPr>
          <p:cNvPr id="295" name="Google Shape;295;p17"/>
          <p:cNvCxnSpPr/>
          <p:nvPr/>
        </p:nvCxnSpPr>
        <p:spPr>
          <a:xfrm>
            <a:off x="5352292" y="2841752"/>
            <a:ext cx="1344418" cy="0"/>
          </a:xfrm>
          <a:prstGeom prst="straightConnector1">
            <a:avLst/>
          </a:prstGeom>
          <a:noFill/>
          <a:ln cap="flat" cmpd="sng" w="38100">
            <a:solidFill>
              <a:schemeClr val="dk1"/>
            </a:solidFill>
            <a:prstDash val="dot"/>
            <a:miter lim="8000"/>
            <a:headEnd len="sm" w="sm" type="none"/>
            <a:tailEnd len="sm" w="sm" type="none"/>
          </a:ln>
        </p:spPr>
      </p:cxnSp>
      <p:sp>
        <p:nvSpPr>
          <p:cNvPr id="296" name="Google Shape;296;p17"/>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FINDINGS</a:t>
            </a:r>
            <a:endParaRPr sz="13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8"/>
          <p:cNvSpPr/>
          <p:nvPr/>
        </p:nvSpPr>
        <p:spPr>
          <a:xfrm>
            <a:off x="548640" y="658368"/>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3000"/>
              <a:buFont typeface="Cambria"/>
              <a:buNone/>
            </a:pPr>
            <a:r>
              <a:rPr b="1" lang="en-US" sz="3000">
                <a:solidFill>
                  <a:srgbClr val="23245C"/>
                </a:solidFill>
                <a:latin typeface="Cambria"/>
                <a:ea typeface="Cambria"/>
                <a:cs typeface="Cambria"/>
                <a:sym typeface="Cambria"/>
              </a:rPr>
              <a:t>Breakdowns happen; repair keeps the story going</a:t>
            </a:r>
            <a:endParaRPr sz="3000">
              <a:solidFill>
                <a:schemeClr val="dk1"/>
              </a:solidFill>
              <a:latin typeface="Calibri"/>
              <a:ea typeface="Calibri"/>
              <a:cs typeface="Calibri"/>
              <a:sym typeface="Calibri"/>
            </a:endParaRPr>
          </a:p>
        </p:txBody>
      </p:sp>
      <p:sp>
        <p:nvSpPr>
          <p:cNvPr id="303" name="Google Shape;303;p18"/>
          <p:cNvSpPr/>
          <p:nvPr/>
        </p:nvSpPr>
        <p:spPr>
          <a:xfrm>
            <a:off x="548639" y="1783080"/>
            <a:ext cx="5318762" cy="4312920"/>
          </a:xfrm>
          <a:prstGeom prst="roundRect">
            <a:avLst>
              <a:gd fmla="val 2564" name="adj"/>
            </a:avLst>
          </a:prstGeom>
          <a:solidFill>
            <a:srgbClr val="F7F7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8"/>
          <p:cNvSpPr/>
          <p:nvPr/>
        </p:nvSpPr>
        <p:spPr>
          <a:xfrm>
            <a:off x="777240" y="2011680"/>
            <a:ext cx="548640" cy="548640"/>
          </a:xfrm>
          <a:prstGeom prst="ellipse">
            <a:avLst/>
          </a:prstGeom>
          <a:solidFill>
            <a:srgbClr val="23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8"/>
          <p:cNvSpPr/>
          <p:nvPr/>
        </p:nvSpPr>
        <p:spPr>
          <a:xfrm>
            <a:off x="777240" y="201168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lang="en-US" sz="1800">
                <a:solidFill>
                  <a:srgbClr val="FFFFFF"/>
                </a:solidFill>
                <a:latin typeface="Cambria"/>
                <a:ea typeface="Cambria"/>
                <a:cs typeface="Cambria"/>
                <a:sym typeface="Cambria"/>
              </a:rPr>
              <a:t>1</a:t>
            </a:r>
            <a:endParaRPr sz="1800">
              <a:solidFill>
                <a:schemeClr val="dk1"/>
              </a:solidFill>
              <a:latin typeface="Calibri"/>
              <a:ea typeface="Calibri"/>
              <a:cs typeface="Calibri"/>
              <a:sym typeface="Calibri"/>
            </a:endParaRPr>
          </a:p>
        </p:txBody>
      </p:sp>
      <p:sp>
        <p:nvSpPr>
          <p:cNvPr id="306" name="Google Shape;306;p18"/>
          <p:cNvSpPr/>
          <p:nvPr/>
        </p:nvSpPr>
        <p:spPr>
          <a:xfrm>
            <a:off x="777240" y="2697480"/>
            <a:ext cx="3108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1800"/>
              <a:buFont typeface="Cambria"/>
              <a:buNone/>
            </a:pPr>
            <a:r>
              <a:rPr b="1" lang="en-US" sz="1800">
                <a:solidFill>
                  <a:srgbClr val="23245C"/>
                </a:solidFill>
                <a:latin typeface="Cambria"/>
                <a:ea typeface="Cambria"/>
                <a:cs typeface="Cambria"/>
                <a:sym typeface="Cambria"/>
              </a:rPr>
              <a:t>Agent-initiated repair</a:t>
            </a:r>
            <a:endParaRPr sz="1800">
              <a:solidFill>
                <a:schemeClr val="dk1"/>
              </a:solidFill>
              <a:latin typeface="Calibri"/>
              <a:ea typeface="Calibri"/>
              <a:cs typeface="Calibri"/>
              <a:sym typeface="Calibri"/>
            </a:endParaRPr>
          </a:p>
        </p:txBody>
      </p:sp>
      <p:sp>
        <p:nvSpPr>
          <p:cNvPr id="307" name="Google Shape;307;p18"/>
          <p:cNvSpPr/>
          <p:nvPr/>
        </p:nvSpPr>
        <p:spPr>
          <a:xfrm>
            <a:off x="777239" y="3200400"/>
            <a:ext cx="5053717" cy="82296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232336"/>
              </a:buClr>
              <a:buSzPts val="1400"/>
              <a:buFont typeface="Calibri"/>
              <a:buNone/>
            </a:pPr>
            <a:r>
              <a:rPr lang="en-US" sz="1400">
                <a:solidFill>
                  <a:srgbClr val="232336"/>
                </a:solidFill>
                <a:latin typeface="Calibri"/>
                <a:ea typeface="Calibri"/>
                <a:cs typeface="Calibri"/>
                <a:sym typeface="Calibri"/>
              </a:rPr>
              <a:t>Agent detects ambiguity, rephrases and re-asks before moving on.</a:t>
            </a:r>
            <a:endParaRPr sz="1400">
              <a:solidFill>
                <a:schemeClr val="dk1"/>
              </a:solidFill>
              <a:latin typeface="Calibri"/>
              <a:ea typeface="Calibri"/>
              <a:cs typeface="Calibri"/>
              <a:sym typeface="Calibri"/>
            </a:endParaRPr>
          </a:p>
        </p:txBody>
      </p:sp>
      <p:sp>
        <p:nvSpPr>
          <p:cNvPr id="308" name="Google Shape;308;p18"/>
          <p:cNvSpPr/>
          <p:nvPr/>
        </p:nvSpPr>
        <p:spPr>
          <a:xfrm>
            <a:off x="777240" y="3848430"/>
            <a:ext cx="4828430" cy="853770"/>
          </a:xfrm>
          <a:prstGeom prst="roundRect">
            <a:avLst>
              <a:gd fmla="val 4800" name="adj"/>
            </a:avLst>
          </a:prstGeom>
          <a:solidFill>
            <a:srgbClr val="FFFFFF"/>
          </a:solid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8"/>
          <p:cNvSpPr/>
          <p:nvPr/>
        </p:nvSpPr>
        <p:spPr>
          <a:xfrm>
            <a:off x="914400" y="3729162"/>
            <a:ext cx="469127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i="1" lang="en-US" sz="1300">
                <a:solidFill>
                  <a:srgbClr val="D97F2A"/>
                </a:solidFill>
                <a:latin typeface="Calibri"/>
                <a:ea typeface="Calibri"/>
                <a:cs typeface="Calibri"/>
                <a:sym typeface="Calibri"/>
              </a:rPr>
              <a:t>“I'm not sure what you mean. Let me ask again...”</a:t>
            </a:r>
            <a:endParaRPr sz="1300">
              <a:solidFill>
                <a:schemeClr val="dk1"/>
              </a:solidFill>
              <a:latin typeface="Calibri"/>
              <a:ea typeface="Calibri"/>
              <a:cs typeface="Calibri"/>
              <a:sym typeface="Calibri"/>
            </a:endParaRPr>
          </a:p>
        </p:txBody>
      </p:sp>
      <p:sp>
        <p:nvSpPr>
          <p:cNvPr id="310" name="Google Shape;310;p18"/>
          <p:cNvSpPr/>
          <p:nvPr/>
        </p:nvSpPr>
        <p:spPr>
          <a:xfrm>
            <a:off x="6255024" y="1783080"/>
            <a:ext cx="5318762" cy="4312920"/>
          </a:xfrm>
          <a:prstGeom prst="roundRect">
            <a:avLst>
              <a:gd fmla="val 2564" name="adj"/>
            </a:avLst>
          </a:prstGeom>
          <a:solidFill>
            <a:srgbClr val="F7F7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8"/>
          <p:cNvSpPr/>
          <p:nvPr/>
        </p:nvSpPr>
        <p:spPr>
          <a:xfrm>
            <a:off x="6483625" y="2011680"/>
            <a:ext cx="548640" cy="548640"/>
          </a:xfrm>
          <a:prstGeom prst="ellipse">
            <a:avLst/>
          </a:prstGeom>
          <a:solidFill>
            <a:srgbClr val="2224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8"/>
          <p:cNvSpPr/>
          <p:nvPr/>
        </p:nvSpPr>
        <p:spPr>
          <a:xfrm>
            <a:off x="6483625" y="201168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lang="en-US" sz="1800">
                <a:solidFill>
                  <a:srgbClr val="FFFFFF"/>
                </a:solidFill>
                <a:latin typeface="Cambria"/>
                <a:ea typeface="Cambria"/>
                <a:cs typeface="Cambria"/>
                <a:sym typeface="Cambria"/>
              </a:rPr>
              <a:t>2</a:t>
            </a:r>
            <a:endParaRPr sz="1800">
              <a:solidFill>
                <a:schemeClr val="dk1"/>
              </a:solidFill>
              <a:latin typeface="Calibri"/>
              <a:ea typeface="Calibri"/>
              <a:cs typeface="Calibri"/>
              <a:sym typeface="Calibri"/>
            </a:endParaRPr>
          </a:p>
        </p:txBody>
      </p:sp>
      <p:sp>
        <p:nvSpPr>
          <p:cNvPr id="313" name="Google Shape;313;p18"/>
          <p:cNvSpPr/>
          <p:nvPr/>
        </p:nvSpPr>
        <p:spPr>
          <a:xfrm>
            <a:off x="6483625" y="2697480"/>
            <a:ext cx="3108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3245C"/>
              </a:buClr>
              <a:buSzPts val="1800"/>
              <a:buFont typeface="Cambria"/>
              <a:buNone/>
            </a:pPr>
            <a:r>
              <a:rPr b="1" lang="en-US" sz="1800">
                <a:solidFill>
                  <a:srgbClr val="23245C"/>
                </a:solidFill>
                <a:latin typeface="Cambria"/>
                <a:ea typeface="Cambria"/>
                <a:cs typeface="Cambria"/>
                <a:sym typeface="Cambria"/>
              </a:rPr>
              <a:t>Child-initiated repair</a:t>
            </a:r>
            <a:endParaRPr sz="1800">
              <a:solidFill>
                <a:schemeClr val="dk1"/>
              </a:solidFill>
              <a:latin typeface="Calibri"/>
              <a:ea typeface="Calibri"/>
              <a:cs typeface="Calibri"/>
              <a:sym typeface="Calibri"/>
            </a:endParaRPr>
          </a:p>
        </p:txBody>
      </p:sp>
      <p:sp>
        <p:nvSpPr>
          <p:cNvPr id="314" name="Google Shape;314;p18"/>
          <p:cNvSpPr/>
          <p:nvPr/>
        </p:nvSpPr>
        <p:spPr>
          <a:xfrm>
            <a:off x="6483625" y="3200400"/>
            <a:ext cx="4621696" cy="82296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232336"/>
              </a:buClr>
              <a:buSzPts val="1400"/>
              <a:buFont typeface="Calibri"/>
              <a:buNone/>
            </a:pPr>
            <a:r>
              <a:rPr lang="en-US" sz="1400">
                <a:solidFill>
                  <a:srgbClr val="232336"/>
                </a:solidFill>
                <a:latin typeface="Calibri"/>
                <a:ea typeface="Calibri"/>
                <a:cs typeface="Calibri"/>
                <a:sym typeface="Calibri"/>
              </a:rPr>
              <a:t>Child actively corrects the agent's misinterpretation.</a:t>
            </a:r>
            <a:endParaRPr sz="1400">
              <a:solidFill>
                <a:schemeClr val="dk1"/>
              </a:solidFill>
              <a:latin typeface="Calibri"/>
              <a:ea typeface="Calibri"/>
              <a:cs typeface="Calibri"/>
              <a:sym typeface="Calibri"/>
            </a:endParaRPr>
          </a:p>
        </p:txBody>
      </p:sp>
      <p:sp>
        <p:nvSpPr>
          <p:cNvPr id="315" name="Google Shape;315;p18"/>
          <p:cNvSpPr/>
          <p:nvPr/>
        </p:nvSpPr>
        <p:spPr>
          <a:xfrm>
            <a:off x="6483624" y="3861683"/>
            <a:ext cx="4878128" cy="853770"/>
          </a:xfrm>
          <a:prstGeom prst="roundRect">
            <a:avLst>
              <a:gd fmla="val 4800" name="adj"/>
            </a:avLst>
          </a:prstGeom>
          <a:solidFill>
            <a:srgbClr val="FFFFFF"/>
          </a:solid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8"/>
          <p:cNvSpPr/>
          <p:nvPr/>
        </p:nvSpPr>
        <p:spPr>
          <a:xfrm>
            <a:off x="6620784" y="3742415"/>
            <a:ext cx="4621695"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i="1" lang="en-US" sz="1300">
                <a:solidFill>
                  <a:srgbClr val="D97F2A"/>
                </a:solidFill>
                <a:latin typeface="Calibri"/>
                <a:ea typeface="Calibri"/>
                <a:cs typeface="Calibri"/>
                <a:sym typeface="Calibri"/>
              </a:rPr>
              <a:t>C</a:t>
            </a:r>
            <a:r>
              <a:rPr i="1" lang="en-US" sz="1300">
                <a:solidFill>
                  <a:srgbClr val="D97F2A"/>
                </a:solidFill>
                <a:latin typeface="Calibri"/>
                <a:ea typeface="Calibri"/>
                <a:cs typeface="Calibri"/>
                <a:sym typeface="Calibri"/>
              </a:rPr>
              <a:t>hild: “No, Lion is not a liar, he is friendly and funny.”</a:t>
            </a:r>
            <a:endParaRPr sz="1300">
              <a:solidFill>
                <a:schemeClr val="dk1"/>
              </a:solidFill>
              <a:latin typeface="Calibri"/>
              <a:ea typeface="Calibri"/>
              <a:cs typeface="Calibri"/>
              <a:sym typeface="Calibri"/>
            </a:endParaRPr>
          </a:p>
        </p:txBody>
      </p:sp>
      <p:sp>
        <p:nvSpPr>
          <p:cNvPr id="317" name="Google Shape;317;p18"/>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FINDINGS</a:t>
            </a:r>
            <a:endParaRPr sz="1300">
              <a:solidFill>
                <a:schemeClr val="dk1"/>
              </a:solidFill>
              <a:latin typeface="Calibri"/>
              <a:ea typeface="Calibri"/>
              <a:cs typeface="Calibri"/>
              <a:sym typeface="Calibri"/>
            </a:endParaRPr>
          </a:p>
        </p:txBody>
      </p:sp>
      <p:sp>
        <p:nvSpPr>
          <p:cNvPr id="318" name="Google Shape;318;p18"/>
          <p:cNvSpPr/>
          <p:nvPr/>
        </p:nvSpPr>
        <p:spPr>
          <a:xfrm>
            <a:off x="777240" y="4847976"/>
            <a:ext cx="4828430" cy="853770"/>
          </a:xfrm>
          <a:prstGeom prst="roundRect">
            <a:avLst>
              <a:gd fmla="val 4800" name="adj"/>
            </a:avLst>
          </a:prstGeom>
          <a:solidFill>
            <a:srgbClr val="FFFFFF"/>
          </a:solid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8"/>
          <p:cNvSpPr/>
          <p:nvPr/>
        </p:nvSpPr>
        <p:spPr>
          <a:xfrm>
            <a:off x="914400" y="4728708"/>
            <a:ext cx="469127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i="1" lang="en-US" sz="1300">
                <a:solidFill>
                  <a:srgbClr val="D97F2A"/>
                </a:solidFill>
                <a:latin typeface="Calibri"/>
                <a:ea typeface="Calibri"/>
                <a:cs typeface="Calibri"/>
                <a:sym typeface="Calibri"/>
              </a:rPr>
              <a:t>Child: “scared and…” → AI: “Scared and… what? Tell me more.”</a:t>
            </a:r>
            <a:endParaRPr sz="1300">
              <a:solidFill>
                <a:schemeClr val="dk1"/>
              </a:solidFill>
              <a:latin typeface="Calibri"/>
              <a:ea typeface="Calibri"/>
              <a:cs typeface="Calibri"/>
              <a:sym typeface="Calibri"/>
            </a:endParaRPr>
          </a:p>
        </p:txBody>
      </p:sp>
      <p:sp>
        <p:nvSpPr>
          <p:cNvPr id="320" name="Google Shape;320;p18"/>
          <p:cNvSpPr/>
          <p:nvPr/>
        </p:nvSpPr>
        <p:spPr>
          <a:xfrm>
            <a:off x="6483624" y="4858906"/>
            <a:ext cx="4878128" cy="853770"/>
          </a:xfrm>
          <a:prstGeom prst="roundRect">
            <a:avLst>
              <a:gd fmla="val 4800" name="adj"/>
            </a:avLst>
          </a:prstGeom>
          <a:solidFill>
            <a:srgbClr val="FFFFFF"/>
          </a:solidFill>
          <a:ln cap="flat" cmpd="sng" w="12700">
            <a:solidFill>
              <a:srgbClr val="E1E1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8"/>
          <p:cNvSpPr/>
          <p:nvPr/>
        </p:nvSpPr>
        <p:spPr>
          <a:xfrm>
            <a:off x="6620784" y="4739638"/>
            <a:ext cx="4621695"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i="1" lang="en-US" sz="1300">
                <a:solidFill>
                  <a:srgbClr val="D97F2A"/>
                </a:solidFill>
                <a:latin typeface="Calibri"/>
                <a:ea typeface="Calibri"/>
                <a:cs typeface="Calibri"/>
                <a:sym typeface="Calibri"/>
              </a:rPr>
              <a:t>C</a:t>
            </a:r>
            <a:r>
              <a:rPr i="1" lang="en-US" sz="1300">
                <a:solidFill>
                  <a:srgbClr val="D97F2A"/>
                </a:solidFill>
                <a:latin typeface="Calibri"/>
                <a:ea typeface="Calibri"/>
                <a:cs typeface="Calibri"/>
                <a:sym typeface="Calibri"/>
              </a:rPr>
              <a:t>hild: “It was not a kid turtle. It was a baby turtle”</a:t>
            </a:r>
            <a:endParaRPr sz="13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9"/>
          <p:cNvSpPr/>
          <p:nvPr/>
        </p:nvSpPr>
        <p:spPr>
          <a:xfrm>
            <a:off x="548640" y="658369"/>
            <a:ext cx="10515600" cy="18065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000">
                <a:solidFill>
                  <a:srgbClr val="23245C"/>
                </a:solidFill>
                <a:latin typeface="Cambria"/>
                <a:ea typeface="Cambria"/>
                <a:cs typeface="Cambria"/>
                <a:sym typeface="Cambria"/>
              </a:rPr>
              <a:t>Children primarily framed their experience as collaboratively making and developing, rather than as learning how the AI works or being instructed by it.</a:t>
            </a:r>
            <a:endParaRPr sz="3000">
              <a:solidFill>
                <a:schemeClr val="dk1"/>
              </a:solidFill>
              <a:latin typeface="Calibri"/>
              <a:ea typeface="Calibri"/>
              <a:cs typeface="Calibri"/>
              <a:sym typeface="Calibri"/>
            </a:endParaRPr>
          </a:p>
        </p:txBody>
      </p:sp>
      <p:sp>
        <p:nvSpPr>
          <p:cNvPr id="328" name="Google Shape;328;p19"/>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FINDINGS</a:t>
            </a:r>
            <a:endParaRPr sz="1300">
              <a:solidFill>
                <a:schemeClr val="dk1"/>
              </a:solidFill>
              <a:latin typeface="Calibri"/>
              <a:ea typeface="Calibri"/>
              <a:cs typeface="Calibri"/>
              <a:sym typeface="Calibri"/>
            </a:endParaRPr>
          </a:p>
        </p:txBody>
      </p:sp>
      <p:sp>
        <p:nvSpPr>
          <p:cNvPr id="329" name="Google Shape;329;p19"/>
          <p:cNvSpPr txBox="1"/>
          <p:nvPr/>
        </p:nvSpPr>
        <p:spPr>
          <a:xfrm>
            <a:off x="7691564" y="3238934"/>
            <a:ext cx="435466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2A254"/>
                </a:solidFill>
                <a:latin typeface="Calibri"/>
                <a:ea typeface="Calibri"/>
                <a:cs typeface="Calibri"/>
                <a:sym typeface="Calibri"/>
              </a:rPr>
              <a:t>“I enjoyed building the story together.”</a:t>
            </a:r>
            <a:endParaRPr/>
          </a:p>
          <a:p>
            <a:pPr indent="0" lvl="0" marL="0" marR="0" rtl="0" algn="l">
              <a:spcBef>
                <a:spcPts val="0"/>
              </a:spcBef>
              <a:spcAft>
                <a:spcPts val="0"/>
              </a:spcAft>
              <a:buNone/>
            </a:pPr>
            <a:r>
              <a:t/>
            </a:r>
            <a:endParaRPr sz="1800">
              <a:solidFill>
                <a:srgbClr val="F2A254"/>
              </a:solidFill>
              <a:latin typeface="Calibri"/>
              <a:ea typeface="Calibri"/>
              <a:cs typeface="Calibri"/>
              <a:sym typeface="Calibri"/>
            </a:endParaRPr>
          </a:p>
          <a:p>
            <a:pPr indent="0" lvl="0" marL="0" marR="0" rtl="0" algn="l">
              <a:spcBef>
                <a:spcPts val="0"/>
              </a:spcBef>
              <a:spcAft>
                <a:spcPts val="0"/>
              </a:spcAft>
              <a:buNone/>
            </a:pPr>
            <a:r>
              <a:rPr lang="en-US" sz="1800">
                <a:solidFill>
                  <a:srgbClr val="F2A254"/>
                </a:solidFill>
                <a:latin typeface="Calibri"/>
                <a:ea typeface="Calibri"/>
                <a:cs typeface="Calibri"/>
                <a:sym typeface="Calibri"/>
              </a:rPr>
              <a:t>        “It was fun talking to Tinker Tales and </a:t>
            </a:r>
            <a:endParaRPr/>
          </a:p>
          <a:p>
            <a:pPr indent="0" lvl="0" marL="0" marR="0" rtl="0" algn="l">
              <a:spcBef>
                <a:spcPts val="0"/>
              </a:spcBef>
              <a:spcAft>
                <a:spcPts val="0"/>
              </a:spcAft>
              <a:buNone/>
            </a:pPr>
            <a:r>
              <a:rPr lang="en-US" sz="1800">
                <a:solidFill>
                  <a:srgbClr val="F2A254"/>
                </a:solidFill>
                <a:latin typeface="Calibri"/>
                <a:ea typeface="Calibri"/>
                <a:cs typeface="Calibri"/>
                <a:sym typeface="Calibri"/>
              </a:rPr>
              <a:t>          making a story with Tinker Tales.” </a:t>
            </a:r>
            <a:endParaRPr/>
          </a:p>
          <a:p>
            <a:pPr indent="0" lvl="0" marL="0" marR="0" rtl="0" algn="l">
              <a:spcBef>
                <a:spcPts val="0"/>
              </a:spcBef>
              <a:spcAft>
                <a:spcPts val="0"/>
              </a:spcAft>
              <a:buNone/>
            </a:pPr>
            <a:r>
              <a:t/>
            </a:r>
            <a:endParaRPr sz="1800">
              <a:solidFill>
                <a:srgbClr val="F2A254"/>
              </a:solidFill>
              <a:latin typeface="Calibri"/>
              <a:ea typeface="Calibri"/>
              <a:cs typeface="Calibri"/>
              <a:sym typeface="Calibri"/>
            </a:endParaRPr>
          </a:p>
          <a:p>
            <a:pPr indent="0" lvl="0" marL="0" marR="0" rtl="0" algn="l">
              <a:spcBef>
                <a:spcPts val="0"/>
              </a:spcBef>
              <a:spcAft>
                <a:spcPts val="0"/>
              </a:spcAft>
              <a:buNone/>
            </a:pPr>
            <a:r>
              <a:rPr lang="en-US" sz="1800">
                <a:solidFill>
                  <a:srgbClr val="F2A254"/>
                </a:solidFill>
                <a:latin typeface="Calibri"/>
                <a:ea typeface="Calibri"/>
                <a:cs typeface="Calibri"/>
                <a:sym typeface="Calibri"/>
              </a:rPr>
              <a:t>    “I can make stories.”</a:t>
            </a:r>
            <a:endParaRPr/>
          </a:p>
          <a:p>
            <a:pPr indent="0" lvl="0" marL="0" marR="0" rtl="0" algn="l">
              <a:spcBef>
                <a:spcPts val="0"/>
              </a:spcBef>
              <a:spcAft>
                <a:spcPts val="0"/>
              </a:spcAft>
              <a:buNone/>
            </a:pPr>
            <a:r>
              <a:t/>
            </a:r>
            <a:endParaRPr sz="1800">
              <a:solidFill>
                <a:srgbClr val="F2A254"/>
              </a:solidFill>
              <a:latin typeface="Calibri"/>
              <a:ea typeface="Calibri"/>
              <a:cs typeface="Calibri"/>
              <a:sym typeface="Calibri"/>
            </a:endParaRPr>
          </a:p>
          <a:p>
            <a:pPr indent="0" lvl="0" marL="0" marR="0" rtl="0" algn="l">
              <a:spcBef>
                <a:spcPts val="0"/>
              </a:spcBef>
              <a:spcAft>
                <a:spcPts val="0"/>
              </a:spcAft>
              <a:buNone/>
            </a:pPr>
            <a:r>
              <a:rPr lang="en-US" sz="1800">
                <a:solidFill>
                  <a:srgbClr val="F2A254"/>
                </a:solidFill>
                <a:latin typeface="Calibri"/>
                <a:ea typeface="Calibri"/>
                <a:cs typeface="Calibri"/>
                <a:sym typeface="Calibri"/>
              </a:rPr>
              <a:t>                                    “I made fun stories.”</a:t>
            </a:r>
            <a:endParaRPr/>
          </a:p>
        </p:txBody>
      </p:sp>
      <p:pic>
        <p:nvPicPr>
          <p:cNvPr id="330" name="Google Shape;330;p19"/>
          <p:cNvPicPr preferRelativeResize="0"/>
          <p:nvPr/>
        </p:nvPicPr>
        <p:blipFill rotWithShape="1">
          <a:blip r:embed="rId3">
            <a:alphaModFix/>
          </a:blip>
          <a:srcRect b="0" l="0" r="0" t="0"/>
          <a:stretch/>
        </p:blipFill>
        <p:spPr>
          <a:xfrm>
            <a:off x="548640" y="2464905"/>
            <a:ext cx="7024761" cy="402148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73D"/>
        </a:solidFill>
      </p:bgPr>
    </p:bg>
    <p:spTree>
      <p:nvGrpSpPr>
        <p:cNvPr id="335" name="Shape 335"/>
        <p:cNvGrpSpPr/>
        <p:nvPr/>
      </p:nvGrpSpPr>
      <p:grpSpPr>
        <a:xfrm>
          <a:off x="0" y="0"/>
          <a:ext cx="0" cy="0"/>
          <a:chOff x="0" y="0"/>
          <a:chExt cx="0" cy="0"/>
        </a:xfrm>
      </p:grpSpPr>
      <p:sp>
        <p:nvSpPr>
          <p:cNvPr id="336" name="Google Shape;336;p20"/>
          <p:cNvSpPr/>
          <p:nvPr/>
        </p:nvSpPr>
        <p:spPr>
          <a:xfrm>
            <a:off x="548640" y="384048"/>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7F2A"/>
              </a:buClr>
              <a:buSzPts val="1300"/>
              <a:buFont typeface="Calibri"/>
              <a:buNone/>
            </a:pPr>
            <a:r>
              <a:rPr b="1" lang="en-US" sz="1300">
                <a:solidFill>
                  <a:srgbClr val="D97F2A"/>
                </a:solidFill>
                <a:latin typeface="Calibri"/>
                <a:ea typeface="Calibri"/>
                <a:cs typeface="Calibri"/>
                <a:sym typeface="Calibri"/>
              </a:rPr>
              <a:t>TAKEAWAY</a:t>
            </a:r>
            <a:endParaRPr sz="1300">
              <a:solidFill>
                <a:schemeClr val="dk1"/>
              </a:solidFill>
              <a:latin typeface="Calibri"/>
              <a:ea typeface="Calibri"/>
              <a:cs typeface="Calibri"/>
              <a:sym typeface="Calibri"/>
            </a:endParaRPr>
          </a:p>
        </p:txBody>
      </p:sp>
      <p:sp>
        <p:nvSpPr>
          <p:cNvPr id="337" name="Google Shape;337;p20"/>
          <p:cNvSpPr/>
          <p:nvPr/>
        </p:nvSpPr>
        <p:spPr>
          <a:xfrm>
            <a:off x="548640" y="1610138"/>
            <a:ext cx="107899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mbria"/>
              <a:buNone/>
            </a:pPr>
            <a:r>
              <a:rPr b="1" lang="en-US" sz="3200">
                <a:solidFill>
                  <a:srgbClr val="FFFFFF"/>
                </a:solidFill>
                <a:latin typeface="Cambria"/>
                <a:ea typeface="Cambria"/>
                <a:cs typeface="Cambria"/>
                <a:sym typeface="Cambria"/>
              </a:rPr>
              <a:t>Conversation design shapes what children can contribute, while preserving their agency over the story.</a:t>
            </a:r>
            <a:endParaRPr sz="3200">
              <a:solidFill>
                <a:schemeClr val="dk1"/>
              </a:solidFill>
              <a:latin typeface="Calibri"/>
              <a:ea typeface="Calibri"/>
              <a:cs typeface="Calibri"/>
              <a:sym typeface="Calibri"/>
            </a:endParaRPr>
          </a:p>
        </p:txBody>
      </p:sp>
      <p:sp>
        <p:nvSpPr>
          <p:cNvPr id="338" name="Google Shape;338;p20"/>
          <p:cNvSpPr/>
          <p:nvPr/>
        </p:nvSpPr>
        <p:spPr>
          <a:xfrm>
            <a:off x="548640" y="3593592"/>
            <a:ext cx="146304" cy="146304"/>
          </a:xfrm>
          <a:prstGeom prst="ellipse">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20"/>
          <p:cNvSpPr/>
          <p:nvPr/>
        </p:nvSpPr>
        <p:spPr>
          <a:xfrm>
            <a:off x="762664" y="3420784"/>
            <a:ext cx="11164294"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lang="en-US" sz="2000">
                <a:solidFill>
                  <a:srgbClr val="FFFFFF"/>
                </a:solidFill>
                <a:latin typeface="Calibri"/>
                <a:ea typeface="Calibri"/>
                <a:cs typeface="Calibri"/>
                <a:sym typeface="Calibri"/>
              </a:rPr>
              <a:t>Pedagogically-grounded questions → far more consistent, elaborated contributions than open-ended ones</a:t>
            </a:r>
            <a:endParaRPr sz="2000">
              <a:solidFill>
                <a:schemeClr val="dk1"/>
              </a:solidFill>
              <a:latin typeface="Calibri"/>
              <a:ea typeface="Calibri"/>
              <a:cs typeface="Calibri"/>
              <a:sym typeface="Calibri"/>
            </a:endParaRPr>
          </a:p>
        </p:txBody>
      </p:sp>
      <p:sp>
        <p:nvSpPr>
          <p:cNvPr id="340" name="Google Shape;340;p20"/>
          <p:cNvSpPr/>
          <p:nvPr/>
        </p:nvSpPr>
        <p:spPr>
          <a:xfrm>
            <a:off x="548640" y="4279392"/>
            <a:ext cx="146304" cy="146304"/>
          </a:xfrm>
          <a:prstGeom prst="ellipse">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0"/>
          <p:cNvSpPr/>
          <p:nvPr/>
        </p:nvSpPr>
        <p:spPr>
          <a:xfrm>
            <a:off x="762664" y="4106584"/>
            <a:ext cx="11164294"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lang="en-US" sz="2000">
                <a:solidFill>
                  <a:srgbClr val="FFFFFF"/>
                </a:solidFill>
                <a:latin typeface="Calibri"/>
                <a:ea typeface="Calibri"/>
                <a:cs typeface="Calibri"/>
                <a:sym typeface="Calibri"/>
              </a:rPr>
              <a:t>Primitive vs. Chain scaffolds shape different narrative functions: events vs. causal reasoning</a:t>
            </a:r>
            <a:endParaRPr sz="2000">
              <a:solidFill>
                <a:schemeClr val="dk1"/>
              </a:solidFill>
              <a:latin typeface="Calibri"/>
              <a:ea typeface="Calibri"/>
              <a:cs typeface="Calibri"/>
              <a:sym typeface="Calibri"/>
            </a:endParaRPr>
          </a:p>
        </p:txBody>
      </p:sp>
      <p:sp>
        <p:nvSpPr>
          <p:cNvPr id="342" name="Google Shape;342;p20"/>
          <p:cNvSpPr/>
          <p:nvPr/>
        </p:nvSpPr>
        <p:spPr>
          <a:xfrm>
            <a:off x="548640" y="4965192"/>
            <a:ext cx="146304" cy="146304"/>
          </a:xfrm>
          <a:prstGeom prst="ellipse">
            <a:avLst/>
          </a:prstGeom>
          <a:solidFill>
            <a:srgbClr val="F2A1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20"/>
          <p:cNvSpPr/>
          <p:nvPr/>
        </p:nvSpPr>
        <p:spPr>
          <a:xfrm>
            <a:off x="762664" y="4792384"/>
            <a:ext cx="11164294"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lang="en-US" sz="2000">
                <a:solidFill>
                  <a:srgbClr val="FFFFFF"/>
                </a:solidFill>
                <a:latin typeface="Calibri"/>
                <a:ea typeface="Calibri"/>
                <a:cs typeface="Calibri"/>
                <a:sym typeface="Calibri"/>
              </a:rPr>
              <a:t>Collaborative continuity needs both turn-level repair and monitoring of the broader interaction state</a:t>
            </a:r>
            <a:endParaRPr sz="20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73D"/>
        </a:solidFill>
      </p:bgPr>
    </p:bg>
    <p:spTree>
      <p:nvGrpSpPr>
        <p:cNvPr id="348" name="Shape 348"/>
        <p:cNvGrpSpPr/>
        <p:nvPr/>
      </p:nvGrpSpPr>
      <p:grpSpPr>
        <a:xfrm>
          <a:off x="0" y="0"/>
          <a:ext cx="0" cy="0"/>
          <a:chOff x="0" y="0"/>
          <a:chExt cx="0" cy="0"/>
        </a:xfrm>
      </p:grpSpPr>
      <p:sp>
        <p:nvSpPr>
          <p:cNvPr id="349" name="Google Shape;349;p21"/>
          <p:cNvSpPr/>
          <p:nvPr/>
        </p:nvSpPr>
        <p:spPr>
          <a:xfrm>
            <a:off x="640080" y="2286000"/>
            <a:ext cx="73152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A254"/>
              </a:buClr>
              <a:buSzPts val="4600"/>
              <a:buFont typeface="Cambria"/>
              <a:buNone/>
            </a:pPr>
            <a:r>
              <a:rPr b="1" lang="en-US" sz="4600">
                <a:solidFill>
                  <a:srgbClr val="F2A254"/>
                </a:solidFill>
                <a:latin typeface="Cambria"/>
                <a:ea typeface="Cambria"/>
                <a:cs typeface="Cambria"/>
                <a:sym typeface="Cambria"/>
              </a:rPr>
              <a:t>Thank you</a:t>
            </a:r>
            <a:endParaRPr sz="4600">
              <a:solidFill>
                <a:srgbClr val="F2A254"/>
              </a:solidFill>
              <a:latin typeface="Calibri"/>
              <a:ea typeface="Calibri"/>
              <a:cs typeface="Calibri"/>
              <a:sym typeface="Calibri"/>
            </a:endParaRPr>
          </a:p>
        </p:txBody>
      </p:sp>
      <p:sp>
        <p:nvSpPr>
          <p:cNvPr id="350" name="Google Shape;350;p21"/>
          <p:cNvSpPr/>
          <p:nvPr/>
        </p:nvSpPr>
        <p:spPr>
          <a:xfrm>
            <a:off x="658368" y="320040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CBEF"/>
              </a:buClr>
              <a:buSzPts val="1800"/>
              <a:buFont typeface="Calibri"/>
              <a:buNone/>
            </a:pPr>
            <a:r>
              <a:rPr i="1" lang="en-US" sz="1800">
                <a:solidFill>
                  <a:srgbClr val="C9CBEF"/>
                </a:solidFill>
                <a:latin typeface="Calibri"/>
                <a:ea typeface="Calibri"/>
                <a:cs typeface="Calibri"/>
                <a:sym typeface="Calibri"/>
              </a:rPr>
              <a:t>Questions welcome.</a:t>
            </a:r>
            <a:endParaRPr sz="1800">
              <a:solidFill>
                <a:schemeClr val="dk1"/>
              </a:solidFill>
              <a:latin typeface="Calibri"/>
              <a:ea typeface="Calibri"/>
              <a:cs typeface="Calibri"/>
              <a:sym typeface="Calibri"/>
            </a:endParaRPr>
          </a:p>
        </p:txBody>
      </p:sp>
      <p:sp>
        <p:nvSpPr>
          <p:cNvPr id="351" name="Google Shape;351;p21"/>
          <p:cNvSpPr/>
          <p:nvPr/>
        </p:nvSpPr>
        <p:spPr>
          <a:xfrm>
            <a:off x="640080" y="4114800"/>
            <a:ext cx="548640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Nayoung Choi</a:t>
            </a:r>
            <a:br>
              <a:rPr b="1" lang="en-US" sz="1500">
                <a:solidFill>
                  <a:srgbClr val="FFFFFF"/>
                </a:solidFill>
                <a:latin typeface="Calibri"/>
                <a:ea typeface="Calibri"/>
                <a:cs typeface="Calibri"/>
                <a:sym typeface="Calibri"/>
              </a:rPr>
            </a:br>
            <a:r>
              <a:rPr lang="en-US" sz="1300">
                <a:solidFill>
                  <a:srgbClr val="C9CBEF"/>
                </a:solidFill>
                <a:latin typeface="Calibri"/>
                <a:ea typeface="Calibri"/>
                <a:cs typeface="Calibri"/>
                <a:sym typeface="Calibri"/>
              </a:rPr>
              <a:t>nayoung.choi@emory.edu</a:t>
            </a:r>
            <a:br>
              <a:rPr lang="en-US" sz="1300">
                <a:solidFill>
                  <a:srgbClr val="C9CBEF"/>
                </a:solidFill>
                <a:latin typeface="Calibri"/>
                <a:ea typeface="Calibri"/>
                <a:cs typeface="Calibri"/>
                <a:sym typeface="Calibri"/>
              </a:rPr>
            </a:br>
            <a:r>
              <a:rPr lang="en-US" sz="1300">
                <a:solidFill>
                  <a:srgbClr val="9EA1D6"/>
                </a:solidFill>
                <a:latin typeface="Calibri"/>
                <a:ea typeface="Calibri"/>
                <a:cs typeface="Calibri"/>
                <a:sym typeface="Calibri"/>
              </a:rPr>
              <a:t>Emory University, NLP Lab</a:t>
            </a:r>
            <a:endParaRPr sz="15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