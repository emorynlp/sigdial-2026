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315" r:id="rId2"/>
    <p:sldId id="269" r:id="rId3"/>
    <p:sldId id="257" r:id="rId4"/>
    <p:sldId id="321" r:id="rId5"/>
    <p:sldId id="327" r:id="rId6"/>
    <p:sldId id="290" r:id="rId7"/>
    <p:sldId id="289" r:id="rId8"/>
    <p:sldId id="292" r:id="rId9"/>
    <p:sldId id="328" r:id="rId10"/>
    <p:sldId id="298" r:id="rId11"/>
    <p:sldId id="329" r:id="rId12"/>
    <p:sldId id="307" r:id="rId13"/>
    <p:sldId id="308" r:id="rId14"/>
    <p:sldId id="278" r:id="rId15"/>
    <p:sldId id="311" r:id="rId16"/>
    <p:sldId id="310" r:id="rId17"/>
    <p:sldId id="323" r:id="rId18"/>
    <p:sldId id="322" r:id="rId19"/>
    <p:sldId id="314" r:id="rId20"/>
    <p:sldId id="325" r:id="rId21"/>
    <p:sldId id="316" r:id="rId22"/>
    <p:sldId id="318" r:id="rId23"/>
    <p:sldId id="326" r:id="rId24"/>
    <p:sldId id="320" r:id="rId25"/>
    <p:sldId id="285" r:id="rId26"/>
    <p:sldId id="30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310"/>
    <a:srgbClr val="073F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37"/>
    <p:restoredTop sz="94675"/>
  </p:normalViewPr>
  <p:slideViewPr>
    <p:cSldViewPr snapToGrid="0">
      <p:cViewPr>
        <p:scale>
          <a:sx n="100" d="100"/>
          <a:sy n="100" d="100"/>
        </p:scale>
        <p:origin x="26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AAC2B-C8D6-BE43-9BB2-A3B2DAA796ED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AD18-6ABA-0643-B90B-0F82F109A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5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E1B1-6A51-9137-F4D4-A1A48D750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B80AA-A134-5E6D-CF0B-6C96F071E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A5C98-6859-2D37-0465-1DB8A6AB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8A1C-23C2-2B40-839F-8BB4F7B8EA58}" type="datetime1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50F4-DCF9-55FC-32F2-CC32C61A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24BC3-0D93-B6AF-D030-3B918340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4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4A2D1-AA40-95D6-EFFB-BEF6D8D3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289B-A10E-2F91-8BE2-C487AED9C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EF1AD-FBFA-6A28-2429-3BB9068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F61E-6C69-4A43-9960-5F3D632B32C6}" type="datetime1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00BC-853F-E4F0-FD6B-65BF0DA6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4C54D-4565-246E-A7A2-88933663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4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C2BE-21C2-0701-FD95-0D150B64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AE2A7-6FEE-4CBF-F295-14874711E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743C-8384-AFA4-6CC0-7AC91536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DA4F-F028-D840-B7B7-1A06DCC34F45}" type="datetime1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FF8CC-0410-069F-004D-64A08B71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2D091-3551-2616-A15E-421D93E3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4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BD60-6ABD-CC53-998B-EBF30ED8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E50D-A148-29DE-B0D2-61BD4D131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B31F9-4FF6-D69B-8752-C5E8EBA57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3D9E3-A3B1-FF35-FD00-929A2B6BE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AFD80-CBCB-F749-8E18-4DED7E802807}" type="datetime1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A393E-A885-BCBF-2F8E-F24D0292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BE9D2-FF03-D76F-63F3-9E627035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3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C897-D260-EDBF-9ABE-C95894671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215D-2690-ABA2-B0A7-5CA1EE5A5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A3D6F-5340-2268-3FD0-DAD88CE3C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0C98E-C014-0BD9-BAF8-8B8FCE139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CE1C8-87E7-09D3-A2DD-6B04304F0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62CE5B-5D4D-E925-F853-FFFAE390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5999-33CC-D04C-A075-49BF723DA686}" type="datetime1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A796A-BD7A-B845-394F-7C1F34F3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4EBAE-CF42-556F-1F3F-18CA8245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7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4662-27BB-665D-DCF9-61A23043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FE832-7252-5753-8C42-ADFA894FE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8C35D-D796-AD4D-9C15-16ED07957F7C}" type="datetime1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0A34C-4D84-3AAC-5984-5F1A91C0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61515-DB4C-E1DA-FD06-AF19A4C7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1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276CF9-97E7-E92F-B741-9E60513A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8AC1-AD22-8349-8508-EDA20D09544D}" type="datetime1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23EB4-D0C4-E1CA-7777-120A6DB8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A72C9-3CE4-99A7-72B1-3773D7E7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6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6A29-A2A9-3EDE-CB16-47555D10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C4586-A745-3234-03C1-3FA2515D7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34862-D4AA-D996-0107-18F27F29A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9-2311-694E-A5F5-82581128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C0B2-6CF5-BC46-BC9B-224FCE6A7CA3}" type="datetime1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A53C3-7338-7A17-2D62-59C696F4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565F3-75AF-970C-C116-C6BC3A499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3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5869-73AB-D09E-DD70-13489DE8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3C4BF-4130-BBFC-5F43-830A0CC2E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859EE-E44C-8A6F-9D3A-61F5E6631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B2CF2-6734-5D55-7FAB-BEA2E1ADA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8F13-EDC6-7242-BFC1-ABA6F1739C22}" type="datetime1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AD0EB-78E3-724B-C3F4-F5E1E2B9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308B3-828D-8A88-14D9-37AB352E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1B89-C918-3F4B-3BB2-6F35C057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1CBBE-786D-1FDD-1698-D602B9A48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5690-D914-3E9B-C34A-0D72A8FA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ABC8-9934-CE42-8BD0-65A7D256672D}" type="datetime1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212DA-02AA-5499-55FB-697983B2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D8B4B-3063-591F-D255-5A52025E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4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70BF9-185C-E913-2DB6-B0DD0244B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8A8EB-35A6-46CA-4447-11D3E7B3E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6714D-8849-DD73-0696-CF10A26C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8F56-6D54-9440-ABC0-50B590232882}" type="datetime1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6608F-FB9F-921F-46B6-B93C9415E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57519-0C1D-D829-B472-07BC682E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1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C6F6F-942C-296A-A1BD-612B18C5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1DE2B-75E3-9CF5-E1B7-D60CF6F2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BD3CF-228E-0FEA-51FE-13E033944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2A907-27B8-3E47-8018-219601016564}" type="datetime1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151B-BEFE-E692-5BDC-FA2C01B69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81E4-8ECB-865A-6DF9-7E4C7B8C2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A31E1-7C5F-484D-9C19-381E4DD50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8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4E0277-8A1D-67B2-C387-BA2704CF8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4927"/>
            <a:ext cx="9144000" cy="2568388"/>
          </a:xfrm>
        </p:spPr>
        <p:txBody>
          <a:bodyPr>
            <a:normAutofit fontScale="85000" lnSpcReduction="20000"/>
          </a:bodyPr>
          <a:lstStyle/>
          <a:p>
            <a:endParaRPr lang="en-US" sz="3000" i="1" dirty="0"/>
          </a:p>
          <a:p>
            <a:r>
              <a:rPr lang="en-US" sz="30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Alina Shabaeva, John Frederick Bailyn, Owen Rambow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100" dirty="0"/>
              <a:t>Stony Brook University</a:t>
            </a:r>
          </a:p>
          <a:p>
            <a:r>
              <a:rPr lang="en-US" sz="2100" dirty="0"/>
              <a:t>Department of Linguistics</a:t>
            </a:r>
          </a:p>
          <a:p>
            <a:r>
              <a:rPr lang="en-US" sz="2100" dirty="0"/>
              <a:t>Institute for Advanced Computational Science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D9A66-9624-405E-51AD-24CCA12BCE93}"/>
              </a:ext>
            </a:extLst>
          </p:cNvPr>
          <p:cNvSpPr txBox="1"/>
          <p:nvPr/>
        </p:nvSpPr>
        <p:spPr>
          <a:xfrm>
            <a:off x="-1707776" y="672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AF54E4-C892-4C77-3BDF-33F263E5D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802"/>
            <a:ext cx="12192000" cy="3416875"/>
          </a:xfrm>
          <a:solidFill>
            <a:srgbClr val="073F91"/>
          </a:solidFill>
          <a:ln>
            <a:solidFill>
              <a:srgbClr val="073F9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LLMs Out-of-the Box Do </a:t>
            </a:r>
            <a:r>
              <a:rPr lang="en-US" b="1" dirty="0">
                <a:solidFill>
                  <a:srgbClr val="FFC00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Not</a:t>
            </a:r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 Generate Context-Appropriate Word Order in Russian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CB6C4-ADD7-7BD9-336C-5D6E1CB24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40" y="5820255"/>
            <a:ext cx="3754344" cy="872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61A34-BFA1-4E85-0057-E6E45D60F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12" y="5084754"/>
            <a:ext cx="1563739" cy="1298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86E23E-A7A5-4C7F-14D9-DA7332003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3764" y="4998676"/>
            <a:ext cx="1471000" cy="147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76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F82D979-C18B-07FD-DBB5-D9A88BB88648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ECF10-E4F2-F9F2-D78F-E330B0F8833E}"/>
              </a:ext>
            </a:extLst>
          </p:cNvPr>
          <p:cNvSpPr txBox="1"/>
          <p:nvPr/>
        </p:nvSpPr>
        <p:spPr>
          <a:xfrm>
            <a:off x="369619" y="1595021"/>
            <a:ext cx="114527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Maria             </a:t>
            </a:r>
            <a:r>
              <a:rPr lang="en-US" sz="2400" dirty="0" err="1"/>
              <a:t>čitaet</a:t>
            </a:r>
            <a:r>
              <a:rPr lang="en-US" sz="2400" dirty="0"/>
              <a:t>                      </a:t>
            </a:r>
            <a:r>
              <a:rPr lang="en-US" sz="2400" dirty="0" err="1"/>
              <a:t>knigu</a:t>
            </a:r>
            <a:r>
              <a:rPr lang="en-US" sz="2400" dirty="0"/>
              <a:t>.					</a:t>
            </a:r>
            <a:r>
              <a:rPr lang="en-US" sz="2400" i="1" dirty="0"/>
              <a:t>SVO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Maria.NOM</a:t>
            </a:r>
            <a:r>
              <a:rPr lang="en-US" sz="2400" dirty="0"/>
              <a:t> read.PRES.3SG </a:t>
            </a:r>
            <a:r>
              <a:rPr lang="en-US" sz="2400" dirty="0" err="1"/>
              <a:t>book.ACC</a:t>
            </a:r>
            <a:endParaRPr lang="en-US" sz="2400" dirty="0"/>
          </a:p>
          <a:p>
            <a:r>
              <a:rPr lang="en-US" sz="2400" i="1" dirty="0"/>
              <a:t>     ‘Maria reads a book’</a:t>
            </a:r>
          </a:p>
          <a:p>
            <a:endParaRPr lang="en-US" sz="2400" i="1" dirty="0"/>
          </a:p>
          <a:p>
            <a:r>
              <a:rPr lang="en-US" sz="2400" dirty="0"/>
              <a:t>2. Maria </a:t>
            </a:r>
            <a:r>
              <a:rPr lang="en-US" sz="2400" dirty="0" err="1"/>
              <a:t>knigu</a:t>
            </a:r>
            <a:r>
              <a:rPr lang="en-US" sz="2400" dirty="0"/>
              <a:t> </a:t>
            </a:r>
            <a:r>
              <a:rPr lang="en-US" sz="2400" dirty="0" err="1"/>
              <a:t>čitaet</a:t>
            </a:r>
            <a:r>
              <a:rPr lang="en-US" sz="2400" dirty="0"/>
              <a:t>.					 			</a:t>
            </a:r>
            <a:r>
              <a:rPr lang="en-US" sz="2400" i="1" dirty="0"/>
              <a:t>SOV</a:t>
            </a:r>
          </a:p>
          <a:p>
            <a:endParaRPr lang="en-US" sz="2400" dirty="0"/>
          </a:p>
          <a:p>
            <a:r>
              <a:rPr lang="en-US" sz="2400" dirty="0"/>
              <a:t>3. </a:t>
            </a:r>
            <a:r>
              <a:rPr lang="en-US" sz="2400" dirty="0" err="1"/>
              <a:t>Knigu</a:t>
            </a:r>
            <a:r>
              <a:rPr lang="en-US" sz="2400" dirty="0"/>
              <a:t> Maria </a:t>
            </a:r>
            <a:r>
              <a:rPr lang="en-US" sz="2400" dirty="0" err="1"/>
              <a:t>čitaet</a:t>
            </a:r>
            <a:r>
              <a:rPr lang="en-US" sz="2400" dirty="0"/>
              <a:t>.							</a:t>
            </a:r>
            <a:r>
              <a:rPr lang="en-US" sz="2400" i="1" dirty="0"/>
              <a:t>OSV</a:t>
            </a:r>
          </a:p>
          <a:p>
            <a:endParaRPr lang="en-US" sz="2400" dirty="0"/>
          </a:p>
          <a:p>
            <a:r>
              <a:rPr lang="en-US" sz="2400" dirty="0"/>
              <a:t>4. Knigu </a:t>
            </a:r>
            <a:r>
              <a:rPr lang="en-US" sz="2400" dirty="0" err="1"/>
              <a:t>čitaet</a:t>
            </a:r>
            <a:r>
              <a:rPr lang="en-US" sz="2400" dirty="0"/>
              <a:t> Maria.							</a:t>
            </a:r>
            <a:r>
              <a:rPr lang="en-US" sz="2400" i="1" dirty="0"/>
              <a:t>OVS</a:t>
            </a:r>
          </a:p>
          <a:p>
            <a:endParaRPr lang="en-US" sz="2400" i="1" dirty="0"/>
          </a:p>
          <a:p>
            <a:r>
              <a:rPr lang="en-US" sz="2400" dirty="0"/>
              <a:t>5. Čitaet Maria </a:t>
            </a:r>
            <a:r>
              <a:rPr lang="en-US" sz="2400" dirty="0" err="1"/>
              <a:t>knigu</a:t>
            </a:r>
            <a:r>
              <a:rPr lang="en-US" sz="2400" dirty="0"/>
              <a:t>.							</a:t>
            </a:r>
            <a:r>
              <a:rPr lang="en-US" sz="2400" i="1" dirty="0"/>
              <a:t>VSO</a:t>
            </a:r>
          </a:p>
          <a:p>
            <a:endParaRPr lang="en-US" sz="2400" dirty="0"/>
          </a:p>
          <a:p>
            <a:r>
              <a:rPr lang="en-US" sz="2400" dirty="0"/>
              <a:t>6. </a:t>
            </a:r>
            <a:r>
              <a:rPr lang="en-US" sz="2400" dirty="0" err="1"/>
              <a:t>Čitaet</a:t>
            </a:r>
            <a:r>
              <a:rPr lang="en-US" sz="2400" dirty="0"/>
              <a:t> </a:t>
            </a:r>
            <a:r>
              <a:rPr lang="en-US" sz="2400" dirty="0" err="1"/>
              <a:t>knigu</a:t>
            </a:r>
            <a:r>
              <a:rPr lang="en-US" sz="2400" dirty="0"/>
              <a:t> Maria.							</a:t>
            </a:r>
            <a:r>
              <a:rPr lang="en-US" sz="2400" i="1" dirty="0"/>
              <a:t>VOS</a:t>
            </a:r>
          </a:p>
          <a:p>
            <a:endParaRPr lang="en-US" sz="2400" i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89E0DB-B72D-9F0D-DB80-6B3D1576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2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97F7DB0-67A2-06FC-F613-CDC21A0AB02F}"/>
              </a:ext>
            </a:extLst>
          </p:cNvPr>
          <p:cNvSpPr txBox="1">
            <a:spLocks/>
          </p:cNvSpPr>
          <p:nvPr/>
        </p:nvSpPr>
        <p:spPr>
          <a:xfrm>
            <a:off x="369618" y="62790"/>
            <a:ext cx="11452761" cy="1462088"/>
          </a:xfrm>
          <a:prstGeom prst="rect">
            <a:avLst/>
          </a:prstGeom>
          <a:solidFill>
            <a:srgbClr val="073F91"/>
          </a:solidFill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Word Order Variation in Russian</a:t>
            </a:r>
          </a:p>
        </p:txBody>
      </p:sp>
    </p:spTree>
    <p:extLst>
      <p:ext uri="{BB962C8B-B14F-4D97-AF65-F5344CB8AC3E}">
        <p14:creationId xmlns:p14="http://schemas.microsoft.com/office/powerpoint/2010/main" val="747018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32CE71-07FB-052B-7CEA-5314AB0EDF03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DE8679E-85E1-D641-7A62-DD0E9F03D7AB}"/>
              </a:ext>
            </a:extLst>
          </p:cNvPr>
          <p:cNvGrpSpPr/>
          <p:nvPr/>
        </p:nvGrpSpPr>
        <p:grpSpPr>
          <a:xfrm>
            <a:off x="369618" y="1984025"/>
            <a:ext cx="11626439" cy="1822042"/>
            <a:chOff x="838200" y="1653484"/>
            <a:chExt cx="11157857" cy="18220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CE10D7-4112-1F35-B3B1-FA058938BF71}"/>
                </a:ext>
              </a:extLst>
            </p:cNvPr>
            <p:cNvSpPr txBox="1"/>
            <p:nvPr/>
          </p:nvSpPr>
          <p:spPr>
            <a:xfrm>
              <a:off x="838200" y="1660967"/>
              <a:ext cx="52578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- </a:t>
              </a:r>
              <a:r>
                <a:rPr lang="en-US" sz="2400" dirty="0" err="1"/>
                <a:t>Нет</a:t>
              </a:r>
              <a:r>
                <a:rPr lang="en-US" sz="2400" dirty="0"/>
                <a:t>, </a:t>
              </a:r>
              <a:r>
                <a:rPr lang="en-US" sz="2400" dirty="0" err="1"/>
                <a:t>я</a:t>
              </a:r>
              <a:r>
                <a:rPr lang="en-US" sz="2400" dirty="0"/>
                <a:t> </a:t>
              </a:r>
              <a:r>
                <a:rPr lang="en-US" sz="2400" dirty="0" err="1"/>
                <a:t>работаю</a:t>
              </a:r>
              <a:r>
                <a:rPr lang="en-US" sz="2400" dirty="0"/>
                <a:t> </a:t>
              </a:r>
              <a:r>
                <a:rPr lang="en-US" sz="2400" dirty="0" err="1"/>
                <a:t>в</a:t>
              </a:r>
              <a:r>
                <a:rPr lang="en-US" sz="2400" dirty="0"/>
                <a:t> </a:t>
              </a:r>
              <a:r>
                <a:rPr lang="en-US" sz="2400" dirty="0" err="1"/>
                <a:t>кино</a:t>
              </a:r>
              <a:r>
                <a:rPr lang="en-US" sz="2400" dirty="0"/>
                <a:t>.</a:t>
              </a:r>
            </a:p>
            <a:p>
              <a:r>
                <a:rPr lang="en-US" sz="2400" dirty="0"/>
                <a:t>- </a:t>
              </a:r>
              <a:r>
                <a:rPr lang="en-US" sz="2400" dirty="0" err="1"/>
                <a:t>Я</a:t>
              </a:r>
              <a:r>
                <a:rPr lang="en-US" sz="2400" dirty="0"/>
                <a:t> </a:t>
              </a:r>
              <a:r>
                <a:rPr lang="en-US" sz="2400" dirty="0" err="1"/>
                <a:t>и</a:t>
              </a:r>
              <a:r>
                <a:rPr lang="en-US" sz="2400" dirty="0"/>
                <a:t> </a:t>
              </a:r>
              <a:r>
                <a:rPr lang="en-US" sz="2400" dirty="0" err="1"/>
                <a:t>режиссер</a:t>
              </a:r>
              <a:r>
                <a:rPr lang="en-US" sz="2400" dirty="0"/>
                <a:t>, </a:t>
              </a:r>
              <a:r>
                <a:rPr lang="en-US" sz="2400" dirty="0" err="1"/>
                <a:t>и</a:t>
              </a:r>
              <a:r>
                <a:rPr lang="en-US" sz="2400" dirty="0"/>
                <a:t> </a:t>
              </a:r>
              <a:r>
                <a:rPr lang="en-US" sz="2400" dirty="0" err="1"/>
                <a:t>актер</a:t>
              </a:r>
              <a:r>
                <a:rPr lang="en-US" sz="2400" dirty="0"/>
                <a:t>, </a:t>
              </a:r>
              <a:r>
                <a:rPr lang="en-US" sz="2400" dirty="0" err="1"/>
                <a:t>и</a:t>
              </a:r>
              <a:r>
                <a:rPr lang="en-US" sz="2400" dirty="0"/>
                <a:t> </a:t>
              </a:r>
              <a:r>
                <a:rPr lang="en-US" sz="2400" dirty="0" err="1"/>
                <a:t>сценарист</a:t>
              </a:r>
              <a:r>
                <a:rPr lang="en-US" sz="2400" dirty="0"/>
                <a:t> </a:t>
              </a:r>
              <a:r>
                <a:rPr lang="en-US" sz="2400" dirty="0" err="1"/>
                <a:t>и</a:t>
              </a:r>
              <a:r>
                <a:rPr lang="en-US" sz="2400" dirty="0"/>
                <a:t> </a:t>
              </a:r>
              <a:r>
                <a:rPr lang="en-US" sz="2400" dirty="0" err="1"/>
                <a:t>продюсер</a:t>
              </a:r>
              <a:r>
                <a:rPr lang="en-US" sz="2400" dirty="0"/>
                <a:t>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0FD7AB-8E60-7334-C79D-712E9F3385BE}"/>
                </a:ext>
              </a:extLst>
            </p:cNvPr>
            <p:cNvSpPr txBox="1"/>
            <p:nvPr/>
          </p:nvSpPr>
          <p:spPr>
            <a:xfrm>
              <a:off x="838200" y="2986530"/>
              <a:ext cx="5495591" cy="461665"/>
            </a:xfrm>
            <a:prstGeom prst="rect">
              <a:avLst/>
            </a:prstGeom>
            <a:solidFill>
              <a:srgbClr val="FAB310"/>
            </a:solidFill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- </a:t>
              </a:r>
              <a:r>
                <a:rPr lang="en-US" sz="2400" b="1" dirty="0" err="1">
                  <a:solidFill>
                    <a:schemeClr val="bg1"/>
                  </a:solidFill>
                </a:rPr>
                <a:t>Вы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меня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дурачите</a:t>
              </a:r>
              <a:r>
                <a:rPr lang="en-US" sz="2400" b="1" dirty="0">
                  <a:solidFill>
                    <a:schemeClr val="bg1"/>
                  </a:solidFill>
                </a:rPr>
                <a:t>! 	</a:t>
              </a:r>
              <a:r>
                <a:rPr lang="en-US" sz="2400" b="1" dirty="0">
                  <a:solidFill>
                    <a:srgbClr val="FF0000"/>
                  </a:solidFill>
                </a:rPr>
                <a:t>	</a:t>
              </a:r>
              <a:r>
                <a:rPr lang="en-US" sz="2400" b="1" dirty="0">
                  <a:solidFill>
                    <a:srgbClr val="FFFF00"/>
                  </a:solidFill>
                </a:rPr>
                <a:t>    </a:t>
              </a:r>
              <a:r>
                <a:rPr lang="en-US" sz="2400" b="1" i="1" dirty="0"/>
                <a:t>SOV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32CFB8-893D-0973-FFBD-6D0DBD397BF4}"/>
                </a:ext>
              </a:extLst>
            </p:cNvPr>
            <p:cNvSpPr txBox="1"/>
            <p:nvPr/>
          </p:nvSpPr>
          <p:spPr>
            <a:xfrm>
              <a:off x="6934200" y="1653484"/>
              <a:ext cx="506185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- No, I work in film.</a:t>
              </a:r>
            </a:p>
            <a:p>
              <a:r>
                <a:rPr lang="en-US" sz="2400" dirty="0"/>
                <a:t>- I am a director, an actor, a screenwriter, and a producer.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3D0E4F-F158-BE9A-DB2D-EB8739B453C6}"/>
                </a:ext>
              </a:extLst>
            </p:cNvPr>
            <p:cNvSpPr txBox="1"/>
            <p:nvPr/>
          </p:nvSpPr>
          <p:spPr>
            <a:xfrm>
              <a:off x="6934200" y="3013861"/>
              <a:ext cx="3048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FAB310"/>
                  </a:solidFill>
                </a:rPr>
                <a:t>- You're fooling me!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CAAD6FD-2A40-5253-46C2-4C2A0ECA183F}"/>
                </a:ext>
              </a:extLst>
            </p:cNvPr>
            <p:cNvCxnSpPr/>
            <p:nvPr/>
          </p:nvCxnSpPr>
          <p:spPr>
            <a:xfrm>
              <a:off x="6749984" y="1672679"/>
              <a:ext cx="0" cy="17755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CC411A1-BC2D-B54E-1E2D-8B68B347F921}"/>
              </a:ext>
            </a:extLst>
          </p:cNvPr>
          <p:cNvGrpSpPr/>
          <p:nvPr/>
        </p:nvGrpSpPr>
        <p:grpSpPr>
          <a:xfrm>
            <a:off x="369618" y="4257078"/>
            <a:ext cx="10984182" cy="1914372"/>
            <a:chOff x="838200" y="4046526"/>
            <a:chExt cx="10515600" cy="191437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AFA4D6-5C6B-FDFF-7843-FB0AED463A0E}"/>
                </a:ext>
              </a:extLst>
            </p:cNvPr>
            <p:cNvSpPr txBox="1"/>
            <p:nvPr/>
          </p:nvSpPr>
          <p:spPr>
            <a:xfrm>
              <a:off x="838200" y="4157138"/>
              <a:ext cx="60960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- </a:t>
              </a:r>
              <a:r>
                <a:rPr lang="en-US" sz="2400" dirty="0" err="1"/>
                <a:t>Ты</a:t>
              </a:r>
              <a:r>
                <a:rPr lang="en-US" sz="2400" dirty="0"/>
                <a:t> </a:t>
              </a:r>
              <a:r>
                <a:rPr lang="en-US" sz="2400" dirty="0" err="1"/>
                <a:t>рассказала</a:t>
              </a:r>
              <a:r>
                <a:rPr lang="en-US" sz="2400" dirty="0"/>
                <a:t> </a:t>
              </a:r>
              <a:r>
                <a:rPr lang="en-US" sz="2400" dirty="0" err="1"/>
                <a:t>его</a:t>
              </a:r>
              <a:r>
                <a:rPr lang="en-US" sz="2400" dirty="0"/>
                <a:t> </a:t>
              </a:r>
              <a:r>
                <a:rPr lang="en-US" sz="2400" dirty="0" err="1"/>
                <a:t>пятидесяти</a:t>
              </a:r>
              <a:r>
                <a:rPr lang="en-US" sz="2400" dirty="0"/>
                <a:t> </a:t>
              </a:r>
              <a:r>
                <a:rPr lang="en-US" sz="2400" dirty="0" err="1"/>
                <a:t>миллионам</a:t>
              </a:r>
              <a:r>
                <a:rPr lang="en-US" sz="2400" dirty="0"/>
                <a:t> </a:t>
              </a:r>
              <a:r>
                <a:rPr lang="en-US" sz="2400" dirty="0" err="1"/>
                <a:t>зрителей</a:t>
              </a:r>
              <a:r>
                <a:rPr lang="en-US" sz="2400" dirty="0"/>
                <a:t>, </a:t>
              </a:r>
              <a:r>
                <a:rPr lang="en-US" sz="2400" dirty="0" err="1"/>
                <a:t>а</a:t>
              </a:r>
              <a:r>
                <a:rPr lang="en-US" sz="2400" dirty="0"/>
                <a:t> </a:t>
              </a:r>
              <a:r>
                <a:rPr lang="en-US" sz="2400" dirty="0" err="1"/>
                <a:t>мне</a:t>
              </a:r>
              <a:r>
                <a:rPr lang="en-US" sz="2400" dirty="0"/>
                <a:t> </a:t>
              </a:r>
              <a:r>
                <a:rPr lang="en-US" sz="2400" dirty="0" err="1"/>
                <a:t>не</a:t>
              </a:r>
              <a:r>
                <a:rPr lang="en-US" sz="2400" dirty="0"/>
                <a:t> </a:t>
              </a:r>
              <a:r>
                <a:rPr lang="en-US" sz="2400" dirty="0" err="1"/>
                <a:t>хочешь</a:t>
              </a:r>
              <a:r>
                <a:rPr lang="en-US" sz="2400" dirty="0"/>
                <a:t>?</a:t>
              </a:r>
            </a:p>
            <a:p>
              <a:r>
                <a:rPr lang="en-US" sz="2400" dirty="0"/>
                <a:t>- </a:t>
              </a:r>
              <a:r>
                <a:rPr lang="en-US" sz="2400" dirty="0" err="1"/>
                <a:t>Обещаю</a:t>
              </a:r>
              <a:r>
                <a:rPr lang="en-US" sz="2400" dirty="0"/>
                <a:t>, </a:t>
              </a:r>
              <a:r>
                <a:rPr lang="en-US" sz="2400" dirty="0" err="1"/>
                <a:t>я</a:t>
              </a:r>
              <a:r>
                <a:rPr lang="en-US" sz="2400" dirty="0"/>
                <a:t> </a:t>
              </a:r>
              <a:r>
                <a:rPr lang="en-US" sz="2400" dirty="0" err="1"/>
                <a:t>не</a:t>
              </a:r>
              <a:r>
                <a:rPr lang="en-US" sz="2400" dirty="0"/>
                <a:t> </a:t>
              </a:r>
              <a:r>
                <a:rPr lang="en-US" sz="2400" dirty="0" err="1"/>
                <a:t>буду</a:t>
              </a:r>
              <a:r>
                <a:rPr lang="en-US" sz="2400" dirty="0"/>
                <a:t> </a:t>
              </a:r>
              <a:r>
                <a:rPr lang="en-US" sz="2400" dirty="0" err="1"/>
                <a:t>смеяться</a:t>
              </a:r>
              <a:r>
                <a:rPr lang="en-US" sz="2400" dirty="0"/>
                <a:t>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7CE5CA-69C4-FECD-85C3-6E98E1E8E508}"/>
                </a:ext>
              </a:extLst>
            </p:cNvPr>
            <p:cNvSpPr txBox="1"/>
            <p:nvPr/>
          </p:nvSpPr>
          <p:spPr>
            <a:xfrm>
              <a:off x="838200" y="5420079"/>
              <a:ext cx="609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2400" b="1" i="1" dirty="0">
                <a:solidFill>
                  <a:srgbClr val="7030A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679A19B-AA6D-F9F1-5772-D98A269E6475}"/>
                </a:ext>
              </a:extLst>
            </p:cNvPr>
            <p:cNvSpPr txBox="1"/>
            <p:nvPr/>
          </p:nvSpPr>
          <p:spPr>
            <a:xfrm>
              <a:off x="6934200" y="4173701"/>
              <a:ext cx="4419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- You told it to fifty million viewers, but you won't tell me?</a:t>
              </a:r>
            </a:p>
            <a:p>
              <a:r>
                <a:rPr lang="en-US" sz="2400" dirty="0"/>
                <a:t>- I promise I won't laugh.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0C8CD84-9648-5EE0-72AD-C123E5BFD1CA}"/>
                </a:ext>
              </a:extLst>
            </p:cNvPr>
            <p:cNvSpPr txBox="1"/>
            <p:nvPr/>
          </p:nvSpPr>
          <p:spPr>
            <a:xfrm>
              <a:off x="6934200" y="5499233"/>
              <a:ext cx="44196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FAB310"/>
                  </a:solidFill>
                </a:rPr>
                <a:t>- That is exactly what I fear.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AB2F45C-DC85-A463-D9E7-41739D1E820A}"/>
                </a:ext>
              </a:extLst>
            </p:cNvPr>
            <p:cNvCxnSpPr/>
            <p:nvPr/>
          </p:nvCxnSpPr>
          <p:spPr>
            <a:xfrm>
              <a:off x="6744306" y="4046526"/>
              <a:ext cx="0" cy="17755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C33A717-986D-8F29-8A8C-BA19E24F655C}"/>
              </a:ext>
            </a:extLst>
          </p:cNvPr>
          <p:cNvSpPr txBox="1">
            <a:spLocks/>
          </p:cNvSpPr>
          <p:nvPr/>
        </p:nvSpPr>
        <p:spPr>
          <a:xfrm>
            <a:off x="369619" y="-6942"/>
            <a:ext cx="11452761" cy="1462088"/>
          </a:xfrm>
          <a:prstGeom prst="rect">
            <a:avLst/>
          </a:prstGeom>
          <a:noFill/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82DA9-DE5D-ED1C-BAFA-0E6ED094D6BC}"/>
              </a:ext>
            </a:extLst>
          </p:cNvPr>
          <p:cNvSpPr txBox="1"/>
          <p:nvPr/>
        </p:nvSpPr>
        <p:spPr>
          <a:xfrm>
            <a:off x="369618" y="5709785"/>
            <a:ext cx="5726382" cy="461665"/>
          </a:xfrm>
          <a:prstGeom prst="rect">
            <a:avLst/>
          </a:prstGeom>
          <a:solidFill>
            <a:srgbClr val="FAB310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- </a:t>
            </a:r>
            <a:r>
              <a:rPr lang="en-US" sz="2400" b="1" dirty="0" err="1">
                <a:solidFill>
                  <a:schemeClr val="bg1"/>
                </a:solidFill>
              </a:rPr>
              <a:t>Этого-то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я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и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опасаюсь</a:t>
            </a:r>
            <a:r>
              <a:rPr lang="en-US" sz="2400" b="1" dirty="0">
                <a:solidFill>
                  <a:schemeClr val="bg1"/>
                </a:solidFill>
              </a:rPr>
              <a:t>. 	</a:t>
            </a:r>
            <a:r>
              <a:rPr lang="en-US" sz="2400" b="1" dirty="0">
                <a:solidFill>
                  <a:srgbClr val="FF0000"/>
                </a:solidFill>
              </a:rPr>
              <a:t>	 </a:t>
            </a:r>
            <a:r>
              <a:rPr lang="en-US" sz="2400" b="1" dirty="0">
                <a:solidFill>
                  <a:srgbClr val="FFFF00"/>
                </a:solidFill>
              </a:rPr>
              <a:t>  </a:t>
            </a:r>
            <a:r>
              <a:rPr lang="en-US" sz="2400" b="1" i="1" dirty="0"/>
              <a:t>OSV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834509-5288-1B10-7BAB-B97BC92D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2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CD91-51E8-0AF3-A814-7725659A4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9917D62-60B9-9026-DE99-EA34EDF5A507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F030CCF-5E44-A8AB-EFCA-B5B27CC6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4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BC63C4E-70EC-9E13-0A16-98B0A6C23B8A}"/>
              </a:ext>
            </a:extLst>
          </p:cNvPr>
          <p:cNvSpPr txBox="1">
            <a:spLocks/>
          </p:cNvSpPr>
          <p:nvPr/>
        </p:nvSpPr>
        <p:spPr>
          <a:xfrm>
            <a:off x="369615" y="35298"/>
            <a:ext cx="11452761" cy="1462088"/>
          </a:xfrm>
          <a:prstGeom prst="rect">
            <a:avLst/>
          </a:prstGeom>
          <a:solidFill>
            <a:srgbClr val="073F91"/>
          </a:solidFill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Research Questions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DC401D-93E3-C40F-EC5F-A8468187E4A3}"/>
              </a:ext>
            </a:extLst>
          </p:cNvPr>
          <p:cNvSpPr/>
          <p:nvPr/>
        </p:nvSpPr>
        <p:spPr>
          <a:xfrm>
            <a:off x="-3" y="2579390"/>
            <a:ext cx="12191999" cy="2850776"/>
          </a:xfrm>
          <a:prstGeom prst="roundRect">
            <a:avLst/>
          </a:prstGeom>
          <a:solidFill>
            <a:srgbClr val="FAB3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3600" dirty="0"/>
              <a:t>What </a:t>
            </a:r>
            <a:r>
              <a:rPr lang="en-US" sz="3600" b="1" dirty="0"/>
              <a:t>features</a:t>
            </a:r>
            <a:r>
              <a:rPr lang="en-US" sz="3600" dirty="0"/>
              <a:t> influence surface word order in Russian?</a:t>
            </a:r>
          </a:p>
          <a:p>
            <a:pPr marL="342900" indent="-342900">
              <a:buAutoNum type="arabicPeriod"/>
            </a:pPr>
            <a:endParaRPr lang="en-US" sz="3600" dirty="0"/>
          </a:p>
          <a:p>
            <a:pPr marL="342900" indent="-342900">
              <a:buAutoNum type="arabicPeriod"/>
            </a:pPr>
            <a:r>
              <a:rPr lang="en-US" sz="3600" dirty="0"/>
              <a:t>Can </a:t>
            </a:r>
            <a:r>
              <a:rPr lang="en-US" sz="3600" b="1" dirty="0"/>
              <a:t>LLMs</a:t>
            </a:r>
            <a:r>
              <a:rPr lang="en-US" sz="3600" dirty="0"/>
              <a:t> generate various word orders in Russian, or do they default to the canonical SVO order?</a:t>
            </a:r>
          </a:p>
        </p:txBody>
      </p:sp>
    </p:spTree>
    <p:extLst>
      <p:ext uri="{BB962C8B-B14F-4D97-AF65-F5344CB8AC3E}">
        <p14:creationId xmlns:p14="http://schemas.microsoft.com/office/powerpoint/2010/main" val="8397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02E1B-776A-19DA-FD77-FC39A4D3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C0FCAEF-2BDB-8EE8-E216-032DE2FBC7EA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55110E-DD38-A5B3-EECC-1BECA525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2DD0F90-81B3-C041-B47D-AF652FF3B8A4}"/>
              </a:ext>
            </a:extLst>
          </p:cNvPr>
          <p:cNvSpPr txBox="1">
            <a:spLocks/>
          </p:cNvSpPr>
          <p:nvPr/>
        </p:nvSpPr>
        <p:spPr>
          <a:xfrm>
            <a:off x="369615" y="35298"/>
            <a:ext cx="11452761" cy="1462088"/>
          </a:xfrm>
          <a:prstGeom prst="rect">
            <a:avLst/>
          </a:prstGeom>
          <a:solidFill>
            <a:srgbClr val="073F91"/>
          </a:solidFill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Outline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80883AF-4893-CEE5-CD15-A74C9367277E}"/>
              </a:ext>
            </a:extLst>
          </p:cNvPr>
          <p:cNvSpPr/>
          <p:nvPr/>
        </p:nvSpPr>
        <p:spPr>
          <a:xfrm>
            <a:off x="241296" y="2032878"/>
            <a:ext cx="8585202" cy="849610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7215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4800" b="1" dirty="0"/>
              <a:t> Corpus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B5F8557-6145-9C34-4FF7-E1C6981FA1AF}"/>
              </a:ext>
            </a:extLst>
          </p:cNvPr>
          <p:cNvSpPr/>
          <p:nvPr/>
        </p:nvSpPr>
        <p:spPr>
          <a:xfrm>
            <a:off x="241297" y="3429000"/>
            <a:ext cx="8585203" cy="849610"/>
          </a:xfrm>
          <a:prstGeom prst="roundRect">
            <a:avLst/>
          </a:prstGeom>
          <a:solidFill>
            <a:srgbClr val="073F91">
              <a:alpha val="70000"/>
            </a:srgbClr>
          </a:solidFill>
          <a:effectLst>
            <a:outerShdw blurRad="50800" dist="38100" dir="18900000" algn="bl" rotWithShape="0">
              <a:prstClr val="black">
                <a:alpha val="7267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0" dirty="0"/>
              <a:t>2.</a:t>
            </a:r>
            <a:r>
              <a:rPr lang="en-US" sz="4500" b="1" dirty="0"/>
              <a:t> </a:t>
            </a:r>
            <a:r>
              <a:rPr lang="en-US" sz="4500" dirty="0"/>
              <a:t>Machine Learning Experiments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F1F699-BAA5-43BC-1CF8-C7EBEBAA3AC6}"/>
              </a:ext>
            </a:extLst>
          </p:cNvPr>
          <p:cNvSpPr/>
          <p:nvPr/>
        </p:nvSpPr>
        <p:spPr>
          <a:xfrm>
            <a:off x="241296" y="4786610"/>
            <a:ext cx="8585203" cy="849610"/>
          </a:xfrm>
          <a:prstGeom prst="roundRect">
            <a:avLst/>
          </a:prstGeom>
          <a:solidFill>
            <a:srgbClr val="073F91">
              <a:alpha val="70000"/>
            </a:srgbClr>
          </a:solidFill>
          <a:effectLst>
            <a:outerShdw blurRad="50800" dist="38100" dir="18900000" algn="bl" rotWithShape="0">
              <a:prstClr val="black">
                <a:alpha val="73142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0" dirty="0"/>
              <a:t>3.</a:t>
            </a:r>
            <a:r>
              <a:rPr lang="en-US" sz="4500" b="1" dirty="0"/>
              <a:t> </a:t>
            </a:r>
            <a:r>
              <a:rPr lang="en-US" sz="4500" dirty="0"/>
              <a:t>LLM Experiments</a:t>
            </a:r>
          </a:p>
        </p:txBody>
      </p:sp>
    </p:spTree>
    <p:extLst>
      <p:ext uri="{BB962C8B-B14F-4D97-AF65-F5344CB8AC3E}">
        <p14:creationId xmlns:p14="http://schemas.microsoft.com/office/powerpoint/2010/main" val="238065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444B-C0D2-F786-2FEF-BB284E13F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AEB2CC2-691B-AD70-D5DD-2F6368EA02FF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CB8812-DA2D-1FB4-E593-38045BEC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49376F7-04EA-CA92-7EE9-C2045A560A39}"/>
              </a:ext>
            </a:extLst>
          </p:cNvPr>
          <p:cNvSpPr txBox="1">
            <a:spLocks/>
          </p:cNvSpPr>
          <p:nvPr/>
        </p:nvSpPr>
        <p:spPr>
          <a:xfrm>
            <a:off x="321228" y="71131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Corpus &amp; Data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F07C7-A5AB-1B30-3655-D58CE2449AFF}"/>
              </a:ext>
            </a:extLst>
          </p:cNvPr>
          <p:cNvSpPr txBox="1"/>
          <p:nvPr/>
        </p:nvSpPr>
        <p:spPr>
          <a:xfrm>
            <a:off x="294531" y="2170899"/>
            <a:ext cx="116029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Based on the Movie Scripts dataset (Lisovsky, 2019);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20 film scripts translated into Russian;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Genres: crime, comedy, drama, thriller (1992-2012);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10 scripts manually edited so that it can be used as a dialogue corpus;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We removed screenplay elements such as camera instructions, scene descriptions and speaker names.</a:t>
            </a:r>
          </a:p>
        </p:txBody>
      </p:sp>
    </p:spTree>
    <p:extLst>
      <p:ext uri="{BB962C8B-B14F-4D97-AF65-F5344CB8AC3E}">
        <p14:creationId xmlns:p14="http://schemas.microsoft.com/office/powerpoint/2010/main" val="28138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D7D3EB8-9B69-9DE2-8C04-DDCF8CF9CC93}"/>
              </a:ext>
            </a:extLst>
          </p:cNvPr>
          <p:cNvSpPr txBox="1"/>
          <p:nvPr/>
        </p:nvSpPr>
        <p:spPr>
          <a:xfrm>
            <a:off x="354106" y="3429000"/>
            <a:ext cx="1085649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E2041"/>
                </a:solidFill>
              </a:rPr>
              <a:t>2. Preceding</a:t>
            </a:r>
            <a:r>
              <a:rPr lang="en-US" sz="2800" dirty="0">
                <a:solidFill>
                  <a:srgbClr val="1E2041"/>
                </a:solidFill>
              </a:rPr>
              <a:t> </a:t>
            </a:r>
            <a:r>
              <a:rPr lang="en-US" sz="2800" b="1" dirty="0">
                <a:solidFill>
                  <a:srgbClr val="1E2041"/>
                </a:solidFill>
              </a:rPr>
              <a:t>context</a:t>
            </a:r>
          </a:p>
          <a:p>
            <a:endParaRPr lang="en-US" sz="2800" dirty="0">
              <a:solidFill>
                <a:srgbClr val="FF0000"/>
              </a:solidFill>
            </a:endParaRPr>
          </a:p>
          <a:p>
            <a:pPr lvl="1"/>
            <a:endParaRPr lang="en-US" sz="2400" i="1" dirty="0">
              <a:solidFill>
                <a:srgbClr val="073F91"/>
              </a:solidFill>
            </a:endParaRPr>
          </a:p>
          <a:p>
            <a:pPr lvl="1"/>
            <a:endParaRPr lang="en-US" sz="2400" i="1" dirty="0">
              <a:solidFill>
                <a:srgbClr val="073F91"/>
              </a:solidFill>
            </a:endParaRPr>
          </a:p>
          <a:p>
            <a:pPr lvl="1"/>
            <a:endParaRPr lang="en-US" sz="2400" i="1" dirty="0">
              <a:solidFill>
                <a:srgbClr val="073F91"/>
              </a:solidFill>
            </a:endParaRPr>
          </a:p>
          <a:p>
            <a:pPr lvl="1"/>
            <a:endParaRPr lang="en-US" sz="2400" i="1" dirty="0">
              <a:solidFill>
                <a:srgbClr val="073F91"/>
              </a:solidFill>
            </a:endParaRPr>
          </a:p>
          <a:p>
            <a:pPr lvl="1"/>
            <a:r>
              <a:rPr lang="en-US" sz="2500" i="1" dirty="0">
                <a:solidFill>
                  <a:srgbClr val="FAB310"/>
                </a:solidFill>
              </a:rPr>
              <a:t> - </a:t>
            </a:r>
            <a:r>
              <a:rPr lang="ru-RU" sz="2500" i="1" dirty="0">
                <a:solidFill>
                  <a:srgbClr val="FAB310"/>
                </a:solidFill>
              </a:rPr>
              <a:t>Я тебя люблю. </a:t>
            </a:r>
            <a:r>
              <a:rPr lang="en-US" sz="2500" i="1" dirty="0">
                <a:solidFill>
                  <a:srgbClr val="073F91"/>
                </a:solidFill>
              </a:rPr>
              <a:t>	</a:t>
            </a:r>
            <a:r>
              <a:rPr lang="en-US" sz="2500" i="1" dirty="0">
                <a:solidFill>
                  <a:srgbClr val="1E2041"/>
                </a:solidFill>
              </a:rPr>
              <a:t>	</a:t>
            </a:r>
            <a:r>
              <a:rPr lang="en-US" sz="2500" b="1" i="1" dirty="0">
                <a:solidFill>
                  <a:srgbClr val="1E2041"/>
                </a:solidFill>
              </a:rPr>
              <a:t>SOV</a:t>
            </a:r>
            <a:r>
              <a:rPr lang="en-US" sz="2500" i="1" dirty="0">
                <a:solidFill>
                  <a:srgbClr val="1E2041"/>
                </a:solidFill>
              </a:rPr>
              <a:t> 	       </a:t>
            </a:r>
            <a:r>
              <a:rPr lang="en-US" sz="2500" i="1" dirty="0">
                <a:solidFill>
                  <a:srgbClr val="073F91"/>
                </a:solidFill>
              </a:rPr>
              <a:t>- I love you.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8CD81A-3CD5-0FB5-A45A-E987A1D95B6B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E6E60-0867-4DF4-A7C4-DFBEA51E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18320"/>
            <a:ext cx="10515600" cy="1506558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Building the Corpus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01923-D4B2-A8B7-7286-E28035B15168}"/>
              </a:ext>
            </a:extLst>
          </p:cNvPr>
          <p:cNvSpPr txBox="1"/>
          <p:nvPr/>
        </p:nvSpPr>
        <p:spPr>
          <a:xfrm>
            <a:off x="354106" y="1751315"/>
            <a:ext cx="1150769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>
                <a:solidFill>
                  <a:srgbClr val="1E2041"/>
                </a:solidFill>
              </a:rPr>
              <a:t>Word order </a:t>
            </a:r>
            <a:r>
              <a:rPr lang="en-US" sz="2800" dirty="0">
                <a:solidFill>
                  <a:srgbClr val="1E2041"/>
                </a:solidFill>
              </a:rPr>
              <a:t>information based on dependency relations (Stanza)</a:t>
            </a:r>
          </a:p>
          <a:p>
            <a:endParaRPr lang="en-US" sz="2800" dirty="0">
              <a:solidFill>
                <a:srgbClr val="1E2041"/>
              </a:solidFill>
            </a:endParaRPr>
          </a:p>
          <a:p>
            <a:pPr lvl="1"/>
            <a:r>
              <a:rPr lang="ru-RU" sz="2500" i="1" dirty="0">
                <a:solidFill>
                  <a:srgbClr val="FAB310"/>
                </a:solidFill>
              </a:rPr>
              <a:t>Вопросы тут задаю я.</a:t>
            </a:r>
            <a:r>
              <a:rPr lang="en-US" sz="2500" i="1" dirty="0">
                <a:solidFill>
                  <a:srgbClr val="073F91"/>
                </a:solidFill>
              </a:rPr>
              <a:t>	</a:t>
            </a:r>
            <a:r>
              <a:rPr lang="en-US" sz="2500" b="1" i="1" dirty="0">
                <a:solidFill>
                  <a:srgbClr val="1E2041"/>
                </a:solidFill>
              </a:rPr>
              <a:t>OVS</a:t>
            </a:r>
            <a:r>
              <a:rPr lang="en-US" sz="2500" i="1" dirty="0">
                <a:solidFill>
                  <a:srgbClr val="1E2041"/>
                </a:solidFill>
              </a:rPr>
              <a:t> 	</a:t>
            </a:r>
            <a:r>
              <a:rPr lang="en-US" sz="2500" i="1" dirty="0">
                <a:solidFill>
                  <a:srgbClr val="FAB310"/>
                </a:solidFill>
              </a:rPr>
              <a:t>   </a:t>
            </a:r>
            <a:r>
              <a:rPr lang="en-US" sz="2500" i="1" dirty="0">
                <a:solidFill>
                  <a:srgbClr val="073F91"/>
                </a:solidFill>
              </a:rPr>
              <a:t>I’m the one asking the questions here.</a:t>
            </a:r>
            <a:endParaRPr lang="ru-RU" sz="2500" dirty="0">
              <a:solidFill>
                <a:srgbClr val="073F9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A5C7B1-4F05-6992-89FF-1CF01EA6F3D7}"/>
              </a:ext>
            </a:extLst>
          </p:cNvPr>
          <p:cNvSpPr/>
          <p:nvPr/>
        </p:nvSpPr>
        <p:spPr>
          <a:xfrm>
            <a:off x="724529" y="4255547"/>
            <a:ext cx="4331447" cy="1147671"/>
          </a:xfrm>
          <a:prstGeom prst="roundRect">
            <a:avLst/>
          </a:prstGeom>
          <a:solidFill>
            <a:schemeClr val="tx1">
              <a:lumMod val="50000"/>
              <a:lumOff val="50000"/>
              <a:alpha val="26000"/>
            </a:schemeClr>
          </a:solidFill>
          <a:ln w="50800">
            <a:solidFill>
              <a:srgbClr val="FAB31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>
              <a:solidFill>
                <a:srgbClr val="073F91"/>
              </a:solidFill>
            </a:endParaRPr>
          </a:p>
          <a:p>
            <a:pPr marL="342900" indent="-342900">
              <a:buFontTx/>
              <a:buChar char="-"/>
            </a:pPr>
            <a:r>
              <a:rPr lang="ru-RU" sz="2500" dirty="0">
                <a:solidFill>
                  <a:schemeClr val="tx1"/>
                </a:solidFill>
              </a:rPr>
              <a:t>Это не твой текст.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ru-RU" sz="2500" dirty="0">
                <a:solidFill>
                  <a:schemeClr val="tx1"/>
                </a:solidFill>
              </a:rPr>
              <a:t>Скажи, что любишь меня.</a:t>
            </a:r>
            <a:endParaRPr lang="en-US" sz="2500" dirty="0">
              <a:solidFill>
                <a:schemeClr val="tx1"/>
              </a:solidFill>
            </a:endParaRPr>
          </a:p>
          <a:p>
            <a:pPr algn="ctr"/>
            <a:endParaRPr lang="en-US" sz="22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CFA67C-6D27-4D20-C645-DAD4EF04ABE1}"/>
              </a:ext>
            </a:extLst>
          </p:cNvPr>
          <p:cNvSpPr/>
          <p:nvPr/>
        </p:nvSpPr>
        <p:spPr>
          <a:xfrm>
            <a:off x="6107952" y="4255546"/>
            <a:ext cx="4331447" cy="1147671"/>
          </a:xfrm>
          <a:prstGeom prst="roundRect">
            <a:avLst/>
          </a:prstGeom>
          <a:solidFill>
            <a:schemeClr val="tx1">
              <a:lumMod val="50000"/>
              <a:lumOff val="50000"/>
              <a:alpha val="26047"/>
            </a:schemeClr>
          </a:solidFill>
          <a:ln w="50800">
            <a:solidFill>
              <a:srgbClr val="FAB31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500" dirty="0">
              <a:solidFill>
                <a:srgbClr val="FAB31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500" dirty="0">
                <a:solidFill>
                  <a:srgbClr val="073F91"/>
                </a:solidFill>
              </a:rPr>
              <a:t>It’s not your text</a:t>
            </a:r>
            <a:r>
              <a:rPr lang="ru-RU" sz="2500" dirty="0">
                <a:solidFill>
                  <a:srgbClr val="073F91"/>
                </a:solidFill>
              </a:rPr>
              <a:t>.</a:t>
            </a:r>
            <a:r>
              <a:rPr lang="en-US" sz="2500" dirty="0">
                <a:solidFill>
                  <a:srgbClr val="073F91"/>
                </a:solidFill>
              </a:rPr>
              <a:t> Tell me you love me</a:t>
            </a:r>
            <a:r>
              <a:rPr lang="ru-RU" sz="2500" dirty="0">
                <a:solidFill>
                  <a:srgbClr val="073F91"/>
                </a:solidFill>
              </a:rPr>
              <a:t>.</a:t>
            </a:r>
            <a:endParaRPr lang="en-US" sz="2500" dirty="0">
              <a:solidFill>
                <a:srgbClr val="073F91"/>
              </a:solidFill>
            </a:endParaRPr>
          </a:p>
          <a:p>
            <a:pPr algn="ctr"/>
            <a:endParaRPr lang="en-US" sz="25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72898B8-8813-9DC8-3CCD-7A0962CC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26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3B64691-BFB1-C290-1DE3-6BDD068C76D3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008A8-AB1A-6FF1-5B80-FE2D7694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9794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Word Order Distribution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06892B-CA08-2B20-8BE9-B5424D0D8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317899"/>
              </p:ext>
            </p:extLst>
          </p:nvPr>
        </p:nvGraphicFramePr>
        <p:xfrm>
          <a:off x="699836" y="1688405"/>
          <a:ext cx="10792328" cy="497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082">
                  <a:extLst>
                    <a:ext uri="{9D8B030D-6E8A-4147-A177-3AD203B41FA5}">
                      <a16:colId xmlns:a16="http://schemas.microsoft.com/office/drawing/2014/main" val="1910919501"/>
                    </a:ext>
                  </a:extLst>
                </a:gridCol>
                <a:gridCol w="2698082">
                  <a:extLst>
                    <a:ext uri="{9D8B030D-6E8A-4147-A177-3AD203B41FA5}">
                      <a16:colId xmlns:a16="http://schemas.microsoft.com/office/drawing/2014/main" val="1535078949"/>
                    </a:ext>
                  </a:extLst>
                </a:gridCol>
                <a:gridCol w="2698082">
                  <a:extLst>
                    <a:ext uri="{9D8B030D-6E8A-4147-A177-3AD203B41FA5}">
                      <a16:colId xmlns:a16="http://schemas.microsoft.com/office/drawing/2014/main" val="878456591"/>
                    </a:ext>
                  </a:extLst>
                </a:gridCol>
                <a:gridCol w="2698082">
                  <a:extLst>
                    <a:ext uri="{9D8B030D-6E8A-4147-A177-3AD203B41FA5}">
                      <a16:colId xmlns:a16="http://schemas.microsoft.com/office/drawing/2014/main" val="76884247"/>
                    </a:ext>
                  </a:extLst>
                </a:gridCol>
              </a:tblGrid>
              <a:tr h="4642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Word order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Count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Percentage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Binary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335670"/>
                  </a:ext>
                </a:extLst>
              </a:tr>
              <a:tr h="4642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SVO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1123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72.8%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1123 (72.8%)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73581"/>
                  </a:ext>
                </a:extLst>
              </a:tr>
              <a:tr h="4642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SOV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275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17.8%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420 (27.2%)</a:t>
                      </a:r>
                    </a:p>
                  </a:txBody>
                  <a:tcPr anchor="ctr"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4222"/>
                  </a:ext>
                </a:extLst>
              </a:tr>
              <a:tr h="4642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OSV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71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4.6%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228876"/>
                  </a:ext>
                </a:extLst>
              </a:tr>
              <a:tr h="4642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OVS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50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3.2%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499292"/>
                  </a:ext>
                </a:extLst>
              </a:tr>
              <a:tr h="46420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VSO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14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0.9%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268849"/>
                  </a:ext>
                </a:extLst>
              </a:tr>
              <a:tr h="4578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000" b="1" dirty="0"/>
                        <a:t>VOS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10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3000" dirty="0"/>
                        <a:t>0.7%</a:t>
                      </a:r>
                    </a:p>
                  </a:txBody>
                  <a:tcPr>
                    <a:solidFill>
                      <a:srgbClr val="E6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468404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C6C9D1-8CCE-2130-91FD-D359FF6FE388}"/>
              </a:ext>
            </a:extLst>
          </p:cNvPr>
          <p:cNvSpPr/>
          <p:nvPr/>
        </p:nvSpPr>
        <p:spPr>
          <a:xfrm>
            <a:off x="699836" y="2469305"/>
            <a:ext cx="10792328" cy="616795"/>
          </a:xfrm>
          <a:prstGeom prst="roundRect">
            <a:avLst/>
          </a:prstGeom>
          <a:noFill/>
          <a:ln w="53975">
            <a:solidFill>
              <a:srgbClr val="FAB31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D4F7D-C99D-B311-4722-BAD6675F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706" y="6485069"/>
            <a:ext cx="2743200" cy="365125"/>
          </a:xfrm>
        </p:spPr>
        <p:txBody>
          <a:bodyPr/>
          <a:lstStyle/>
          <a:p>
            <a:fld id="{AECA31E1-7C5F-484D-9C19-381E4DD50AD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26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83A9-0A40-5BFF-E0E4-0C280299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84FD029-71B2-CA3D-2E4A-FADB126F4A05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79FFD63-2561-B784-2A64-EC630E6A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9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1E58748-7A6E-AFE2-DAE5-87B444749497}"/>
              </a:ext>
            </a:extLst>
          </p:cNvPr>
          <p:cNvSpPr txBox="1">
            <a:spLocks/>
          </p:cNvSpPr>
          <p:nvPr/>
        </p:nvSpPr>
        <p:spPr>
          <a:xfrm>
            <a:off x="369615" y="35298"/>
            <a:ext cx="11452761" cy="1462088"/>
          </a:xfrm>
          <a:prstGeom prst="rect">
            <a:avLst/>
          </a:prstGeom>
          <a:solidFill>
            <a:srgbClr val="073F91"/>
          </a:solidFill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Outline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874CA5-AE0F-AA3B-4BBB-0A9EF63DF72A}"/>
              </a:ext>
            </a:extLst>
          </p:cNvPr>
          <p:cNvSpPr/>
          <p:nvPr/>
        </p:nvSpPr>
        <p:spPr>
          <a:xfrm>
            <a:off x="241296" y="2032878"/>
            <a:ext cx="9283702" cy="849610"/>
          </a:xfrm>
          <a:prstGeom prst="roundRect">
            <a:avLst/>
          </a:prstGeom>
          <a:solidFill>
            <a:srgbClr val="073F91">
              <a:alpha val="69892"/>
            </a:srgbClr>
          </a:solidFill>
          <a:effectLst>
            <a:outerShdw blurRad="50800" dist="38100" dir="18900000" algn="bl" rotWithShape="0">
              <a:prstClr val="black">
                <a:alpha val="7215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4800" dirty="0"/>
              <a:t> Corpus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4D27EB-3506-F481-7C6B-CD9A9C332085}"/>
              </a:ext>
            </a:extLst>
          </p:cNvPr>
          <p:cNvSpPr/>
          <p:nvPr/>
        </p:nvSpPr>
        <p:spPr>
          <a:xfrm>
            <a:off x="241297" y="3429000"/>
            <a:ext cx="9283703" cy="849610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7267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0" b="1" dirty="0"/>
              <a:t>2. Machine Learning Experiments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27D7D1-CBCB-345D-9FC8-BBB066BD49A7}"/>
              </a:ext>
            </a:extLst>
          </p:cNvPr>
          <p:cNvSpPr/>
          <p:nvPr/>
        </p:nvSpPr>
        <p:spPr>
          <a:xfrm>
            <a:off x="241296" y="4786610"/>
            <a:ext cx="9283702" cy="849610"/>
          </a:xfrm>
          <a:prstGeom prst="roundRect">
            <a:avLst/>
          </a:prstGeom>
          <a:solidFill>
            <a:srgbClr val="073F91">
              <a:alpha val="70000"/>
            </a:srgbClr>
          </a:solidFill>
          <a:effectLst>
            <a:outerShdw blurRad="50800" dist="38100" dir="18900000" algn="bl" rotWithShape="0">
              <a:prstClr val="black">
                <a:alpha val="73142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0" dirty="0"/>
              <a:t>3.</a:t>
            </a:r>
            <a:r>
              <a:rPr lang="en-US" sz="4500" b="1" dirty="0"/>
              <a:t> </a:t>
            </a:r>
            <a:r>
              <a:rPr lang="en-US" sz="4500" dirty="0"/>
              <a:t>LLM Experiments</a:t>
            </a:r>
          </a:p>
        </p:txBody>
      </p:sp>
    </p:spTree>
    <p:extLst>
      <p:ext uri="{BB962C8B-B14F-4D97-AF65-F5344CB8AC3E}">
        <p14:creationId xmlns:p14="http://schemas.microsoft.com/office/powerpoint/2010/main" val="3235927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153A4-A7E0-13E8-B32B-A6EB1B6B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1C5F49-B092-FD6C-9CD6-932F125D5CFE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5ABF71-B4CB-381F-CCE4-4E35F698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7BAFF0-29F8-CA05-AA29-606E80884C71}"/>
              </a:ext>
            </a:extLst>
          </p:cNvPr>
          <p:cNvSpPr txBox="1">
            <a:spLocks/>
          </p:cNvSpPr>
          <p:nvPr/>
        </p:nvSpPr>
        <p:spPr>
          <a:xfrm>
            <a:off x="364258" y="156364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Decision Tree: binary classification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52A61A-403A-254C-6500-75F4F7DCB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026498"/>
              </p:ext>
            </p:extLst>
          </p:nvPr>
        </p:nvGraphicFramePr>
        <p:xfrm>
          <a:off x="92006" y="2219585"/>
          <a:ext cx="8204829" cy="1727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494">
                  <a:extLst>
                    <a:ext uri="{9D8B030D-6E8A-4147-A177-3AD203B41FA5}">
                      <a16:colId xmlns:a16="http://schemas.microsoft.com/office/drawing/2014/main" val="3989310566"/>
                    </a:ext>
                  </a:extLst>
                </a:gridCol>
                <a:gridCol w="1679391">
                  <a:extLst>
                    <a:ext uri="{9D8B030D-6E8A-4147-A177-3AD203B41FA5}">
                      <a16:colId xmlns:a16="http://schemas.microsoft.com/office/drawing/2014/main" val="339834835"/>
                    </a:ext>
                  </a:extLst>
                </a:gridCol>
                <a:gridCol w="2241119">
                  <a:extLst>
                    <a:ext uri="{9D8B030D-6E8A-4147-A177-3AD203B41FA5}">
                      <a16:colId xmlns:a16="http://schemas.microsoft.com/office/drawing/2014/main" val="4146432967"/>
                    </a:ext>
                  </a:extLst>
                </a:gridCol>
                <a:gridCol w="1772825">
                  <a:extLst>
                    <a:ext uri="{9D8B030D-6E8A-4147-A177-3AD203B41FA5}">
                      <a16:colId xmlns:a16="http://schemas.microsoft.com/office/drawing/2014/main" val="1070763432"/>
                    </a:ext>
                  </a:extLst>
                </a:gridCol>
              </a:tblGrid>
              <a:tr h="575727">
                <a:tc>
                  <a:txBody>
                    <a:bodyPr/>
                    <a:lstStyle/>
                    <a:p>
                      <a:r>
                        <a:rPr lang="en-US" sz="2700" dirty="0">
                          <a:solidFill>
                            <a:schemeClr val="bg1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Precision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Recall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F1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05152"/>
                  </a:ext>
                </a:extLst>
              </a:tr>
              <a:tr h="575727">
                <a:tc>
                  <a:txBody>
                    <a:bodyPr/>
                    <a:lstStyle/>
                    <a:p>
                      <a:pPr algn="l"/>
                      <a:r>
                        <a:rPr lang="en-US" sz="2700" b="1" dirty="0"/>
                        <a:t>SVO</a:t>
                      </a:r>
                      <a:r>
                        <a:rPr lang="en-US" sz="2700" dirty="0"/>
                        <a:t> (74%)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700" dirty="0"/>
                        <a:t>0.88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700" dirty="0"/>
                        <a:t>0.83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700" dirty="0"/>
                        <a:t>0.86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460330"/>
                  </a:ext>
                </a:extLst>
              </a:tr>
              <a:tr h="575727">
                <a:tc>
                  <a:txBody>
                    <a:bodyPr/>
                    <a:lstStyle/>
                    <a:p>
                      <a:pPr algn="l"/>
                      <a:r>
                        <a:rPr lang="en-US" sz="2700" b="1" dirty="0"/>
                        <a:t>non-SVO</a:t>
                      </a:r>
                      <a:r>
                        <a:rPr lang="en-US" sz="2700" dirty="0"/>
                        <a:t> (26%)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700" dirty="0"/>
                        <a:t>0.59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700" dirty="0"/>
                        <a:t>0.68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700" dirty="0"/>
                        <a:t>0.63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1345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9F2548-13EA-AB3F-408F-C1FA58209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930769"/>
              </p:ext>
            </p:extLst>
          </p:nvPr>
        </p:nvGraphicFramePr>
        <p:xfrm>
          <a:off x="92006" y="4786224"/>
          <a:ext cx="820482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521">
                  <a:extLst>
                    <a:ext uri="{9D8B030D-6E8A-4147-A177-3AD203B41FA5}">
                      <a16:colId xmlns:a16="http://schemas.microsoft.com/office/drawing/2014/main" val="129562608"/>
                    </a:ext>
                  </a:extLst>
                </a:gridCol>
                <a:gridCol w="1779167">
                  <a:extLst>
                    <a:ext uri="{9D8B030D-6E8A-4147-A177-3AD203B41FA5}">
                      <a16:colId xmlns:a16="http://schemas.microsoft.com/office/drawing/2014/main" val="1253916687"/>
                    </a:ext>
                  </a:extLst>
                </a:gridCol>
                <a:gridCol w="2301807">
                  <a:extLst>
                    <a:ext uri="{9D8B030D-6E8A-4147-A177-3AD203B41FA5}">
                      <a16:colId xmlns:a16="http://schemas.microsoft.com/office/drawing/2014/main" val="3361394794"/>
                    </a:ext>
                  </a:extLst>
                </a:gridCol>
                <a:gridCol w="2088333">
                  <a:extLst>
                    <a:ext uri="{9D8B030D-6E8A-4147-A177-3AD203B41FA5}">
                      <a16:colId xmlns:a16="http://schemas.microsoft.com/office/drawing/2014/main" val="1237724157"/>
                    </a:ext>
                  </a:extLst>
                </a:gridCol>
              </a:tblGrid>
              <a:tr h="78542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Accuracy on Test set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Majority Baseline (SVO)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Random Baseline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875353"/>
                  </a:ext>
                </a:extLst>
              </a:tr>
              <a:tr h="430719">
                <a:tc>
                  <a:txBody>
                    <a:bodyPr/>
                    <a:lstStyle/>
                    <a:p>
                      <a:r>
                        <a:rPr lang="en-US" sz="2800" dirty="0"/>
                        <a:t>Accuracy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0.79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0.43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0.50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8124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903E5A8-4881-00A5-EEFE-AFA920EC2D51}"/>
              </a:ext>
            </a:extLst>
          </p:cNvPr>
          <p:cNvSpPr/>
          <p:nvPr/>
        </p:nvSpPr>
        <p:spPr>
          <a:xfrm>
            <a:off x="7008558" y="3408023"/>
            <a:ext cx="1288276" cy="517766"/>
          </a:xfrm>
          <a:prstGeom prst="rect">
            <a:avLst/>
          </a:prstGeom>
          <a:noFill/>
          <a:ln w="698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7ED516-107E-4D73-7930-E30978EB603D}"/>
              </a:ext>
            </a:extLst>
          </p:cNvPr>
          <p:cNvSpPr/>
          <p:nvPr/>
        </p:nvSpPr>
        <p:spPr>
          <a:xfrm>
            <a:off x="7008558" y="5643061"/>
            <a:ext cx="1230872" cy="461013"/>
          </a:xfrm>
          <a:prstGeom prst="rect">
            <a:avLst/>
          </a:prstGeom>
          <a:noFill/>
          <a:ln w="698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E9DB53-2422-3D6A-6E9E-0C2B2F470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48101"/>
              </p:ext>
            </p:extLst>
          </p:nvPr>
        </p:nvGraphicFramePr>
        <p:xfrm>
          <a:off x="8417859" y="1673436"/>
          <a:ext cx="3642981" cy="4453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610">
                  <a:extLst>
                    <a:ext uri="{9D8B030D-6E8A-4147-A177-3AD203B41FA5}">
                      <a16:colId xmlns:a16="http://schemas.microsoft.com/office/drawing/2014/main" val="1039500700"/>
                    </a:ext>
                  </a:extLst>
                </a:gridCol>
                <a:gridCol w="948371">
                  <a:extLst>
                    <a:ext uri="{9D8B030D-6E8A-4147-A177-3AD203B41FA5}">
                      <a16:colId xmlns:a16="http://schemas.microsoft.com/office/drawing/2014/main" val="3153698969"/>
                    </a:ext>
                  </a:extLst>
                </a:gridCol>
              </a:tblGrid>
              <a:tr h="381167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Imp.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81742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object_pos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524644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predicate_type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4723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coref_score_object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43460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has_negation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831631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verb_constituent_size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52701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object_syllable_weight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68419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object_ner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16042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subject_role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252566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focus_subject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122003"/>
                  </a:ext>
                </a:extLst>
              </a:tr>
              <a:tr h="407274">
                <a:tc>
                  <a:txBody>
                    <a:bodyPr/>
                    <a:lstStyle/>
                    <a:p>
                      <a:r>
                        <a:rPr lang="en-US" sz="2000" dirty="0" err="1"/>
                        <a:t>verb_type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24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532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C05F9-FF5E-EB49-ED00-FFD0A681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9FB59D-C451-0F92-A435-29C62065F70F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D834A78-4704-E0B5-EAA8-45C5BA82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11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C8291C3-0ABC-1C87-F26C-2CE8136C32DE}"/>
              </a:ext>
            </a:extLst>
          </p:cNvPr>
          <p:cNvSpPr txBox="1">
            <a:spLocks/>
          </p:cNvSpPr>
          <p:nvPr/>
        </p:nvSpPr>
        <p:spPr>
          <a:xfrm>
            <a:off x="369615" y="35298"/>
            <a:ext cx="11452761" cy="1462088"/>
          </a:xfrm>
          <a:prstGeom prst="rect">
            <a:avLst/>
          </a:prstGeom>
          <a:solidFill>
            <a:srgbClr val="073F91"/>
          </a:solidFill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Outline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A67506-FA40-4F84-FC67-0B46D52E2946}"/>
              </a:ext>
            </a:extLst>
          </p:cNvPr>
          <p:cNvSpPr/>
          <p:nvPr/>
        </p:nvSpPr>
        <p:spPr>
          <a:xfrm>
            <a:off x="241296" y="2032878"/>
            <a:ext cx="9283702" cy="849610"/>
          </a:xfrm>
          <a:prstGeom prst="roundRect">
            <a:avLst/>
          </a:prstGeom>
          <a:solidFill>
            <a:srgbClr val="073F91">
              <a:alpha val="70000"/>
            </a:srgbClr>
          </a:solidFill>
          <a:effectLst>
            <a:outerShdw blurRad="50800" dist="38100" dir="18900000" algn="bl" rotWithShape="0">
              <a:prstClr val="black">
                <a:alpha val="7215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4800" dirty="0"/>
              <a:t> Corpus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7D04A6-3B55-7CA8-23A8-79602A3D12EA}"/>
              </a:ext>
            </a:extLst>
          </p:cNvPr>
          <p:cNvSpPr/>
          <p:nvPr/>
        </p:nvSpPr>
        <p:spPr>
          <a:xfrm>
            <a:off x="241297" y="3429000"/>
            <a:ext cx="9283703" cy="849610"/>
          </a:xfrm>
          <a:prstGeom prst="roundRect">
            <a:avLst/>
          </a:prstGeom>
          <a:solidFill>
            <a:srgbClr val="073F91">
              <a:alpha val="70000"/>
            </a:srgbClr>
          </a:solidFill>
          <a:effectLst>
            <a:outerShdw blurRad="50800" dist="38100" dir="18900000" algn="bl" rotWithShape="0">
              <a:prstClr val="black">
                <a:alpha val="72671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0" dirty="0"/>
              <a:t>2. Machine Learning Experiments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3B8AA1-8E22-F5C7-E1D1-700060B4A578}"/>
              </a:ext>
            </a:extLst>
          </p:cNvPr>
          <p:cNvSpPr/>
          <p:nvPr/>
        </p:nvSpPr>
        <p:spPr>
          <a:xfrm>
            <a:off x="241296" y="4786610"/>
            <a:ext cx="9283702" cy="849610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73142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500" b="1" dirty="0"/>
              <a:t>3. LLM Experiments</a:t>
            </a:r>
          </a:p>
        </p:txBody>
      </p:sp>
    </p:spTree>
    <p:extLst>
      <p:ext uri="{BB962C8B-B14F-4D97-AF65-F5344CB8AC3E}">
        <p14:creationId xmlns:p14="http://schemas.microsoft.com/office/powerpoint/2010/main" val="2720977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6CBFCD-A4CE-715E-4462-3F201E87DE87}"/>
              </a:ext>
            </a:extLst>
          </p:cNvPr>
          <p:cNvSpPr/>
          <p:nvPr/>
        </p:nvSpPr>
        <p:spPr>
          <a:xfrm>
            <a:off x="0" y="7807"/>
            <a:ext cx="12192000" cy="882036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E6FE74-6B96-97B8-0CA7-9D6A24B8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7" y="114212"/>
            <a:ext cx="10491538" cy="66922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Prompt Template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5F618-CF7E-5235-B601-982C7A16A47F}"/>
              </a:ext>
            </a:extLst>
          </p:cNvPr>
          <p:cNvSpPr txBox="1"/>
          <p:nvPr/>
        </p:nvSpPr>
        <p:spPr>
          <a:xfrm>
            <a:off x="256673" y="889843"/>
            <a:ext cx="625642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You are working with a movie script in Russian. </a:t>
            </a:r>
            <a:r>
              <a:rPr lang="en-US" sz="1900" dirty="0">
                <a:highlight>
                  <a:srgbClr val="FAB31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Below is a context 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from the script, where:</a:t>
            </a:r>
            <a:b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SPEECH indicates character dialogue</a:t>
            </a:r>
          </a:p>
          <a:p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COMMENT indicates scene description or comment</a:t>
            </a:r>
          </a:p>
          <a:p>
            <a:endParaRPr lang="en-US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latin typeface="Consolas" panose="020B0609020204030204" pitchFamily="49" charset="0"/>
                <a:cs typeface="Consolas" panose="020B0609020204030204" pitchFamily="49" charset="0"/>
              </a:rPr>
              <a:t>Context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{context}</a:t>
            </a:r>
          </a:p>
          <a:p>
            <a:endParaRPr lang="en-US" sz="19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dirty="0">
                <a:highlight>
                  <a:srgbClr val="FAB31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this movie scene by </a:t>
            </a:r>
            <a:r>
              <a:rPr lang="en-US" sz="1900" dirty="0">
                <a:highlight>
                  <a:srgbClr val="FAB31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generating a new sentence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that naturally follows this context. The generated sentence </a:t>
            </a:r>
            <a:r>
              <a:rPr lang="en-US" sz="1900" b="1" dirty="0">
                <a:latin typeface="Consolas" panose="020B0609020204030204" pitchFamily="49" charset="0"/>
                <a:cs typeface="Consolas" panose="020B0609020204030204" pitchFamily="49" charset="0"/>
              </a:rPr>
              <a:t>MUST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contain:</a:t>
            </a:r>
          </a:p>
          <a:p>
            <a:pPr marL="285750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the verb “{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verb_lemma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}” (with the specified aspect, tense, and negation, if applicable),</a:t>
            </a:r>
          </a:p>
          <a:p>
            <a:pPr marL="285750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“{subject}” as the subject constituent (nominative case), and</a:t>
            </a:r>
          </a:p>
          <a:p>
            <a:pPr marL="285750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“{object}” as the object constituent (accusative case).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B09671-4FB6-9B00-5A58-8D048C771B9F}"/>
              </a:ext>
            </a:extLst>
          </p:cNvPr>
          <p:cNvSpPr txBox="1"/>
          <p:nvPr/>
        </p:nvSpPr>
        <p:spPr>
          <a:xfrm>
            <a:off x="6785810" y="889843"/>
            <a:ext cx="514951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latin typeface="Consolas" panose="020B0609020204030204" pitchFamily="49" charset="0"/>
                <a:cs typeface="Consolas" panose="020B0609020204030204" pitchFamily="49" charset="0"/>
              </a:rPr>
              <a:t>Requirements:</a:t>
            </a:r>
          </a:p>
          <a:p>
            <a:pPr marL="342900" indent="-342900">
              <a:buAutoNum type="arabicPeriod"/>
            </a:pPr>
            <a:r>
              <a:rPr lang="en-US" sz="1900" dirty="0">
                <a:highlight>
                  <a:srgbClr val="FAB31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You must use the exact given words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subject: “{subject}”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verb: “{</a:t>
            </a:r>
            <a:r>
              <a:rPr lang="en-US" sz="1900" dirty="0" err="1">
                <a:latin typeface="Consolas" panose="020B0609020204030204" pitchFamily="49" charset="0"/>
                <a:cs typeface="Consolas" panose="020B0609020204030204" pitchFamily="49" charset="0"/>
              </a:rPr>
              <a:t>verb_lemma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}”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object: “{object}”</a:t>
            </a:r>
          </a:p>
          <a:p>
            <a:pPr marL="342900" indent="-342900">
              <a:buAutoNum type="arabicPeriod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These words must be used within the same clause as direct arguments of the verb.</a:t>
            </a:r>
          </a:p>
          <a:p>
            <a:pPr marL="342900" indent="-342900">
              <a:buAutoNum type="arabicPeriod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Generate exactly one sentence in Russian. Do not add translation, comment, or explanation. </a:t>
            </a:r>
          </a:p>
          <a:p>
            <a:pPr marL="342900" indent="-342900">
              <a:buAutoNum type="arabicPeriod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The sentence must: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be in the indicative mood,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be natural continuation of the context,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be grammatically correct,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not be a question, command, or use the subjunctive mood,</a:t>
            </a:r>
          </a:p>
          <a:p>
            <a:pPr marL="742950" lvl="1" indent="-285750">
              <a:buFontTx/>
              <a:buChar char="-"/>
            </a:pP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no be a copy of the context.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7934-288E-7EFA-3E4F-37BBAAFD0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0568" y="6378663"/>
            <a:ext cx="2743200" cy="365125"/>
          </a:xfrm>
        </p:spPr>
        <p:txBody>
          <a:bodyPr/>
          <a:lstStyle/>
          <a:p>
            <a:fld id="{AECA31E1-7C5F-484D-9C19-381E4DD50AD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09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FDE18F-021D-F0D3-FDDC-C3ACD786BB5F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53B77-144A-8493-CEE4-B5BC432B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35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Prompt continued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DC80B-826C-0AC4-EAD6-63E1FD359B26}"/>
              </a:ext>
            </a:extLst>
          </p:cNvPr>
          <p:cNvSpPr txBox="1"/>
          <p:nvPr/>
        </p:nvSpPr>
        <p:spPr>
          <a:xfrm>
            <a:off x="838200" y="1690688"/>
            <a:ext cx="10551696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latin typeface="Consolas" panose="020B0609020204030204" pitchFamily="49" charset="0"/>
                <a:cs typeface="Consolas" panose="020B0609020204030204" pitchFamily="49" charset="0"/>
              </a:rPr>
              <a:t>NOTE ON WORD ORDER:</a:t>
            </a:r>
            <a:b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While Russian allows flexible word order, subject-verb-object (SVO) is the most common and natural patterns. Prefer SVO unless </a:t>
            </a:r>
            <a:r>
              <a:rPr lang="en-US" sz="2100" dirty="0">
                <a:highlight>
                  <a:srgbClr val="FAB31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 context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(pragmatic or stylistic features or morphosyntactic properties) </a:t>
            </a:r>
            <a:r>
              <a:rPr lang="en-US" sz="2100" dirty="0">
                <a:highlight>
                  <a:srgbClr val="FAB31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require a different order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for emphasis, information structure, style, or emotion.</a:t>
            </a:r>
          </a:p>
          <a:p>
            <a:endParaRPr lang="en-US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100" b="1" dirty="0"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  <a:b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Provide only one generated Russian sentence.</a:t>
            </a:r>
            <a:endParaRPr lang="en-US" sz="2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4A5E-005D-4490-4996-B05768A4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09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2F320-983E-0F86-CF56-0F9BD83B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28B19A-AA37-BBA9-E526-EB69DA78428E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324B23-FA36-642C-67E2-AA5037CAA87F}"/>
              </a:ext>
            </a:extLst>
          </p:cNvPr>
          <p:cNvSpPr/>
          <p:nvPr/>
        </p:nvSpPr>
        <p:spPr>
          <a:xfrm>
            <a:off x="686988" y="1862057"/>
            <a:ext cx="4768192" cy="1517072"/>
          </a:xfrm>
          <a:prstGeom prst="roundRect">
            <a:avLst/>
          </a:prstGeom>
          <a:solidFill>
            <a:srgbClr val="EAEDF5"/>
          </a:solidFill>
          <a:ln w="50800">
            <a:solidFill>
              <a:srgbClr val="FAB3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Tx/>
              <a:buChar char="-"/>
            </a:pPr>
            <a:r>
              <a:rPr lang="ru-RU" sz="2500" dirty="0">
                <a:solidFill>
                  <a:schemeClr val="tx1"/>
                </a:solidFill>
              </a:rPr>
              <a:t>Ты хотел собой покончить</a:t>
            </a:r>
            <a:r>
              <a:rPr lang="en-US" sz="2500" dirty="0">
                <a:solidFill>
                  <a:schemeClr val="tx1"/>
                </a:solidFill>
              </a:rPr>
              <a:t>.</a:t>
            </a:r>
            <a:endParaRPr lang="ru-RU" sz="25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500" dirty="0" err="1">
                <a:solidFill>
                  <a:schemeClr val="tx1"/>
                </a:solidFill>
              </a:rPr>
              <a:t>А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ты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мне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пытался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мозги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вышибить</a:t>
            </a:r>
            <a:r>
              <a:rPr lang="en-US" sz="25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BC9F2-ECC7-11CD-5773-CA6770A6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4723"/>
            <a:ext cx="1142799" cy="114646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18409-30DF-6340-CB03-09D25B80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9E34F2-0C58-2D9C-E723-006279056FA8}"/>
              </a:ext>
            </a:extLst>
          </p:cNvPr>
          <p:cNvSpPr txBox="1">
            <a:spLocks/>
          </p:cNvSpPr>
          <p:nvPr/>
        </p:nvSpPr>
        <p:spPr>
          <a:xfrm>
            <a:off x="371104" y="103560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9BA5C-055A-3D5A-0AA6-6DB2D5BE919A}"/>
              </a:ext>
            </a:extLst>
          </p:cNvPr>
          <p:cNvSpPr txBox="1"/>
          <p:nvPr/>
        </p:nvSpPr>
        <p:spPr>
          <a:xfrm>
            <a:off x="7145024" y="5137954"/>
            <a:ext cx="873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SVO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4480E-9D95-BFBF-C7E3-1FDD9AEF52AA}"/>
              </a:ext>
            </a:extLst>
          </p:cNvPr>
          <p:cNvSpPr txBox="1"/>
          <p:nvPr/>
        </p:nvSpPr>
        <p:spPr>
          <a:xfrm>
            <a:off x="686988" y="3427593"/>
            <a:ext cx="1057791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b="1" i="1" dirty="0"/>
              <a:t>- Пистолет</a:t>
            </a:r>
            <a:r>
              <a:rPr lang="ru-RU" sz="2500" i="1" dirty="0"/>
              <a:t> ты не получишь.</a:t>
            </a:r>
            <a:r>
              <a:rPr lang="en-US" sz="2500" i="1" dirty="0"/>
              <a:t>         </a:t>
            </a:r>
            <a:r>
              <a:rPr lang="en-US" sz="2500" b="1" dirty="0">
                <a:solidFill>
                  <a:schemeClr val="accent3"/>
                </a:solidFill>
              </a:rPr>
              <a:t>OSV     </a:t>
            </a:r>
            <a:r>
              <a:rPr lang="en-US" sz="2500" i="1" dirty="0"/>
              <a:t>- You won’t get a gun.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049D4D-0F9B-12FF-2DEE-6A4C26356B53}"/>
              </a:ext>
            </a:extLst>
          </p:cNvPr>
          <p:cNvSpPr txBox="1"/>
          <p:nvPr/>
        </p:nvSpPr>
        <p:spPr>
          <a:xfrm>
            <a:off x="1241166" y="4472671"/>
            <a:ext cx="63407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1. </a:t>
            </a:r>
            <a:r>
              <a:rPr lang="ru-RU" sz="2500" dirty="0"/>
              <a:t>Ты не получил </a:t>
            </a:r>
            <a:r>
              <a:rPr lang="ru-RU" sz="2500" b="1" dirty="0"/>
              <a:t>пистолет</a:t>
            </a:r>
            <a:r>
              <a:rPr lang="ru-RU" sz="2500" dirty="0"/>
              <a:t>, чтобы всё это закончить.</a:t>
            </a:r>
            <a:endParaRPr lang="en-US" sz="2500" dirty="0"/>
          </a:p>
          <a:p>
            <a:r>
              <a:rPr lang="en-US" sz="2500" dirty="0"/>
              <a:t>2. </a:t>
            </a:r>
            <a:r>
              <a:rPr lang="ru-RU" sz="2500" dirty="0"/>
              <a:t>Ты не смог получить </a:t>
            </a:r>
            <a:r>
              <a:rPr lang="ru-RU" sz="2500" b="1" dirty="0"/>
              <a:t>пистолет</a:t>
            </a:r>
            <a:r>
              <a:rPr lang="ru-RU" sz="2500" dirty="0"/>
              <a:t>.</a:t>
            </a:r>
            <a:endParaRPr lang="en-US" sz="2500" dirty="0"/>
          </a:p>
          <a:p>
            <a:r>
              <a:rPr lang="en-US" sz="2500" dirty="0"/>
              <a:t>3. </a:t>
            </a:r>
            <a:r>
              <a:rPr lang="ru-RU" sz="2500" dirty="0"/>
              <a:t>Ты не получил </a:t>
            </a:r>
            <a:r>
              <a:rPr lang="ru-RU" sz="2500" b="1" dirty="0"/>
              <a:t>пистолет</a:t>
            </a:r>
            <a:r>
              <a:rPr lang="ru-RU" sz="2500" dirty="0"/>
              <a:t>, чтобы сдаться.</a:t>
            </a:r>
            <a:endParaRPr lang="en-US" sz="250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8BD161B-AC17-BB00-D179-964E7AFE9E94}"/>
              </a:ext>
            </a:extLst>
          </p:cNvPr>
          <p:cNvSpPr/>
          <p:nvPr/>
        </p:nvSpPr>
        <p:spPr>
          <a:xfrm>
            <a:off x="6736822" y="1886289"/>
            <a:ext cx="5216507" cy="1517072"/>
          </a:xfrm>
          <a:prstGeom prst="roundRect">
            <a:avLst/>
          </a:prstGeom>
          <a:solidFill>
            <a:srgbClr val="EAEDF5"/>
          </a:solidFill>
          <a:ln w="50800">
            <a:solidFill>
              <a:srgbClr val="FAB3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</a:rPr>
              <a:t>- You wanted to kill yourself.</a:t>
            </a:r>
          </a:p>
          <a:p>
            <a:r>
              <a:rPr lang="en-US" sz="2500" dirty="0">
                <a:solidFill>
                  <a:schemeClr val="tx1"/>
                </a:solidFill>
              </a:rPr>
              <a:t>- And you tried to blow my brains out.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9422F2-4713-8A60-7E3D-4895CB749FD4}"/>
              </a:ext>
            </a:extLst>
          </p:cNvPr>
          <p:cNvSpPr txBox="1"/>
          <p:nvPr/>
        </p:nvSpPr>
        <p:spPr>
          <a:xfrm>
            <a:off x="8013700" y="4472670"/>
            <a:ext cx="41783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2500" i="1" dirty="0"/>
              <a:t>You didn’t get a gun to end it all.</a:t>
            </a:r>
          </a:p>
          <a:p>
            <a:pPr marL="514350" indent="-514350">
              <a:buAutoNum type="arabicPeriod"/>
            </a:pPr>
            <a:r>
              <a:rPr lang="en-US" sz="2500" i="1" dirty="0"/>
              <a:t>You couldn’t get a gun.</a:t>
            </a:r>
          </a:p>
          <a:p>
            <a:pPr marL="514350" indent="-514350">
              <a:buAutoNum type="arabicPeriod"/>
            </a:pPr>
            <a:r>
              <a:rPr lang="en-US" sz="2500" i="1" dirty="0"/>
              <a:t>You didn’t get a gun to give up.</a:t>
            </a:r>
          </a:p>
        </p:txBody>
      </p:sp>
    </p:spTree>
    <p:extLst>
      <p:ext uri="{BB962C8B-B14F-4D97-AF65-F5344CB8AC3E}">
        <p14:creationId xmlns:p14="http://schemas.microsoft.com/office/powerpoint/2010/main" val="2920617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B09AED-77F8-5164-D293-E736BB46B9AD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F8070-DBC3-E9A5-906F-DE462029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7074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Model Selection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9DA87-E9F1-BCDD-2EE6-9264130B1612}"/>
              </a:ext>
            </a:extLst>
          </p:cNvPr>
          <p:cNvSpPr txBox="1"/>
          <p:nvPr/>
        </p:nvSpPr>
        <p:spPr>
          <a:xfrm>
            <a:off x="309710" y="1654363"/>
            <a:ext cx="112415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Goal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FF0000"/>
                </a:solidFill>
              </a:rPr>
              <a:t>NOT</a:t>
            </a:r>
            <a:r>
              <a:rPr lang="en-US" sz="2800" dirty="0"/>
              <a:t> to evaluate whether the model generates the “correct” word but investigate </a:t>
            </a:r>
            <a:r>
              <a:rPr lang="en-US" sz="2800" b="1" dirty="0"/>
              <a:t>word order distribution.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Models evaluated: GPT-3.5 Turbo, GPT-4o-mini, and GPT-5-mini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3 runs per sentence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521EE1-2FDE-3CDB-85E9-C3F1D242F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05448"/>
              </p:ext>
            </p:extLst>
          </p:nvPr>
        </p:nvGraphicFramePr>
        <p:xfrm>
          <a:off x="368300" y="3887918"/>
          <a:ext cx="10865855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171">
                  <a:extLst>
                    <a:ext uri="{9D8B030D-6E8A-4147-A177-3AD203B41FA5}">
                      <a16:colId xmlns:a16="http://schemas.microsoft.com/office/drawing/2014/main" val="504086913"/>
                    </a:ext>
                  </a:extLst>
                </a:gridCol>
                <a:gridCol w="1576671">
                  <a:extLst>
                    <a:ext uri="{9D8B030D-6E8A-4147-A177-3AD203B41FA5}">
                      <a16:colId xmlns:a16="http://schemas.microsoft.com/office/drawing/2014/main" val="3177822918"/>
                    </a:ext>
                  </a:extLst>
                </a:gridCol>
                <a:gridCol w="2769671">
                  <a:extLst>
                    <a:ext uri="{9D8B030D-6E8A-4147-A177-3AD203B41FA5}">
                      <a16:colId xmlns:a16="http://schemas.microsoft.com/office/drawing/2014/main" val="2390528699"/>
                    </a:ext>
                  </a:extLst>
                </a:gridCol>
                <a:gridCol w="2173171">
                  <a:extLst>
                    <a:ext uri="{9D8B030D-6E8A-4147-A177-3AD203B41FA5}">
                      <a16:colId xmlns:a16="http://schemas.microsoft.com/office/drawing/2014/main" val="2993917897"/>
                    </a:ext>
                  </a:extLst>
                </a:gridCol>
                <a:gridCol w="2173171">
                  <a:extLst>
                    <a:ext uri="{9D8B030D-6E8A-4147-A177-3AD203B41FA5}">
                      <a16:colId xmlns:a16="http://schemas.microsoft.com/office/drawing/2014/main" val="698444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3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Gold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GPT-3.5-turbo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GPT-4o-mini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GPT-4o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36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300" b="1" dirty="0"/>
                        <a:t>SVO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74.0%</a:t>
                      </a:r>
                    </a:p>
                  </a:txBody>
                  <a:tcPr>
                    <a:solidFill>
                      <a:srgbClr val="FAB310">
                        <a:alpha val="495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86.4%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50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300" b="1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26.0%</a:t>
                      </a:r>
                    </a:p>
                  </a:txBody>
                  <a:tcPr>
                    <a:solidFill>
                      <a:srgbClr val="FAB310">
                        <a:alpha val="495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0.5 %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50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300" b="1" dirty="0"/>
                        <a:t>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300" dirty="0"/>
                    </a:p>
                  </a:txBody>
                  <a:tcPr>
                    <a:solidFill>
                      <a:srgbClr val="FAB310">
                        <a:alpha val="495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/>
                        <a:t>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86859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8DE1392-1EFD-7111-535F-7D1C317B3E25}"/>
              </a:ext>
            </a:extLst>
          </p:cNvPr>
          <p:cNvSpPr/>
          <p:nvPr/>
        </p:nvSpPr>
        <p:spPr>
          <a:xfrm>
            <a:off x="5285877" y="4798525"/>
            <a:ext cx="1620245" cy="445001"/>
          </a:xfrm>
          <a:prstGeom prst="rect">
            <a:avLst/>
          </a:prstGeom>
          <a:noFill/>
          <a:ln w="698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2ECFB-AC01-80BB-E8B0-E9754C2D7115}"/>
              </a:ext>
            </a:extLst>
          </p:cNvPr>
          <p:cNvSpPr txBox="1"/>
          <p:nvPr/>
        </p:nvSpPr>
        <p:spPr>
          <a:xfrm>
            <a:off x="309710" y="5710033"/>
            <a:ext cx="11063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Unknown (UNK) </a:t>
            </a:r>
            <a:r>
              <a:rPr lang="en-US" sz="2000" dirty="0"/>
              <a:t>outputs generated sentences that could not be evaluated due to: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Incoherent output;</a:t>
            </a:r>
          </a:p>
          <a:p>
            <a:pPr marL="914400" lvl="1" indent="-457200">
              <a:buFontTx/>
              <a:buChar char="-"/>
            </a:pPr>
            <a:r>
              <a:rPr lang="en-US" sz="2000" dirty="0"/>
              <a:t>Failure to follow the instructions in the prompt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9F688-329F-DE93-9524-F167D1B8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50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3858-E77F-636B-B9AF-D3D95815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935E9F-33F8-3894-F32D-D66FDE08DED7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4E96C-8E81-DE43-D85F-18FD5231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60" y="1035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Include Decision Tree Prediction in Prompt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9B55CE-7278-1D50-909D-A12F1A984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874416"/>
              </p:ext>
            </p:extLst>
          </p:nvPr>
        </p:nvGraphicFramePr>
        <p:xfrm>
          <a:off x="526021" y="1907029"/>
          <a:ext cx="11139957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000">
                  <a:extLst>
                    <a:ext uri="{9D8B030D-6E8A-4147-A177-3AD203B41FA5}">
                      <a16:colId xmlns:a16="http://schemas.microsoft.com/office/drawing/2014/main" val="1986142356"/>
                    </a:ext>
                  </a:extLst>
                </a:gridCol>
                <a:gridCol w="2391000">
                  <a:extLst>
                    <a:ext uri="{9D8B030D-6E8A-4147-A177-3AD203B41FA5}">
                      <a16:colId xmlns:a16="http://schemas.microsoft.com/office/drawing/2014/main" val="1449414797"/>
                    </a:ext>
                  </a:extLst>
                </a:gridCol>
                <a:gridCol w="2391000">
                  <a:extLst>
                    <a:ext uri="{9D8B030D-6E8A-4147-A177-3AD203B41FA5}">
                      <a16:colId xmlns:a16="http://schemas.microsoft.com/office/drawing/2014/main" val="3568357299"/>
                    </a:ext>
                  </a:extLst>
                </a:gridCol>
                <a:gridCol w="3966957">
                  <a:extLst>
                    <a:ext uri="{9D8B030D-6E8A-4147-A177-3AD203B41FA5}">
                      <a16:colId xmlns:a16="http://schemas.microsoft.com/office/drawing/2014/main" val="151221212"/>
                    </a:ext>
                  </a:extLst>
                </a:gridCol>
              </a:tblGrid>
              <a:tr h="28875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WO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GOLD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GPT-4omini</a:t>
                      </a:r>
                    </a:p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Decision Tree predictions in Prompt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0679"/>
                  </a:ext>
                </a:extLst>
              </a:tr>
              <a:tr h="449178">
                <a:tc>
                  <a:txBody>
                    <a:bodyPr/>
                    <a:lstStyle/>
                    <a:p>
                      <a:r>
                        <a:rPr lang="en-US" sz="2800" dirty="0"/>
                        <a:t>SVO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74.0%</a:t>
                      </a:r>
                    </a:p>
                  </a:txBody>
                  <a:tcPr>
                    <a:solidFill>
                      <a:srgbClr val="FAB310">
                        <a:alpha val="504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85.6%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730179"/>
                  </a:ext>
                </a:extLst>
              </a:tr>
              <a:tr h="399791">
                <a:tc>
                  <a:txBody>
                    <a:bodyPr/>
                    <a:lstStyle/>
                    <a:p>
                      <a:r>
                        <a:rPr lang="en-US" sz="28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26.0%</a:t>
                      </a:r>
                    </a:p>
                  </a:txBody>
                  <a:tcPr>
                    <a:solidFill>
                      <a:srgbClr val="FAB310">
                        <a:alpha val="504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11.6%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2537"/>
                  </a:ext>
                </a:extLst>
              </a:tr>
              <a:tr h="387028">
                <a:tc>
                  <a:txBody>
                    <a:bodyPr/>
                    <a:lstStyle/>
                    <a:p>
                      <a:r>
                        <a:rPr lang="en-US" sz="2800" dirty="0"/>
                        <a:t>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800" dirty="0"/>
                    </a:p>
                  </a:txBody>
                  <a:tcPr>
                    <a:solidFill>
                      <a:srgbClr val="FAB310">
                        <a:alpha val="504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2.7%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15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800" dirty="0"/>
                    </a:p>
                  </a:txBody>
                  <a:tcPr>
                    <a:solidFill>
                      <a:srgbClr val="FAB310">
                        <a:alpha val="5045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73.4%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13695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9FF7324-1D23-B6C5-293D-8A2446E3FD37}"/>
              </a:ext>
            </a:extLst>
          </p:cNvPr>
          <p:cNvSpPr/>
          <p:nvPr/>
        </p:nvSpPr>
        <p:spPr>
          <a:xfrm>
            <a:off x="10161381" y="2795414"/>
            <a:ext cx="1478469" cy="1027991"/>
          </a:xfrm>
          <a:prstGeom prst="rect">
            <a:avLst/>
          </a:prstGeom>
          <a:noFill/>
          <a:ln w="69850" cmpd="sng">
            <a:solidFill>
              <a:srgbClr val="FAB3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olidFill>
                <a:srgbClr val="FAB31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110E01-0A5D-0704-D49F-B3904F9E5557}"/>
              </a:ext>
            </a:extLst>
          </p:cNvPr>
          <p:cNvSpPr/>
          <p:nvPr/>
        </p:nvSpPr>
        <p:spPr>
          <a:xfrm>
            <a:off x="10161380" y="4286849"/>
            <a:ext cx="1478469" cy="515780"/>
          </a:xfrm>
          <a:prstGeom prst="rect">
            <a:avLst/>
          </a:prstGeom>
          <a:noFill/>
          <a:ln w="69850" cmpd="sng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D8C6A-9D47-BC35-D387-3F82FF18F55C}"/>
              </a:ext>
            </a:extLst>
          </p:cNvPr>
          <p:cNvSpPr txBox="1"/>
          <p:nvPr/>
        </p:nvSpPr>
        <p:spPr>
          <a:xfrm>
            <a:off x="526021" y="5184780"/>
            <a:ext cx="110632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Unknown (UNK) </a:t>
            </a:r>
            <a:r>
              <a:rPr lang="en-US" sz="2000" dirty="0"/>
              <a:t>outputs</a:t>
            </a:r>
          </a:p>
          <a:p>
            <a:r>
              <a:rPr lang="en-US" sz="2000" dirty="0"/>
              <a:t>	Generated sentences that could not be evaluated due to:</a:t>
            </a:r>
          </a:p>
          <a:p>
            <a:pPr marL="1371600" lvl="2" indent="-457200">
              <a:buFontTx/>
              <a:buChar char="-"/>
            </a:pPr>
            <a:r>
              <a:rPr lang="en-US" sz="2000" dirty="0"/>
              <a:t>Incoherent output;</a:t>
            </a:r>
          </a:p>
          <a:p>
            <a:pPr marL="1371600" lvl="2" indent="-457200">
              <a:buFontTx/>
              <a:buChar char="-"/>
            </a:pPr>
            <a:r>
              <a:rPr lang="en-US" sz="2000" dirty="0"/>
              <a:t>Failure to follow the instructions in the prompt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8E171B-8ADA-7AF1-0E14-C926E3FE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04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590A-7349-4EFC-3A01-EB086D152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2BF97ED-5F3D-AB95-D2B2-98434CF66C21}"/>
              </a:ext>
            </a:extLst>
          </p:cNvPr>
          <p:cNvSpPr/>
          <p:nvPr/>
        </p:nvSpPr>
        <p:spPr>
          <a:xfrm>
            <a:off x="0" y="0"/>
            <a:ext cx="5968538" cy="1524878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432AE-C479-B8C3-D015-21D34C2F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3560"/>
            <a:ext cx="5172891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Few-shot prompting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C8B2A-C5A3-62C7-CF7C-C8161EC52708}"/>
              </a:ext>
            </a:extLst>
          </p:cNvPr>
          <p:cNvSpPr txBox="1"/>
          <p:nvPr/>
        </p:nvSpPr>
        <p:spPr>
          <a:xfrm>
            <a:off x="381000" y="1874728"/>
            <a:ext cx="51728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Original prompt with  four examples, one for each word order (with context):</a:t>
            </a:r>
            <a:br>
              <a:rPr lang="en-US" sz="2800" dirty="0"/>
            </a:br>
            <a:r>
              <a:rPr lang="en-US" sz="2800" dirty="0"/>
              <a:t>	SVO</a:t>
            </a:r>
            <a:br>
              <a:rPr lang="en-US" sz="2800" dirty="0"/>
            </a:br>
            <a:r>
              <a:rPr lang="en-US" sz="2800" dirty="0"/>
              <a:t>	SOV</a:t>
            </a:r>
          </a:p>
          <a:p>
            <a:r>
              <a:rPr lang="en-US" sz="2800" dirty="0"/>
              <a:t>	OVS</a:t>
            </a:r>
          </a:p>
          <a:p>
            <a:r>
              <a:rPr lang="en-US" sz="2800" dirty="0"/>
              <a:t>	OSV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536972-5B81-C7EE-C916-92F52E7D1C9F}"/>
              </a:ext>
            </a:extLst>
          </p:cNvPr>
          <p:cNvGrpSpPr/>
          <p:nvPr/>
        </p:nvGrpSpPr>
        <p:grpSpPr>
          <a:xfrm>
            <a:off x="6223462" y="7806"/>
            <a:ext cx="5968538" cy="1517072"/>
            <a:chOff x="6223462" y="7806"/>
            <a:chExt cx="5968538" cy="1517072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AE1D00E-9923-1880-04EA-76739A9A7F0D}"/>
                </a:ext>
              </a:extLst>
            </p:cNvPr>
            <p:cNvSpPr/>
            <p:nvPr/>
          </p:nvSpPr>
          <p:spPr>
            <a:xfrm>
              <a:off x="6223462" y="7806"/>
              <a:ext cx="5968538" cy="1517072"/>
            </a:xfrm>
            <a:prstGeom prst="roundRect">
              <a:avLst/>
            </a:prstGeom>
            <a:solidFill>
              <a:srgbClr val="FAB31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B833F3F5-5AF3-7F17-73BA-BFC2BC7AA7FF}"/>
                </a:ext>
              </a:extLst>
            </p:cNvPr>
            <p:cNvSpPr txBox="1">
              <a:spLocks/>
            </p:cNvSpPr>
            <p:nvPr/>
          </p:nvSpPr>
          <p:spPr>
            <a:xfrm>
              <a:off x="6223462" y="99657"/>
              <a:ext cx="5866938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b="1" dirty="0">
                  <a:solidFill>
                    <a:srgbClr val="073F91"/>
                  </a:solidFill>
                </a:rPr>
                <a:t>Fine-tuning</a:t>
              </a:r>
              <a:endParaRPr lang="en-US" dirty="0">
                <a:solidFill>
                  <a:srgbClr val="073F9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4D2B90-BD88-CFEF-4A77-55617D3DAE04}"/>
              </a:ext>
            </a:extLst>
          </p:cNvPr>
          <p:cNvSpPr txBox="1"/>
          <p:nvPr/>
        </p:nvSpPr>
        <p:spPr>
          <a:xfrm>
            <a:off x="6223462" y="1874727"/>
            <a:ext cx="51728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Supervised fine-tuning on the training corpus;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Training examples formatted as input-output pairs;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Input: context + constituent + morphosyntactic features from the prompt;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Output: target word order label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0C3A814-69F9-24CD-717D-274036CC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3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6DBB-EA6E-C5EA-4FBE-AC09951C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228D7F-15A6-51F7-BB1B-5E708187A35A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8A7E9-832D-287A-A1C0-1C902771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60" y="1035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Few-shot prompting &amp; Fine-tuning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0BE3FB-53FD-FAC3-DEF9-524D72492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560865"/>
              </p:ext>
            </p:extLst>
          </p:nvPr>
        </p:nvGraphicFramePr>
        <p:xfrm>
          <a:off x="332870" y="1638373"/>
          <a:ext cx="11490162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027">
                  <a:extLst>
                    <a:ext uri="{9D8B030D-6E8A-4147-A177-3AD203B41FA5}">
                      <a16:colId xmlns:a16="http://schemas.microsoft.com/office/drawing/2014/main" val="1986142356"/>
                    </a:ext>
                  </a:extLst>
                </a:gridCol>
                <a:gridCol w="1915027">
                  <a:extLst>
                    <a:ext uri="{9D8B030D-6E8A-4147-A177-3AD203B41FA5}">
                      <a16:colId xmlns:a16="http://schemas.microsoft.com/office/drawing/2014/main" val="1449414797"/>
                    </a:ext>
                  </a:extLst>
                </a:gridCol>
                <a:gridCol w="1915027">
                  <a:extLst>
                    <a:ext uri="{9D8B030D-6E8A-4147-A177-3AD203B41FA5}">
                      <a16:colId xmlns:a16="http://schemas.microsoft.com/office/drawing/2014/main" val="3568357299"/>
                    </a:ext>
                  </a:extLst>
                </a:gridCol>
                <a:gridCol w="2137610">
                  <a:extLst>
                    <a:ext uri="{9D8B030D-6E8A-4147-A177-3AD203B41FA5}">
                      <a16:colId xmlns:a16="http://schemas.microsoft.com/office/drawing/2014/main" val="151221212"/>
                    </a:ext>
                  </a:extLst>
                </a:gridCol>
                <a:gridCol w="1692444">
                  <a:extLst>
                    <a:ext uri="{9D8B030D-6E8A-4147-A177-3AD203B41FA5}">
                      <a16:colId xmlns:a16="http://schemas.microsoft.com/office/drawing/2014/main" val="800973635"/>
                    </a:ext>
                  </a:extLst>
                </a:gridCol>
                <a:gridCol w="1915027">
                  <a:extLst>
                    <a:ext uri="{9D8B030D-6E8A-4147-A177-3AD203B41FA5}">
                      <a16:colId xmlns:a16="http://schemas.microsoft.com/office/drawing/2014/main" val="253130850"/>
                    </a:ext>
                  </a:extLst>
                </a:gridCol>
              </a:tblGrid>
              <a:tr h="288756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WO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GPT-4omini</a:t>
                      </a:r>
                    </a:p>
                    <a:p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Decision Tree predictions in Prompt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Few-shot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Fine-tuned</a:t>
                      </a:r>
                    </a:p>
                  </a:txBody>
                  <a:tcPr>
                    <a:solidFill>
                      <a:srgbClr val="7D6FBA">
                        <a:alpha val="5818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0679"/>
                  </a:ext>
                </a:extLst>
              </a:tr>
              <a:tr h="449178">
                <a:tc>
                  <a:txBody>
                    <a:bodyPr/>
                    <a:lstStyle/>
                    <a:p>
                      <a:r>
                        <a:rPr lang="en-US" sz="2800" dirty="0"/>
                        <a:t>SVO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85.6%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95.5%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71.7%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730179"/>
                  </a:ext>
                </a:extLst>
              </a:tr>
              <a:tr h="399791">
                <a:tc>
                  <a:txBody>
                    <a:bodyPr/>
                    <a:lstStyle/>
                    <a:p>
                      <a:r>
                        <a:rPr lang="en-US" sz="2800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18.5%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2537"/>
                  </a:ext>
                </a:extLst>
              </a:tr>
              <a:tr h="387028">
                <a:tc>
                  <a:txBody>
                    <a:bodyPr/>
                    <a:lstStyle/>
                    <a:p>
                      <a:r>
                        <a:rPr lang="en-US" sz="2800" dirty="0"/>
                        <a:t>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158654"/>
                  </a:ext>
                </a:extLst>
              </a:tr>
              <a:tr h="399791">
                <a:tc>
                  <a:txBody>
                    <a:bodyPr/>
                    <a:lstStyle/>
                    <a:p>
                      <a:r>
                        <a:rPr lang="en-US" sz="2800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73.6%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13695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6C20632-D264-CBA2-514A-5C896D7ED4F8}"/>
              </a:ext>
            </a:extLst>
          </p:cNvPr>
          <p:cNvSpPr/>
          <p:nvPr/>
        </p:nvSpPr>
        <p:spPr>
          <a:xfrm>
            <a:off x="10344563" y="2694831"/>
            <a:ext cx="1478469" cy="1003468"/>
          </a:xfrm>
          <a:prstGeom prst="rect">
            <a:avLst/>
          </a:prstGeom>
          <a:noFill/>
          <a:ln w="698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9D062-36FC-EC45-6F52-1A02218F5B74}"/>
              </a:ext>
            </a:extLst>
          </p:cNvPr>
          <p:cNvSpPr/>
          <p:nvPr/>
        </p:nvSpPr>
        <p:spPr>
          <a:xfrm>
            <a:off x="10344563" y="4216333"/>
            <a:ext cx="1478470" cy="515780"/>
          </a:xfrm>
          <a:prstGeom prst="rect">
            <a:avLst/>
          </a:prstGeom>
          <a:noFill/>
          <a:ln w="69850" cmpd="sng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714E3-4F2C-0700-E77C-6FE9E6E170A5}"/>
              </a:ext>
            </a:extLst>
          </p:cNvPr>
          <p:cNvSpPr/>
          <p:nvPr/>
        </p:nvSpPr>
        <p:spPr>
          <a:xfrm>
            <a:off x="6708709" y="4216333"/>
            <a:ext cx="1478469" cy="515780"/>
          </a:xfrm>
          <a:prstGeom prst="rect">
            <a:avLst/>
          </a:prstGeom>
          <a:noFill/>
          <a:ln w="69850" cmpd="sng">
            <a:solidFill>
              <a:srgbClr val="FAB3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56C0A-F6CD-6859-3C2F-97727424FD52}"/>
              </a:ext>
            </a:extLst>
          </p:cNvPr>
          <p:cNvSpPr txBox="1"/>
          <p:nvPr/>
        </p:nvSpPr>
        <p:spPr>
          <a:xfrm>
            <a:off x="628615" y="5219627"/>
            <a:ext cx="11194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Word order distributions across baseline annotations and multiple prompting strategies (</a:t>
            </a:r>
            <a:r>
              <a:rPr lang="en-US" sz="2400" b="1" i="1" dirty="0"/>
              <a:t>GPT-4o-mini)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F6319B-E84F-A81B-82D5-CF9F228DB8BA}"/>
              </a:ext>
            </a:extLst>
          </p:cNvPr>
          <p:cNvSpPr/>
          <p:nvPr/>
        </p:nvSpPr>
        <p:spPr>
          <a:xfrm>
            <a:off x="6708710" y="2674499"/>
            <a:ext cx="1478469" cy="1003468"/>
          </a:xfrm>
          <a:prstGeom prst="rect">
            <a:avLst/>
          </a:prstGeom>
          <a:noFill/>
          <a:ln w="69850" cmpd="sng">
            <a:solidFill>
              <a:srgbClr val="FAB3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7303402-986A-D7BC-CD6B-1184F2DC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12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E13657-03D7-192F-CB82-53A112E00FF6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073F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2C2590-1440-6A14-6D0B-1688C963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59" y="10356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Summary: Contributions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81B56-6199-4D17-2777-4ECD89AA5D7A}"/>
              </a:ext>
            </a:extLst>
          </p:cNvPr>
          <p:cNvSpPr txBox="1"/>
          <p:nvPr/>
        </p:nvSpPr>
        <p:spPr>
          <a:xfrm>
            <a:off x="223059" y="2169208"/>
            <a:ext cx="118303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Releasing an annotated corpus;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Evaluation of machine learning experiments evaluating our set of features predicting word order;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LLMs struggle to generate various word orders;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Possible solution: fine-tuning.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9734F-C6E2-672D-DA9E-6F2E5BEE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A31E1-7C5F-484D-9C19-381E4DD50A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3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9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E6A90-9EF4-BFD8-C222-57FC2211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85C8-1FE1-6DD8-8FBC-C45ECCE3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5660"/>
            <a:ext cx="12192000" cy="2043952"/>
          </a:xfrm>
          <a:solidFill>
            <a:srgbClr val="FAB310"/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073F9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32371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F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E7FA-6CC2-5DC4-8AEE-65E82A97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5660"/>
            <a:ext cx="12192000" cy="2043952"/>
          </a:xfrm>
          <a:solidFill>
            <a:srgbClr val="FAB310"/>
          </a:solidFill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073F91"/>
                </a:solidFill>
              </a:rPr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4188424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433D8-D771-B30B-CE83-0C52839C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0874471-DA8D-DFCC-4D73-95AA1DF3CA8D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FAB3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30370-0E5D-4BF2-0E22-A7140C9C3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22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32CCF9-7339-57A2-986E-118F19BE4FE5}"/>
              </a:ext>
            </a:extLst>
          </p:cNvPr>
          <p:cNvSpPr txBox="1">
            <a:spLocks/>
          </p:cNvSpPr>
          <p:nvPr/>
        </p:nvSpPr>
        <p:spPr>
          <a:xfrm>
            <a:off x="686988" y="136525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73F91"/>
                </a:solidFill>
              </a:rPr>
              <a:t>Data Annotation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6EE8B-18E9-9107-9053-92A6B5957EA5}"/>
              </a:ext>
            </a:extLst>
          </p:cNvPr>
          <p:cNvSpPr txBox="1"/>
          <p:nvPr/>
        </p:nvSpPr>
        <p:spPr>
          <a:xfrm>
            <a:off x="357083" y="5903893"/>
            <a:ext cx="50073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Movie Scripts (Lisovsky, 2019)</a:t>
            </a:r>
          </a:p>
          <a:p>
            <a:endParaRPr lang="en-US" sz="28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1929A-3C75-8B79-B67F-F0BA2BC9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999" y="1805208"/>
            <a:ext cx="5890276" cy="4379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CD4EF3-0F81-D906-EE3E-1EF073474ACE}"/>
              </a:ext>
            </a:extLst>
          </p:cNvPr>
          <p:cNvSpPr txBox="1"/>
          <p:nvPr/>
        </p:nvSpPr>
        <p:spPr>
          <a:xfrm>
            <a:off x="205724" y="2109025"/>
            <a:ext cx="58902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Manually annotated 10 scripts (for script structure) using </a:t>
            </a:r>
            <a:r>
              <a:rPr lang="en-US" sz="3000" dirty="0" err="1"/>
              <a:t>INCEpTION</a:t>
            </a:r>
            <a:r>
              <a:rPr lang="en-US" sz="3000" dirty="0"/>
              <a:t>:</a:t>
            </a:r>
          </a:p>
          <a:p>
            <a:endParaRPr lang="en-US" sz="3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COMMENT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SPEECH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CHARACTER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CAMERA</a:t>
            </a:r>
          </a:p>
        </p:txBody>
      </p:sp>
    </p:spTree>
    <p:extLst>
      <p:ext uri="{BB962C8B-B14F-4D97-AF65-F5344CB8AC3E}">
        <p14:creationId xmlns:p14="http://schemas.microsoft.com/office/powerpoint/2010/main" val="2720598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D3F19-3A20-AFB9-8FE7-A4E427A1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FD3411F-8C8A-7495-BC6E-AFA197FCCCBB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FAB3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066DCC-11E6-D39A-57F5-BC5716198346}"/>
              </a:ext>
            </a:extLst>
          </p:cNvPr>
          <p:cNvSpPr txBox="1">
            <a:spLocks/>
          </p:cNvSpPr>
          <p:nvPr/>
        </p:nvSpPr>
        <p:spPr>
          <a:xfrm>
            <a:off x="686988" y="136525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Building the Corpus: Adding Features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1CFA32-A5C9-2C8C-86A2-E0DF8B441D7F}"/>
              </a:ext>
            </a:extLst>
          </p:cNvPr>
          <p:cNvSpPr/>
          <p:nvPr/>
        </p:nvSpPr>
        <p:spPr>
          <a:xfrm>
            <a:off x="144086" y="1590807"/>
            <a:ext cx="4361411" cy="5130668"/>
          </a:xfrm>
          <a:prstGeom prst="roundRect">
            <a:avLst/>
          </a:prstGeom>
          <a:solidFill>
            <a:srgbClr val="073F91"/>
          </a:solidFill>
          <a:ln w="73025">
            <a:solidFill>
              <a:srgbClr val="FAB31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Part of speech (POS): noun, pronoun, verb, etc.;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Constituent size (number of tokens) for subject, object, verb;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Verb aspect (perfective / imperfective);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Presence of negation for the verb;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Clause type (matrix / embedded clause)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F22FB5-C06A-AC20-EC61-CFE2623C5151}"/>
              </a:ext>
            </a:extLst>
          </p:cNvPr>
          <p:cNvSpPr/>
          <p:nvPr/>
        </p:nvSpPr>
        <p:spPr>
          <a:xfrm>
            <a:off x="686988" y="1653597"/>
            <a:ext cx="3136867" cy="814647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Morphosyntactic</a:t>
            </a:r>
            <a:endParaRPr lang="en-US" b="1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17039D-F229-4AEA-1888-77B0588C65DB}"/>
              </a:ext>
            </a:extLst>
          </p:cNvPr>
          <p:cNvSpPr/>
          <p:nvPr/>
        </p:nvSpPr>
        <p:spPr>
          <a:xfrm>
            <a:off x="9041485" y="1590807"/>
            <a:ext cx="3006429" cy="1517072"/>
          </a:xfrm>
          <a:prstGeom prst="roundRect">
            <a:avLst/>
          </a:prstGeom>
          <a:solidFill>
            <a:srgbClr val="073F91"/>
          </a:solidFill>
          <a:ln w="73025">
            <a:solidFill>
              <a:srgbClr val="FAB31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Syllable weight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3C0E38-6F20-E3D0-19A2-70A10C11E3FE}"/>
              </a:ext>
            </a:extLst>
          </p:cNvPr>
          <p:cNvSpPr/>
          <p:nvPr/>
        </p:nvSpPr>
        <p:spPr>
          <a:xfrm>
            <a:off x="9310950" y="1653597"/>
            <a:ext cx="2467495" cy="814647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Phonological</a:t>
            </a:r>
            <a:endParaRPr lang="en-US" b="1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C504403-45B7-B774-30D4-B4E277008961}"/>
              </a:ext>
            </a:extLst>
          </p:cNvPr>
          <p:cNvSpPr/>
          <p:nvPr/>
        </p:nvSpPr>
        <p:spPr>
          <a:xfrm>
            <a:off x="4677296" y="1590807"/>
            <a:ext cx="4094720" cy="5107643"/>
          </a:xfrm>
          <a:prstGeom prst="roundRect">
            <a:avLst/>
          </a:prstGeom>
          <a:solidFill>
            <a:srgbClr val="073F91"/>
          </a:solidFill>
          <a:ln w="73025">
            <a:solidFill>
              <a:srgbClr val="FAB31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Subject and object named entity types (PER, ORG, LOC, MISC)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Animacy for subject and object;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Verb type (perception, communication, action,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Semantic roles of subject and object (Experiencer, Agent, Theme, etc.)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87A115-4A3E-047E-B1AE-E9F8E295B1EB}"/>
              </a:ext>
            </a:extLst>
          </p:cNvPr>
          <p:cNvSpPr/>
          <p:nvPr/>
        </p:nvSpPr>
        <p:spPr>
          <a:xfrm>
            <a:off x="5122845" y="1653597"/>
            <a:ext cx="3203621" cy="814647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Semantic</a:t>
            </a:r>
            <a:endParaRPr lang="en-US" b="1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BCB5E6-6D4A-6D62-B6C8-7AF8B6385533}"/>
              </a:ext>
            </a:extLst>
          </p:cNvPr>
          <p:cNvSpPr/>
          <p:nvPr/>
        </p:nvSpPr>
        <p:spPr>
          <a:xfrm>
            <a:off x="9041485" y="3252806"/>
            <a:ext cx="3006429" cy="3445644"/>
          </a:xfrm>
          <a:prstGeom prst="roundRect">
            <a:avLst/>
          </a:prstGeom>
          <a:solidFill>
            <a:srgbClr val="073F91"/>
          </a:solidFill>
          <a:ln w="73025">
            <a:solidFill>
              <a:srgbClr val="FAB31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Discourse-related elements;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coreference score;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Is target sentence preceded by a question?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5666CC7-A576-C20F-6B49-46BD08AD14D3}"/>
              </a:ext>
            </a:extLst>
          </p:cNvPr>
          <p:cNvSpPr/>
          <p:nvPr/>
        </p:nvSpPr>
        <p:spPr>
          <a:xfrm>
            <a:off x="9365241" y="3327730"/>
            <a:ext cx="2358915" cy="812470"/>
          </a:xfrm>
          <a:prstGeom prst="roundRect">
            <a:avLst/>
          </a:prstGeom>
          <a:solidFill>
            <a:srgbClr val="FAB310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Discourse</a:t>
            </a:r>
            <a:endParaRPr lang="en-US" b="1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85775F0-1F5A-2534-41CC-2D10FB1E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15887"/>
            <a:ext cx="2743200" cy="365125"/>
          </a:xfrm>
        </p:spPr>
        <p:txBody>
          <a:bodyPr/>
          <a:lstStyle/>
          <a:p>
            <a:fld id="{AECA31E1-7C5F-484D-9C19-381E4DD50AD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235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C3D5-4559-8D25-3071-224083B5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CA42E5-94F9-D48C-A88D-2D2E0F1440A5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FAB3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23F348-C99A-7499-7B22-B7C85A2B0FAF}"/>
              </a:ext>
            </a:extLst>
          </p:cNvPr>
          <p:cNvSpPr/>
          <p:nvPr/>
        </p:nvSpPr>
        <p:spPr>
          <a:xfrm>
            <a:off x="1912216" y="2714429"/>
            <a:ext cx="1676782" cy="608197"/>
          </a:xfrm>
          <a:prstGeom prst="roundRect">
            <a:avLst/>
          </a:prstGeom>
          <a:solidFill>
            <a:srgbClr val="7D82B8">
              <a:alpha val="7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1FAA6-CBCF-9251-079A-5F457F87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24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8683B6-29F4-D085-BF0B-4535D1D93B22}"/>
              </a:ext>
            </a:extLst>
          </p:cNvPr>
          <p:cNvSpPr txBox="1">
            <a:spLocks/>
          </p:cNvSpPr>
          <p:nvPr/>
        </p:nvSpPr>
        <p:spPr>
          <a:xfrm>
            <a:off x="494708" y="134057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73F91"/>
                </a:solidFill>
              </a:rPr>
              <a:t>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E39FA-9528-CC7C-A7E5-478273845A13}"/>
              </a:ext>
            </a:extLst>
          </p:cNvPr>
          <p:cNvSpPr txBox="1"/>
          <p:nvPr/>
        </p:nvSpPr>
        <p:spPr>
          <a:xfrm>
            <a:off x="481871" y="1609322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Ona              ne       </a:t>
            </a:r>
            <a:r>
              <a:rPr lang="en-US" sz="2000" b="1" dirty="0" err="1"/>
              <a:t>polozhila</a:t>
            </a:r>
            <a:r>
              <a:rPr lang="en-US" sz="2000" b="1" dirty="0"/>
              <a:t>                  </a:t>
            </a:r>
            <a:r>
              <a:rPr lang="en-US" sz="2000" b="1" dirty="0" err="1"/>
              <a:t>tvoj</a:t>
            </a:r>
            <a:r>
              <a:rPr lang="en-US" sz="2000" b="1" dirty="0"/>
              <a:t>     </a:t>
            </a:r>
            <a:r>
              <a:rPr lang="en-US" sz="2000" b="1" dirty="0" err="1"/>
              <a:t>dvojnoj</a:t>
            </a:r>
            <a:r>
              <a:rPr lang="en-US" sz="2000" b="1" dirty="0"/>
              <a:t>  burger!</a:t>
            </a:r>
          </a:p>
          <a:p>
            <a:r>
              <a:rPr lang="en-US" sz="2000" dirty="0" err="1"/>
              <a:t>She.NOM</a:t>
            </a:r>
            <a:r>
              <a:rPr lang="en-US" sz="2000" dirty="0"/>
              <a:t>   not      put in. PAST.FEM. your    double    </a:t>
            </a:r>
            <a:r>
              <a:rPr lang="en-US" sz="2000" dirty="0" err="1"/>
              <a:t>burger.ACC</a:t>
            </a:r>
            <a:r>
              <a:rPr lang="en-US" sz="2000" dirty="0"/>
              <a:t>.</a:t>
            </a:r>
          </a:p>
          <a:p>
            <a:r>
              <a:rPr lang="en-US" sz="2000" i="1" dirty="0"/>
              <a:t>‘She didn’t put your double burger in.’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1F9DD2-CEF0-5CFF-898C-D3C5EA1108DA}"/>
              </a:ext>
            </a:extLst>
          </p:cNvPr>
          <p:cNvSpPr/>
          <p:nvPr/>
        </p:nvSpPr>
        <p:spPr>
          <a:xfrm>
            <a:off x="482422" y="2692178"/>
            <a:ext cx="900404" cy="678426"/>
          </a:xfrm>
          <a:prstGeom prst="roundRect">
            <a:avLst/>
          </a:prstGeom>
          <a:solidFill>
            <a:srgbClr val="1E2041">
              <a:alpha val="5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98034-04F5-D961-47D3-370BC81C7642}"/>
              </a:ext>
            </a:extLst>
          </p:cNvPr>
          <p:cNvSpPr txBox="1"/>
          <p:nvPr/>
        </p:nvSpPr>
        <p:spPr>
          <a:xfrm>
            <a:off x="481871" y="2776622"/>
            <a:ext cx="115050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Ona    ne  </a:t>
            </a:r>
            <a:r>
              <a:rPr lang="en-US" sz="2800" dirty="0" err="1"/>
              <a:t>polozhila</a:t>
            </a:r>
            <a:r>
              <a:rPr lang="en-US" sz="2800" dirty="0"/>
              <a:t>        </a:t>
            </a:r>
            <a:r>
              <a:rPr lang="en-US" sz="2800" dirty="0" err="1"/>
              <a:t>tvoj</a:t>
            </a:r>
            <a:r>
              <a:rPr lang="en-US" sz="2800" dirty="0"/>
              <a:t> </a:t>
            </a:r>
            <a:r>
              <a:rPr lang="en-US" sz="2800" dirty="0" err="1"/>
              <a:t>dvojnoj</a:t>
            </a:r>
            <a:r>
              <a:rPr lang="en-US" sz="2800" dirty="0"/>
              <a:t> burger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0F0194-098C-3E0D-28F0-BEEE1E7915D0}"/>
              </a:ext>
            </a:extLst>
          </p:cNvPr>
          <p:cNvSpPr/>
          <p:nvPr/>
        </p:nvSpPr>
        <p:spPr>
          <a:xfrm>
            <a:off x="3821226" y="2692178"/>
            <a:ext cx="3144254" cy="608197"/>
          </a:xfrm>
          <a:prstGeom prst="roundRect">
            <a:avLst/>
          </a:prstGeom>
          <a:solidFill>
            <a:srgbClr val="66AFFF">
              <a:alpha val="3990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6F99C11-AA13-F3F1-DD62-956083270F06}"/>
              </a:ext>
            </a:extLst>
          </p:cNvPr>
          <p:cNvSpPr/>
          <p:nvPr/>
        </p:nvSpPr>
        <p:spPr>
          <a:xfrm>
            <a:off x="6234377" y="3712121"/>
            <a:ext cx="2794504" cy="2403782"/>
          </a:xfrm>
          <a:prstGeom prst="roundRect">
            <a:avLst/>
          </a:prstGeom>
          <a:solidFill>
            <a:srgbClr val="66AFFF">
              <a:alpha val="3983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POS</a:t>
            </a:r>
            <a:r>
              <a:rPr lang="en-US" dirty="0">
                <a:solidFill>
                  <a:srgbClr val="1E2041"/>
                </a:solidFill>
              </a:rPr>
              <a:t>: NOUN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constituent size</a:t>
            </a:r>
            <a:r>
              <a:rPr lang="en-US" dirty="0">
                <a:solidFill>
                  <a:srgbClr val="1E2041"/>
                </a:solidFill>
              </a:rPr>
              <a:t>: 3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syllable weight</a:t>
            </a:r>
            <a:r>
              <a:rPr lang="en-US" dirty="0">
                <a:solidFill>
                  <a:srgbClr val="1E2041"/>
                </a:solidFill>
              </a:rPr>
              <a:t>: 5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animacy</a:t>
            </a:r>
            <a:r>
              <a:rPr lang="en-US" dirty="0">
                <a:solidFill>
                  <a:srgbClr val="1E2041"/>
                </a:solidFill>
              </a:rPr>
              <a:t>: inanimate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NER</a:t>
            </a:r>
            <a:r>
              <a:rPr lang="en-US" dirty="0">
                <a:solidFill>
                  <a:srgbClr val="1E2041"/>
                </a:solidFill>
              </a:rPr>
              <a:t>: </a:t>
            </a:r>
            <a:r>
              <a:rPr lang="en-US" dirty="0" err="1">
                <a:solidFill>
                  <a:srgbClr val="1E2041"/>
                </a:solidFill>
              </a:rPr>
              <a:t>not_applicable</a:t>
            </a:r>
            <a:endParaRPr lang="en-US" dirty="0">
              <a:solidFill>
                <a:srgbClr val="1E204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type</a:t>
            </a:r>
            <a:r>
              <a:rPr lang="en-US" dirty="0">
                <a:solidFill>
                  <a:srgbClr val="1E2041"/>
                </a:solidFill>
              </a:rPr>
              <a:t>: theme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coreference score</a:t>
            </a:r>
            <a:r>
              <a:rPr lang="en-US" dirty="0">
                <a:solidFill>
                  <a:srgbClr val="1E2041"/>
                </a:solidFill>
              </a:rPr>
              <a:t>: 1.2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B255B3-5FB8-B1AF-11C4-8788C39C763D}"/>
              </a:ext>
            </a:extLst>
          </p:cNvPr>
          <p:cNvSpPr/>
          <p:nvPr/>
        </p:nvSpPr>
        <p:spPr>
          <a:xfrm>
            <a:off x="3137446" y="3761436"/>
            <a:ext cx="2794504" cy="1733172"/>
          </a:xfrm>
          <a:prstGeom prst="roundRect">
            <a:avLst/>
          </a:prstGeom>
          <a:solidFill>
            <a:srgbClr val="7D82B8">
              <a:alpha val="3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syllable weight</a:t>
            </a:r>
            <a:r>
              <a:rPr lang="en-US" dirty="0">
                <a:solidFill>
                  <a:srgbClr val="1E2041"/>
                </a:solidFill>
              </a:rPr>
              <a:t>: 4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aspect: </a:t>
            </a:r>
            <a:r>
              <a:rPr lang="en-US" dirty="0">
                <a:solidFill>
                  <a:srgbClr val="1E2041"/>
                </a:solidFill>
              </a:rPr>
              <a:t>perfective;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verb type</a:t>
            </a:r>
            <a:r>
              <a:rPr lang="en-US" dirty="0">
                <a:solidFill>
                  <a:srgbClr val="1E2041"/>
                </a:solidFill>
              </a:rPr>
              <a:t>: action;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predicate type</a:t>
            </a:r>
            <a:r>
              <a:rPr lang="en-US" dirty="0">
                <a:solidFill>
                  <a:srgbClr val="1E2041"/>
                </a:solidFill>
              </a:rPr>
              <a:t>: 2-place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0291C7-9173-57D6-FC59-1FD858222225}"/>
              </a:ext>
            </a:extLst>
          </p:cNvPr>
          <p:cNvSpPr/>
          <p:nvPr/>
        </p:nvSpPr>
        <p:spPr>
          <a:xfrm>
            <a:off x="53352" y="3712120"/>
            <a:ext cx="2794504" cy="2564387"/>
          </a:xfrm>
          <a:prstGeom prst="roundRect">
            <a:avLst/>
          </a:prstGeom>
          <a:solidFill>
            <a:srgbClr val="1E2041">
              <a:alpha val="3424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POS</a:t>
            </a:r>
            <a:r>
              <a:rPr lang="en-US" dirty="0">
                <a:solidFill>
                  <a:srgbClr val="1E2041"/>
                </a:solidFill>
              </a:rPr>
              <a:t>: PRONOUN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constituent size</a:t>
            </a:r>
            <a:r>
              <a:rPr lang="en-US" dirty="0">
                <a:solidFill>
                  <a:srgbClr val="1E2041"/>
                </a:solidFill>
              </a:rPr>
              <a:t>: 1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syllable weight</a:t>
            </a:r>
            <a:r>
              <a:rPr lang="en-US" dirty="0">
                <a:solidFill>
                  <a:srgbClr val="1E2041"/>
                </a:solidFill>
              </a:rPr>
              <a:t>: 2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animacy</a:t>
            </a:r>
            <a:r>
              <a:rPr lang="en-US" dirty="0">
                <a:solidFill>
                  <a:srgbClr val="1E2041"/>
                </a:solidFill>
              </a:rPr>
              <a:t>: </a:t>
            </a:r>
            <a:r>
              <a:rPr lang="en-US" dirty="0" err="1">
                <a:solidFill>
                  <a:srgbClr val="1E2041"/>
                </a:solidFill>
              </a:rPr>
              <a:t>not_applicable</a:t>
            </a:r>
            <a:endParaRPr lang="en-US" dirty="0">
              <a:solidFill>
                <a:srgbClr val="1E204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NER</a:t>
            </a:r>
            <a:r>
              <a:rPr lang="en-US" dirty="0">
                <a:solidFill>
                  <a:srgbClr val="1E2041"/>
                </a:solidFill>
              </a:rPr>
              <a:t>: PER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type</a:t>
            </a:r>
            <a:r>
              <a:rPr lang="en-US" dirty="0">
                <a:solidFill>
                  <a:srgbClr val="1E2041"/>
                </a:solidFill>
              </a:rPr>
              <a:t>: agent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coreference score</a:t>
            </a:r>
            <a:r>
              <a:rPr lang="en-US" dirty="0">
                <a:solidFill>
                  <a:srgbClr val="1E2041"/>
                </a:solidFill>
              </a:rPr>
              <a:t>: 1.2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E01845-2F1E-81A9-DE17-EC5202EF6B7B}"/>
              </a:ext>
            </a:extLst>
          </p:cNvPr>
          <p:cNvSpPr/>
          <p:nvPr/>
        </p:nvSpPr>
        <p:spPr>
          <a:xfrm>
            <a:off x="9195331" y="3712120"/>
            <a:ext cx="2943317" cy="2564388"/>
          </a:xfrm>
          <a:prstGeom prst="roundRect">
            <a:avLst/>
          </a:prstGeom>
          <a:solidFill>
            <a:srgbClr val="F6FFDB">
              <a:alpha val="3983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preceded by question: </a:t>
            </a:r>
            <a:r>
              <a:rPr lang="en-US" dirty="0">
                <a:solidFill>
                  <a:srgbClr val="1E2041"/>
                </a:solidFill>
              </a:rPr>
              <a:t>FALSE;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presence of negation: </a:t>
            </a:r>
            <a:r>
              <a:rPr lang="en-US" dirty="0">
                <a:solidFill>
                  <a:srgbClr val="1E2041"/>
                </a:solidFill>
              </a:rPr>
              <a:t>TRUE;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clause type: </a:t>
            </a:r>
            <a:r>
              <a:rPr lang="en-US" dirty="0">
                <a:solidFill>
                  <a:srgbClr val="1E2041"/>
                </a:solidFill>
              </a:rPr>
              <a:t>matrix;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WORD ORDER: </a:t>
            </a:r>
            <a:r>
              <a:rPr lang="en-US" dirty="0">
                <a:solidFill>
                  <a:srgbClr val="1E2041"/>
                </a:solidFill>
              </a:rPr>
              <a:t>SVO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focus subject: </a:t>
            </a:r>
            <a:r>
              <a:rPr lang="en-US" dirty="0">
                <a:solidFill>
                  <a:srgbClr val="1E2041"/>
                </a:solidFill>
              </a:rPr>
              <a:t>FALSE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1E2041"/>
                </a:solidFill>
              </a:rPr>
              <a:t>focus object: </a:t>
            </a:r>
            <a:r>
              <a:rPr lang="en-US" dirty="0">
                <a:solidFill>
                  <a:srgbClr val="1E2041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422510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418C-7F31-BAEE-A0C3-FE59E9CF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90FA65-D82A-AFC3-B8CA-1C529D767DDF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FAB3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3DA602-8713-073B-0742-9D2A39AC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7DD86-4F9D-A843-ACFE-28A2902FE066}" type="slidenum">
              <a:rPr lang="en-US" smtClean="0"/>
              <a:t>25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91FD8C-6151-ECD7-D5CE-78E327EA1021}"/>
              </a:ext>
            </a:extLst>
          </p:cNvPr>
          <p:cNvSpPr txBox="1">
            <a:spLocks/>
          </p:cNvSpPr>
          <p:nvPr/>
        </p:nvSpPr>
        <p:spPr>
          <a:xfrm>
            <a:off x="579412" y="140571"/>
            <a:ext cx="10515600" cy="1325563"/>
          </a:xfrm>
          <a:prstGeom prst="rect">
            <a:avLst/>
          </a:prstGeom>
          <a:effectLst>
            <a:outerShdw blurRad="50800" dist="38100" dir="2700000" sx="53000" sy="53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73F91"/>
                </a:solidFill>
              </a:rPr>
              <a:t>Decision Tree: multiclass classification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41E5B7-8CD6-BC3C-8433-B9037B98B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07249"/>
              </p:ext>
            </p:extLst>
          </p:nvPr>
        </p:nvGraphicFramePr>
        <p:xfrm>
          <a:off x="579412" y="1783348"/>
          <a:ext cx="7837058" cy="3030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685">
                  <a:extLst>
                    <a:ext uri="{9D8B030D-6E8A-4147-A177-3AD203B41FA5}">
                      <a16:colId xmlns:a16="http://schemas.microsoft.com/office/drawing/2014/main" val="3989310566"/>
                    </a:ext>
                  </a:extLst>
                </a:gridCol>
                <a:gridCol w="2199116">
                  <a:extLst>
                    <a:ext uri="{9D8B030D-6E8A-4147-A177-3AD203B41FA5}">
                      <a16:colId xmlns:a16="http://schemas.microsoft.com/office/drawing/2014/main" val="339834835"/>
                    </a:ext>
                  </a:extLst>
                </a:gridCol>
                <a:gridCol w="1888985">
                  <a:extLst>
                    <a:ext uri="{9D8B030D-6E8A-4147-A177-3AD203B41FA5}">
                      <a16:colId xmlns:a16="http://schemas.microsoft.com/office/drawing/2014/main" val="4146432967"/>
                    </a:ext>
                  </a:extLst>
                </a:gridCol>
                <a:gridCol w="1494272">
                  <a:extLst>
                    <a:ext uri="{9D8B030D-6E8A-4147-A177-3AD203B41FA5}">
                      <a16:colId xmlns:a16="http://schemas.microsoft.com/office/drawing/2014/main" val="1070763432"/>
                    </a:ext>
                  </a:extLst>
                </a:gridCol>
              </a:tblGrid>
              <a:tr h="6576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precision</a:t>
                      </a:r>
                      <a:endParaRPr sz="2400" dirty="0"/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recall</a:t>
                      </a:r>
                      <a:endParaRPr sz="2400" dirty="0"/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F-1 score</a:t>
                      </a:r>
                      <a:endParaRPr sz="2400" dirty="0"/>
                    </a:p>
                  </a:txBody>
                  <a:tcPr>
                    <a:solidFill>
                      <a:srgbClr val="1E2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05152"/>
                  </a:ext>
                </a:extLst>
              </a:tr>
              <a:tr h="637401">
                <a:tc>
                  <a:txBody>
                    <a:bodyPr/>
                    <a:lstStyle/>
                    <a:p>
                      <a:r>
                        <a:rPr lang="en-US" sz="2800" dirty="0"/>
                        <a:t>SVO (74%)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0.88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0.85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0.87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460330"/>
                  </a:ext>
                </a:extLst>
              </a:tr>
              <a:tr h="575956">
                <a:tc>
                  <a:txBody>
                    <a:bodyPr/>
                    <a:lstStyle/>
                    <a:p>
                      <a:r>
                        <a:rPr lang="en-US" sz="2800" dirty="0"/>
                        <a:t>SOV (18%)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0.53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0.78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0.63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134569"/>
                  </a:ext>
                </a:extLst>
              </a:tr>
              <a:tr h="583089">
                <a:tc>
                  <a:txBody>
                    <a:bodyPr/>
                    <a:lstStyle/>
                    <a:p>
                      <a:r>
                        <a:rPr lang="en-US" sz="2800" dirty="0"/>
                        <a:t>OSV (5%)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0.75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0.21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0.33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80264"/>
                  </a:ext>
                </a:extLst>
              </a:tr>
              <a:tr h="575956">
                <a:tc>
                  <a:txBody>
                    <a:bodyPr/>
                    <a:lstStyle/>
                    <a:p>
                      <a:r>
                        <a:rPr lang="en-US" sz="2800" dirty="0"/>
                        <a:t>OVS (3%)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0.33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0.10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0.15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5477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6E25EC-DE03-7F78-8343-33799553E0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568435"/>
              </p:ext>
            </p:extLst>
          </p:nvPr>
        </p:nvGraphicFramePr>
        <p:xfrm>
          <a:off x="579412" y="5020428"/>
          <a:ext cx="1100087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9188">
                  <a:extLst>
                    <a:ext uri="{9D8B030D-6E8A-4147-A177-3AD203B41FA5}">
                      <a16:colId xmlns:a16="http://schemas.microsoft.com/office/drawing/2014/main" val="129562608"/>
                    </a:ext>
                  </a:extLst>
                </a:gridCol>
                <a:gridCol w="2385473">
                  <a:extLst>
                    <a:ext uri="{9D8B030D-6E8A-4147-A177-3AD203B41FA5}">
                      <a16:colId xmlns:a16="http://schemas.microsoft.com/office/drawing/2014/main" val="1253916687"/>
                    </a:ext>
                  </a:extLst>
                </a:gridCol>
                <a:gridCol w="3086218">
                  <a:extLst>
                    <a:ext uri="{9D8B030D-6E8A-4147-A177-3AD203B41FA5}">
                      <a16:colId xmlns:a16="http://schemas.microsoft.com/office/drawing/2014/main" val="3361394794"/>
                    </a:ext>
                  </a:extLst>
                </a:gridCol>
                <a:gridCol w="2799995">
                  <a:extLst>
                    <a:ext uri="{9D8B030D-6E8A-4147-A177-3AD203B41FA5}">
                      <a16:colId xmlns:a16="http://schemas.microsoft.com/office/drawing/2014/main" val="1237724157"/>
                    </a:ext>
                  </a:extLst>
                </a:gridCol>
              </a:tblGrid>
              <a:tr h="48687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Accuracy on Test set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Majority Baseline (SVO)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Random Baseline</a:t>
                      </a:r>
                    </a:p>
                  </a:txBody>
                  <a:tcPr>
                    <a:solidFill>
                      <a:srgbClr val="1E2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875353"/>
                  </a:ext>
                </a:extLst>
              </a:tr>
              <a:tr h="427521">
                <a:tc>
                  <a:txBody>
                    <a:bodyPr/>
                    <a:lstStyle/>
                    <a:p>
                      <a:r>
                        <a:rPr lang="en-US" sz="2400" dirty="0"/>
                        <a:t>accuracy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0.78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0.21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0.28</a:t>
                      </a:r>
                    </a:p>
                  </a:txBody>
                  <a:tcPr>
                    <a:solidFill>
                      <a:srgbClr val="7D82B8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81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29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136BE60-6A3E-3B83-5653-EF874146F3AF}"/>
              </a:ext>
            </a:extLst>
          </p:cNvPr>
          <p:cNvSpPr/>
          <p:nvPr/>
        </p:nvSpPr>
        <p:spPr>
          <a:xfrm>
            <a:off x="0" y="7806"/>
            <a:ext cx="12192000" cy="1517072"/>
          </a:xfrm>
          <a:prstGeom prst="roundRect">
            <a:avLst/>
          </a:prstGeom>
          <a:solidFill>
            <a:srgbClr val="FAB3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20E60-54F3-C2CE-DCAE-D503DB54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48" y="13263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73F91"/>
                </a:solidFill>
              </a:rPr>
              <a:t>Top-10 most important features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2969E9-143A-F562-87AE-4C4A13F45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04729"/>
              </p:ext>
            </p:extLst>
          </p:nvPr>
        </p:nvGraphicFramePr>
        <p:xfrm>
          <a:off x="834191" y="1614302"/>
          <a:ext cx="4985083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785">
                  <a:extLst>
                    <a:ext uri="{9D8B030D-6E8A-4147-A177-3AD203B41FA5}">
                      <a16:colId xmlns:a16="http://schemas.microsoft.com/office/drawing/2014/main" val="1039500700"/>
                    </a:ext>
                  </a:extLst>
                </a:gridCol>
                <a:gridCol w="2066298">
                  <a:extLst>
                    <a:ext uri="{9D8B030D-6E8A-4147-A177-3AD203B41FA5}">
                      <a16:colId xmlns:a16="http://schemas.microsoft.com/office/drawing/2014/main" val="3153698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Imp.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8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object_pos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52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coref_score_object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4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obj_animacy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43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predicate_type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83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object_syllable_weight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5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verb_constituent_size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6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subject_role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1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coref_score_subject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25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object_ner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12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subject_syllable_weight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242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4297B6-A1B4-0669-322F-E34203FC9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52139"/>
              </p:ext>
            </p:extLst>
          </p:nvPr>
        </p:nvGraphicFramePr>
        <p:xfrm>
          <a:off x="6372728" y="1649703"/>
          <a:ext cx="4985082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785">
                  <a:extLst>
                    <a:ext uri="{9D8B030D-6E8A-4147-A177-3AD203B41FA5}">
                      <a16:colId xmlns:a16="http://schemas.microsoft.com/office/drawing/2014/main" val="1039500700"/>
                    </a:ext>
                  </a:extLst>
                </a:gridCol>
                <a:gridCol w="2066297">
                  <a:extLst>
                    <a:ext uri="{9D8B030D-6E8A-4147-A177-3AD203B41FA5}">
                      <a16:colId xmlns:a16="http://schemas.microsoft.com/office/drawing/2014/main" val="3153698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Imp.</a:t>
                      </a:r>
                    </a:p>
                  </a:txBody>
                  <a:tcPr>
                    <a:solidFill>
                      <a:srgbClr val="B4C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8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object_pos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52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predicate_type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964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coref_score_object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43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has_negation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83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verb_constituent_size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052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object_syllable_weight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368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object_ner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216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subject_role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252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focus_subject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12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verb_type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24240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14448D-2586-A551-276E-87CBD257538C}"/>
              </a:ext>
            </a:extLst>
          </p:cNvPr>
          <p:cNvSpPr/>
          <p:nvPr/>
        </p:nvSpPr>
        <p:spPr>
          <a:xfrm>
            <a:off x="1209174" y="6144127"/>
            <a:ext cx="4235116" cy="417094"/>
          </a:xfrm>
          <a:prstGeom prst="roundRect">
            <a:avLst/>
          </a:prstGeom>
          <a:solidFill>
            <a:srgbClr val="F6EE9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Multiclass classification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51D08A-B534-43E0-3789-4EA1D18EE680}"/>
              </a:ext>
            </a:extLst>
          </p:cNvPr>
          <p:cNvSpPr/>
          <p:nvPr/>
        </p:nvSpPr>
        <p:spPr>
          <a:xfrm>
            <a:off x="6747712" y="6144127"/>
            <a:ext cx="4235116" cy="417094"/>
          </a:xfrm>
          <a:prstGeom prst="roundRect">
            <a:avLst/>
          </a:prstGeom>
          <a:solidFill>
            <a:srgbClr val="F6EE9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Binary classification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39DBB-6DAF-0950-2E7B-B1464590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9928" y="6378658"/>
            <a:ext cx="2743200" cy="365125"/>
          </a:xfrm>
        </p:spPr>
        <p:txBody>
          <a:bodyPr/>
          <a:lstStyle/>
          <a:p>
            <a:fld id="{AECA31E1-7C5F-484D-9C19-381E4DD50A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3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1762</Words>
  <Application>Microsoft Macintosh PowerPoint</Application>
  <PresentationFormat>Widescreen</PresentationFormat>
  <Paragraphs>438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Consolas</vt:lpstr>
      <vt:lpstr>Office Theme</vt:lpstr>
      <vt:lpstr>LLMs Out-of-the Box Do Not Generate Context-Appropriate Word Order in Russian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the Corpus</vt:lpstr>
      <vt:lpstr>Word Order Distribution</vt:lpstr>
      <vt:lpstr>PowerPoint Presentation</vt:lpstr>
      <vt:lpstr>PowerPoint Presentation</vt:lpstr>
      <vt:lpstr>PowerPoint Presentation</vt:lpstr>
      <vt:lpstr>Prompt Template</vt:lpstr>
      <vt:lpstr>Prompt continued</vt:lpstr>
      <vt:lpstr>PowerPoint Presentation</vt:lpstr>
      <vt:lpstr>Model Selection</vt:lpstr>
      <vt:lpstr>Include Decision Tree Prediction in Prompt</vt:lpstr>
      <vt:lpstr>Few-shot prompting</vt:lpstr>
      <vt:lpstr>Few-shot prompting &amp; Fine-tuning </vt:lpstr>
      <vt:lpstr>Summary: Contributions</vt:lpstr>
      <vt:lpstr>THANK YOU!</vt:lpstr>
      <vt:lpstr>BACKUP SLIDES</vt:lpstr>
      <vt:lpstr>PowerPoint Presentation</vt:lpstr>
      <vt:lpstr>PowerPoint Presentation</vt:lpstr>
      <vt:lpstr>PowerPoint Presentation</vt:lpstr>
      <vt:lpstr>PowerPoint Presentation</vt:lpstr>
      <vt:lpstr>Top-10 most important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Shabaeva</dc:creator>
  <cp:lastModifiedBy>Alina Shabaeva</cp:lastModifiedBy>
  <cp:revision>2</cp:revision>
  <dcterms:created xsi:type="dcterms:W3CDTF">2026-07-30T23:57:09Z</dcterms:created>
  <dcterms:modified xsi:type="dcterms:W3CDTF">2026-08-01T00:19:10Z</dcterms:modified>
</cp:coreProperties>
</file>