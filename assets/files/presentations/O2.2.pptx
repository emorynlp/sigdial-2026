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5143500" cy="9144000"/>
  <p:embeddedFontLst>
    <p:embeddedFont>
      <p:font typeface="Lora"/>
      <p:regular r:id="rId67"/>
      <p:bold r:id="rId68"/>
      <p:italic r:id="rId69"/>
      <p:boldItalic r:id="rId70"/>
    </p:embeddedFont>
    <p:embeddedFont>
      <p:font typeface="Quattrocento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5" roundtripDataSignature="AMtx7mhm4zannPtfESe6XNycfexi7wjj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8A01A9-31D1-41C9-9F1A-FE5B03BA0646}">
  <a:tblStyle styleId="{C58A01A9-31D1-41C9-9F1A-FE5B03BA064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QuattrocentoSans-italic.fntdata"/><Relationship Id="rId72" Type="http://schemas.openxmlformats.org/officeDocument/2006/relationships/font" Target="fonts/QuattrocentoSans-bold.fntdata"/><Relationship Id="rId31" Type="http://schemas.openxmlformats.org/officeDocument/2006/relationships/slide" Target="slides/slide26.xml"/><Relationship Id="rId75" Type="http://customschemas.google.com/relationships/presentationmetadata" Target="metadata"/><Relationship Id="rId30" Type="http://schemas.openxmlformats.org/officeDocument/2006/relationships/slide" Target="slides/slide25.xml"/><Relationship Id="rId74" Type="http://schemas.openxmlformats.org/officeDocument/2006/relationships/font" Target="fonts/QuattrocentoSans-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QuattrocentoSans-regular.fntdata"/><Relationship Id="rId70" Type="http://schemas.openxmlformats.org/officeDocument/2006/relationships/font" Target="fonts/Lora-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Lora-bold.fntdata"/><Relationship Id="rId23" Type="http://schemas.openxmlformats.org/officeDocument/2006/relationships/slide" Target="slides/slide18.xml"/><Relationship Id="rId67" Type="http://schemas.openxmlformats.org/officeDocument/2006/relationships/font" Target="fonts/Lora-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ora-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I'm Ali Pourghasemi, a Ph.D. student at the University of Maine.</a:t>
            </a:r>
            <a:br>
              <a:rPr lang="en-US"/>
            </a:br>
            <a:br>
              <a:rPr lang="en-US"/>
            </a:br>
            <a:r>
              <a:rPr lang="en-US"/>
              <a:t>In this presentation I want to talk about a gap between what developers THINK an LLM is telling them and what it is ACTUALLY telling them. specifically when the topic is non functional requirements.</a:t>
            </a:r>
            <a:endParaRPr/>
          </a:p>
          <a:p>
            <a:pPr indent="0" lvl="0" marL="0" rtl="0" algn="l">
              <a:spcBef>
                <a:spcPts val="0"/>
              </a:spcBef>
              <a:spcAft>
                <a:spcPts val="0"/>
              </a:spcAft>
              <a:buNone/>
            </a:pPr>
            <a:r>
              <a:rPr lang="en-US"/>
              <a:t>The title of our paper is</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f5d2f75d88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g3f5d2f75d88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a:t>
            </a:r>
            <a:r>
              <a:rPr lang="en-US"/>
              <a:t>LLM coding assistants have become the main tool for developers</a:t>
            </a:r>
            <a:endParaRPr/>
          </a:p>
          <a:p>
            <a:pPr indent="0" lvl="0" marL="0" rtl="0" algn="l">
              <a:spcBef>
                <a:spcPts val="0"/>
              </a:spcBef>
              <a:spcAft>
                <a:spcPts val="0"/>
              </a:spcAft>
              <a:buNone/>
            </a:pPr>
            <a:r>
              <a:rPr lang="en-US"/>
              <a:t>But look at how we evaluate them. HumanEval, SWE-bench, All these ask for correctiess of functional requirements by some unit tests</a:t>
            </a:r>
            <a:endParaRPr/>
          </a:p>
          <a:p>
            <a:pPr indent="0" lvl="0" marL="0" rtl="0" algn="l">
              <a:spcBef>
                <a:spcPts val="0"/>
              </a:spcBef>
              <a:spcAft>
                <a:spcPts val="0"/>
              </a:spcAft>
              <a:buClr>
                <a:schemeClr val="dk1"/>
              </a:buClr>
              <a:buFont typeface="Arial"/>
              <a:buNone/>
            </a:pPr>
            <a:r>
              <a:rPr lang="en-US"/>
              <a:t>They dont evaluate NFRs which are more challenging. NFRs are vaguely defined,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And they mostly measure it in a single prompt. But that is not how developers actually use these tools, they use them conversationally, over many turns, refining and pushing back. </a:t>
            </a:r>
            <a:endParaRPr/>
          </a:p>
        </p:txBody>
      </p:sp>
      <p:sp>
        <p:nvSpPr>
          <p:cNvPr id="30" name="Google Shape;30;g3f5d2f75d88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78cb17a1_0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578cb17a1_0_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There are manyworks regarding evaluating a code.</a:t>
            </a:r>
            <a:endParaRPr/>
          </a:p>
          <a:p>
            <a:pPr indent="0" lvl="0" marL="0" rtl="0" algn="l">
              <a:spcBef>
                <a:spcPts val="0"/>
              </a:spcBef>
              <a:spcAft>
                <a:spcPts val="0"/>
              </a:spcAft>
              <a:buClr>
                <a:schemeClr val="dk1"/>
              </a:buClr>
              <a:buFont typeface="Arial"/>
              <a:buNone/>
            </a:pPr>
            <a:r>
              <a:rPr lang="en-US"/>
              <a:t>Here are some examples. Most of these works focus on things related to functional requirements. for example in code generation given a requirement they test if the generated code passes the unit tests.</a:t>
            </a:r>
            <a:endParaRPr/>
          </a:p>
          <a:p>
            <a:pPr indent="0" lvl="0" marL="0" rtl="0" algn="l">
              <a:spcBef>
                <a:spcPts val="0"/>
              </a:spcBef>
              <a:spcAft>
                <a:spcPts val="0"/>
              </a:spcAft>
              <a:buClr>
                <a:schemeClr val="dk1"/>
              </a:buClr>
              <a:buFont typeface="Arial"/>
              <a:buNone/>
            </a:pPr>
            <a:r>
              <a:rPr lang="en-US"/>
              <a:t>and most of them evaluate the code in a single turn setting.</a:t>
            </a:r>
            <a:endParaRPr/>
          </a:p>
          <a:p>
            <a:pPr indent="0" lvl="0" marL="0" rtl="0" algn="l">
              <a:spcBef>
                <a:spcPts val="0"/>
              </a:spcBef>
              <a:spcAft>
                <a:spcPts val="0"/>
              </a:spcAft>
              <a:buClr>
                <a:schemeClr val="dk1"/>
              </a:buClr>
              <a:buFont typeface="Arial"/>
              <a:buNone/>
            </a:pPr>
            <a:r>
              <a:rPr lang="en-US"/>
              <a:t>In our work developers can interact with the llm freely and we evaluate the final result in the multi turn setting, and we focus on NFRs.</a:t>
            </a:r>
            <a:endParaRPr/>
          </a:p>
          <a:p>
            <a:pPr indent="0" lvl="0" marL="0" rtl="0" algn="l">
              <a:spcBef>
                <a:spcPts val="0"/>
              </a:spcBef>
              <a:spcAft>
                <a:spcPts val="0"/>
              </a:spcAft>
              <a:buClr>
                <a:schemeClr val="dk1"/>
              </a:buClr>
              <a:buFont typeface="Arial"/>
              <a:buNone/>
            </a:pPr>
            <a:r>
              <a:rPr lang="en-US"/>
              <a:t>Remove-&gt;Beside that we create a model for estimating the user satisfaction of developers to understand what dialogue characteristics increases the developers satisfaction</a:t>
            </a:r>
            <a:endParaRPr/>
          </a:p>
          <a:p>
            <a:pPr indent="0" lvl="0" marL="0" rtl="0" algn="l">
              <a:spcBef>
                <a:spcPts val="0"/>
              </a:spcBef>
              <a:spcAft>
                <a:spcPts val="0"/>
              </a:spcAft>
              <a:buNone/>
            </a:pPr>
            <a:r>
              <a:t/>
            </a:r>
            <a:endParaRPr/>
          </a:p>
        </p:txBody>
      </p:sp>
      <p:sp>
        <p:nvSpPr>
          <p:cNvPr id="55" name="Google Shape;55;g3f578cb17a1_0_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203acc17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f5203acc17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We first created a set of NFR by extracting requirements from legal documents.</a:t>
            </a:r>
            <a:endParaRPr/>
          </a:p>
          <a:p>
            <a:pPr indent="0" lvl="0" marL="0" rtl="0" algn="l">
              <a:spcBef>
                <a:spcPts val="0"/>
              </a:spcBef>
              <a:spcAft>
                <a:spcPts val="0"/>
              </a:spcAft>
              <a:buNone/>
            </a:pPr>
            <a:r>
              <a:t/>
            </a:r>
            <a:endParaRPr/>
          </a:p>
        </p:txBody>
      </p:sp>
      <p:sp>
        <p:nvSpPr>
          <p:cNvPr id="98" name="Google Shape;98;g3f5203acc17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5203acc17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f5203acc17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Then we invited 49 developers to interact with our tool. in this tool developers ask LLM to evaluate the requirements in a multi turn setting.</a:t>
            </a:r>
            <a:endParaRPr/>
          </a:p>
          <a:p>
            <a:pPr indent="0" lvl="0" marL="0" rtl="0" algn="l">
              <a:spcBef>
                <a:spcPts val="0"/>
              </a:spcBef>
              <a:spcAft>
                <a:spcPts val="0"/>
              </a:spcAft>
              <a:buNone/>
            </a:pPr>
            <a:br>
              <a:rPr lang="en-US"/>
            </a:br>
            <a:r>
              <a:rPr lang="en-US"/>
              <a:t>Before starting the surveys, participants complete a tutorial to be </a:t>
            </a:r>
            <a:r>
              <a:rPr lang="en-US"/>
              <a:t>familiarized</a:t>
            </a:r>
            <a:r>
              <a:rPr lang="en-US"/>
              <a:t> with the survey. Then they will proceed to the step which has three sections</a:t>
            </a:r>
            <a:br>
              <a:rPr lang="en-US"/>
            </a:br>
            <a:r>
              <a:rPr lang="en-US"/>
              <a:t>In the first stage, developers review NFRs to familiarize themselves with the requirements before interacting with the chatbot</a:t>
            </a:r>
            <a:endParaRPr/>
          </a:p>
          <a:p>
            <a:pPr indent="0" lvl="0" marL="0" rtl="0" algn="l">
              <a:spcBef>
                <a:spcPts val="0"/>
              </a:spcBef>
              <a:spcAft>
                <a:spcPts val="0"/>
              </a:spcAft>
              <a:buClr>
                <a:schemeClr val="dk1"/>
              </a:buClr>
              <a:buFont typeface="Arial"/>
              <a:buNone/>
            </a:pPr>
            <a:r>
              <a:rPr lang="en-US"/>
              <a:t>In the second stage, developers query the chatbot to assess the NFRs across the three dimensions. The three dimensions are …</a:t>
            </a:r>
            <a:endParaRPr/>
          </a:p>
          <a:p>
            <a:pPr indent="0" lvl="0" marL="0" rtl="0" algn="l">
              <a:spcBef>
                <a:spcPts val="0"/>
              </a:spcBef>
              <a:spcAft>
                <a:spcPts val="0"/>
              </a:spcAft>
              <a:buClr>
                <a:schemeClr val="dk1"/>
              </a:buClr>
              <a:buFont typeface="Arial"/>
              <a:buNone/>
            </a:pPr>
            <a:r>
              <a:rPr lang="en-US"/>
              <a:t>The chatbot is basically github copilot</a:t>
            </a:r>
            <a:endParaRPr/>
          </a:p>
          <a:p>
            <a:pPr indent="0" lvl="0" marL="0" rtl="0" algn="l">
              <a:spcBef>
                <a:spcPts val="0"/>
              </a:spcBef>
              <a:spcAft>
                <a:spcPts val="0"/>
              </a:spcAft>
              <a:buClr>
                <a:schemeClr val="dk1"/>
              </a:buClr>
              <a:buFont typeface="Arial"/>
              <a:buNone/>
            </a:pPr>
            <a:r>
              <a:rPr lang="en-US"/>
              <a:t>In the third stage, after they are convinced the llm fully assessed the requirements they rate each NFR’s responses on the three dimensions on a Likert scale of 1–4, where 1 is "Strongly Disagree" and 4 is "Strongly Agree".</a:t>
            </a:r>
            <a:endParaRPr/>
          </a:p>
          <a:p>
            <a:pPr indent="0" lvl="0" marL="0" rtl="0" algn="l">
              <a:spcBef>
                <a:spcPts val="0"/>
              </a:spcBef>
              <a:spcAft>
                <a:spcPts val="0"/>
              </a:spcAft>
              <a:buNone/>
            </a:pPr>
            <a:r>
              <a:rPr lang="en-US"/>
              <a:t> and in the last step in the tool they complete a user satisfaction survey</a:t>
            </a:r>
            <a:br>
              <a:rPr lang="en-US"/>
            </a:br>
            <a:endParaRPr/>
          </a:p>
          <a:p>
            <a:pPr indent="0" lvl="0" marL="0" rtl="0" algn="l">
              <a:spcBef>
                <a:spcPts val="0"/>
              </a:spcBef>
              <a:spcAft>
                <a:spcPts val="0"/>
              </a:spcAft>
              <a:buNone/>
            </a:pPr>
            <a:r>
              <a:t/>
            </a:r>
            <a:endParaRPr/>
          </a:p>
        </p:txBody>
      </p:sp>
      <p:sp>
        <p:nvSpPr>
          <p:cNvPr id="115" name="Google Shape;115;g3f5203acc17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203acc17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f5203acc17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once we collected the dialogues from the participants, we annotate the turns based on the dialogue </a:t>
            </a:r>
            <a:r>
              <a:rPr lang="en-US"/>
              <a:t>characteristics</a:t>
            </a:r>
            <a:r>
              <a:rPr lang="en-US"/>
              <a:t>.</a:t>
            </a:r>
            <a:endParaRPr/>
          </a:p>
          <a:p>
            <a:pPr indent="0" lvl="0" marL="0" rtl="0" algn="l">
              <a:spcBef>
                <a:spcPts val="0"/>
              </a:spcBef>
              <a:spcAft>
                <a:spcPts val="0"/>
              </a:spcAft>
              <a:buNone/>
            </a:pPr>
            <a:r>
              <a:rPr lang="en-US"/>
              <a:t>Then we have enough data to answer our research questions. we …</a:t>
            </a:r>
            <a:endParaRPr/>
          </a:p>
        </p:txBody>
      </p:sp>
      <p:sp>
        <p:nvSpPr>
          <p:cNvPr id="173" name="Google Shape;173;g3f5203acc17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HIPAA is a U.S. federal regulation that establishes standards for protecting the privacy and security of individually identifiable health information, known as electronic protected health information (ePHI). We use HIPAA as a representative domain of regulatory NFRs.</a:t>
            </a:r>
            <a:endParaRPr/>
          </a:p>
          <a:p>
            <a:pPr indent="0" lvl="0" marL="0" rtl="0" algn="l">
              <a:spcBef>
                <a:spcPts val="0"/>
              </a:spcBef>
              <a:spcAft>
                <a:spcPts val="0"/>
              </a:spcAft>
              <a:buNone/>
            </a:pPr>
            <a:r>
              <a:t/>
            </a:r>
            <a:endParaRPr/>
          </a:p>
        </p:txBody>
      </p:sp>
      <p:sp>
        <p:nvSpPr>
          <p:cNvPr id="248" name="Google Shape;2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Electronic Health Record (EHR) system</a:t>
            </a:r>
            <a:endParaRPr/>
          </a:p>
          <a:p>
            <a:pPr indent="0" lvl="0" marL="0" rtl="0" algn="l">
              <a:spcBef>
                <a:spcPts val="0"/>
              </a:spcBef>
              <a:spcAft>
                <a:spcPts val="0"/>
              </a:spcAft>
              <a:buNone/>
            </a:pPr>
            <a:r>
              <a:rPr lang="en-US"/>
              <a:t>so it is a suitable codebase for our set of requirements</a:t>
            </a:r>
            <a:endParaRPr/>
          </a:p>
        </p:txBody>
      </p:sp>
      <p:sp>
        <p:nvSpPr>
          <p:cNvPr id="268" name="Google Shape;26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codebase we use iTrust, an electronic health records system designed as a testbed for HIPAA security and privacy requirements. It gives us a realistic, complex code which is proper for our requirement domain.</a:t>
            </a:r>
            <a:br>
              <a:rPr lang="en-US"/>
            </a:br>
            <a:br>
              <a:rPr lang="en-US"/>
            </a:br>
            <a:r>
              <a:rPr lang="en-US"/>
              <a:t>only binary yes and no does not fully capture</a:t>
            </a:r>
            <a:r>
              <a:rPr lang="en-US"/>
              <a:t> how code implements, or relates to requirements</a:t>
            </a:r>
            <a:br>
              <a:rPr lang="en-US"/>
            </a:br>
            <a:br>
              <a:rPr lang="en-US"/>
            </a:br>
            <a:r>
              <a:rPr lang="en-US"/>
              <a:t>One expert annotated all 148, a second reviewed every annotation, and they discussed until they agreed.</a:t>
            </a:r>
            <a:endParaRPr/>
          </a:p>
        </p:txBody>
      </p:sp>
      <p:sp>
        <p:nvSpPr>
          <p:cNvPr id="313" name="Google Shape;3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344" name="Google Shape;34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5d2f75d88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f5d2f75d88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f5d2f75d88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578cb17a1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f578cb17a1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3f578cb17a1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578cb17a1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f578cb17a1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g3f578cb17a1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578cb17a1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f578cb17a1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3f578cb17a1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responses are convincing without being CORRECT,  and the people we hired to check them could not tell the difference.</a:t>
            </a:r>
            <a:endParaRPr/>
          </a:p>
        </p:txBody>
      </p:sp>
      <p:sp>
        <p:nvSpPr>
          <p:cNvPr id="466" name="Google Shape;46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make that concrete. One NFR requires the system to implement procedures for CREATING passwords. Ground truth points to the dedicated creation actions.</a:t>
            </a:r>
            <a:br>
              <a:rPr lang="en-US"/>
            </a:br>
            <a:br>
              <a:rPr lang="en-US"/>
            </a:br>
            <a:r>
              <a:rPr lang="en-US"/>
              <a:t>The system instead cites ResetPasswordAction.java,  it conflates password RESET with password CREATION. Semantically adjacent, functionally distinct, and the model did not discriminate.</a:t>
            </a:r>
            <a:br>
              <a:rPr lang="en-US"/>
            </a:br>
            <a:br>
              <a:rPr lang="en-US"/>
            </a:br>
            <a:r>
              <a:rPr lang="en-US"/>
              <a:t>And the participant STRONGLY AGREED. The response was fluent, it cited a real file, the file had “Password” in the name. It was convincing. It was wrong.</a:t>
            </a:r>
            <a:endParaRPr/>
          </a:p>
        </p:txBody>
      </p:sp>
      <p:sp>
        <p:nvSpPr>
          <p:cNvPr id="513" name="Google Shape;51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5d2f75d88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g3f5d2f75d88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Clr>
                <a:srgbClr val="2E4F8F"/>
              </a:buClr>
              <a:buSzPts val="1200"/>
              <a:buFont typeface="Arial"/>
              <a:buNone/>
            </a:pPr>
            <a:r>
              <a:rPr lang="en-US">
                <a:solidFill>
                  <a:srgbClr val="222222"/>
                </a:solidFill>
                <a:latin typeface="Arial"/>
                <a:ea typeface="Arial"/>
                <a:cs typeface="Arial"/>
                <a:sym typeface="Arial"/>
              </a:rPr>
              <a:t>a dialogue system’s primary objective is to maximize user satisfaction.</a:t>
            </a:r>
            <a:endParaRPr/>
          </a:p>
          <a:p>
            <a:pPr indent="0" lvl="0" marL="0" rtl="0" algn="l">
              <a:spcBef>
                <a:spcPts val="0"/>
              </a:spcBef>
              <a:spcAft>
                <a:spcPts val="0"/>
              </a:spcAft>
              <a:buNone/>
            </a:pPr>
            <a:r>
              <a:rPr lang="en-US"/>
              <a:t>in a dialogue system a performance function which is the estimation of a user satisfaction  can then be derived by applying multivariate linear regression (MLR) with user satisfaction as the dependent variable and task-success measures and dialogue costs as the independent variables.</a:t>
            </a:r>
            <a:endParaRPr/>
          </a:p>
        </p:txBody>
      </p:sp>
      <p:sp>
        <p:nvSpPr>
          <p:cNvPr id="536" name="Google Shape;536;g3f5d2f75d88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ok the rating is high, what causes this high rating. we modeled user satisfaction to see why the users are satisfied with the results.</a:t>
            </a:r>
            <a:endParaRPr/>
          </a:p>
        </p:txBody>
      </p:sp>
      <p:sp>
        <p:nvSpPr>
          <p:cNvPr id="563" name="Google Shape;56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Second question: what drives satisfaction? We applied PARADISE, which models satisfaction as a function of task success and dialogue costs.</a:t>
            </a:r>
            <a:br>
              <a:rPr lang="en-US"/>
            </a:br>
            <a:br>
              <a:rPr lang="en-US"/>
            </a:br>
            <a:r>
              <a:rPr lang="en-US"/>
              <a:t>We started with 21 predictors after removing zero-variance and highly correlated ones, z-scored everything, ran backward elimination. Eighteen dropped out. Three survived.</a:t>
            </a:r>
            <a:br>
              <a:rPr lang="en-US"/>
            </a:br>
            <a:br>
              <a:rPr lang="en-US"/>
            </a:br>
            <a:r>
              <a:rPr lang="en-US"/>
              <a:t>Mean words per response: NEGATIVE. Verbosity hurts.</a:t>
            </a:r>
            <a:br>
              <a:rPr lang="en-US"/>
            </a:br>
            <a:r>
              <a:rPr lang="en-US"/>
              <a:t>Given data,  turns where the system just supplies what was asked for: also NEGATIVE. Information dumping hurts, even when the information is relevant.</a:t>
            </a:r>
            <a:br>
              <a:rPr lang="en-US"/>
            </a:br>
            <a:r>
              <a:rPr lang="en-US"/>
              <a:t>The one positive predictor: PROACTIVE INTERACTION. Turns where the system voluntarily asks a probing question, “which of these areas matters most, so I can dig deeper?” Participants valued the system taking initiative.</a:t>
            </a:r>
            <a:br>
              <a:rPr lang="en-US"/>
            </a:br>
            <a:r>
              <a:rPr lang="en-US"/>
              <a:t>Which option should I start on?</a:t>
            </a:r>
            <a:br>
              <a:rPr lang="en-US"/>
            </a:br>
            <a:r>
              <a:rPr lang="en-US"/>
              <a:t>Notice what is NOT in there: task success. Whether the system was actually right did not predict how satisfied users were.</a:t>
            </a:r>
            <a:endParaRPr/>
          </a:p>
        </p:txBody>
      </p:sp>
      <p:sp>
        <p:nvSpPr>
          <p:cNvPr id="619" name="Google Shape;61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f578cb17a1_0_629:notes"/>
          <p:cNvSpPr/>
          <p:nvPr>
            <p:ph idx="2" type="sldImg"/>
          </p:nvPr>
        </p:nvSpPr>
        <p:spPr>
          <a:xfrm>
            <a:off x="28575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8" name="Google Shape;708;g3f578cb17a1_0_629: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f578cb17a1_0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f578cb17a1_0_5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g3f578cb17a1_0_5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578cb17a1_0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f578cb17a1_0_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HIPAA is a U.S. federal regulation that establishes standards for protecting the privacy and security of individually identifiable health information, known as electronic protected health information (ePHI). We use HIPAA as a representative domain of regulatory NFRs.</a:t>
            </a:r>
            <a:endParaRPr/>
          </a:p>
          <a:p>
            <a:pPr indent="0" lvl="0" marL="0" rtl="0" algn="l">
              <a:spcBef>
                <a:spcPts val="0"/>
              </a:spcBef>
              <a:spcAft>
                <a:spcPts val="0"/>
              </a:spcAft>
              <a:buNone/>
            </a:pPr>
            <a:r>
              <a:t/>
            </a:r>
            <a:endParaRPr/>
          </a:p>
        </p:txBody>
      </p:sp>
      <p:sp>
        <p:nvSpPr>
          <p:cNvPr id="739" name="Google Shape;739;g3f578cb17a1_0_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f578cb17a1_0_7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f578cb17a1_0_7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t/>
            </a:r>
            <a:endParaRPr sz="1100">
              <a:latin typeface="Arial"/>
              <a:ea typeface="Arial"/>
              <a:cs typeface="Arial"/>
              <a:sym typeface="Arial"/>
            </a:endParaRPr>
          </a:p>
          <a:p>
            <a:pPr indent="0" lvl="0" marL="0" rtl="0" algn="just">
              <a:lnSpc>
                <a:spcPct val="115000"/>
              </a:lnSpc>
              <a:spcBef>
                <a:spcPts val="0"/>
              </a:spcBef>
              <a:spcAft>
                <a:spcPts val="0"/>
              </a:spcAft>
              <a:buNone/>
            </a:pPr>
            <a:r>
              <a:rPr lang="en-US" sz="1100">
                <a:latin typeface="Arial"/>
                <a:ea typeface="Arial"/>
                <a:cs typeface="Arial"/>
                <a:sym typeface="Arial"/>
              </a:rPr>
              <a:t>The system shall support implementing a security awareness and training program for all workforce members, including management.</a:t>
            </a:r>
            <a:endParaRPr sz="1100">
              <a:latin typeface="Arial"/>
              <a:ea typeface="Arial"/>
              <a:cs typeface="Arial"/>
              <a:sym typeface="Arial"/>
            </a:endParaRPr>
          </a:p>
          <a:p>
            <a:pPr indent="0" lvl="0" marL="0" rtl="0" algn="just">
              <a:lnSpc>
                <a:spcPct val="115000"/>
              </a:lnSpc>
              <a:spcBef>
                <a:spcPts val="0"/>
              </a:spcBef>
              <a:spcAft>
                <a:spcPts val="0"/>
              </a:spcAft>
              <a:buNone/>
            </a:pPr>
            <a:r>
              <a:rPr lang="en-US" sz="1100">
                <a:latin typeface="Arial"/>
                <a:ea typeface="Arial"/>
                <a:cs typeface="Arial"/>
                <a:sym typeface="Arial"/>
              </a:rPr>
              <a:t>The system shall require a covered entity to obtain an authorization for any disclosure of psychotherapy notes.</a:t>
            </a:r>
            <a:endParaRPr/>
          </a:p>
        </p:txBody>
      </p:sp>
      <p:sp>
        <p:nvSpPr>
          <p:cNvPr id="755" name="Google Shape;755;g3f578cb17a1_0_7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f578cb17a1_0_8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f578cb17a1_0_8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privacy and software engineering expert read HIPAA and pulled out 650 statements.</a:t>
            </a:r>
            <a:br>
              <a:rPr lang="en-US"/>
            </a:br>
            <a:br>
              <a:rPr lang="en-US"/>
            </a:br>
            <a:r>
              <a:rPr lang="en-US"/>
              <a:t>Two filters: the statement must be about software construction as defined in SWEBOK, and it must fall within the scope of our target system. That got us to 180.</a:t>
            </a:r>
            <a:br>
              <a:rPr lang="en-US"/>
            </a:br>
            <a:br>
              <a:rPr lang="en-US"/>
            </a:br>
            <a:r>
              <a:rPr lang="en-US"/>
              <a:t>A second expert reviewed those, proposed edits, and flagged 32 as out of scope. Final corpus: 148 NFRs, things like “the system shall ensure the integrity of ePHI that it creates.”</a:t>
            </a:r>
            <a:endParaRPr/>
          </a:p>
        </p:txBody>
      </p:sp>
      <p:sp>
        <p:nvSpPr>
          <p:cNvPr id="775" name="Google Shape;775;g3f578cb17a1_0_8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578cb17a1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g3f578cb17a1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Clr>
                <a:srgbClr val="2E4F8F"/>
              </a:buClr>
              <a:buSzPts val="1200"/>
              <a:buFont typeface="Arial"/>
              <a:buNone/>
            </a:pPr>
            <a:r>
              <a:rPr lang="en-US">
                <a:solidFill>
                  <a:srgbClr val="222222"/>
                </a:solidFill>
                <a:latin typeface="Arial"/>
                <a:ea typeface="Arial"/>
                <a:cs typeface="Arial"/>
                <a:sym typeface="Arial"/>
              </a:rPr>
              <a:t>a dialogue system’s primary objective is to maximize user satisfaction.</a:t>
            </a:r>
            <a:endParaRPr/>
          </a:p>
          <a:p>
            <a:pPr indent="0" lvl="0" marL="0" rtl="0" algn="l">
              <a:spcBef>
                <a:spcPts val="0"/>
              </a:spcBef>
              <a:spcAft>
                <a:spcPts val="0"/>
              </a:spcAft>
              <a:buNone/>
            </a:pPr>
            <a:r>
              <a:rPr lang="en-US"/>
              <a:t>a performance function can then be derived by applying multivariate linear regression (MLR) with user satisfaction as the dependent variable and task-success measures and dialogue costs as the independent variables.</a:t>
            </a:r>
            <a:endParaRPr/>
          </a:p>
        </p:txBody>
      </p:sp>
      <p:sp>
        <p:nvSpPr>
          <p:cNvPr id="881" name="Google Shape;881;g3f578cb17a1_0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f578cb17a1_0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9" name="Google Shape;909;g3f578cb17a1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g3f578cb17a1_0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f578cb17a1_0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g3f578cb17a1_0_3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g3f578cb17a1_0_3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f578cb17a1_0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g3f578cb17a1_0_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PARADISE turns those weights into numbers with multivariate linear regression — satisfaction as the dependent variable, the costs as predictors. But the regression only behaves if you respect three constraints, and the Hajdinjak and Mihelič squib is pointed about this.</a:t>
            </a:r>
            <a:br>
              <a:rPr lang="en-US"/>
            </a:br>
            <a:br>
              <a:rPr lang="en-US"/>
            </a:br>
            <a:r>
              <a:rPr lang="en-US"/>
              <a:t>(click) One: Z-score normalize everything, so a weight's magnitude actually reflects its contribution — and no weight exceeds one in absolute value.</a:t>
            </a:r>
            <a:br>
              <a:rPr lang="en-US"/>
            </a:br>
            <a:br>
              <a:rPr lang="en-US"/>
            </a:br>
            <a:r>
              <a:rPr lang="en-US"/>
              <a:t>(click) Two: remove predictors that correlate above 0.7, because near-duplicates make the weights unstable. When two are redundant, you keep the one more significant to satisfaction.</a:t>
            </a:r>
            <a:br>
              <a:rPr lang="en-US"/>
            </a:br>
            <a:br>
              <a:rPr lang="en-US"/>
            </a:br>
            <a:r>
              <a:rPr lang="en-US"/>
              <a:t>(click) Three: backward elimination — drop the least significant predictor, one at a time, until everything left clears p of 0.05.</a:t>
            </a:r>
            <a:br>
              <a:rPr lang="en-US"/>
            </a:br>
            <a:br>
              <a:rPr lang="en-US"/>
            </a:br>
            <a:r>
              <a:rPr lang="en-US"/>
              <a:t>What you're left with is a compact function whose signed weights tell you what actually drives satisfaction — which is exactly what we report next.</a:t>
            </a:r>
            <a:endParaRPr/>
          </a:p>
        </p:txBody>
      </p:sp>
      <p:sp>
        <p:nvSpPr>
          <p:cNvPr id="954" name="Google Shape;954;g3f578cb17a1_0_3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f578cb17a1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g3f578cb17a1_0_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NFR extraction → ground-truth creation → 49 participants interact with GitHub Copilot CLI over iTrust → rate on three dimensions → satisfaction survey → annotation → accuracy comparison and PARADISE modeling.</a:t>
            </a:r>
            <a:endParaRPr/>
          </a:p>
        </p:txBody>
      </p:sp>
      <p:sp>
        <p:nvSpPr>
          <p:cNvPr id="984" name="Google Shape;984;g3f578cb17a1_0_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578cb17a1_0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g3f578cb17a1_0_3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panels: review NFRs (left), chatbot interaction (middle), response rating (right).</a:t>
            </a:r>
            <a:endParaRPr/>
          </a:p>
        </p:txBody>
      </p:sp>
      <p:sp>
        <p:nvSpPr>
          <p:cNvPr id="997" name="Google Shape;997;g3f578cb17a1_0_3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f578cb17a1_0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9" name="Google Shape;1009;g3f578cb17a1_0_3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g3f578cb17a1_0_3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f578cb17a1_0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g3f578cb17a1_0_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4" name="Google Shape;1024;g3f578cb17a1_0_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578cb17a1_0_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g3f578cb17a1_0_4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g3f578cb17a1_0_4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f578cb17a1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2" name="Google Shape;1052;g3f578cb17a1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Distribution of agreement ratings across the three dimensions — overwhelmingly agree / strongly agree.</a:t>
            </a:r>
            <a:endParaRPr/>
          </a:p>
        </p:txBody>
      </p:sp>
      <p:sp>
        <p:nvSpPr>
          <p:cNvPr id="1053" name="Google Shape;1053;g3f578cb17a1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578cb17a1_0_4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5" name="Google Shape;1065;g3f578cb17a1_0_4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6" name="Google Shape;1066;g3f578cb17a1_0_4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f578cb17a1_0_4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g3f578cb17a1_0_4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g3f578cb17a1_0_4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f578cb17a1_0_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g3f578cb17a1_0_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g3f578cb17a1_0_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f578cb17a1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7" name="Google Shape;1107;g3f578cb17a1_0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User-satisfaction survey items. Understanding-related items rated highest (~4.3); speed-related items lowest (~3).</a:t>
            </a:r>
            <a:endParaRPr/>
          </a:p>
        </p:txBody>
      </p:sp>
      <p:sp>
        <p:nvSpPr>
          <p:cNvPr id="1108" name="Google Shape;1108;g3f578cb17a1_0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f578cb17a1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0" name="Google Shape;1120;g3f578cb17a1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g3f578cb17a1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578cb17a1_0_4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g3f578cb17a1_0_4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g3f578cb17a1_0_4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f578cb17a1_0_4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g3f578cb17a1_0_4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9" name="Google Shape;1149;g3f578cb17a1_0_4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f578cb17a1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2" name="Google Shape;1162;g3f578cb17a1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g3f578cb17a1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f578cb17a1_0_5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g3f578cb17a1_0_5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g3f578cb17a1_0_5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f578cb17a1_0_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2" name="Google Shape;1192;g3f578cb17a1_0_5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3" name="Google Shape;1193;g3f578cb17a1_0_5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f578cb17a1_0_7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f578cb17a1_0_7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g3f578cb17a1_0_7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f578cb17a1_0_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g3f578cb17a1_0_7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the design guidance is: be concise, ask questions, do not flood the user with information.</a:t>
            </a:r>
            <a:br>
              <a:rPr lang="en-US"/>
            </a:br>
            <a:br>
              <a:rPr lang="en-US"/>
            </a:br>
            <a:r>
              <a:rPr lang="en-US"/>
              <a:t>But I want to end with a warning, and it is the most important sentence in the paper. Our satisfaction function should NOT be used to increase user satisfaction. If you optimize an LLM agent against these coefficients, you do not get a more accurate system, you get a system that makes INACCURATE responses more convincing. Satisfaction and accuracy are decoupled here, and optimizing the one we can measure easily would widen exactly the gap we are reporting.</a:t>
            </a:r>
            <a:endParaRPr/>
          </a:p>
        </p:txBody>
      </p:sp>
      <p:sp>
        <p:nvSpPr>
          <p:cNvPr id="1224" name="Google Shape;1224;g3f578cb17a1_0_7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11" name="Shape 11"/>
        <p:cNvGrpSpPr/>
        <p:nvPr/>
      </p:nvGrpSpPr>
      <p:grpSpPr>
        <a:xfrm>
          <a:off x="0" y="0"/>
          <a:ext cx="0" cy="0"/>
          <a:chOff x="0" y="0"/>
          <a:chExt cx="0" cy="0"/>
        </a:xfrm>
      </p:grpSpPr>
      <p:sp>
        <p:nvSpPr>
          <p:cNvPr id="12" name="Google Shape;12;g3f578cb17a1_0_727"/>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1D1D1B"/>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4.png"/><Relationship Id="rId13" Type="http://schemas.openxmlformats.org/officeDocument/2006/relationships/image" Target="../media/image3.png"/><Relationship Id="rId12"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16.png"/><Relationship Id="rId1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0.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14.png"/><Relationship Id="rId13" Type="http://schemas.openxmlformats.org/officeDocument/2006/relationships/image" Target="../media/image8.png"/><Relationship Id="rId12"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16.png"/><Relationship Id="rId15" Type="http://schemas.openxmlformats.org/officeDocument/2006/relationships/image" Target="../media/image22.png"/><Relationship Id="rId14" Type="http://schemas.openxmlformats.org/officeDocument/2006/relationships/image" Target="../media/image23.png"/><Relationship Id="rId17" Type="http://schemas.openxmlformats.org/officeDocument/2006/relationships/image" Target="../media/image21.png"/><Relationship Id="rId16" Type="http://schemas.openxmlformats.org/officeDocument/2006/relationships/image" Target="../media/image31.png"/><Relationship Id="rId5" Type="http://schemas.openxmlformats.org/officeDocument/2006/relationships/image" Target="../media/image13.png"/><Relationship Id="rId19" Type="http://schemas.openxmlformats.org/officeDocument/2006/relationships/image" Target="../media/image11.png"/><Relationship Id="rId6" Type="http://schemas.openxmlformats.org/officeDocument/2006/relationships/image" Target="../media/image17.png"/><Relationship Id="rId18"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77.png"/><Relationship Id="rId7"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60.png"/><Relationship Id="rId5" Type="http://schemas.openxmlformats.org/officeDocument/2006/relationships/image" Target="../media/image3.png"/><Relationship Id="rId6"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62.png"/><Relationship Id="rId5" Type="http://schemas.openxmlformats.org/officeDocument/2006/relationships/image" Target="../media/image3.png"/><Relationship Id="rId6"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66.png"/><Relationship Id="rId5" Type="http://schemas.openxmlformats.org/officeDocument/2006/relationships/image" Target="../media/image3.png"/><Relationship Id="rId6"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70.png"/><Relationship Id="rId5" Type="http://schemas.openxmlformats.org/officeDocument/2006/relationships/image" Target="../media/image3.png"/><Relationship Id="rId6"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82.png"/><Relationship Id="rId5" Type="http://schemas.openxmlformats.org/officeDocument/2006/relationships/image" Target="../media/image80.png"/><Relationship Id="rId6" Type="http://schemas.openxmlformats.org/officeDocument/2006/relationships/image" Target="../media/image3.png"/><Relationship Id="rId7"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 name="Shape 17"/>
        <p:cNvGrpSpPr/>
        <p:nvPr/>
      </p:nvGrpSpPr>
      <p:grpSpPr>
        <a:xfrm>
          <a:off x="0" y="0"/>
          <a:ext cx="0" cy="0"/>
          <a:chOff x="0" y="0"/>
          <a:chExt cx="0" cy="0"/>
        </a:xfrm>
      </p:grpSpPr>
      <p:pic>
        <p:nvPicPr>
          <p:cNvPr descr="umaine_logo.png" id="18" name="Google Shape;18;p1"/>
          <p:cNvPicPr preferRelativeResize="0"/>
          <p:nvPr/>
        </p:nvPicPr>
        <p:blipFill rotWithShape="1">
          <a:blip r:embed="rId3">
            <a:alphaModFix/>
          </a:blip>
          <a:srcRect b="0" l="0" r="0" t="0"/>
          <a:stretch/>
        </p:blipFill>
        <p:spPr>
          <a:xfrm>
            <a:off x="7680960" y="256032"/>
            <a:ext cx="1097280" cy="349301"/>
          </a:xfrm>
          <a:prstGeom prst="rect">
            <a:avLst/>
          </a:prstGeom>
          <a:noFill/>
          <a:ln>
            <a:noFill/>
          </a:ln>
        </p:spPr>
      </p:pic>
      <p:sp>
        <p:nvSpPr>
          <p:cNvPr id="19" name="Google Shape;19;p1"/>
          <p:cNvSpPr/>
          <p:nvPr/>
        </p:nvSpPr>
        <p:spPr>
          <a:xfrm>
            <a:off x="548640" y="1051560"/>
            <a:ext cx="8046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2600"/>
              <a:buFont typeface="Arial"/>
              <a:buNone/>
            </a:pPr>
            <a:r>
              <a:rPr b="1" lang="en-US" sz="2600">
                <a:solidFill>
                  <a:srgbClr val="222222"/>
                </a:solidFill>
              </a:rPr>
              <a:t>Accuracy and Satisfaction in Multi-Turn LLM Dialogues for NFR Assessment</a:t>
            </a:r>
            <a:endParaRPr b="0" i="0" sz="26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548640" y="2395728"/>
            <a:ext cx="8046720" cy="0"/>
          </a:xfrm>
          <a:prstGeom prst="straightConnector1">
            <a:avLst/>
          </a:prstGeom>
          <a:noFill/>
          <a:ln cap="flat" cmpd="sng" w="12700">
            <a:solidFill>
              <a:srgbClr val="D9D9D9"/>
            </a:solidFill>
            <a:prstDash val="solid"/>
            <a:round/>
            <a:headEnd len="sm" w="sm" type="none"/>
            <a:tailEnd len="sm" w="sm" type="none"/>
          </a:ln>
        </p:spPr>
      </p:cxnSp>
      <p:sp>
        <p:nvSpPr>
          <p:cNvPr id="21" name="Google Shape;21;p1"/>
          <p:cNvSpPr/>
          <p:nvPr/>
        </p:nvSpPr>
        <p:spPr>
          <a:xfrm>
            <a:off x="960120" y="2231136"/>
            <a:ext cx="329184" cy="32918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486400" y="2743200"/>
            <a:ext cx="3108960" cy="1463040"/>
          </a:xfrm>
          <a:prstGeom prst="rect">
            <a:avLst/>
          </a:prstGeom>
          <a:noFill/>
          <a:ln>
            <a:noFill/>
          </a:ln>
        </p:spPr>
        <p:txBody>
          <a:bodyPr anchorCtr="0" anchor="ctr" bIns="0" lIns="0" spcFirstLastPara="1" rIns="0" wrap="square" tIns="0">
            <a:noAutofit/>
          </a:bodyPr>
          <a:lstStyle/>
          <a:p>
            <a:pPr indent="0" lvl="0" marL="0" marR="0" rtl="0" algn="r">
              <a:lnSpc>
                <a:spcPct val="136363"/>
              </a:lnSpc>
              <a:spcBef>
                <a:spcPts val="0"/>
              </a:spcBef>
              <a:spcAft>
                <a:spcPts val="0"/>
              </a:spcAft>
              <a:buClr>
                <a:srgbClr val="222222"/>
              </a:buClr>
              <a:buSzPts val="1100"/>
              <a:buFont typeface="Arial"/>
              <a:buNone/>
            </a:pPr>
            <a:r>
              <a:rPr b="1" i="0" lang="en-US" sz="1100" u="none" cap="none" strike="noStrike">
                <a:solidFill>
                  <a:srgbClr val="222222"/>
                </a:solidFill>
                <a:highlight>
                  <a:srgbClr val="FFC72C"/>
                </a:highlight>
                <a:latin typeface="Arial"/>
                <a:ea typeface="Arial"/>
                <a:cs typeface="Arial"/>
                <a:sym typeface="Arial"/>
              </a:rPr>
              <a:t>Ali Pourghasemi Fatideh</a:t>
            </a:r>
            <a:endParaRPr b="0" i="0" sz="1100" u="none" cap="none" strike="noStrike">
              <a:solidFill>
                <a:schemeClr val="dk1"/>
              </a:solidFill>
              <a:latin typeface="Calibri"/>
              <a:ea typeface="Calibri"/>
              <a:cs typeface="Calibri"/>
              <a:sym typeface="Calibri"/>
            </a:endParaRPr>
          </a:p>
          <a:p>
            <a:pPr indent="0" lvl="0" marL="0" marR="0" rtl="0" algn="r">
              <a:lnSpc>
                <a:spcPct val="136363"/>
              </a:lnSpc>
              <a:spcBef>
                <a:spcPts val="0"/>
              </a:spcBef>
              <a:spcAft>
                <a:spcPts val="0"/>
              </a:spcAft>
              <a:buClr>
                <a:srgbClr val="222222"/>
              </a:buClr>
              <a:buSzPts val="1100"/>
              <a:buFont typeface="Arial"/>
              <a:buNone/>
            </a:pPr>
            <a:r>
              <a:rPr b="0" i="0" lang="en-US" sz="1100" u="none" cap="none" strike="noStrike">
                <a:solidFill>
                  <a:srgbClr val="222222"/>
                </a:solidFill>
                <a:latin typeface="Arial"/>
                <a:ea typeface="Arial"/>
                <a:cs typeface="Arial"/>
                <a:sym typeface="Arial"/>
              </a:rPr>
              <a:t>Wilder Baldwin</a:t>
            </a:r>
            <a:endParaRPr b="0" i="0" sz="1100" u="none" cap="none" strike="noStrike">
              <a:solidFill>
                <a:schemeClr val="dk1"/>
              </a:solidFill>
              <a:latin typeface="Calibri"/>
              <a:ea typeface="Calibri"/>
              <a:cs typeface="Calibri"/>
              <a:sym typeface="Calibri"/>
            </a:endParaRPr>
          </a:p>
          <a:p>
            <a:pPr indent="0" lvl="0" marL="0" marR="0" rtl="0" algn="r">
              <a:lnSpc>
                <a:spcPct val="136363"/>
              </a:lnSpc>
              <a:spcBef>
                <a:spcPts val="0"/>
              </a:spcBef>
              <a:spcAft>
                <a:spcPts val="0"/>
              </a:spcAft>
              <a:buClr>
                <a:srgbClr val="222222"/>
              </a:buClr>
              <a:buSzPts val="1100"/>
              <a:buFont typeface="Arial"/>
              <a:buNone/>
            </a:pPr>
            <a:r>
              <a:rPr b="0" i="0" lang="en-US" sz="1100" u="none" cap="none" strike="noStrike">
                <a:solidFill>
                  <a:srgbClr val="222222"/>
                </a:solidFill>
                <a:latin typeface="Arial"/>
                <a:ea typeface="Arial"/>
                <a:cs typeface="Arial"/>
                <a:sym typeface="Arial"/>
              </a:rPr>
              <a:t>Maria Dhakal</a:t>
            </a:r>
            <a:endParaRPr b="0" i="0" sz="1100" u="none" cap="none" strike="noStrike">
              <a:solidFill>
                <a:schemeClr val="dk1"/>
              </a:solidFill>
              <a:latin typeface="Calibri"/>
              <a:ea typeface="Calibri"/>
              <a:cs typeface="Calibri"/>
              <a:sym typeface="Calibri"/>
            </a:endParaRPr>
          </a:p>
          <a:p>
            <a:pPr indent="0" lvl="0" marL="0" marR="0" rtl="0" algn="r">
              <a:lnSpc>
                <a:spcPct val="136363"/>
              </a:lnSpc>
              <a:spcBef>
                <a:spcPts val="0"/>
              </a:spcBef>
              <a:spcAft>
                <a:spcPts val="0"/>
              </a:spcAft>
              <a:buClr>
                <a:srgbClr val="222222"/>
              </a:buClr>
              <a:buSzPts val="1100"/>
              <a:buFont typeface="Arial"/>
              <a:buNone/>
            </a:pPr>
            <a:r>
              <a:rPr b="0" i="0" lang="en-US" sz="1100" u="none" cap="none" strike="noStrike">
                <a:solidFill>
                  <a:srgbClr val="222222"/>
                </a:solidFill>
                <a:latin typeface="Arial"/>
                <a:ea typeface="Arial"/>
                <a:cs typeface="Arial"/>
                <a:sym typeface="Arial"/>
              </a:rPr>
              <a:t>Collin McMillan</a:t>
            </a:r>
            <a:endParaRPr b="0" i="0" sz="1100" u="none" cap="none" strike="noStrike">
              <a:solidFill>
                <a:schemeClr val="dk1"/>
              </a:solidFill>
              <a:latin typeface="Calibri"/>
              <a:ea typeface="Calibri"/>
              <a:cs typeface="Calibri"/>
              <a:sym typeface="Calibri"/>
            </a:endParaRPr>
          </a:p>
          <a:p>
            <a:pPr indent="0" lvl="0" marL="0" marR="0" rtl="0" algn="r">
              <a:lnSpc>
                <a:spcPct val="136363"/>
              </a:lnSpc>
              <a:spcBef>
                <a:spcPts val="0"/>
              </a:spcBef>
              <a:spcAft>
                <a:spcPts val="0"/>
              </a:spcAft>
              <a:buClr>
                <a:srgbClr val="222222"/>
              </a:buClr>
              <a:buSzPts val="1100"/>
              <a:buFont typeface="Arial"/>
              <a:buNone/>
            </a:pPr>
            <a:r>
              <a:rPr b="0" i="0" lang="en-US" sz="1100" u="none" cap="none" strike="noStrike">
                <a:solidFill>
                  <a:srgbClr val="222222"/>
                </a:solidFill>
                <a:latin typeface="Arial"/>
                <a:ea typeface="Arial"/>
                <a:cs typeface="Arial"/>
                <a:sym typeface="Arial"/>
              </a:rPr>
              <a:t>Sepideh Ghanavati</a:t>
            </a:r>
            <a:endParaRPr b="0" i="0" sz="1100" u="none" cap="none" strike="noStrike">
              <a:solidFill>
                <a:schemeClr val="dk1"/>
              </a:solidFill>
              <a:latin typeface="Calibri"/>
              <a:ea typeface="Calibri"/>
              <a:cs typeface="Calibri"/>
              <a:sym typeface="Calibri"/>
            </a:endParaRPr>
          </a:p>
        </p:txBody>
      </p:sp>
      <p:sp>
        <p:nvSpPr>
          <p:cNvPr id="23" name="Google Shape;23;p1"/>
          <p:cNvSpPr/>
          <p:nvPr/>
        </p:nvSpPr>
        <p:spPr>
          <a:xfrm>
            <a:off x="548640" y="274320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University of Maine · University of Notre Dame</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548640" y="3977640"/>
            <a:ext cx="4206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000"/>
              <a:buFont typeface="Arial"/>
              <a:buNone/>
            </a:pPr>
            <a:r>
              <a:rPr b="1" i="0" lang="en-US" sz="1000" u="none" cap="none" strike="noStrike">
                <a:solidFill>
                  <a:srgbClr val="222222"/>
                </a:solidFill>
                <a:latin typeface="Arial"/>
                <a:ea typeface="Arial"/>
                <a:cs typeface="Arial"/>
                <a:sym typeface="Arial"/>
              </a:rPr>
              <a:t>SIGDIAL 2026 · Emory University, Atlanta</a:t>
            </a:r>
            <a:endParaRPr b="0" i="0" sz="1000" u="none" cap="none" strike="noStrike">
              <a:solidFill>
                <a:schemeClr val="dk1"/>
              </a:solidFill>
              <a:latin typeface="Calibri"/>
              <a:ea typeface="Calibri"/>
              <a:cs typeface="Calibri"/>
              <a:sym typeface="Calibri"/>
            </a:endParaRPr>
          </a:p>
        </p:txBody>
      </p:sp>
      <p:pic>
        <p:nvPicPr>
          <p:cNvPr id="25" name="Google Shape;25;p1"/>
          <p:cNvPicPr preferRelativeResize="0"/>
          <p:nvPr/>
        </p:nvPicPr>
        <p:blipFill>
          <a:blip r:embed="rId4">
            <a:alphaModFix/>
          </a:blip>
          <a:stretch>
            <a:fillRect/>
          </a:stretch>
        </p:blipFill>
        <p:spPr>
          <a:xfrm>
            <a:off x="6256208" y="256025"/>
            <a:ext cx="1244817" cy="365750"/>
          </a:xfrm>
          <a:prstGeom prst="rect">
            <a:avLst/>
          </a:prstGeom>
          <a:noFill/>
          <a:ln>
            <a:noFill/>
          </a:ln>
        </p:spPr>
      </p:pic>
      <p:pic>
        <p:nvPicPr>
          <p:cNvPr id="26" name="Google Shape;26;p1"/>
          <p:cNvPicPr preferRelativeResize="0"/>
          <p:nvPr/>
        </p:nvPicPr>
        <p:blipFill>
          <a:blip r:embed="rId5">
            <a:alphaModFix/>
          </a:blip>
          <a:stretch>
            <a:fillRect/>
          </a:stretch>
        </p:blipFill>
        <p:spPr>
          <a:xfrm>
            <a:off x="5711590" y="256025"/>
            <a:ext cx="364681" cy="3657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pic>
        <p:nvPicPr>
          <p:cNvPr descr="image.png" id="32" name="Google Shape;32;g3f5d2f75d88_0_50"/>
          <p:cNvPicPr preferRelativeResize="0"/>
          <p:nvPr/>
        </p:nvPicPr>
        <p:blipFill rotWithShape="1">
          <a:blip r:embed="rId3">
            <a:alphaModFix/>
          </a:blip>
          <a:srcRect b="0" l="0" r="0" t="0"/>
          <a:stretch/>
        </p:blipFill>
        <p:spPr>
          <a:xfrm>
            <a:off x="7818120" y="164592"/>
            <a:ext cx="960118" cy="305409"/>
          </a:xfrm>
          <a:prstGeom prst="rect">
            <a:avLst/>
          </a:prstGeom>
          <a:noFill/>
          <a:ln>
            <a:noFill/>
          </a:ln>
        </p:spPr>
      </p:pic>
      <p:sp>
        <p:nvSpPr>
          <p:cNvPr id="33" name="Google Shape;33;g3f5d2f75d88_0_50"/>
          <p:cNvSpPr/>
          <p:nvPr/>
        </p:nvSpPr>
        <p:spPr>
          <a:xfrm>
            <a:off x="411480" y="274320"/>
            <a:ext cx="237600" cy="2376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g3f5d2f75d88_0_50"/>
          <p:cNvSpPr txBox="1"/>
          <p:nvPr/>
        </p:nvSpPr>
        <p:spPr>
          <a:xfrm>
            <a:off x="731520" y="246888"/>
            <a:ext cx="6035100" cy="200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300">
                <a:solidFill>
                  <a:srgbClr val="222222"/>
                </a:solidFill>
                <a:latin typeface="Arial"/>
                <a:ea typeface="Arial"/>
                <a:cs typeface="Arial"/>
                <a:sym typeface="Arial"/>
              </a:rPr>
              <a:t>Problem Statement</a:t>
            </a:r>
            <a:endParaRPr/>
          </a:p>
        </p:txBody>
      </p:sp>
      <p:sp>
        <p:nvSpPr>
          <p:cNvPr id="35" name="Google Shape;35;g3f5d2f75d88_0_50"/>
          <p:cNvSpPr/>
          <p:nvPr/>
        </p:nvSpPr>
        <p:spPr>
          <a:xfrm>
            <a:off x="411480" y="640080"/>
            <a:ext cx="8366700" cy="1110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g3f5d2f75d88_0_50"/>
          <p:cNvSpPr txBox="1"/>
          <p:nvPr/>
        </p:nvSpPr>
        <p:spPr>
          <a:xfrm>
            <a:off x="3931920" y="4681728"/>
            <a:ext cx="146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600">
                <a:solidFill>
                  <a:srgbClr val="222222"/>
                </a:solidFill>
                <a:latin typeface="Arial"/>
                <a:ea typeface="Arial"/>
                <a:cs typeface="Arial"/>
                <a:sym typeface="Arial"/>
              </a:rPr>
              <a:t>SIGDIAL 2026</a:t>
            </a:r>
            <a:endParaRPr/>
          </a:p>
        </p:txBody>
      </p:sp>
      <p:sp>
        <p:nvSpPr>
          <p:cNvPr id="37" name="Google Shape;37;g3f5d2f75d88_0_50"/>
          <p:cNvSpPr txBox="1"/>
          <p:nvPr/>
        </p:nvSpPr>
        <p:spPr>
          <a:xfrm>
            <a:off x="3931920" y="4809744"/>
            <a:ext cx="1463100" cy="92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600">
                <a:solidFill>
                  <a:srgbClr val="222222"/>
                </a:solidFill>
                <a:latin typeface="Arial"/>
                <a:ea typeface="Arial"/>
                <a:cs typeface="Arial"/>
                <a:sym typeface="Arial"/>
              </a:rPr>
              <a:t>August 2026</a:t>
            </a:r>
            <a:endParaRPr/>
          </a:p>
        </p:txBody>
      </p:sp>
      <p:sp>
        <p:nvSpPr>
          <p:cNvPr id="38" name="Google Shape;38;g3f5d2f75d88_0_50"/>
          <p:cNvSpPr txBox="1"/>
          <p:nvPr/>
        </p:nvSpPr>
        <p:spPr>
          <a:xfrm>
            <a:off x="8229600" y="4681728"/>
            <a:ext cx="5487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00">
                <a:solidFill>
                  <a:srgbClr val="222222"/>
                </a:solidFill>
                <a:latin typeface="Arial"/>
                <a:ea typeface="Arial"/>
                <a:cs typeface="Arial"/>
                <a:sym typeface="Arial"/>
              </a:rPr>
              <a:t>1</a:t>
            </a:r>
            <a:endParaRPr/>
          </a:p>
        </p:txBody>
      </p:sp>
      <p:sp>
        <p:nvSpPr>
          <p:cNvPr id="39" name="Google Shape;39;g3f5d2f75d88_0_50"/>
          <p:cNvSpPr txBox="1"/>
          <p:nvPr/>
        </p:nvSpPr>
        <p:spPr>
          <a:xfrm>
            <a:off x="960120" y="841248"/>
            <a:ext cx="74982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222222"/>
                </a:solidFill>
                <a:latin typeface="Arial"/>
                <a:ea typeface="Arial"/>
                <a:cs typeface="Arial"/>
                <a:sym typeface="Arial"/>
              </a:rPr>
              <a:t>LLM assistants are now standard tools for software developers</a:t>
            </a:r>
            <a:endParaRPr/>
          </a:p>
        </p:txBody>
      </p:sp>
      <p:sp>
        <p:nvSpPr>
          <p:cNvPr id="40" name="Google Shape;40;g3f5d2f75d88_0_50"/>
          <p:cNvSpPr/>
          <p:nvPr/>
        </p:nvSpPr>
        <p:spPr>
          <a:xfrm>
            <a:off x="960120" y="1496052"/>
            <a:ext cx="310800" cy="310800"/>
          </a:xfrm>
          <a:prstGeom prst="ellipse">
            <a:avLst/>
          </a:prstGeom>
          <a:solidFill>
            <a:srgbClr val="2222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g3f5d2f75d88_0_50"/>
          <p:cNvSpPr txBox="1"/>
          <p:nvPr/>
        </p:nvSpPr>
        <p:spPr>
          <a:xfrm>
            <a:off x="960120" y="1559052"/>
            <a:ext cx="3108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1</a:t>
            </a:r>
            <a:endParaRPr/>
          </a:p>
        </p:txBody>
      </p:sp>
      <p:sp>
        <p:nvSpPr>
          <p:cNvPr id="42" name="Google Shape;42;g3f5d2f75d88_0_50"/>
          <p:cNvSpPr/>
          <p:nvPr/>
        </p:nvSpPr>
        <p:spPr>
          <a:xfrm>
            <a:off x="1417320" y="1463040"/>
            <a:ext cx="7086600" cy="502800"/>
          </a:xfrm>
          <a:prstGeom prst="roundRect">
            <a:avLst>
              <a:gd fmla="val 9000" name="adj"/>
            </a:avLst>
          </a:prstGeom>
          <a:solidFill>
            <a:srgbClr val="4372C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g3f5d2f75d88_0_50"/>
          <p:cNvSpPr txBox="1"/>
          <p:nvPr/>
        </p:nvSpPr>
        <p:spPr>
          <a:xfrm>
            <a:off x="1600175" y="1619190"/>
            <a:ext cx="67209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lang="en-US" sz="1250">
                <a:solidFill>
                  <a:srgbClr val="FFFFFF"/>
                </a:solidFill>
                <a:latin typeface="Arial"/>
                <a:ea typeface="Arial"/>
                <a:cs typeface="Arial"/>
                <a:sym typeface="Arial"/>
              </a:rPr>
              <a:t>But our benchmarks measure functional correctness</a:t>
            </a:r>
            <a:endParaRPr/>
          </a:p>
        </p:txBody>
      </p:sp>
      <p:sp>
        <p:nvSpPr>
          <p:cNvPr id="44" name="Google Shape;44;g3f5d2f75d88_0_50"/>
          <p:cNvSpPr/>
          <p:nvPr/>
        </p:nvSpPr>
        <p:spPr>
          <a:xfrm>
            <a:off x="1920240" y="2084831"/>
            <a:ext cx="6583800" cy="914400"/>
          </a:xfrm>
          <a:prstGeom prst="roundRect">
            <a:avLst>
              <a:gd fmla="val 6000" name="adj"/>
            </a:avLst>
          </a:prstGeom>
          <a:solidFill>
            <a:srgbClr val="EEF2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g3f5d2f75d88_0_50"/>
          <p:cNvSpPr txBox="1"/>
          <p:nvPr/>
        </p:nvSpPr>
        <p:spPr>
          <a:xfrm>
            <a:off x="2121403" y="2222681"/>
            <a:ext cx="5943600" cy="702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100">
                <a:solidFill>
                  <a:srgbClr val="2E4F8F"/>
                </a:solidFill>
                <a:latin typeface="Arial"/>
                <a:ea typeface="Arial"/>
                <a:cs typeface="Arial"/>
                <a:sym typeface="Arial"/>
              </a:rPr>
              <a:t>They don’t evaluate NFRs</a:t>
            </a:r>
            <a:r>
              <a:rPr lang="en-US" sz="1100">
                <a:solidFill>
                  <a:srgbClr val="222222"/>
                </a:solidFill>
              </a:rPr>
              <a:t>:</a:t>
            </a:r>
            <a:r>
              <a:rPr b="0" lang="en-US" sz="1100">
                <a:solidFill>
                  <a:srgbClr val="222222"/>
                </a:solidFill>
                <a:latin typeface="Arial"/>
                <a:ea typeface="Arial"/>
                <a:cs typeface="Arial"/>
                <a:sym typeface="Arial"/>
              </a:rPr>
              <a:t> </a:t>
            </a:r>
            <a:endParaRPr b="0" sz="1100">
              <a:solidFill>
                <a:srgbClr val="222222"/>
              </a:solidFill>
              <a:latin typeface="Arial"/>
              <a:ea typeface="Arial"/>
              <a:cs typeface="Arial"/>
              <a:sym typeface="Arial"/>
            </a:endParaRPr>
          </a:p>
          <a:p>
            <a:pPr indent="-298450" lvl="0" marL="457200" marR="0" rtl="0" algn="l">
              <a:lnSpc>
                <a:spcPct val="105000"/>
              </a:lnSpc>
              <a:spcBef>
                <a:spcPts val="0"/>
              </a:spcBef>
              <a:spcAft>
                <a:spcPts val="0"/>
              </a:spcAft>
              <a:buClr>
                <a:srgbClr val="222222"/>
              </a:buClr>
              <a:buSzPts val="1100"/>
              <a:buFont typeface="Arial"/>
              <a:buChar char="●"/>
            </a:pPr>
            <a:r>
              <a:rPr b="0" lang="en-US" sz="1100">
                <a:solidFill>
                  <a:srgbClr val="222222"/>
                </a:solidFill>
                <a:latin typeface="Arial"/>
                <a:ea typeface="Arial"/>
                <a:cs typeface="Arial"/>
                <a:sym typeface="Arial"/>
              </a:rPr>
              <a:t>which are vague (no unit test for “ensure the integrity of ePHI”)</a:t>
            </a:r>
            <a:endParaRPr sz="1100">
              <a:solidFill>
                <a:srgbClr val="222222"/>
              </a:solidFill>
            </a:endParaRPr>
          </a:p>
          <a:p>
            <a:pPr indent="-298450" lvl="0" marL="457200" marR="0" rtl="0" algn="l">
              <a:lnSpc>
                <a:spcPct val="105000"/>
              </a:lnSpc>
              <a:spcBef>
                <a:spcPts val="0"/>
              </a:spcBef>
              <a:spcAft>
                <a:spcPts val="0"/>
              </a:spcAft>
              <a:buClr>
                <a:srgbClr val="222222"/>
              </a:buClr>
              <a:buSzPts val="1100"/>
              <a:buFont typeface="Arial"/>
              <a:buChar char="●"/>
            </a:pPr>
            <a:r>
              <a:rPr b="0" lang="en-US" sz="1100">
                <a:solidFill>
                  <a:srgbClr val="222222"/>
                </a:solidFill>
                <a:latin typeface="Arial"/>
                <a:ea typeface="Arial"/>
                <a:cs typeface="Arial"/>
                <a:sym typeface="Arial"/>
              </a:rPr>
              <a:t>a property of the whole system rather than one function</a:t>
            </a:r>
            <a:endParaRPr sz="1100">
              <a:solidFill>
                <a:srgbClr val="222222"/>
              </a:solidFill>
            </a:endParaRPr>
          </a:p>
          <a:p>
            <a:pPr indent="-298450" lvl="0" marL="457200" marR="0" rtl="0" algn="l">
              <a:lnSpc>
                <a:spcPct val="105000"/>
              </a:lnSpc>
              <a:spcBef>
                <a:spcPts val="0"/>
              </a:spcBef>
              <a:spcAft>
                <a:spcPts val="0"/>
              </a:spcAft>
              <a:buClr>
                <a:srgbClr val="222222"/>
              </a:buClr>
              <a:buSzPts val="1100"/>
              <a:buFont typeface="Arial"/>
              <a:buChar char="●"/>
            </a:pPr>
            <a:r>
              <a:rPr b="0" lang="en-US" sz="1100">
                <a:solidFill>
                  <a:srgbClr val="222222"/>
                </a:solidFill>
                <a:latin typeface="Arial"/>
                <a:ea typeface="Arial"/>
                <a:cs typeface="Arial"/>
                <a:sym typeface="Arial"/>
              </a:rPr>
              <a:t>and often need domain knowledge like a regulation</a:t>
            </a:r>
            <a:endParaRPr/>
          </a:p>
        </p:txBody>
      </p:sp>
      <p:sp>
        <p:nvSpPr>
          <p:cNvPr id="46" name="Google Shape;46;g3f5d2f75d88_0_50"/>
          <p:cNvSpPr/>
          <p:nvPr/>
        </p:nvSpPr>
        <p:spPr>
          <a:xfrm>
            <a:off x="960120" y="3215124"/>
            <a:ext cx="310800" cy="310800"/>
          </a:xfrm>
          <a:prstGeom prst="ellipse">
            <a:avLst/>
          </a:prstGeom>
          <a:solidFill>
            <a:srgbClr val="2222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g3f5d2f75d88_0_50"/>
          <p:cNvSpPr txBox="1"/>
          <p:nvPr/>
        </p:nvSpPr>
        <p:spPr>
          <a:xfrm>
            <a:off x="960120" y="3278124"/>
            <a:ext cx="3108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2</a:t>
            </a:r>
            <a:endParaRPr/>
          </a:p>
        </p:txBody>
      </p:sp>
      <p:sp>
        <p:nvSpPr>
          <p:cNvPr id="48" name="Google Shape;48;g3f5d2f75d88_0_50"/>
          <p:cNvSpPr/>
          <p:nvPr/>
        </p:nvSpPr>
        <p:spPr>
          <a:xfrm>
            <a:off x="1417320" y="3182112"/>
            <a:ext cx="7086600" cy="502800"/>
          </a:xfrm>
          <a:prstGeom prst="roundRect">
            <a:avLst>
              <a:gd fmla="val 9000" name="adj"/>
            </a:avLst>
          </a:prstGeom>
          <a:solidFill>
            <a:srgbClr val="4372C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g3f5d2f75d88_0_50"/>
          <p:cNvSpPr txBox="1"/>
          <p:nvPr/>
        </p:nvSpPr>
        <p:spPr>
          <a:xfrm>
            <a:off x="1600175" y="3336450"/>
            <a:ext cx="67209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lang="en-US" sz="1250">
                <a:solidFill>
                  <a:srgbClr val="FFFFFF"/>
                </a:solidFill>
                <a:latin typeface="Arial"/>
                <a:ea typeface="Arial"/>
                <a:cs typeface="Arial"/>
                <a:sym typeface="Arial"/>
              </a:rPr>
              <a:t>And they evaluate only a single turn prompt</a:t>
            </a:r>
            <a:endParaRPr/>
          </a:p>
        </p:txBody>
      </p:sp>
      <p:sp>
        <p:nvSpPr>
          <p:cNvPr id="50" name="Google Shape;50;g3f5d2f75d88_0_50"/>
          <p:cNvSpPr/>
          <p:nvPr/>
        </p:nvSpPr>
        <p:spPr>
          <a:xfrm>
            <a:off x="1920240" y="3749039"/>
            <a:ext cx="6583800" cy="548700"/>
          </a:xfrm>
          <a:prstGeom prst="roundRect">
            <a:avLst>
              <a:gd fmla="val 6000" name="adj"/>
            </a:avLst>
          </a:prstGeom>
          <a:solidFill>
            <a:srgbClr val="EEF2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g3f5d2f75d88_0_50"/>
          <p:cNvSpPr txBox="1"/>
          <p:nvPr/>
        </p:nvSpPr>
        <p:spPr>
          <a:xfrm>
            <a:off x="2121403" y="3941714"/>
            <a:ext cx="5943600" cy="169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100">
                <a:solidFill>
                  <a:srgbClr val="2E4F8F"/>
                </a:solidFill>
                <a:latin typeface="Arial"/>
                <a:ea typeface="Arial"/>
                <a:cs typeface="Arial"/>
                <a:sym typeface="Arial"/>
              </a:rPr>
              <a:t>They don’t evaluate the multi-turn interaction</a:t>
            </a:r>
            <a:r>
              <a:rPr lang="en-US" sz="1100">
                <a:solidFill>
                  <a:srgbClr val="222222"/>
                </a:solidFill>
              </a:rPr>
              <a:t>:</a:t>
            </a:r>
            <a:r>
              <a:rPr b="0" lang="en-US" sz="1100">
                <a:solidFill>
                  <a:srgbClr val="222222"/>
                </a:solidFill>
                <a:latin typeface="Arial"/>
                <a:ea typeface="Arial"/>
                <a:cs typeface="Arial"/>
                <a:sym typeface="Arial"/>
              </a:rPr>
              <a:t> how developers actually use these 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pic>
        <p:nvPicPr>
          <p:cNvPr descr="umaine_logo.png" id="57" name="Google Shape;57;g3f578cb17a1_0_56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58" name="Google Shape;58;g3f578cb17a1_0_56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f578cb17a1_0_56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Related Work in Evaluating LLMs</a:t>
            </a:r>
            <a:endParaRPr b="0" i="0" sz="1300" u="none" cap="none" strike="noStrike">
              <a:solidFill>
                <a:schemeClr val="dk1"/>
              </a:solidFill>
              <a:latin typeface="Calibri"/>
              <a:ea typeface="Calibri"/>
              <a:cs typeface="Calibri"/>
              <a:sym typeface="Calibri"/>
            </a:endParaRPr>
          </a:p>
        </p:txBody>
      </p:sp>
      <p:cxnSp>
        <p:nvCxnSpPr>
          <p:cNvPr id="60" name="Google Shape;60;g3f578cb17a1_0_56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61" name="Google Shape;61;g3f578cb17a1_0_566"/>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MT = Multi-turn · SM = Satisfaction Modeling</a:t>
            </a:r>
            <a:endParaRPr b="0" i="0" sz="600" u="none" cap="none" strike="noStrike">
              <a:solidFill>
                <a:schemeClr val="dk1"/>
              </a:solidFill>
              <a:latin typeface="Calibri"/>
              <a:ea typeface="Calibri"/>
              <a:cs typeface="Calibri"/>
              <a:sym typeface="Calibri"/>
            </a:endParaRPr>
          </a:p>
        </p:txBody>
      </p:sp>
      <p:sp>
        <p:nvSpPr>
          <p:cNvPr id="62" name="Google Shape;62;g3f578cb17a1_0_56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63" name="Google Shape;63;g3f578cb17a1_0_566"/>
          <p:cNvGraphicFramePr/>
          <p:nvPr/>
        </p:nvGraphicFramePr>
        <p:xfrm>
          <a:off x="1234440" y="932688"/>
          <a:ext cx="3000000" cy="3000000"/>
        </p:xfrm>
        <a:graphic>
          <a:graphicData uri="http://schemas.openxmlformats.org/drawingml/2006/table">
            <a:tbl>
              <a:tblPr>
                <a:noFill/>
                <a:tableStyleId>{C58A01A9-31D1-41C9-9F1A-FE5B03BA0646}</a:tableStyleId>
              </a:tblPr>
              <a:tblGrid>
                <a:gridCol w="2468875"/>
                <a:gridCol w="640075"/>
                <a:gridCol w="640075"/>
                <a:gridCol w="2926075"/>
              </a:tblGrid>
              <a:tr h="233175">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Work</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MT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SM</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Evaluation target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Chen et al. (2021)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Hendrycks et al. (2021)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Yin et al. (2018)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Jimenez et al. (2023)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Bug fixing</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Jain et al.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Aider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editing</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Wu and Fard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Clarification ability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Laban et al.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MT degradation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Vaithilingam et al. (2022)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User expectations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Kumar et al.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Agent collaboration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Liu et al. (2024b)</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quality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Sarkar et al. (2022)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User experience</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Liang et al.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Usability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This work</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NFR assessment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r>
            </a:tbl>
          </a:graphicData>
        </a:graphic>
      </p:graphicFrame>
      <p:pic>
        <p:nvPicPr>
          <p:cNvPr id="64" name="Google Shape;64;g3f578cb17a1_0_56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65" name="Google Shape;65;g3f578cb17a1_0_56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pic>
        <p:nvPicPr>
          <p:cNvPr descr="umaine_logo.png" id="71" name="Google Shape;71;p11"/>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72" name="Google Shape;72;p11"/>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Research Questions</a:t>
            </a:r>
            <a:endParaRPr b="0" i="0" sz="1300" u="none" cap="none" strike="noStrike">
              <a:solidFill>
                <a:schemeClr val="dk1"/>
              </a:solidFill>
              <a:latin typeface="Calibri"/>
              <a:ea typeface="Calibri"/>
              <a:cs typeface="Calibri"/>
              <a:sym typeface="Calibri"/>
            </a:endParaRPr>
          </a:p>
        </p:txBody>
      </p:sp>
      <p:cxnSp>
        <p:nvCxnSpPr>
          <p:cNvPr id="74" name="Google Shape;74;p11"/>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75" name="Google Shape;75;p11"/>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76" name="Google Shape;76;p11"/>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5</a:t>
            </a:r>
            <a:endParaRPr b="0" i="0" sz="700" u="none" cap="none" strike="noStrike">
              <a:solidFill>
                <a:schemeClr val="dk1"/>
              </a:solidFill>
              <a:latin typeface="Calibri"/>
              <a:ea typeface="Calibri"/>
              <a:cs typeface="Calibri"/>
              <a:sym typeface="Calibri"/>
            </a:endParaRPr>
          </a:p>
        </p:txBody>
      </p:sp>
      <p:sp>
        <p:nvSpPr>
          <p:cNvPr id="77" name="Google Shape;77;p11"/>
          <p:cNvSpPr/>
          <p:nvPr/>
        </p:nvSpPr>
        <p:spPr>
          <a:xfrm>
            <a:off x="914400" y="1417320"/>
            <a:ext cx="7315200" cy="1097280"/>
          </a:xfrm>
          <a:prstGeom prst="roundRect">
            <a:avLst>
              <a:gd fmla="val 5000"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a:off x="1143000" y="1746504"/>
            <a:ext cx="438912" cy="438912"/>
          </a:xfrm>
          <a:prstGeom prst="ellipse">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p:nvPr/>
        </p:nvSpPr>
        <p:spPr>
          <a:xfrm>
            <a:off x="1143000" y="174650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RQ1</a:t>
            </a:r>
            <a:endParaRPr b="0" i="0" sz="1000" u="none" cap="none" strike="noStrike">
              <a:solidFill>
                <a:schemeClr val="dk1"/>
              </a:solidFill>
              <a:latin typeface="Calibri"/>
              <a:ea typeface="Calibri"/>
              <a:cs typeface="Calibri"/>
              <a:sym typeface="Calibri"/>
            </a:endParaRPr>
          </a:p>
        </p:txBody>
      </p:sp>
      <p:sp>
        <p:nvSpPr>
          <p:cNvPr id="80" name="Google Shape;80;p11"/>
          <p:cNvSpPr/>
          <p:nvPr/>
        </p:nvSpPr>
        <p:spPr>
          <a:xfrm>
            <a:off x="1783080" y="1417320"/>
            <a:ext cx="6217920" cy="1097280"/>
          </a:xfrm>
          <a:prstGeom prst="rect">
            <a:avLst/>
          </a:prstGeom>
          <a:noFill/>
          <a:ln>
            <a:noFill/>
          </a:ln>
        </p:spPr>
        <p:txBody>
          <a:bodyPr anchorCtr="0" anchor="ctr" bIns="0" lIns="0" spcFirstLastPara="1" rIns="0" wrap="square" tIns="0">
            <a:noAutofit/>
          </a:bodyPr>
          <a:lstStyle/>
          <a:p>
            <a:pPr indent="0" lvl="0" marL="0" marR="0" rtl="0" algn="l">
              <a:lnSpc>
                <a:spcPct val="153846"/>
              </a:lnSpc>
              <a:spcBef>
                <a:spcPts val="0"/>
              </a:spcBef>
              <a:spcAft>
                <a:spcPts val="0"/>
              </a:spcAft>
              <a:buClr>
                <a:srgbClr val="222222"/>
              </a:buClr>
              <a:buSzPts val="1300"/>
              <a:buFont typeface="Arial"/>
              <a:buNone/>
            </a:pPr>
            <a:r>
              <a:rPr lang="en-US" sz="1300">
                <a:solidFill>
                  <a:srgbClr val="222222"/>
                </a:solidFill>
              </a:rPr>
              <a:t>How accurately do LLM-based dialogue assistants assess NFRs, and how do users perceive the response quality?</a:t>
            </a:r>
            <a:endParaRPr b="0" i="0" sz="1300" u="none" cap="none" strike="noStrike">
              <a:solidFill>
                <a:schemeClr val="dk1"/>
              </a:solidFill>
              <a:latin typeface="Calibri"/>
              <a:ea typeface="Calibri"/>
              <a:cs typeface="Calibri"/>
              <a:sym typeface="Calibri"/>
            </a:endParaRPr>
          </a:p>
        </p:txBody>
      </p:sp>
      <p:sp>
        <p:nvSpPr>
          <p:cNvPr id="81" name="Google Shape;81;p11"/>
          <p:cNvSpPr/>
          <p:nvPr/>
        </p:nvSpPr>
        <p:spPr>
          <a:xfrm>
            <a:off x="914400" y="2834640"/>
            <a:ext cx="7315200" cy="1097280"/>
          </a:xfrm>
          <a:prstGeom prst="roundRect">
            <a:avLst>
              <a:gd fmla="val 5000"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1"/>
          <p:cNvSpPr/>
          <p:nvPr/>
        </p:nvSpPr>
        <p:spPr>
          <a:xfrm>
            <a:off x="1143000" y="3163824"/>
            <a:ext cx="438912" cy="438912"/>
          </a:xfrm>
          <a:prstGeom prst="ellipse">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1"/>
          <p:cNvSpPr/>
          <p:nvPr/>
        </p:nvSpPr>
        <p:spPr>
          <a:xfrm>
            <a:off x="1143000" y="3163824"/>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RQ2</a:t>
            </a:r>
            <a:endParaRPr b="0" i="0" sz="1000" u="none" cap="none" strike="noStrike">
              <a:solidFill>
                <a:schemeClr val="dk1"/>
              </a:solidFill>
              <a:latin typeface="Calibri"/>
              <a:ea typeface="Calibri"/>
              <a:cs typeface="Calibri"/>
              <a:sym typeface="Calibri"/>
            </a:endParaRPr>
          </a:p>
        </p:txBody>
      </p:sp>
      <p:sp>
        <p:nvSpPr>
          <p:cNvPr id="84" name="Google Shape;84;p11"/>
          <p:cNvSpPr/>
          <p:nvPr/>
        </p:nvSpPr>
        <p:spPr>
          <a:xfrm>
            <a:off x="1783080" y="2834640"/>
            <a:ext cx="6217920" cy="1097280"/>
          </a:xfrm>
          <a:prstGeom prst="rect">
            <a:avLst/>
          </a:prstGeom>
          <a:noFill/>
          <a:ln>
            <a:noFill/>
          </a:ln>
        </p:spPr>
        <p:txBody>
          <a:bodyPr anchorCtr="0" anchor="ctr" bIns="0" lIns="0" spcFirstLastPara="1" rIns="0" wrap="square" tIns="0">
            <a:noAutofit/>
          </a:bodyPr>
          <a:lstStyle/>
          <a:p>
            <a:pPr indent="0" lvl="0" marL="0" marR="0" rtl="0" algn="l">
              <a:lnSpc>
                <a:spcPct val="153846"/>
              </a:lnSpc>
              <a:spcBef>
                <a:spcPts val="0"/>
              </a:spcBef>
              <a:spcAft>
                <a:spcPts val="0"/>
              </a:spcAft>
              <a:buClr>
                <a:srgbClr val="222222"/>
              </a:buClr>
              <a:buSzPts val="1300"/>
              <a:buFont typeface="Arial"/>
              <a:buNone/>
            </a:pPr>
            <a:r>
              <a:rPr lang="en-US" sz="1300">
                <a:solidFill>
                  <a:srgbClr val="222222"/>
                </a:solidFill>
              </a:rPr>
              <a:t>What dialogue characteristics significantly correlate with user satisfaction?</a:t>
            </a:r>
            <a:endParaRPr b="0" i="0" sz="1300" u="none" cap="none" strike="noStrike">
              <a:solidFill>
                <a:schemeClr val="dk1"/>
              </a:solidFill>
              <a:latin typeface="Calibri"/>
              <a:ea typeface="Calibri"/>
              <a:cs typeface="Calibri"/>
              <a:sym typeface="Calibri"/>
            </a:endParaRPr>
          </a:p>
        </p:txBody>
      </p:sp>
      <p:pic>
        <p:nvPicPr>
          <p:cNvPr id="85" name="Google Shape;85;p11"/>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86" name="Google Shape;86;p11"/>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cxnSp>
        <p:nvCxnSpPr>
          <p:cNvPr id="92" name="Google Shape;92;p12"/>
          <p:cNvCxnSpPr/>
          <p:nvPr/>
        </p:nvCxnSpPr>
        <p:spPr>
          <a:xfrm>
            <a:off x="0" y="2571750"/>
            <a:ext cx="9144000" cy="0"/>
          </a:xfrm>
          <a:prstGeom prst="straightConnector1">
            <a:avLst/>
          </a:prstGeom>
          <a:noFill/>
          <a:ln cap="flat" cmpd="sng" w="9525">
            <a:solidFill>
              <a:srgbClr val="D9D9D9"/>
            </a:solidFill>
            <a:prstDash val="solid"/>
            <a:round/>
            <a:headEnd len="sm" w="sm" type="none"/>
            <a:tailEnd len="sm" w="sm" type="none"/>
          </a:ln>
        </p:spPr>
      </p:cxnSp>
      <p:sp>
        <p:nvSpPr>
          <p:cNvPr id="93" name="Google Shape;93;p12"/>
          <p:cNvSpPr/>
          <p:nvPr/>
        </p:nvSpPr>
        <p:spPr>
          <a:xfrm>
            <a:off x="3611880" y="1609344"/>
            <a:ext cx="1920240" cy="192024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2"/>
          <p:cNvSpPr/>
          <p:nvPr/>
        </p:nvSpPr>
        <p:spPr>
          <a:xfrm>
            <a:off x="3611880" y="1609344"/>
            <a:ext cx="1920240" cy="1920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700"/>
              <a:buFont typeface="Arial"/>
              <a:buNone/>
            </a:pPr>
            <a:r>
              <a:rPr b="1" i="0" lang="en-US" sz="1700" u="none" cap="none" strike="noStrike">
                <a:solidFill>
                  <a:srgbClr val="222222"/>
                </a:solidFill>
                <a:latin typeface="Arial"/>
                <a:ea typeface="Arial"/>
                <a:cs typeface="Arial"/>
                <a:sym typeface="Arial"/>
              </a:rPr>
              <a:t>Methodology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umaine_logo.png" id="100" name="Google Shape;100;g3f5203acc17_0_4"/>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1" name="Google Shape;101;g3f5203acc17_0_4"/>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f5203acc17_0_4"/>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Study Design</a:t>
            </a:r>
            <a:endParaRPr b="0" i="0" sz="1300" u="none" cap="none" strike="noStrike">
              <a:solidFill>
                <a:schemeClr val="dk1"/>
              </a:solidFill>
              <a:latin typeface="Calibri"/>
              <a:ea typeface="Calibri"/>
              <a:cs typeface="Calibri"/>
              <a:sym typeface="Calibri"/>
            </a:endParaRPr>
          </a:p>
        </p:txBody>
      </p:sp>
      <p:cxnSp>
        <p:nvCxnSpPr>
          <p:cNvPr id="103" name="Google Shape;103;g3f5203acc17_0_4"/>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4" name="Google Shape;104;g3f5203acc17_0_4"/>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05" name="Google Shape;105;g3f5203acc17_0_4"/>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6</a:t>
            </a:r>
            <a:endParaRPr b="0" i="0" sz="700" u="none" cap="none" strike="noStrike">
              <a:solidFill>
                <a:schemeClr val="dk1"/>
              </a:solidFill>
              <a:latin typeface="Calibri"/>
              <a:ea typeface="Calibri"/>
              <a:cs typeface="Calibri"/>
              <a:sym typeface="Calibri"/>
            </a:endParaRPr>
          </a:p>
        </p:txBody>
      </p:sp>
      <p:sp>
        <p:nvSpPr>
          <p:cNvPr id="106" name="Google Shape;106;g3f5203acc17_0_4"/>
          <p:cNvSpPr/>
          <p:nvPr/>
        </p:nvSpPr>
        <p:spPr>
          <a:xfrm>
            <a:off x="968360"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07" name="Google Shape;107;g3f5203acc17_0_4"/>
          <p:cNvPicPr preferRelativeResize="0"/>
          <p:nvPr/>
        </p:nvPicPr>
        <p:blipFill rotWithShape="1">
          <a:blip r:embed="rId4">
            <a:alphaModFix/>
          </a:blip>
          <a:srcRect b="0" l="0" r="0" t="0"/>
          <a:stretch/>
        </p:blipFill>
        <p:spPr>
          <a:xfrm>
            <a:off x="1039364" y="2294038"/>
            <a:ext cx="213009" cy="213009"/>
          </a:xfrm>
          <a:prstGeom prst="rect">
            <a:avLst/>
          </a:prstGeom>
          <a:noFill/>
          <a:ln>
            <a:noFill/>
          </a:ln>
        </p:spPr>
      </p:pic>
      <p:sp>
        <p:nvSpPr>
          <p:cNvPr id="108" name="Google Shape;108;g3f5203acc17_0_4"/>
          <p:cNvSpPr/>
          <p:nvPr/>
        </p:nvSpPr>
        <p:spPr>
          <a:xfrm>
            <a:off x="702096"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NFR</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Extraction</a:t>
            </a:r>
            <a:endParaRPr b="0" i="0" sz="550" u="none" cap="none" strike="noStrike">
              <a:solidFill>
                <a:srgbClr val="000000"/>
              </a:solidFill>
              <a:latin typeface="Calibri"/>
              <a:ea typeface="Calibri"/>
              <a:cs typeface="Calibri"/>
              <a:sym typeface="Calibri"/>
            </a:endParaRPr>
          </a:p>
        </p:txBody>
      </p:sp>
      <p:pic>
        <p:nvPicPr>
          <p:cNvPr descr="preencoded.png" id="109" name="Google Shape;109;g3f5203acc17_0_4"/>
          <p:cNvPicPr preferRelativeResize="0"/>
          <p:nvPr/>
        </p:nvPicPr>
        <p:blipFill rotWithShape="1">
          <a:blip r:embed="rId5">
            <a:alphaModFix/>
          </a:blip>
          <a:srcRect b="0" l="0" r="0" t="0"/>
          <a:stretch/>
        </p:blipFill>
        <p:spPr>
          <a:xfrm>
            <a:off x="7955169" y="1689336"/>
            <a:ext cx="177508" cy="177508"/>
          </a:xfrm>
          <a:prstGeom prst="rect">
            <a:avLst/>
          </a:prstGeom>
          <a:noFill/>
          <a:ln>
            <a:noFill/>
          </a:ln>
        </p:spPr>
      </p:pic>
      <p:pic>
        <p:nvPicPr>
          <p:cNvPr id="110" name="Google Shape;110;g3f5203acc17_0_4"/>
          <p:cNvPicPr preferRelativeResize="0"/>
          <p:nvPr/>
        </p:nvPicPr>
        <p:blipFill>
          <a:blip r:embed="rId6">
            <a:alphaModFix/>
          </a:blip>
          <a:stretch>
            <a:fillRect/>
          </a:stretch>
        </p:blipFill>
        <p:spPr>
          <a:xfrm>
            <a:off x="6455625" y="134425"/>
            <a:ext cx="1244825" cy="365750"/>
          </a:xfrm>
          <a:prstGeom prst="rect">
            <a:avLst/>
          </a:prstGeom>
          <a:noFill/>
          <a:ln>
            <a:noFill/>
          </a:ln>
        </p:spPr>
      </p:pic>
      <p:pic>
        <p:nvPicPr>
          <p:cNvPr id="111" name="Google Shape;111;g3f5203acc17_0_4"/>
          <p:cNvPicPr preferRelativeResize="0"/>
          <p:nvPr/>
        </p:nvPicPr>
        <p:blipFill>
          <a:blip r:embed="rId7">
            <a:alphaModFix/>
          </a:blip>
          <a:stretch>
            <a:fillRect/>
          </a:stretch>
        </p:blipFill>
        <p:spPr>
          <a:xfrm>
            <a:off x="5973275" y="134425"/>
            <a:ext cx="364676" cy="3657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pic>
        <p:nvPicPr>
          <p:cNvPr descr="umaine_logo.png" id="117" name="Google Shape;117;g3f5203acc17_0_81"/>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8" name="Google Shape;118;g3f5203acc17_0_81"/>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f5203acc17_0_81"/>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Study Design</a:t>
            </a:r>
            <a:endParaRPr b="0" i="0" sz="1300" u="none" cap="none" strike="noStrike">
              <a:solidFill>
                <a:schemeClr val="dk1"/>
              </a:solidFill>
              <a:latin typeface="Calibri"/>
              <a:ea typeface="Calibri"/>
              <a:cs typeface="Calibri"/>
              <a:sym typeface="Calibri"/>
            </a:endParaRPr>
          </a:p>
        </p:txBody>
      </p:sp>
      <p:cxnSp>
        <p:nvCxnSpPr>
          <p:cNvPr id="120" name="Google Shape;120;g3f5203acc17_0_81"/>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21" name="Google Shape;121;g3f5203acc17_0_81"/>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22" name="Google Shape;122;g3f5203acc17_0_81"/>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6</a:t>
            </a:r>
            <a:endParaRPr b="0" i="0" sz="700" u="none" cap="none" strike="noStrike">
              <a:solidFill>
                <a:schemeClr val="dk1"/>
              </a:solidFill>
              <a:latin typeface="Calibri"/>
              <a:ea typeface="Calibri"/>
              <a:cs typeface="Calibri"/>
              <a:sym typeface="Calibri"/>
            </a:endParaRPr>
          </a:p>
        </p:txBody>
      </p:sp>
      <p:sp>
        <p:nvSpPr>
          <p:cNvPr id="123" name="Google Shape;123;g3f5203acc17_0_81"/>
          <p:cNvSpPr/>
          <p:nvPr/>
        </p:nvSpPr>
        <p:spPr>
          <a:xfrm>
            <a:off x="968360"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24" name="Google Shape;124;g3f5203acc17_0_81"/>
          <p:cNvPicPr preferRelativeResize="0"/>
          <p:nvPr/>
        </p:nvPicPr>
        <p:blipFill rotWithShape="1">
          <a:blip r:embed="rId4">
            <a:alphaModFix/>
          </a:blip>
          <a:srcRect b="0" l="0" r="0" t="0"/>
          <a:stretch/>
        </p:blipFill>
        <p:spPr>
          <a:xfrm>
            <a:off x="1039364" y="2294038"/>
            <a:ext cx="213009" cy="213009"/>
          </a:xfrm>
          <a:prstGeom prst="rect">
            <a:avLst/>
          </a:prstGeom>
          <a:noFill/>
          <a:ln>
            <a:noFill/>
          </a:ln>
        </p:spPr>
      </p:pic>
      <p:sp>
        <p:nvSpPr>
          <p:cNvPr id="125" name="Google Shape;125;g3f5203acc17_0_81"/>
          <p:cNvSpPr/>
          <p:nvPr/>
        </p:nvSpPr>
        <p:spPr>
          <a:xfrm>
            <a:off x="702096"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NFR</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Extraction</a:t>
            </a:r>
            <a:endParaRPr b="0" i="0" sz="550" u="none" cap="none" strike="noStrike">
              <a:solidFill>
                <a:srgbClr val="000000"/>
              </a:solidFill>
              <a:latin typeface="Calibri"/>
              <a:ea typeface="Calibri"/>
              <a:cs typeface="Calibri"/>
              <a:sym typeface="Calibri"/>
            </a:endParaRPr>
          </a:p>
        </p:txBody>
      </p:sp>
      <p:pic>
        <p:nvPicPr>
          <p:cNvPr descr="preencoded.png" id="126" name="Google Shape;126;g3f5203acc17_0_81"/>
          <p:cNvPicPr preferRelativeResize="0"/>
          <p:nvPr/>
        </p:nvPicPr>
        <p:blipFill rotWithShape="1">
          <a:blip r:embed="rId5">
            <a:alphaModFix/>
          </a:blip>
          <a:srcRect b="0" l="0" r="0" t="0"/>
          <a:stretch/>
        </p:blipFill>
        <p:spPr>
          <a:xfrm>
            <a:off x="1518639" y="2365041"/>
            <a:ext cx="207094" cy="71003"/>
          </a:xfrm>
          <a:prstGeom prst="rect">
            <a:avLst/>
          </a:prstGeom>
          <a:noFill/>
          <a:ln>
            <a:noFill/>
          </a:ln>
        </p:spPr>
      </p:pic>
      <p:sp>
        <p:nvSpPr>
          <p:cNvPr id="127" name="Google Shape;127;g3f5203acc17_0_81"/>
          <p:cNvSpPr/>
          <p:nvPr/>
        </p:nvSpPr>
        <p:spPr>
          <a:xfrm>
            <a:off x="1737567" y="1513004"/>
            <a:ext cx="4585800" cy="1656600"/>
          </a:xfrm>
          <a:prstGeom prst="rect">
            <a:avLst/>
          </a:prstGeom>
          <a:solidFill>
            <a:srgbClr val="FAFCFE"/>
          </a:solidFill>
          <a:ln cap="flat" cmpd="sng" w="12325">
            <a:solidFill>
              <a:srgbClr val="2E86AB"/>
            </a:solidFill>
            <a:prstDash val="dash"/>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28" name="Google Shape;128;g3f5203acc17_0_81"/>
          <p:cNvSpPr/>
          <p:nvPr/>
        </p:nvSpPr>
        <p:spPr>
          <a:xfrm>
            <a:off x="1737567" y="1542588"/>
            <a:ext cx="4585800" cy="1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E86AB"/>
              </a:buClr>
              <a:buSzPts val="647"/>
              <a:buFont typeface="Georgia"/>
              <a:buNone/>
            </a:pPr>
            <a:r>
              <a:rPr b="1" i="1" lang="en-US" sz="647" u="none" cap="none" strike="noStrike">
                <a:solidFill>
                  <a:srgbClr val="2E86AB"/>
                </a:solidFill>
                <a:latin typeface="Georgia"/>
                <a:ea typeface="Georgia"/>
                <a:cs typeface="Georgia"/>
                <a:sym typeface="Georgia"/>
              </a:rPr>
              <a:t>Evaluation Tool</a:t>
            </a:r>
            <a:endParaRPr b="0" i="0" sz="647" u="none" cap="none" strike="noStrike">
              <a:solidFill>
                <a:srgbClr val="000000"/>
              </a:solidFill>
              <a:latin typeface="Calibri"/>
              <a:ea typeface="Calibri"/>
              <a:cs typeface="Calibri"/>
              <a:sym typeface="Calibri"/>
            </a:endParaRPr>
          </a:p>
        </p:txBody>
      </p:sp>
      <p:sp>
        <p:nvSpPr>
          <p:cNvPr id="129" name="Google Shape;129;g3f5203acc17_0_81"/>
          <p:cNvSpPr/>
          <p:nvPr/>
        </p:nvSpPr>
        <p:spPr>
          <a:xfrm>
            <a:off x="1737567" y="3199328"/>
            <a:ext cx="4585800" cy="165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647"/>
              <a:buFont typeface="Georgia"/>
              <a:buNone/>
            </a:pPr>
            <a:r>
              <a:rPr b="1" i="0" lang="en-US" sz="647" u="none" cap="none" strike="noStrike">
                <a:solidFill>
                  <a:srgbClr val="1E3A5F"/>
                </a:solidFill>
                <a:latin typeface="Georgia"/>
                <a:ea typeface="Georgia"/>
                <a:cs typeface="Georgia"/>
                <a:sym typeface="Georgia"/>
              </a:rPr>
              <a:t>49 Participants</a:t>
            </a:r>
            <a:endParaRPr b="0" i="0" sz="647" u="none" cap="none" strike="noStrike">
              <a:solidFill>
                <a:srgbClr val="000000"/>
              </a:solidFill>
              <a:latin typeface="Calibri"/>
              <a:ea typeface="Calibri"/>
              <a:cs typeface="Calibri"/>
              <a:sym typeface="Calibri"/>
            </a:endParaRPr>
          </a:p>
        </p:txBody>
      </p:sp>
      <p:sp>
        <p:nvSpPr>
          <p:cNvPr id="130" name="Google Shape;130;g3f5203acc17_0_81"/>
          <p:cNvSpPr/>
          <p:nvPr/>
        </p:nvSpPr>
        <p:spPr>
          <a:xfrm>
            <a:off x="2063001"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31" name="Google Shape;131;g3f5203acc17_0_81"/>
          <p:cNvPicPr preferRelativeResize="0"/>
          <p:nvPr/>
        </p:nvPicPr>
        <p:blipFill rotWithShape="1">
          <a:blip r:embed="rId6">
            <a:alphaModFix/>
          </a:blip>
          <a:srcRect b="0" l="0" r="0" t="0"/>
          <a:stretch/>
        </p:blipFill>
        <p:spPr>
          <a:xfrm>
            <a:off x="2134005" y="2294038"/>
            <a:ext cx="213009" cy="213009"/>
          </a:xfrm>
          <a:prstGeom prst="rect">
            <a:avLst/>
          </a:prstGeom>
          <a:noFill/>
          <a:ln>
            <a:noFill/>
          </a:ln>
        </p:spPr>
      </p:pic>
      <p:sp>
        <p:nvSpPr>
          <p:cNvPr id="132" name="Google Shape;132;g3f5203acc17_0_81"/>
          <p:cNvSpPr/>
          <p:nvPr/>
        </p:nvSpPr>
        <p:spPr>
          <a:xfrm>
            <a:off x="1796737"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Interactive</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Tutorial</a:t>
            </a:r>
            <a:endParaRPr b="0" i="0" sz="550" u="none" cap="none" strike="noStrike">
              <a:solidFill>
                <a:srgbClr val="000000"/>
              </a:solidFill>
              <a:latin typeface="Calibri"/>
              <a:ea typeface="Calibri"/>
              <a:cs typeface="Calibri"/>
              <a:sym typeface="Calibri"/>
            </a:endParaRPr>
          </a:p>
        </p:txBody>
      </p:sp>
      <p:pic>
        <p:nvPicPr>
          <p:cNvPr descr="preencoded.png" id="133" name="Google Shape;133;g3f5203acc17_0_81"/>
          <p:cNvPicPr preferRelativeResize="0"/>
          <p:nvPr/>
        </p:nvPicPr>
        <p:blipFill rotWithShape="1">
          <a:blip r:embed="rId5">
            <a:alphaModFix/>
          </a:blip>
          <a:srcRect b="0" l="0" r="0" t="0"/>
          <a:stretch/>
        </p:blipFill>
        <p:spPr>
          <a:xfrm>
            <a:off x="2607363" y="2365041"/>
            <a:ext cx="177509" cy="71003"/>
          </a:xfrm>
          <a:prstGeom prst="rect">
            <a:avLst/>
          </a:prstGeom>
          <a:noFill/>
          <a:ln>
            <a:noFill/>
          </a:ln>
        </p:spPr>
      </p:pic>
      <p:sp>
        <p:nvSpPr>
          <p:cNvPr id="134" name="Google Shape;134;g3f5203acc17_0_81"/>
          <p:cNvSpPr/>
          <p:nvPr/>
        </p:nvSpPr>
        <p:spPr>
          <a:xfrm>
            <a:off x="2891378"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35" name="Google Shape;135;g3f5203acc17_0_81"/>
          <p:cNvPicPr preferRelativeResize="0"/>
          <p:nvPr/>
        </p:nvPicPr>
        <p:blipFill rotWithShape="1">
          <a:blip r:embed="rId7">
            <a:alphaModFix/>
          </a:blip>
          <a:srcRect b="0" l="0" r="0" t="0"/>
          <a:stretch/>
        </p:blipFill>
        <p:spPr>
          <a:xfrm>
            <a:off x="2962381" y="2294038"/>
            <a:ext cx="213009" cy="213009"/>
          </a:xfrm>
          <a:prstGeom prst="rect">
            <a:avLst/>
          </a:prstGeom>
          <a:noFill/>
          <a:ln>
            <a:noFill/>
          </a:ln>
        </p:spPr>
      </p:pic>
      <p:sp>
        <p:nvSpPr>
          <p:cNvPr id="136" name="Google Shape;136;g3f5203acc17_0_81"/>
          <p:cNvSpPr/>
          <p:nvPr/>
        </p:nvSpPr>
        <p:spPr>
          <a:xfrm>
            <a:off x="2625114"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NFR</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Review</a:t>
            </a:r>
            <a:endParaRPr b="0" i="0" sz="550" u="none" cap="none" strike="noStrike">
              <a:solidFill>
                <a:srgbClr val="000000"/>
              </a:solidFill>
              <a:latin typeface="Calibri"/>
              <a:ea typeface="Calibri"/>
              <a:cs typeface="Calibri"/>
              <a:sym typeface="Calibri"/>
            </a:endParaRPr>
          </a:p>
        </p:txBody>
      </p:sp>
      <p:sp>
        <p:nvSpPr>
          <p:cNvPr id="137" name="Google Shape;137;g3f5203acc17_0_81"/>
          <p:cNvSpPr/>
          <p:nvPr/>
        </p:nvSpPr>
        <p:spPr>
          <a:xfrm>
            <a:off x="2844042" y="1956773"/>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38" name="Google Shape;138;g3f5203acc17_0_81"/>
          <p:cNvSpPr/>
          <p:nvPr/>
        </p:nvSpPr>
        <p:spPr>
          <a:xfrm>
            <a:off x="2832208" y="1956773"/>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1</a:t>
            </a:r>
            <a:endParaRPr b="0" i="0" sz="453" u="none" cap="none" strike="noStrike">
              <a:solidFill>
                <a:srgbClr val="000000"/>
              </a:solidFill>
              <a:latin typeface="Calibri"/>
              <a:ea typeface="Calibri"/>
              <a:cs typeface="Calibri"/>
              <a:sym typeface="Calibri"/>
            </a:endParaRPr>
          </a:p>
        </p:txBody>
      </p:sp>
      <p:pic>
        <p:nvPicPr>
          <p:cNvPr descr="preencoded.png" id="139" name="Google Shape;139;g3f5203acc17_0_81"/>
          <p:cNvPicPr preferRelativeResize="0"/>
          <p:nvPr/>
        </p:nvPicPr>
        <p:blipFill rotWithShape="1">
          <a:blip r:embed="rId5">
            <a:alphaModFix/>
          </a:blip>
          <a:srcRect b="0" l="0" r="0" t="0"/>
          <a:stretch/>
        </p:blipFill>
        <p:spPr>
          <a:xfrm>
            <a:off x="3435739" y="2365041"/>
            <a:ext cx="177509" cy="71003"/>
          </a:xfrm>
          <a:prstGeom prst="rect">
            <a:avLst/>
          </a:prstGeom>
          <a:noFill/>
          <a:ln>
            <a:noFill/>
          </a:ln>
        </p:spPr>
      </p:pic>
      <p:sp>
        <p:nvSpPr>
          <p:cNvPr id="140" name="Google Shape;140;g3f5203acc17_0_81"/>
          <p:cNvSpPr/>
          <p:nvPr/>
        </p:nvSpPr>
        <p:spPr>
          <a:xfrm>
            <a:off x="3719754"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41" name="Google Shape;141;g3f5203acc17_0_81"/>
          <p:cNvPicPr preferRelativeResize="0"/>
          <p:nvPr/>
        </p:nvPicPr>
        <p:blipFill rotWithShape="1">
          <a:blip r:embed="rId8">
            <a:alphaModFix/>
          </a:blip>
          <a:srcRect b="0" l="0" r="0" t="0"/>
          <a:stretch/>
        </p:blipFill>
        <p:spPr>
          <a:xfrm>
            <a:off x="3790758" y="2294038"/>
            <a:ext cx="213009" cy="213009"/>
          </a:xfrm>
          <a:prstGeom prst="rect">
            <a:avLst/>
          </a:prstGeom>
          <a:noFill/>
          <a:ln>
            <a:noFill/>
          </a:ln>
        </p:spPr>
      </p:pic>
      <p:sp>
        <p:nvSpPr>
          <p:cNvPr id="142" name="Google Shape;142;g3f5203acc17_0_81"/>
          <p:cNvSpPr/>
          <p:nvPr/>
        </p:nvSpPr>
        <p:spPr>
          <a:xfrm>
            <a:off x="3453490"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Chatbot</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Interaction</a:t>
            </a:r>
            <a:endParaRPr b="0" i="0" sz="550" u="none" cap="none" strike="noStrike">
              <a:solidFill>
                <a:srgbClr val="000000"/>
              </a:solidFill>
              <a:latin typeface="Calibri"/>
              <a:ea typeface="Calibri"/>
              <a:cs typeface="Calibri"/>
              <a:sym typeface="Calibri"/>
            </a:endParaRPr>
          </a:p>
        </p:txBody>
      </p:sp>
      <p:sp>
        <p:nvSpPr>
          <p:cNvPr id="143" name="Google Shape;143;g3f5203acc17_0_81"/>
          <p:cNvSpPr/>
          <p:nvPr/>
        </p:nvSpPr>
        <p:spPr>
          <a:xfrm>
            <a:off x="3672418" y="1956773"/>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44" name="Google Shape;144;g3f5203acc17_0_81"/>
          <p:cNvSpPr/>
          <p:nvPr/>
        </p:nvSpPr>
        <p:spPr>
          <a:xfrm>
            <a:off x="3660584" y="1956773"/>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2</a:t>
            </a:r>
            <a:endParaRPr b="0" i="0" sz="453" u="none" cap="none" strike="noStrike">
              <a:solidFill>
                <a:srgbClr val="000000"/>
              </a:solidFill>
              <a:latin typeface="Calibri"/>
              <a:ea typeface="Calibri"/>
              <a:cs typeface="Calibri"/>
              <a:sym typeface="Calibri"/>
            </a:endParaRPr>
          </a:p>
        </p:txBody>
      </p:sp>
      <p:pic>
        <p:nvPicPr>
          <p:cNvPr descr="preencoded.png" id="145" name="Google Shape;145;g3f5203acc17_0_81"/>
          <p:cNvPicPr preferRelativeResize="0"/>
          <p:nvPr/>
        </p:nvPicPr>
        <p:blipFill rotWithShape="1">
          <a:blip r:embed="rId5">
            <a:alphaModFix/>
          </a:blip>
          <a:srcRect b="0" l="0" r="0" t="0"/>
          <a:stretch/>
        </p:blipFill>
        <p:spPr>
          <a:xfrm>
            <a:off x="4264116" y="2365041"/>
            <a:ext cx="177509" cy="71003"/>
          </a:xfrm>
          <a:prstGeom prst="rect">
            <a:avLst/>
          </a:prstGeom>
          <a:noFill/>
          <a:ln>
            <a:noFill/>
          </a:ln>
        </p:spPr>
      </p:pic>
      <p:sp>
        <p:nvSpPr>
          <p:cNvPr id="146" name="Google Shape;146;g3f5203acc17_0_81"/>
          <p:cNvSpPr/>
          <p:nvPr/>
        </p:nvSpPr>
        <p:spPr>
          <a:xfrm>
            <a:off x="4370622" y="1986358"/>
            <a:ext cx="1005900" cy="828300"/>
          </a:xfrm>
          <a:prstGeom prst="rect">
            <a:avLst/>
          </a:prstGeom>
          <a:solidFill>
            <a:srgbClr val="F0F6FA"/>
          </a:solidFill>
          <a:ln cap="flat" cmpd="sng" w="9850">
            <a:solidFill>
              <a:srgbClr val="2E86AB"/>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47" name="Google Shape;147;g3f5203acc17_0_81"/>
          <p:cNvSpPr/>
          <p:nvPr/>
        </p:nvSpPr>
        <p:spPr>
          <a:xfrm>
            <a:off x="4648719" y="1761515"/>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48" name="Google Shape;148;g3f5203acc17_0_81"/>
          <p:cNvSpPr/>
          <p:nvPr/>
        </p:nvSpPr>
        <p:spPr>
          <a:xfrm>
            <a:off x="4636885" y="1761515"/>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3</a:t>
            </a:r>
            <a:endParaRPr b="0" i="0" sz="453" u="none" cap="none" strike="noStrike">
              <a:solidFill>
                <a:srgbClr val="000000"/>
              </a:solidFill>
              <a:latin typeface="Calibri"/>
              <a:ea typeface="Calibri"/>
              <a:cs typeface="Calibri"/>
              <a:sym typeface="Calibri"/>
            </a:endParaRPr>
          </a:p>
        </p:txBody>
      </p:sp>
      <p:sp>
        <p:nvSpPr>
          <p:cNvPr id="149" name="Google Shape;149;g3f5203acc17_0_81"/>
          <p:cNvSpPr/>
          <p:nvPr/>
        </p:nvSpPr>
        <p:spPr>
          <a:xfrm>
            <a:off x="4311452" y="2832479"/>
            <a:ext cx="1124100" cy="1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Dimension Rating</a:t>
            </a:r>
            <a:endParaRPr b="0" i="0" sz="550" u="none" cap="none" strike="noStrike">
              <a:solidFill>
                <a:srgbClr val="000000"/>
              </a:solidFill>
              <a:latin typeface="Calibri"/>
              <a:ea typeface="Calibri"/>
              <a:cs typeface="Calibri"/>
              <a:sym typeface="Calibri"/>
            </a:endParaRPr>
          </a:p>
        </p:txBody>
      </p:sp>
      <p:sp>
        <p:nvSpPr>
          <p:cNvPr id="150" name="Google Shape;150;g3f5203acc17_0_81"/>
          <p:cNvSpPr/>
          <p:nvPr/>
        </p:nvSpPr>
        <p:spPr>
          <a:xfrm>
            <a:off x="4429791" y="2075112"/>
            <a:ext cx="887400" cy="189300"/>
          </a:xfrm>
          <a:prstGeom prst="rect">
            <a:avLst/>
          </a:prstGeom>
          <a:solidFill>
            <a:srgbClr val="1B7A8A"/>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51" name="Google Shape;151;g3f5203acc17_0_81"/>
          <p:cNvSpPr/>
          <p:nvPr/>
        </p:nvSpPr>
        <p:spPr>
          <a:xfrm>
            <a:off x="4429791" y="2075112"/>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Satisfaction Level</a:t>
            </a:r>
            <a:endParaRPr b="0" i="0" sz="518" u="none" cap="none" strike="noStrike">
              <a:solidFill>
                <a:srgbClr val="000000"/>
              </a:solidFill>
              <a:latin typeface="Calibri"/>
              <a:ea typeface="Calibri"/>
              <a:cs typeface="Calibri"/>
              <a:sym typeface="Calibri"/>
            </a:endParaRPr>
          </a:p>
        </p:txBody>
      </p:sp>
      <p:sp>
        <p:nvSpPr>
          <p:cNvPr id="152" name="Google Shape;152;g3f5203acc17_0_81"/>
          <p:cNvSpPr/>
          <p:nvPr/>
        </p:nvSpPr>
        <p:spPr>
          <a:xfrm>
            <a:off x="4429791" y="2299955"/>
            <a:ext cx="887400" cy="189300"/>
          </a:xfrm>
          <a:prstGeom prst="rect">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53" name="Google Shape;153;g3f5203acc17_0_81"/>
          <p:cNvSpPr/>
          <p:nvPr/>
        </p:nvSpPr>
        <p:spPr>
          <a:xfrm>
            <a:off x="4429791" y="2299955"/>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Reasoning</a:t>
            </a:r>
            <a:endParaRPr b="0" i="0" sz="518" u="none" cap="none" strike="noStrike">
              <a:solidFill>
                <a:srgbClr val="000000"/>
              </a:solidFill>
              <a:latin typeface="Calibri"/>
              <a:ea typeface="Calibri"/>
              <a:cs typeface="Calibri"/>
              <a:sym typeface="Calibri"/>
            </a:endParaRPr>
          </a:p>
        </p:txBody>
      </p:sp>
      <p:sp>
        <p:nvSpPr>
          <p:cNvPr id="154" name="Google Shape;154;g3f5203acc17_0_81"/>
          <p:cNvSpPr/>
          <p:nvPr/>
        </p:nvSpPr>
        <p:spPr>
          <a:xfrm>
            <a:off x="4429791" y="2524798"/>
            <a:ext cx="887400" cy="189300"/>
          </a:xfrm>
          <a:prstGeom prst="rect">
            <a:avLst/>
          </a:prstGeom>
          <a:solidFill>
            <a:srgbClr val="4A9DB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55" name="Google Shape;155;g3f5203acc17_0_81"/>
          <p:cNvSpPr/>
          <p:nvPr/>
        </p:nvSpPr>
        <p:spPr>
          <a:xfrm>
            <a:off x="4429791" y="2524798"/>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Code Location</a:t>
            </a:r>
            <a:endParaRPr b="0" i="0" sz="518" u="none" cap="none" strike="noStrike">
              <a:solidFill>
                <a:srgbClr val="000000"/>
              </a:solidFill>
              <a:latin typeface="Calibri"/>
              <a:ea typeface="Calibri"/>
              <a:cs typeface="Calibri"/>
              <a:sym typeface="Calibri"/>
            </a:endParaRPr>
          </a:p>
        </p:txBody>
      </p:sp>
      <p:pic>
        <p:nvPicPr>
          <p:cNvPr descr="preencoded.png" id="156" name="Google Shape;156;g3f5203acc17_0_81"/>
          <p:cNvPicPr preferRelativeResize="0"/>
          <p:nvPr/>
        </p:nvPicPr>
        <p:blipFill rotWithShape="1">
          <a:blip r:embed="rId5">
            <a:alphaModFix/>
          </a:blip>
          <a:srcRect b="0" l="0" r="0" t="0"/>
          <a:stretch/>
        </p:blipFill>
        <p:spPr>
          <a:xfrm>
            <a:off x="5394258" y="2365041"/>
            <a:ext cx="177509" cy="71003"/>
          </a:xfrm>
          <a:prstGeom prst="rect">
            <a:avLst/>
          </a:prstGeom>
          <a:noFill/>
          <a:ln>
            <a:noFill/>
          </a:ln>
        </p:spPr>
      </p:pic>
      <p:sp>
        <p:nvSpPr>
          <p:cNvPr id="157" name="Google Shape;157;g3f5203acc17_0_81"/>
          <p:cNvSpPr/>
          <p:nvPr/>
        </p:nvSpPr>
        <p:spPr>
          <a:xfrm>
            <a:off x="5731526"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58" name="Google Shape;158;g3f5203acc17_0_81"/>
          <p:cNvPicPr preferRelativeResize="0"/>
          <p:nvPr/>
        </p:nvPicPr>
        <p:blipFill rotWithShape="1">
          <a:blip r:embed="rId9">
            <a:alphaModFix/>
          </a:blip>
          <a:srcRect b="0" l="0" r="0" t="0"/>
          <a:stretch/>
        </p:blipFill>
        <p:spPr>
          <a:xfrm>
            <a:off x="5802530" y="2294038"/>
            <a:ext cx="213009" cy="213009"/>
          </a:xfrm>
          <a:prstGeom prst="rect">
            <a:avLst/>
          </a:prstGeom>
          <a:noFill/>
          <a:ln>
            <a:noFill/>
          </a:ln>
        </p:spPr>
      </p:pic>
      <p:sp>
        <p:nvSpPr>
          <p:cNvPr id="159" name="Google Shape;159;g3f5203acc17_0_81"/>
          <p:cNvSpPr/>
          <p:nvPr/>
        </p:nvSpPr>
        <p:spPr>
          <a:xfrm>
            <a:off x="5465262"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Satisfaction</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Survey</a:t>
            </a:r>
            <a:endParaRPr b="0" i="0" sz="550" u="none" cap="none" strike="noStrike">
              <a:solidFill>
                <a:srgbClr val="000000"/>
              </a:solidFill>
              <a:latin typeface="Calibri"/>
              <a:ea typeface="Calibri"/>
              <a:cs typeface="Calibri"/>
              <a:sym typeface="Calibri"/>
            </a:endParaRPr>
          </a:p>
        </p:txBody>
      </p:sp>
      <p:sp>
        <p:nvSpPr>
          <p:cNvPr id="160" name="Google Shape;160;g3f5203acc17_0_81"/>
          <p:cNvSpPr/>
          <p:nvPr/>
        </p:nvSpPr>
        <p:spPr>
          <a:xfrm>
            <a:off x="2832205" y="3394581"/>
            <a:ext cx="887400" cy="295800"/>
          </a:xfrm>
          <a:prstGeom prst="rect">
            <a:avLst/>
          </a:prstGeom>
          <a:solidFill>
            <a:srgbClr val="FFF7ED"/>
          </a:solidFill>
          <a:ln cap="flat" cmpd="sng" w="9850">
            <a:solidFill>
              <a:srgbClr val="D97706"/>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61" name="Google Shape;161;g3f5203acc17_0_81"/>
          <p:cNvPicPr preferRelativeResize="0"/>
          <p:nvPr/>
        </p:nvPicPr>
        <p:blipFill rotWithShape="1">
          <a:blip r:embed="rId10">
            <a:alphaModFix/>
          </a:blip>
          <a:srcRect b="0" l="0" r="0" t="0"/>
          <a:stretch/>
        </p:blipFill>
        <p:spPr>
          <a:xfrm>
            <a:off x="2879540" y="3447834"/>
            <a:ext cx="177508" cy="177508"/>
          </a:xfrm>
          <a:prstGeom prst="rect">
            <a:avLst/>
          </a:prstGeom>
          <a:noFill/>
          <a:ln>
            <a:noFill/>
          </a:ln>
        </p:spPr>
      </p:pic>
      <p:sp>
        <p:nvSpPr>
          <p:cNvPr id="162" name="Google Shape;162;g3f5203acc17_0_81"/>
          <p:cNvSpPr/>
          <p:nvPr/>
        </p:nvSpPr>
        <p:spPr>
          <a:xfrm>
            <a:off x="3068884" y="3406415"/>
            <a:ext cx="6036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485"/>
              <a:buFont typeface="Calibri"/>
              <a:buNone/>
            </a:pPr>
            <a:r>
              <a:rPr b="1" i="0" lang="en-US" sz="485" u="none" cap="none" strike="noStrike">
                <a:solidFill>
                  <a:srgbClr val="D97706"/>
                </a:solidFill>
                <a:latin typeface="Calibri"/>
                <a:ea typeface="Calibri"/>
                <a:cs typeface="Calibri"/>
                <a:sym typeface="Calibri"/>
              </a:rPr>
              <a:t>GitHub</a:t>
            </a:r>
            <a:endParaRPr b="0" i="0" sz="485"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D97706"/>
              </a:buClr>
              <a:buSzPts val="485"/>
              <a:buFont typeface="Calibri"/>
              <a:buNone/>
            </a:pPr>
            <a:r>
              <a:rPr b="1" i="0" lang="en-US" sz="485" u="none" cap="none" strike="noStrike">
                <a:solidFill>
                  <a:srgbClr val="D97706"/>
                </a:solidFill>
                <a:latin typeface="Calibri"/>
                <a:ea typeface="Calibri"/>
                <a:cs typeface="Calibri"/>
                <a:sym typeface="Calibri"/>
              </a:rPr>
              <a:t>Copilot CLI</a:t>
            </a:r>
            <a:endParaRPr b="0" i="0" sz="485" u="none" cap="none" strike="noStrike">
              <a:solidFill>
                <a:srgbClr val="000000"/>
              </a:solidFill>
              <a:latin typeface="Calibri"/>
              <a:ea typeface="Calibri"/>
              <a:cs typeface="Calibri"/>
              <a:sym typeface="Calibri"/>
            </a:endParaRPr>
          </a:p>
        </p:txBody>
      </p:sp>
      <p:sp>
        <p:nvSpPr>
          <p:cNvPr id="163" name="Google Shape;163;g3f5203acc17_0_81"/>
          <p:cNvSpPr/>
          <p:nvPr/>
        </p:nvSpPr>
        <p:spPr>
          <a:xfrm>
            <a:off x="4133939" y="3412332"/>
            <a:ext cx="828300" cy="295800"/>
          </a:xfrm>
          <a:prstGeom prst="rect">
            <a:avLst/>
          </a:prstGeom>
          <a:solidFill>
            <a:srgbClr val="F0FDF4"/>
          </a:solidFill>
          <a:ln cap="flat" cmpd="sng" w="9850">
            <a:solidFill>
              <a:srgbClr val="16A34A"/>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64" name="Google Shape;164;g3f5203acc17_0_81"/>
          <p:cNvPicPr preferRelativeResize="0"/>
          <p:nvPr/>
        </p:nvPicPr>
        <p:blipFill rotWithShape="1">
          <a:blip r:embed="rId11">
            <a:alphaModFix/>
          </a:blip>
          <a:srcRect b="0" l="0" r="0" t="0"/>
          <a:stretch/>
        </p:blipFill>
        <p:spPr>
          <a:xfrm>
            <a:off x="4181275" y="3465584"/>
            <a:ext cx="177508" cy="177508"/>
          </a:xfrm>
          <a:prstGeom prst="rect">
            <a:avLst/>
          </a:prstGeom>
          <a:noFill/>
          <a:ln>
            <a:noFill/>
          </a:ln>
        </p:spPr>
      </p:pic>
      <p:sp>
        <p:nvSpPr>
          <p:cNvPr id="165" name="Google Shape;165;g3f5203acc17_0_81"/>
          <p:cNvSpPr/>
          <p:nvPr/>
        </p:nvSpPr>
        <p:spPr>
          <a:xfrm>
            <a:off x="4370618" y="3424166"/>
            <a:ext cx="544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485"/>
              <a:buFont typeface="Calibri"/>
              <a:buNone/>
            </a:pPr>
            <a:r>
              <a:rPr b="1" i="0" lang="en-US" sz="485" u="none" cap="none" strike="noStrike">
                <a:solidFill>
                  <a:srgbClr val="16A34A"/>
                </a:solidFill>
                <a:latin typeface="Calibri"/>
                <a:ea typeface="Calibri"/>
                <a:cs typeface="Calibri"/>
                <a:sym typeface="Calibri"/>
              </a:rPr>
              <a:t>iTrust</a:t>
            </a:r>
            <a:endParaRPr b="0" i="0" sz="485"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6A34A"/>
              </a:buClr>
              <a:buSzPts val="485"/>
              <a:buFont typeface="Calibri"/>
              <a:buNone/>
            </a:pPr>
            <a:r>
              <a:rPr b="1" i="0" lang="en-US" sz="485" u="none" cap="none" strike="noStrike">
                <a:solidFill>
                  <a:srgbClr val="16A34A"/>
                </a:solidFill>
                <a:latin typeface="Calibri"/>
                <a:ea typeface="Calibri"/>
                <a:cs typeface="Calibri"/>
                <a:sym typeface="Calibri"/>
              </a:rPr>
              <a:t>Codebase</a:t>
            </a:r>
            <a:endParaRPr b="0" i="0" sz="485" u="none" cap="none" strike="noStrike">
              <a:solidFill>
                <a:srgbClr val="000000"/>
              </a:solidFill>
              <a:latin typeface="Calibri"/>
              <a:ea typeface="Calibri"/>
              <a:cs typeface="Calibri"/>
              <a:sym typeface="Calibri"/>
            </a:endParaRPr>
          </a:p>
        </p:txBody>
      </p:sp>
      <p:pic>
        <p:nvPicPr>
          <p:cNvPr descr="preencoded.png" id="166" name="Google Shape;166;g3f5203acc17_0_81"/>
          <p:cNvPicPr preferRelativeResize="0"/>
          <p:nvPr/>
        </p:nvPicPr>
        <p:blipFill rotWithShape="1">
          <a:blip r:embed="rId12">
            <a:alphaModFix/>
          </a:blip>
          <a:srcRect b="0" l="0" r="0" t="0"/>
          <a:stretch/>
        </p:blipFill>
        <p:spPr>
          <a:xfrm>
            <a:off x="3767087" y="3507003"/>
            <a:ext cx="325434" cy="71003"/>
          </a:xfrm>
          <a:prstGeom prst="rect">
            <a:avLst/>
          </a:prstGeom>
          <a:noFill/>
          <a:ln>
            <a:noFill/>
          </a:ln>
        </p:spPr>
      </p:pic>
      <p:pic>
        <p:nvPicPr>
          <p:cNvPr descr="preencoded.png" id="167" name="Google Shape;167;g3f5203acc17_0_81"/>
          <p:cNvPicPr preferRelativeResize="0"/>
          <p:nvPr/>
        </p:nvPicPr>
        <p:blipFill rotWithShape="1">
          <a:blip r:embed="rId12">
            <a:alphaModFix/>
          </a:blip>
          <a:srcRect b="0" l="0" r="0" t="0"/>
          <a:stretch/>
        </p:blipFill>
        <p:spPr>
          <a:xfrm rot="-2962401">
            <a:off x="3143523" y="3012856"/>
            <a:ext cx="619061" cy="71002"/>
          </a:xfrm>
          <a:prstGeom prst="rect">
            <a:avLst/>
          </a:prstGeom>
          <a:noFill/>
          <a:ln>
            <a:noFill/>
          </a:ln>
        </p:spPr>
      </p:pic>
      <p:pic>
        <p:nvPicPr>
          <p:cNvPr id="168" name="Google Shape;168;g3f5203acc17_0_81"/>
          <p:cNvPicPr preferRelativeResize="0"/>
          <p:nvPr/>
        </p:nvPicPr>
        <p:blipFill>
          <a:blip r:embed="rId13">
            <a:alphaModFix/>
          </a:blip>
          <a:stretch>
            <a:fillRect/>
          </a:stretch>
        </p:blipFill>
        <p:spPr>
          <a:xfrm>
            <a:off x="6455625" y="134425"/>
            <a:ext cx="1244825" cy="365750"/>
          </a:xfrm>
          <a:prstGeom prst="rect">
            <a:avLst/>
          </a:prstGeom>
          <a:noFill/>
          <a:ln>
            <a:noFill/>
          </a:ln>
        </p:spPr>
      </p:pic>
      <p:pic>
        <p:nvPicPr>
          <p:cNvPr id="169" name="Google Shape;169;g3f5203acc17_0_81"/>
          <p:cNvPicPr preferRelativeResize="0"/>
          <p:nvPr/>
        </p:nvPicPr>
        <p:blipFill>
          <a:blip r:embed="rId14">
            <a:alphaModFix/>
          </a:blip>
          <a:stretch>
            <a:fillRect/>
          </a:stretch>
        </p:blipFill>
        <p:spPr>
          <a:xfrm>
            <a:off x="5973275" y="134425"/>
            <a:ext cx="364676" cy="3657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descr="umaine_logo.png" id="175" name="Google Shape;175;g3f5203acc17_0_15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76" name="Google Shape;176;g3f5203acc17_0_15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f5203acc17_0_15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Study Design</a:t>
            </a:r>
            <a:endParaRPr b="0" i="0" sz="1300" u="none" cap="none" strike="noStrike">
              <a:solidFill>
                <a:schemeClr val="dk1"/>
              </a:solidFill>
              <a:latin typeface="Calibri"/>
              <a:ea typeface="Calibri"/>
              <a:cs typeface="Calibri"/>
              <a:sym typeface="Calibri"/>
            </a:endParaRPr>
          </a:p>
        </p:txBody>
      </p:sp>
      <p:cxnSp>
        <p:nvCxnSpPr>
          <p:cNvPr id="178" name="Google Shape;178;g3f5203acc17_0_15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79" name="Google Shape;179;g3f5203acc17_0_15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80" name="Google Shape;180;g3f5203acc17_0_153"/>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6</a:t>
            </a:r>
            <a:endParaRPr b="0" i="0" sz="700" u="none" cap="none" strike="noStrike">
              <a:solidFill>
                <a:schemeClr val="dk1"/>
              </a:solidFill>
              <a:latin typeface="Calibri"/>
              <a:ea typeface="Calibri"/>
              <a:cs typeface="Calibri"/>
              <a:sym typeface="Calibri"/>
            </a:endParaRPr>
          </a:p>
        </p:txBody>
      </p:sp>
      <p:sp>
        <p:nvSpPr>
          <p:cNvPr id="181" name="Google Shape;181;g3f5203acc17_0_153"/>
          <p:cNvSpPr/>
          <p:nvPr/>
        </p:nvSpPr>
        <p:spPr>
          <a:xfrm>
            <a:off x="968360"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82" name="Google Shape;182;g3f5203acc17_0_153"/>
          <p:cNvPicPr preferRelativeResize="0"/>
          <p:nvPr/>
        </p:nvPicPr>
        <p:blipFill rotWithShape="1">
          <a:blip r:embed="rId4">
            <a:alphaModFix/>
          </a:blip>
          <a:srcRect b="0" l="0" r="0" t="0"/>
          <a:stretch/>
        </p:blipFill>
        <p:spPr>
          <a:xfrm>
            <a:off x="1039364" y="2294038"/>
            <a:ext cx="213009" cy="213009"/>
          </a:xfrm>
          <a:prstGeom prst="rect">
            <a:avLst/>
          </a:prstGeom>
          <a:noFill/>
          <a:ln>
            <a:noFill/>
          </a:ln>
        </p:spPr>
      </p:pic>
      <p:sp>
        <p:nvSpPr>
          <p:cNvPr id="183" name="Google Shape;183;g3f5203acc17_0_153"/>
          <p:cNvSpPr/>
          <p:nvPr/>
        </p:nvSpPr>
        <p:spPr>
          <a:xfrm>
            <a:off x="702096"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NFR</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Extraction</a:t>
            </a:r>
            <a:endParaRPr b="0" i="0" sz="550" u="none" cap="none" strike="noStrike">
              <a:solidFill>
                <a:srgbClr val="000000"/>
              </a:solidFill>
              <a:latin typeface="Calibri"/>
              <a:ea typeface="Calibri"/>
              <a:cs typeface="Calibri"/>
              <a:sym typeface="Calibri"/>
            </a:endParaRPr>
          </a:p>
        </p:txBody>
      </p:sp>
      <p:pic>
        <p:nvPicPr>
          <p:cNvPr descr="preencoded.png" id="184" name="Google Shape;184;g3f5203acc17_0_153"/>
          <p:cNvPicPr preferRelativeResize="0"/>
          <p:nvPr/>
        </p:nvPicPr>
        <p:blipFill rotWithShape="1">
          <a:blip r:embed="rId5">
            <a:alphaModFix/>
          </a:blip>
          <a:srcRect b="0" l="0" r="0" t="0"/>
          <a:stretch/>
        </p:blipFill>
        <p:spPr>
          <a:xfrm>
            <a:off x="1518639" y="2365041"/>
            <a:ext cx="207094" cy="71003"/>
          </a:xfrm>
          <a:prstGeom prst="rect">
            <a:avLst/>
          </a:prstGeom>
          <a:noFill/>
          <a:ln>
            <a:noFill/>
          </a:ln>
        </p:spPr>
      </p:pic>
      <p:sp>
        <p:nvSpPr>
          <p:cNvPr id="185" name="Google Shape;185;g3f5203acc17_0_153"/>
          <p:cNvSpPr/>
          <p:nvPr/>
        </p:nvSpPr>
        <p:spPr>
          <a:xfrm>
            <a:off x="1737567" y="1513004"/>
            <a:ext cx="4585800" cy="1656600"/>
          </a:xfrm>
          <a:prstGeom prst="rect">
            <a:avLst/>
          </a:prstGeom>
          <a:solidFill>
            <a:srgbClr val="FAFCFE"/>
          </a:solidFill>
          <a:ln cap="flat" cmpd="sng" w="12325">
            <a:solidFill>
              <a:srgbClr val="2E86AB"/>
            </a:solidFill>
            <a:prstDash val="dash"/>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86" name="Google Shape;186;g3f5203acc17_0_153"/>
          <p:cNvSpPr/>
          <p:nvPr/>
        </p:nvSpPr>
        <p:spPr>
          <a:xfrm>
            <a:off x="1737567" y="1542588"/>
            <a:ext cx="4585800" cy="1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E86AB"/>
              </a:buClr>
              <a:buSzPts val="647"/>
              <a:buFont typeface="Georgia"/>
              <a:buNone/>
            </a:pPr>
            <a:r>
              <a:rPr b="1" i="1" lang="en-US" sz="647" u="none" cap="none" strike="noStrike">
                <a:solidFill>
                  <a:srgbClr val="2E86AB"/>
                </a:solidFill>
                <a:latin typeface="Georgia"/>
                <a:ea typeface="Georgia"/>
                <a:cs typeface="Georgia"/>
                <a:sym typeface="Georgia"/>
              </a:rPr>
              <a:t>Evaluation Tool</a:t>
            </a:r>
            <a:endParaRPr b="0" i="0" sz="647" u="none" cap="none" strike="noStrike">
              <a:solidFill>
                <a:srgbClr val="000000"/>
              </a:solidFill>
              <a:latin typeface="Calibri"/>
              <a:ea typeface="Calibri"/>
              <a:cs typeface="Calibri"/>
              <a:sym typeface="Calibri"/>
            </a:endParaRPr>
          </a:p>
        </p:txBody>
      </p:sp>
      <p:sp>
        <p:nvSpPr>
          <p:cNvPr id="187" name="Google Shape;187;g3f5203acc17_0_153"/>
          <p:cNvSpPr/>
          <p:nvPr/>
        </p:nvSpPr>
        <p:spPr>
          <a:xfrm>
            <a:off x="1737567" y="3199328"/>
            <a:ext cx="4585800" cy="165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647"/>
              <a:buFont typeface="Georgia"/>
              <a:buNone/>
            </a:pPr>
            <a:r>
              <a:rPr b="1" i="0" lang="en-US" sz="647" u="none" cap="none" strike="noStrike">
                <a:solidFill>
                  <a:srgbClr val="1E3A5F"/>
                </a:solidFill>
                <a:latin typeface="Georgia"/>
                <a:ea typeface="Georgia"/>
                <a:cs typeface="Georgia"/>
                <a:sym typeface="Georgia"/>
              </a:rPr>
              <a:t>49 Participants</a:t>
            </a:r>
            <a:endParaRPr b="0" i="0" sz="647" u="none" cap="none" strike="noStrike">
              <a:solidFill>
                <a:srgbClr val="000000"/>
              </a:solidFill>
              <a:latin typeface="Calibri"/>
              <a:ea typeface="Calibri"/>
              <a:cs typeface="Calibri"/>
              <a:sym typeface="Calibri"/>
            </a:endParaRPr>
          </a:p>
        </p:txBody>
      </p:sp>
      <p:sp>
        <p:nvSpPr>
          <p:cNvPr id="188" name="Google Shape;188;g3f5203acc17_0_153"/>
          <p:cNvSpPr/>
          <p:nvPr/>
        </p:nvSpPr>
        <p:spPr>
          <a:xfrm>
            <a:off x="2063001"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89" name="Google Shape;189;g3f5203acc17_0_153"/>
          <p:cNvPicPr preferRelativeResize="0"/>
          <p:nvPr/>
        </p:nvPicPr>
        <p:blipFill rotWithShape="1">
          <a:blip r:embed="rId6">
            <a:alphaModFix/>
          </a:blip>
          <a:srcRect b="0" l="0" r="0" t="0"/>
          <a:stretch/>
        </p:blipFill>
        <p:spPr>
          <a:xfrm>
            <a:off x="2134005" y="2294038"/>
            <a:ext cx="213009" cy="213009"/>
          </a:xfrm>
          <a:prstGeom prst="rect">
            <a:avLst/>
          </a:prstGeom>
          <a:noFill/>
          <a:ln>
            <a:noFill/>
          </a:ln>
        </p:spPr>
      </p:pic>
      <p:sp>
        <p:nvSpPr>
          <p:cNvPr id="190" name="Google Shape;190;g3f5203acc17_0_153"/>
          <p:cNvSpPr/>
          <p:nvPr/>
        </p:nvSpPr>
        <p:spPr>
          <a:xfrm>
            <a:off x="1796737"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Interactive</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Tutorial</a:t>
            </a:r>
            <a:endParaRPr b="0" i="0" sz="550" u="none" cap="none" strike="noStrike">
              <a:solidFill>
                <a:srgbClr val="000000"/>
              </a:solidFill>
              <a:latin typeface="Calibri"/>
              <a:ea typeface="Calibri"/>
              <a:cs typeface="Calibri"/>
              <a:sym typeface="Calibri"/>
            </a:endParaRPr>
          </a:p>
        </p:txBody>
      </p:sp>
      <p:pic>
        <p:nvPicPr>
          <p:cNvPr descr="preencoded.png" id="191" name="Google Shape;191;g3f5203acc17_0_153"/>
          <p:cNvPicPr preferRelativeResize="0"/>
          <p:nvPr/>
        </p:nvPicPr>
        <p:blipFill rotWithShape="1">
          <a:blip r:embed="rId5">
            <a:alphaModFix/>
          </a:blip>
          <a:srcRect b="0" l="0" r="0" t="0"/>
          <a:stretch/>
        </p:blipFill>
        <p:spPr>
          <a:xfrm>
            <a:off x="2607363" y="2365041"/>
            <a:ext cx="177509" cy="71003"/>
          </a:xfrm>
          <a:prstGeom prst="rect">
            <a:avLst/>
          </a:prstGeom>
          <a:noFill/>
          <a:ln>
            <a:noFill/>
          </a:ln>
        </p:spPr>
      </p:pic>
      <p:sp>
        <p:nvSpPr>
          <p:cNvPr id="192" name="Google Shape;192;g3f5203acc17_0_153"/>
          <p:cNvSpPr/>
          <p:nvPr/>
        </p:nvSpPr>
        <p:spPr>
          <a:xfrm>
            <a:off x="2891378"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93" name="Google Shape;193;g3f5203acc17_0_153"/>
          <p:cNvPicPr preferRelativeResize="0"/>
          <p:nvPr/>
        </p:nvPicPr>
        <p:blipFill rotWithShape="1">
          <a:blip r:embed="rId7">
            <a:alphaModFix/>
          </a:blip>
          <a:srcRect b="0" l="0" r="0" t="0"/>
          <a:stretch/>
        </p:blipFill>
        <p:spPr>
          <a:xfrm>
            <a:off x="2962381" y="2294038"/>
            <a:ext cx="213009" cy="213009"/>
          </a:xfrm>
          <a:prstGeom prst="rect">
            <a:avLst/>
          </a:prstGeom>
          <a:noFill/>
          <a:ln>
            <a:noFill/>
          </a:ln>
        </p:spPr>
      </p:pic>
      <p:sp>
        <p:nvSpPr>
          <p:cNvPr id="194" name="Google Shape;194;g3f5203acc17_0_153"/>
          <p:cNvSpPr/>
          <p:nvPr/>
        </p:nvSpPr>
        <p:spPr>
          <a:xfrm>
            <a:off x="2625114"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NFR</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Review</a:t>
            </a:r>
            <a:endParaRPr b="0" i="0" sz="550" u="none" cap="none" strike="noStrike">
              <a:solidFill>
                <a:srgbClr val="000000"/>
              </a:solidFill>
              <a:latin typeface="Calibri"/>
              <a:ea typeface="Calibri"/>
              <a:cs typeface="Calibri"/>
              <a:sym typeface="Calibri"/>
            </a:endParaRPr>
          </a:p>
        </p:txBody>
      </p:sp>
      <p:sp>
        <p:nvSpPr>
          <p:cNvPr id="195" name="Google Shape;195;g3f5203acc17_0_153"/>
          <p:cNvSpPr/>
          <p:nvPr/>
        </p:nvSpPr>
        <p:spPr>
          <a:xfrm>
            <a:off x="2844042" y="1956773"/>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196" name="Google Shape;196;g3f5203acc17_0_153"/>
          <p:cNvSpPr/>
          <p:nvPr/>
        </p:nvSpPr>
        <p:spPr>
          <a:xfrm>
            <a:off x="2832208" y="1956773"/>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1</a:t>
            </a:r>
            <a:endParaRPr b="0" i="0" sz="453" u="none" cap="none" strike="noStrike">
              <a:solidFill>
                <a:srgbClr val="000000"/>
              </a:solidFill>
              <a:latin typeface="Calibri"/>
              <a:ea typeface="Calibri"/>
              <a:cs typeface="Calibri"/>
              <a:sym typeface="Calibri"/>
            </a:endParaRPr>
          </a:p>
        </p:txBody>
      </p:sp>
      <p:pic>
        <p:nvPicPr>
          <p:cNvPr descr="preencoded.png" id="197" name="Google Shape;197;g3f5203acc17_0_153"/>
          <p:cNvPicPr preferRelativeResize="0"/>
          <p:nvPr/>
        </p:nvPicPr>
        <p:blipFill rotWithShape="1">
          <a:blip r:embed="rId5">
            <a:alphaModFix/>
          </a:blip>
          <a:srcRect b="0" l="0" r="0" t="0"/>
          <a:stretch/>
        </p:blipFill>
        <p:spPr>
          <a:xfrm>
            <a:off x="3435739" y="2365041"/>
            <a:ext cx="177509" cy="71003"/>
          </a:xfrm>
          <a:prstGeom prst="rect">
            <a:avLst/>
          </a:prstGeom>
          <a:noFill/>
          <a:ln>
            <a:noFill/>
          </a:ln>
        </p:spPr>
      </p:pic>
      <p:sp>
        <p:nvSpPr>
          <p:cNvPr id="198" name="Google Shape;198;g3f5203acc17_0_153"/>
          <p:cNvSpPr/>
          <p:nvPr/>
        </p:nvSpPr>
        <p:spPr>
          <a:xfrm>
            <a:off x="3719754"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199" name="Google Shape;199;g3f5203acc17_0_153"/>
          <p:cNvPicPr preferRelativeResize="0"/>
          <p:nvPr/>
        </p:nvPicPr>
        <p:blipFill rotWithShape="1">
          <a:blip r:embed="rId8">
            <a:alphaModFix/>
          </a:blip>
          <a:srcRect b="0" l="0" r="0" t="0"/>
          <a:stretch/>
        </p:blipFill>
        <p:spPr>
          <a:xfrm>
            <a:off x="3790758" y="2294038"/>
            <a:ext cx="213009" cy="213009"/>
          </a:xfrm>
          <a:prstGeom prst="rect">
            <a:avLst/>
          </a:prstGeom>
          <a:noFill/>
          <a:ln>
            <a:noFill/>
          </a:ln>
        </p:spPr>
      </p:pic>
      <p:sp>
        <p:nvSpPr>
          <p:cNvPr id="200" name="Google Shape;200;g3f5203acc17_0_153"/>
          <p:cNvSpPr/>
          <p:nvPr/>
        </p:nvSpPr>
        <p:spPr>
          <a:xfrm>
            <a:off x="3453490"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Chatbot</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Interaction</a:t>
            </a:r>
            <a:endParaRPr b="0" i="0" sz="550" u="none" cap="none" strike="noStrike">
              <a:solidFill>
                <a:srgbClr val="000000"/>
              </a:solidFill>
              <a:latin typeface="Calibri"/>
              <a:ea typeface="Calibri"/>
              <a:cs typeface="Calibri"/>
              <a:sym typeface="Calibri"/>
            </a:endParaRPr>
          </a:p>
        </p:txBody>
      </p:sp>
      <p:sp>
        <p:nvSpPr>
          <p:cNvPr id="201" name="Google Shape;201;g3f5203acc17_0_153"/>
          <p:cNvSpPr/>
          <p:nvPr/>
        </p:nvSpPr>
        <p:spPr>
          <a:xfrm>
            <a:off x="3672418" y="1956773"/>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02" name="Google Shape;202;g3f5203acc17_0_153"/>
          <p:cNvSpPr/>
          <p:nvPr/>
        </p:nvSpPr>
        <p:spPr>
          <a:xfrm>
            <a:off x="3660584" y="1956773"/>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2</a:t>
            </a:r>
            <a:endParaRPr b="0" i="0" sz="453" u="none" cap="none" strike="noStrike">
              <a:solidFill>
                <a:srgbClr val="000000"/>
              </a:solidFill>
              <a:latin typeface="Calibri"/>
              <a:ea typeface="Calibri"/>
              <a:cs typeface="Calibri"/>
              <a:sym typeface="Calibri"/>
            </a:endParaRPr>
          </a:p>
        </p:txBody>
      </p:sp>
      <p:pic>
        <p:nvPicPr>
          <p:cNvPr descr="preencoded.png" id="203" name="Google Shape;203;g3f5203acc17_0_153"/>
          <p:cNvPicPr preferRelativeResize="0"/>
          <p:nvPr/>
        </p:nvPicPr>
        <p:blipFill rotWithShape="1">
          <a:blip r:embed="rId5">
            <a:alphaModFix/>
          </a:blip>
          <a:srcRect b="0" l="0" r="0" t="0"/>
          <a:stretch/>
        </p:blipFill>
        <p:spPr>
          <a:xfrm>
            <a:off x="4264116" y="2365041"/>
            <a:ext cx="177509" cy="71003"/>
          </a:xfrm>
          <a:prstGeom prst="rect">
            <a:avLst/>
          </a:prstGeom>
          <a:noFill/>
          <a:ln>
            <a:noFill/>
          </a:ln>
        </p:spPr>
      </p:pic>
      <p:sp>
        <p:nvSpPr>
          <p:cNvPr id="204" name="Google Shape;204;g3f5203acc17_0_153"/>
          <p:cNvSpPr/>
          <p:nvPr/>
        </p:nvSpPr>
        <p:spPr>
          <a:xfrm>
            <a:off x="4370622" y="1986358"/>
            <a:ext cx="1005900" cy="828300"/>
          </a:xfrm>
          <a:prstGeom prst="rect">
            <a:avLst/>
          </a:prstGeom>
          <a:solidFill>
            <a:srgbClr val="F0F6FA"/>
          </a:solidFill>
          <a:ln cap="flat" cmpd="sng" w="9850">
            <a:solidFill>
              <a:srgbClr val="2E86AB"/>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05" name="Google Shape;205;g3f5203acc17_0_153"/>
          <p:cNvSpPr/>
          <p:nvPr/>
        </p:nvSpPr>
        <p:spPr>
          <a:xfrm>
            <a:off x="4648719" y="1761515"/>
            <a:ext cx="449700" cy="177300"/>
          </a:xfrm>
          <a:prstGeom prst="roundRect">
            <a:avLst>
              <a:gd fmla="val 16667" name="adj"/>
            </a:avLst>
          </a:prstGeom>
          <a:solidFill>
            <a:srgbClr val="1E3A5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06" name="Google Shape;206;g3f5203acc17_0_153"/>
          <p:cNvSpPr/>
          <p:nvPr/>
        </p:nvSpPr>
        <p:spPr>
          <a:xfrm>
            <a:off x="4636885" y="1761515"/>
            <a:ext cx="473400" cy="1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53"/>
              <a:buFont typeface="Arial"/>
              <a:buNone/>
            </a:pPr>
            <a:r>
              <a:rPr b="1" i="0" lang="en-US" sz="453" u="none" cap="none" strike="noStrike">
                <a:solidFill>
                  <a:srgbClr val="FFFFFF"/>
                </a:solidFill>
                <a:latin typeface="Arial"/>
                <a:ea typeface="Arial"/>
                <a:cs typeface="Arial"/>
                <a:sym typeface="Arial"/>
              </a:rPr>
              <a:t>Section 3</a:t>
            </a:r>
            <a:endParaRPr b="0" i="0" sz="453" u="none" cap="none" strike="noStrike">
              <a:solidFill>
                <a:srgbClr val="000000"/>
              </a:solidFill>
              <a:latin typeface="Calibri"/>
              <a:ea typeface="Calibri"/>
              <a:cs typeface="Calibri"/>
              <a:sym typeface="Calibri"/>
            </a:endParaRPr>
          </a:p>
        </p:txBody>
      </p:sp>
      <p:sp>
        <p:nvSpPr>
          <p:cNvPr id="207" name="Google Shape;207;g3f5203acc17_0_153"/>
          <p:cNvSpPr/>
          <p:nvPr/>
        </p:nvSpPr>
        <p:spPr>
          <a:xfrm>
            <a:off x="4311452" y="2832479"/>
            <a:ext cx="1124100" cy="177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Dimension Rating</a:t>
            </a:r>
            <a:endParaRPr b="0" i="0" sz="550" u="none" cap="none" strike="noStrike">
              <a:solidFill>
                <a:srgbClr val="000000"/>
              </a:solidFill>
              <a:latin typeface="Calibri"/>
              <a:ea typeface="Calibri"/>
              <a:cs typeface="Calibri"/>
              <a:sym typeface="Calibri"/>
            </a:endParaRPr>
          </a:p>
        </p:txBody>
      </p:sp>
      <p:sp>
        <p:nvSpPr>
          <p:cNvPr id="208" name="Google Shape;208;g3f5203acc17_0_153"/>
          <p:cNvSpPr/>
          <p:nvPr/>
        </p:nvSpPr>
        <p:spPr>
          <a:xfrm>
            <a:off x="4429791" y="2075112"/>
            <a:ext cx="887400" cy="189300"/>
          </a:xfrm>
          <a:prstGeom prst="rect">
            <a:avLst/>
          </a:prstGeom>
          <a:solidFill>
            <a:srgbClr val="1B7A8A"/>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09" name="Google Shape;209;g3f5203acc17_0_153"/>
          <p:cNvSpPr/>
          <p:nvPr/>
        </p:nvSpPr>
        <p:spPr>
          <a:xfrm>
            <a:off x="4429791" y="2075112"/>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Satisfaction Level</a:t>
            </a:r>
            <a:endParaRPr b="0" i="0" sz="518" u="none" cap="none" strike="noStrike">
              <a:solidFill>
                <a:srgbClr val="000000"/>
              </a:solidFill>
              <a:latin typeface="Calibri"/>
              <a:ea typeface="Calibri"/>
              <a:cs typeface="Calibri"/>
              <a:sym typeface="Calibri"/>
            </a:endParaRPr>
          </a:p>
        </p:txBody>
      </p:sp>
      <p:sp>
        <p:nvSpPr>
          <p:cNvPr id="210" name="Google Shape;210;g3f5203acc17_0_153"/>
          <p:cNvSpPr/>
          <p:nvPr/>
        </p:nvSpPr>
        <p:spPr>
          <a:xfrm>
            <a:off x="4429791" y="2299955"/>
            <a:ext cx="887400" cy="189300"/>
          </a:xfrm>
          <a:prstGeom prst="rect">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11" name="Google Shape;211;g3f5203acc17_0_153"/>
          <p:cNvSpPr/>
          <p:nvPr/>
        </p:nvSpPr>
        <p:spPr>
          <a:xfrm>
            <a:off x="4429791" y="2299955"/>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Reasoning</a:t>
            </a:r>
            <a:endParaRPr b="0" i="0" sz="518" u="none" cap="none" strike="noStrike">
              <a:solidFill>
                <a:srgbClr val="000000"/>
              </a:solidFill>
              <a:latin typeface="Calibri"/>
              <a:ea typeface="Calibri"/>
              <a:cs typeface="Calibri"/>
              <a:sym typeface="Calibri"/>
            </a:endParaRPr>
          </a:p>
        </p:txBody>
      </p:sp>
      <p:sp>
        <p:nvSpPr>
          <p:cNvPr id="212" name="Google Shape;212;g3f5203acc17_0_153"/>
          <p:cNvSpPr/>
          <p:nvPr/>
        </p:nvSpPr>
        <p:spPr>
          <a:xfrm>
            <a:off x="4429791" y="2524798"/>
            <a:ext cx="887400" cy="189300"/>
          </a:xfrm>
          <a:prstGeom prst="rect">
            <a:avLst/>
          </a:prstGeom>
          <a:solidFill>
            <a:srgbClr val="4A9DBF"/>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sp>
        <p:nvSpPr>
          <p:cNvPr id="213" name="Google Shape;213;g3f5203acc17_0_153"/>
          <p:cNvSpPr/>
          <p:nvPr/>
        </p:nvSpPr>
        <p:spPr>
          <a:xfrm>
            <a:off x="4429791" y="2524798"/>
            <a:ext cx="887400" cy="18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18"/>
              <a:buFont typeface="Calibri"/>
              <a:buNone/>
            </a:pPr>
            <a:r>
              <a:rPr b="1" i="0" lang="en-US" sz="518" u="none" cap="none" strike="noStrike">
                <a:solidFill>
                  <a:srgbClr val="FFFFFF"/>
                </a:solidFill>
                <a:latin typeface="Calibri"/>
                <a:ea typeface="Calibri"/>
                <a:cs typeface="Calibri"/>
                <a:sym typeface="Calibri"/>
              </a:rPr>
              <a:t>Code Location</a:t>
            </a:r>
            <a:endParaRPr b="0" i="0" sz="518" u="none" cap="none" strike="noStrike">
              <a:solidFill>
                <a:srgbClr val="000000"/>
              </a:solidFill>
              <a:latin typeface="Calibri"/>
              <a:ea typeface="Calibri"/>
              <a:cs typeface="Calibri"/>
              <a:sym typeface="Calibri"/>
            </a:endParaRPr>
          </a:p>
        </p:txBody>
      </p:sp>
      <p:pic>
        <p:nvPicPr>
          <p:cNvPr descr="preencoded.png" id="214" name="Google Shape;214;g3f5203acc17_0_153"/>
          <p:cNvPicPr preferRelativeResize="0"/>
          <p:nvPr/>
        </p:nvPicPr>
        <p:blipFill rotWithShape="1">
          <a:blip r:embed="rId5">
            <a:alphaModFix/>
          </a:blip>
          <a:srcRect b="0" l="0" r="0" t="0"/>
          <a:stretch/>
        </p:blipFill>
        <p:spPr>
          <a:xfrm>
            <a:off x="5394258" y="2365041"/>
            <a:ext cx="177509" cy="71003"/>
          </a:xfrm>
          <a:prstGeom prst="rect">
            <a:avLst/>
          </a:prstGeom>
          <a:noFill/>
          <a:ln>
            <a:noFill/>
          </a:ln>
        </p:spPr>
      </p:pic>
      <p:sp>
        <p:nvSpPr>
          <p:cNvPr id="215" name="Google Shape;215;g3f5203acc17_0_153"/>
          <p:cNvSpPr/>
          <p:nvPr/>
        </p:nvSpPr>
        <p:spPr>
          <a:xfrm>
            <a:off x="5731526" y="2223035"/>
            <a:ext cx="355200" cy="3552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16" name="Google Shape;216;g3f5203acc17_0_153"/>
          <p:cNvPicPr preferRelativeResize="0"/>
          <p:nvPr/>
        </p:nvPicPr>
        <p:blipFill rotWithShape="1">
          <a:blip r:embed="rId9">
            <a:alphaModFix/>
          </a:blip>
          <a:srcRect b="0" l="0" r="0" t="0"/>
          <a:stretch/>
        </p:blipFill>
        <p:spPr>
          <a:xfrm>
            <a:off x="5802530" y="2294038"/>
            <a:ext cx="213009" cy="213009"/>
          </a:xfrm>
          <a:prstGeom prst="rect">
            <a:avLst/>
          </a:prstGeom>
          <a:noFill/>
          <a:ln>
            <a:noFill/>
          </a:ln>
        </p:spPr>
      </p:pic>
      <p:sp>
        <p:nvSpPr>
          <p:cNvPr id="217" name="Google Shape;217;g3f5203acc17_0_153"/>
          <p:cNvSpPr/>
          <p:nvPr/>
        </p:nvSpPr>
        <p:spPr>
          <a:xfrm>
            <a:off x="5465262" y="2625386"/>
            <a:ext cx="887400" cy="23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Satisfaction</a:t>
            </a:r>
            <a:endParaRPr b="0" i="0" sz="55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50"/>
              <a:buFont typeface="Georgia"/>
              <a:buNone/>
            </a:pPr>
            <a:r>
              <a:rPr b="1" i="0" lang="en-US" sz="550" u="none" cap="none" strike="noStrike">
                <a:solidFill>
                  <a:srgbClr val="1E3A5F"/>
                </a:solidFill>
                <a:latin typeface="Georgia"/>
                <a:ea typeface="Georgia"/>
                <a:cs typeface="Georgia"/>
                <a:sym typeface="Georgia"/>
              </a:rPr>
              <a:t>Survey</a:t>
            </a:r>
            <a:endParaRPr b="0" i="0" sz="550" u="none" cap="none" strike="noStrike">
              <a:solidFill>
                <a:srgbClr val="000000"/>
              </a:solidFill>
              <a:latin typeface="Calibri"/>
              <a:ea typeface="Calibri"/>
              <a:cs typeface="Calibri"/>
              <a:sym typeface="Calibri"/>
            </a:endParaRPr>
          </a:p>
        </p:txBody>
      </p:sp>
      <p:sp>
        <p:nvSpPr>
          <p:cNvPr id="218" name="Google Shape;218;g3f5203acc17_0_153"/>
          <p:cNvSpPr/>
          <p:nvPr/>
        </p:nvSpPr>
        <p:spPr>
          <a:xfrm>
            <a:off x="2832205" y="3394581"/>
            <a:ext cx="887400" cy="295800"/>
          </a:xfrm>
          <a:prstGeom prst="rect">
            <a:avLst/>
          </a:prstGeom>
          <a:solidFill>
            <a:srgbClr val="FFF7ED"/>
          </a:solidFill>
          <a:ln cap="flat" cmpd="sng" w="9850">
            <a:solidFill>
              <a:srgbClr val="D97706"/>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19" name="Google Shape;219;g3f5203acc17_0_153"/>
          <p:cNvPicPr preferRelativeResize="0"/>
          <p:nvPr/>
        </p:nvPicPr>
        <p:blipFill rotWithShape="1">
          <a:blip r:embed="rId10">
            <a:alphaModFix/>
          </a:blip>
          <a:srcRect b="0" l="0" r="0" t="0"/>
          <a:stretch/>
        </p:blipFill>
        <p:spPr>
          <a:xfrm>
            <a:off x="2879540" y="3447834"/>
            <a:ext cx="177508" cy="177508"/>
          </a:xfrm>
          <a:prstGeom prst="rect">
            <a:avLst/>
          </a:prstGeom>
          <a:noFill/>
          <a:ln>
            <a:noFill/>
          </a:ln>
        </p:spPr>
      </p:pic>
      <p:sp>
        <p:nvSpPr>
          <p:cNvPr id="220" name="Google Shape;220;g3f5203acc17_0_153"/>
          <p:cNvSpPr/>
          <p:nvPr/>
        </p:nvSpPr>
        <p:spPr>
          <a:xfrm>
            <a:off x="3068884" y="3406415"/>
            <a:ext cx="6036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485"/>
              <a:buFont typeface="Calibri"/>
              <a:buNone/>
            </a:pPr>
            <a:r>
              <a:rPr b="1" i="0" lang="en-US" sz="485" u="none" cap="none" strike="noStrike">
                <a:solidFill>
                  <a:srgbClr val="D97706"/>
                </a:solidFill>
                <a:latin typeface="Calibri"/>
                <a:ea typeface="Calibri"/>
                <a:cs typeface="Calibri"/>
                <a:sym typeface="Calibri"/>
              </a:rPr>
              <a:t>GitHub</a:t>
            </a:r>
            <a:endParaRPr b="0" i="0" sz="485"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D97706"/>
              </a:buClr>
              <a:buSzPts val="485"/>
              <a:buFont typeface="Calibri"/>
              <a:buNone/>
            </a:pPr>
            <a:r>
              <a:rPr b="1" i="0" lang="en-US" sz="485" u="none" cap="none" strike="noStrike">
                <a:solidFill>
                  <a:srgbClr val="D97706"/>
                </a:solidFill>
                <a:latin typeface="Calibri"/>
                <a:ea typeface="Calibri"/>
                <a:cs typeface="Calibri"/>
                <a:sym typeface="Calibri"/>
              </a:rPr>
              <a:t>Copilot CLI</a:t>
            </a:r>
            <a:endParaRPr b="0" i="0" sz="485" u="none" cap="none" strike="noStrike">
              <a:solidFill>
                <a:srgbClr val="000000"/>
              </a:solidFill>
              <a:latin typeface="Calibri"/>
              <a:ea typeface="Calibri"/>
              <a:cs typeface="Calibri"/>
              <a:sym typeface="Calibri"/>
            </a:endParaRPr>
          </a:p>
        </p:txBody>
      </p:sp>
      <p:sp>
        <p:nvSpPr>
          <p:cNvPr id="221" name="Google Shape;221;g3f5203acc17_0_153"/>
          <p:cNvSpPr/>
          <p:nvPr/>
        </p:nvSpPr>
        <p:spPr>
          <a:xfrm>
            <a:off x="4133939" y="3412332"/>
            <a:ext cx="828300" cy="295800"/>
          </a:xfrm>
          <a:prstGeom prst="rect">
            <a:avLst/>
          </a:prstGeom>
          <a:solidFill>
            <a:srgbClr val="F0FDF4"/>
          </a:solidFill>
          <a:ln cap="flat" cmpd="sng" w="9850">
            <a:solidFill>
              <a:srgbClr val="16A34A"/>
            </a:solidFill>
            <a:prstDash val="solid"/>
            <a:round/>
            <a:headEnd len="sm" w="sm" type="none"/>
            <a:tailEnd len="sm" w="sm" type="none"/>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22" name="Google Shape;222;g3f5203acc17_0_153"/>
          <p:cNvPicPr preferRelativeResize="0"/>
          <p:nvPr/>
        </p:nvPicPr>
        <p:blipFill rotWithShape="1">
          <a:blip r:embed="rId11">
            <a:alphaModFix/>
          </a:blip>
          <a:srcRect b="0" l="0" r="0" t="0"/>
          <a:stretch/>
        </p:blipFill>
        <p:spPr>
          <a:xfrm>
            <a:off x="4181275" y="3465584"/>
            <a:ext cx="177508" cy="177508"/>
          </a:xfrm>
          <a:prstGeom prst="rect">
            <a:avLst/>
          </a:prstGeom>
          <a:noFill/>
          <a:ln>
            <a:noFill/>
          </a:ln>
        </p:spPr>
      </p:pic>
      <p:sp>
        <p:nvSpPr>
          <p:cNvPr id="223" name="Google Shape;223;g3f5203acc17_0_153"/>
          <p:cNvSpPr/>
          <p:nvPr/>
        </p:nvSpPr>
        <p:spPr>
          <a:xfrm>
            <a:off x="4370618" y="3424166"/>
            <a:ext cx="544200" cy="27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485"/>
              <a:buFont typeface="Calibri"/>
              <a:buNone/>
            </a:pPr>
            <a:r>
              <a:rPr b="1" i="0" lang="en-US" sz="485" u="none" cap="none" strike="noStrike">
                <a:solidFill>
                  <a:srgbClr val="16A34A"/>
                </a:solidFill>
                <a:latin typeface="Calibri"/>
                <a:ea typeface="Calibri"/>
                <a:cs typeface="Calibri"/>
                <a:sym typeface="Calibri"/>
              </a:rPr>
              <a:t>iTrust</a:t>
            </a:r>
            <a:endParaRPr b="0" i="0" sz="485"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6A34A"/>
              </a:buClr>
              <a:buSzPts val="485"/>
              <a:buFont typeface="Calibri"/>
              <a:buNone/>
            </a:pPr>
            <a:r>
              <a:rPr b="1" i="0" lang="en-US" sz="485" u="none" cap="none" strike="noStrike">
                <a:solidFill>
                  <a:srgbClr val="16A34A"/>
                </a:solidFill>
                <a:latin typeface="Calibri"/>
                <a:ea typeface="Calibri"/>
                <a:cs typeface="Calibri"/>
                <a:sym typeface="Calibri"/>
              </a:rPr>
              <a:t>Codebase</a:t>
            </a:r>
            <a:endParaRPr b="0" i="0" sz="485" u="none" cap="none" strike="noStrike">
              <a:solidFill>
                <a:srgbClr val="000000"/>
              </a:solidFill>
              <a:latin typeface="Calibri"/>
              <a:ea typeface="Calibri"/>
              <a:cs typeface="Calibri"/>
              <a:sym typeface="Calibri"/>
            </a:endParaRPr>
          </a:p>
        </p:txBody>
      </p:sp>
      <p:pic>
        <p:nvPicPr>
          <p:cNvPr descr="preencoded.png" id="224" name="Google Shape;224;g3f5203acc17_0_153"/>
          <p:cNvPicPr preferRelativeResize="0"/>
          <p:nvPr/>
        </p:nvPicPr>
        <p:blipFill rotWithShape="1">
          <a:blip r:embed="rId12">
            <a:alphaModFix/>
          </a:blip>
          <a:srcRect b="0" l="0" r="0" t="0"/>
          <a:stretch/>
        </p:blipFill>
        <p:spPr>
          <a:xfrm>
            <a:off x="3767087" y="3507003"/>
            <a:ext cx="325434" cy="71003"/>
          </a:xfrm>
          <a:prstGeom prst="rect">
            <a:avLst/>
          </a:prstGeom>
          <a:noFill/>
          <a:ln>
            <a:noFill/>
          </a:ln>
        </p:spPr>
      </p:pic>
      <p:sp>
        <p:nvSpPr>
          <p:cNvPr id="225" name="Google Shape;225;g3f5203acc17_0_153"/>
          <p:cNvSpPr/>
          <p:nvPr/>
        </p:nvSpPr>
        <p:spPr>
          <a:xfrm>
            <a:off x="7895999" y="1630167"/>
            <a:ext cx="295800" cy="295800"/>
          </a:xfrm>
          <a:prstGeom prst="ellipse">
            <a:avLst/>
          </a:prstGeom>
          <a:solidFill>
            <a:srgbClr val="2E86AB"/>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26" name="Google Shape;226;g3f5203acc17_0_153"/>
          <p:cNvPicPr preferRelativeResize="0"/>
          <p:nvPr/>
        </p:nvPicPr>
        <p:blipFill rotWithShape="1">
          <a:blip r:embed="rId13">
            <a:alphaModFix/>
          </a:blip>
          <a:srcRect b="0" l="0" r="0" t="0"/>
          <a:stretch/>
        </p:blipFill>
        <p:spPr>
          <a:xfrm>
            <a:off x="7955169" y="1689336"/>
            <a:ext cx="177508" cy="177508"/>
          </a:xfrm>
          <a:prstGeom prst="rect">
            <a:avLst/>
          </a:prstGeom>
          <a:noFill/>
          <a:ln>
            <a:noFill/>
          </a:ln>
        </p:spPr>
      </p:pic>
      <p:sp>
        <p:nvSpPr>
          <p:cNvPr id="227" name="Google Shape;227;g3f5203acc17_0_153"/>
          <p:cNvSpPr/>
          <p:nvPr/>
        </p:nvSpPr>
        <p:spPr>
          <a:xfrm>
            <a:off x="7600150" y="1955598"/>
            <a:ext cx="887400" cy="22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Analyzing</a:t>
            </a:r>
            <a:endParaRPr b="0" i="0" sz="518"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User Ratings</a:t>
            </a:r>
            <a:endParaRPr b="0" i="0" sz="518" u="none" cap="none" strike="noStrike">
              <a:solidFill>
                <a:srgbClr val="000000"/>
              </a:solidFill>
              <a:latin typeface="Calibri"/>
              <a:ea typeface="Calibri"/>
              <a:cs typeface="Calibri"/>
              <a:sym typeface="Calibri"/>
            </a:endParaRPr>
          </a:p>
        </p:txBody>
      </p:sp>
      <p:sp>
        <p:nvSpPr>
          <p:cNvPr id="228" name="Google Shape;228;g3f5203acc17_0_153"/>
          <p:cNvSpPr/>
          <p:nvPr/>
        </p:nvSpPr>
        <p:spPr>
          <a:xfrm>
            <a:off x="7878252" y="2254954"/>
            <a:ext cx="295800" cy="295800"/>
          </a:xfrm>
          <a:prstGeom prst="ellipse">
            <a:avLst/>
          </a:prstGeom>
          <a:solidFill>
            <a:srgbClr val="7C3AED"/>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29" name="Google Shape;229;g3f5203acc17_0_153"/>
          <p:cNvPicPr preferRelativeResize="0"/>
          <p:nvPr/>
        </p:nvPicPr>
        <p:blipFill rotWithShape="1">
          <a:blip r:embed="rId14">
            <a:alphaModFix/>
          </a:blip>
          <a:srcRect b="0" l="0" r="0" t="0"/>
          <a:stretch/>
        </p:blipFill>
        <p:spPr>
          <a:xfrm>
            <a:off x="7937422" y="2314123"/>
            <a:ext cx="177508" cy="177508"/>
          </a:xfrm>
          <a:prstGeom prst="rect">
            <a:avLst/>
          </a:prstGeom>
          <a:noFill/>
          <a:ln>
            <a:noFill/>
          </a:ln>
        </p:spPr>
      </p:pic>
      <p:sp>
        <p:nvSpPr>
          <p:cNvPr id="230" name="Google Shape;230;g3f5203acc17_0_153"/>
          <p:cNvSpPr/>
          <p:nvPr/>
        </p:nvSpPr>
        <p:spPr>
          <a:xfrm>
            <a:off x="7582404" y="2580385"/>
            <a:ext cx="887400" cy="22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Comparing with</a:t>
            </a:r>
            <a:endParaRPr b="0" i="0" sz="518"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Ground Truth</a:t>
            </a:r>
            <a:endParaRPr b="0" i="0" sz="518" u="none" cap="none" strike="noStrike">
              <a:solidFill>
                <a:srgbClr val="000000"/>
              </a:solidFill>
              <a:latin typeface="Calibri"/>
              <a:ea typeface="Calibri"/>
              <a:cs typeface="Calibri"/>
              <a:sym typeface="Calibri"/>
            </a:endParaRPr>
          </a:p>
        </p:txBody>
      </p:sp>
      <p:sp>
        <p:nvSpPr>
          <p:cNvPr id="231" name="Google Shape;231;g3f5203acc17_0_153"/>
          <p:cNvSpPr/>
          <p:nvPr/>
        </p:nvSpPr>
        <p:spPr>
          <a:xfrm>
            <a:off x="7895999" y="2879737"/>
            <a:ext cx="295800" cy="295800"/>
          </a:xfrm>
          <a:prstGeom prst="ellipse">
            <a:avLst/>
          </a:prstGeom>
          <a:solidFill>
            <a:srgbClr val="059669"/>
          </a:solidFill>
          <a:ln>
            <a:noFill/>
          </a:ln>
        </p:spPr>
        <p:txBody>
          <a:bodyPr anchorCtr="0" anchor="ctr" bIns="59150" lIns="59150" spcFirstLastPara="1" rIns="59150" wrap="square" tIns="59150">
            <a:noAutofit/>
          </a:bodyPr>
          <a:lstStyle/>
          <a:p>
            <a:pPr indent="0" lvl="0" marL="0" rtl="0" algn="l">
              <a:spcBef>
                <a:spcPts val="0"/>
              </a:spcBef>
              <a:spcAft>
                <a:spcPts val="0"/>
              </a:spcAft>
              <a:buNone/>
            </a:pPr>
            <a:r>
              <a:t/>
            </a:r>
            <a:endParaRPr/>
          </a:p>
        </p:txBody>
      </p:sp>
      <p:pic>
        <p:nvPicPr>
          <p:cNvPr descr="preencoded.png" id="232" name="Google Shape;232;g3f5203acc17_0_153"/>
          <p:cNvPicPr preferRelativeResize="0"/>
          <p:nvPr/>
        </p:nvPicPr>
        <p:blipFill rotWithShape="1">
          <a:blip r:embed="rId15">
            <a:alphaModFix/>
          </a:blip>
          <a:srcRect b="0" l="0" r="0" t="0"/>
          <a:stretch/>
        </p:blipFill>
        <p:spPr>
          <a:xfrm>
            <a:off x="7955169" y="2938907"/>
            <a:ext cx="177508" cy="177508"/>
          </a:xfrm>
          <a:prstGeom prst="rect">
            <a:avLst/>
          </a:prstGeom>
          <a:noFill/>
          <a:ln>
            <a:noFill/>
          </a:ln>
        </p:spPr>
      </p:pic>
      <p:sp>
        <p:nvSpPr>
          <p:cNvPr id="233" name="Google Shape;233;g3f5203acc17_0_153"/>
          <p:cNvSpPr/>
          <p:nvPr/>
        </p:nvSpPr>
        <p:spPr>
          <a:xfrm>
            <a:off x="7600150" y="3205168"/>
            <a:ext cx="887400" cy="22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PARADISE</a:t>
            </a:r>
            <a:endParaRPr b="0" i="0" sz="518"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518"/>
              <a:buFont typeface="Georgia"/>
              <a:buNone/>
            </a:pPr>
            <a:r>
              <a:rPr b="1" i="0" lang="en-US" sz="518" u="none" cap="none" strike="noStrike">
                <a:solidFill>
                  <a:srgbClr val="1E3A5F"/>
                </a:solidFill>
                <a:latin typeface="Georgia"/>
                <a:ea typeface="Georgia"/>
                <a:cs typeface="Georgia"/>
                <a:sym typeface="Georgia"/>
              </a:rPr>
              <a:t>Modeling</a:t>
            </a:r>
            <a:endParaRPr b="0" i="0" sz="518" u="none" cap="none" strike="noStrike">
              <a:solidFill>
                <a:srgbClr val="000000"/>
              </a:solidFill>
              <a:latin typeface="Calibri"/>
              <a:ea typeface="Calibri"/>
              <a:cs typeface="Calibri"/>
              <a:sym typeface="Calibri"/>
            </a:endParaRPr>
          </a:p>
        </p:txBody>
      </p:sp>
      <p:pic>
        <p:nvPicPr>
          <p:cNvPr descr="preencoded.png" id="234" name="Google Shape;234;g3f5203acc17_0_153"/>
          <p:cNvPicPr preferRelativeResize="0"/>
          <p:nvPr/>
        </p:nvPicPr>
        <p:blipFill rotWithShape="1">
          <a:blip r:embed="rId5">
            <a:alphaModFix/>
          </a:blip>
          <a:srcRect b="0" l="0" r="0" t="0"/>
          <a:stretch/>
        </p:blipFill>
        <p:spPr>
          <a:xfrm>
            <a:off x="7422629" y="2436043"/>
            <a:ext cx="177509" cy="71003"/>
          </a:xfrm>
          <a:prstGeom prst="rect">
            <a:avLst/>
          </a:prstGeom>
          <a:noFill/>
          <a:ln>
            <a:noFill/>
          </a:ln>
        </p:spPr>
      </p:pic>
      <p:pic>
        <p:nvPicPr>
          <p:cNvPr descr="preencoded.png" id="235" name="Google Shape;235;g3f5203acc17_0_153"/>
          <p:cNvPicPr preferRelativeResize="0"/>
          <p:nvPr/>
        </p:nvPicPr>
        <p:blipFill rotWithShape="1">
          <a:blip r:embed="rId5">
            <a:alphaModFix/>
          </a:blip>
          <a:srcRect b="0" l="0" r="0" t="0"/>
          <a:stretch/>
        </p:blipFill>
        <p:spPr>
          <a:xfrm rot="-2699986">
            <a:off x="7422630" y="2305833"/>
            <a:ext cx="177509" cy="71003"/>
          </a:xfrm>
          <a:prstGeom prst="rect">
            <a:avLst/>
          </a:prstGeom>
          <a:noFill/>
          <a:ln>
            <a:noFill/>
          </a:ln>
        </p:spPr>
      </p:pic>
      <p:pic>
        <p:nvPicPr>
          <p:cNvPr descr="preencoded.png" id="236" name="Google Shape;236;g3f5203acc17_0_153"/>
          <p:cNvPicPr preferRelativeResize="0"/>
          <p:nvPr/>
        </p:nvPicPr>
        <p:blipFill rotWithShape="1">
          <a:blip r:embed="rId5">
            <a:alphaModFix/>
          </a:blip>
          <a:srcRect b="0" l="0" r="0" t="0"/>
          <a:stretch/>
        </p:blipFill>
        <p:spPr>
          <a:xfrm rot="2699986">
            <a:off x="7422630" y="2564521"/>
            <a:ext cx="177509" cy="71003"/>
          </a:xfrm>
          <a:prstGeom prst="rect">
            <a:avLst/>
          </a:prstGeom>
          <a:noFill/>
          <a:ln>
            <a:noFill/>
          </a:ln>
        </p:spPr>
      </p:pic>
      <p:pic>
        <p:nvPicPr>
          <p:cNvPr descr="preencoded.png" id="237" name="Google Shape;237;g3f5203acc17_0_153"/>
          <p:cNvPicPr preferRelativeResize="0"/>
          <p:nvPr/>
        </p:nvPicPr>
        <p:blipFill rotWithShape="1">
          <a:blip r:embed="rId12">
            <a:alphaModFix/>
          </a:blip>
          <a:srcRect b="0" l="0" r="0" t="0"/>
          <a:stretch/>
        </p:blipFill>
        <p:spPr>
          <a:xfrm rot="-2962401">
            <a:off x="3143523" y="3012856"/>
            <a:ext cx="619061" cy="71002"/>
          </a:xfrm>
          <a:prstGeom prst="rect">
            <a:avLst/>
          </a:prstGeom>
          <a:noFill/>
          <a:ln>
            <a:noFill/>
          </a:ln>
        </p:spPr>
      </p:pic>
      <p:pic>
        <p:nvPicPr>
          <p:cNvPr descr="preencoded.png" id="238" name="Google Shape;238;g3f5203acc17_0_153"/>
          <p:cNvPicPr preferRelativeResize="0"/>
          <p:nvPr/>
        </p:nvPicPr>
        <p:blipFill rotWithShape="1">
          <a:blip r:embed="rId16">
            <a:alphaModFix/>
          </a:blip>
          <a:srcRect b="0" l="0" r="0" t="0"/>
          <a:stretch/>
        </p:blipFill>
        <p:spPr>
          <a:xfrm>
            <a:off x="6369982" y="2389645"/>
            <a:ext cx="562106" cy="61319"/>
          </a:xfrm>
          <a:prstGeom prst="rect">
            <a:avLst/>
          </a:prstGeom>
          <a:noFill/>
          <a:ln>
            <a:noFill/>
          </a:ln>
        </p:spPr>
      </p:pic>
      <p:sp>
        <p:nvSpPr>
          <p:cNvPr id="239" name="Google Shape;239;g3f5203acc17_0_153"/>
          <p:cNvSpPr/>
          <p:nvPr/>
        </p:nvSpPr>
        <p:spPr>
          <a:xfrm>
            <a:off x="6369982" y="2190357"/>
            <a:ext cx="562200" cy="1941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DC2626"/>
              </a:buClr>
              <a:buSzPts val="391"/>
              <a:buFont typeface="Calibri"/>
              <a:buNone/>
            </a:pPr>
            <a:r>
              <a:rPr b="1" i="1" lang="en-US" sz="391" u="none" cap="none" strike="noStrike">
                <a:solidFill>
                  <a:srgbClr val="DC2626"/>
                </a:solidFill>
                <a:latin typeface="Calibri"/>
                <a:ea typeface="Calibri"/>
                <a:cs typeface="Calibri"/>
                <a:sym typeface="Calibri"/>
              </a:rPr>
              <a:t>Remove 15 low-quality</a:t>
            </a:r>
            <a:endParaRPr b="0" i="0" sz="391"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DC2626"/>
              </a:buClr>
              <a:buSzPts val="391"/>
              <a:buFont typeface="Calibri"/>
              <a:buNone/>
            </a:pPr>
            <a:r>
              <a:rPr b="1" i="1" lang="en-US" sz="391" u="none" cap="none" strike="noStrike">
                <a:solidFill>
                  <a:srgbClr val="DC2626"/>
                </a:solidFill>
                <a:latin typeface="Calibri"/>
                <a:ea typeface="Calibri"/>
                <a:cs typeface="Calibri"/>
                <a:sym typeface="Calibri"/>
              </a:rPr>
              <a:t>responses</a:t>
            </a:r>
            <a:endParaRPr b="0" i="0" sz="391" u="none" cap="none" strike="noStrike">
              <a:solidFill>
                <a:srgbClr val="000000"/>
              </a:solidFill>
              <a:latin typeface="Calibri"/>
              <a:ea typeface="Calibri"/>
              <a:cs typeface="Calibri"/>
              <a:sym typeface="Calibri"/>
            </a:endParaRPr>
          </a:p>
        </p:txBody>
      </p:sp>
      <p:sp>
        <p:nvSpPr>
          <p:cNvPr id="240" name="Google Shape;240;g3f5203acc17_0_153"/>
          <p:cNvSpPr/>
          <p:nvPr/>
        </p:nvSpPr>
        <p:spPr>
          <a:xfrm>
            <a:off x="6957639" y="2267006"/>
            <a:ext cx="306600" cy="306600"/>
          </a:xfrm>
          <a:prstGeom prst="ellipse">
            <a:avLst/>
          </a:prstGeom>
          <a:solidFill>
            <a:srgbClr val="7C3AED"/>
          </a:solidFill>
          <a:ln>
            <a:noFill/>
          </a:ln>
        </p:spPr>
        <p:txBody>
          <a:bodyPr anchorCtr="0" anchor="ctr" bIns="51075" lIns="51075" spcFirstLastPara="1" rIns="51075" wrap="square" tIns="51075">
            <a:noAutofit/>
          </a:bodyPr>
          <a:lstStyle/>
          <a:p>
            <a:pPr indent="0" lvl="0" marL="0" rtl="0" algn="l">
              <a:spcBef>
                <a:spcPts val="0"/>
              </a:spcBef>
              <a:spcAft>
                <a:spcPts val="0"/>
              </a:spcAft>
              <a:buNone/>
            </a:pPr>
            <a:r>
              <a:t/>
            </a:r>
            <a:endParaRPr/>
          </a:p>
        </p:txBody>
      </p:sp>
      <p:pic>
        <p:nvPicPr>
          <p:cNvPr descr="preencoded.png" id="241" name="Google Shape;241;g3f5203acc17_0_153"/>
          <p:cNvPicPr preferRelativeResize="0"/>
          <p:nvPr/>
        </p:nvPicPr>
        <p:blipFill rotWithShape="1">
          <a:blip r:embed="rId17">
            <a:alphaModFix/>
          </a:blip>
          <a:srcRect b="0" l="0" r="0" t="0"/>
          <a:stretch/>
        </p:blipFill>
        <p:spPr>
          <a:xfrm>
            <a:off x="7018959" y="2328325"/>
            <a:ext cx="183958" cy="183958"/>
          </a:xfrm>
          <a:prstGeom prst="rect">
            <a:avLst/>
          </a:prstGeom>
          <a:noFill/>
          <a:ln>
            <a:noFill/>
          </a:ln>
        </p:spPr>
      </p:pic>
      <p:sp>
        <p:nvSpPr>
          <p:cNvPr id="242" name="Google Shape;242;g3f5203acc17_0_153"/>
          <p:cNvSpPr/>
          <p:nvPr/>
        </p:nvSpPr>
        <p:spPr>
          <a:xfrm>
            <a:off x="6727686" y="2614483"/>
            <a:ext cx="766500" cy="204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3A5F"/>
              </a:buClr>
              <a:buSzPts val="475"/>
              <a:buFont typeface="Georgia"/>
              <a:buNone/>
            </a:pPr>
            <a:r>
              <a:rPr b="1" i="0" lang="en-US" sz="475" u="none" cap="none" strike="noStrike">
                <a:solidFill>
                  <a:srgbClr val="1E3A5F"/>
                </a:solidFill>
                <a:latin typeface="Georgia"/>
                <a:ea typeface="Georgia"/>
                <a:cs typeface="Georgia"/>
                <a:sym typeface="Georgia"/>
              </a:rPr>
              <a:t>Annotation</a:t>
            </a:r>
            <a:endParaRPr b="0" i="0" sz="475"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E3A5F"/>
              </a:buClr>
              <a:buSzPts val="475"/>
              <a:buFont typeface="Georgia"/>
              <a:buNone/>
            </a:pPr>
            <a:r>
              <a:rPr b="1" i="0" lang="en-US" sz="475" u="none" cap="none" strike="noStrike">
                <a:solidFill>
                  <a:srgbClr val="1E3A5F"/>
                </a:solidFill>
                <a:latin typeface="Georgia"/>
                <a:ea typeface="Georgia"/>
                <a:cs typeface="Georgia"/>
                <a:sym typeface="Georgia"/>
              </a:rPr>
              <a:t>Process</a:t>
            </a:r>
            <a:endParaRPr b="0" i="0" sz="475" u="none" cap="none" strike="noStrike">
              <a:solidFill>
                <a:srgbClr val="000000"/>
              </a:solidFill>
              <a:latin typeface="Calibri"/>
              <a:ea typeface="Calibri"/>
              <a:cs typeface="Calibri"/>
              <a:sym typeface="Calibri"/>
            </a:endParaRPr>
          </a:p>
        </p:txBody>
      </p:sp>
      <p:pic>
        <p:nvPicPr>
          <p:cNvPr id="243" name="Google Shape;243;g3f5203acc17_0_153"/>
          <p:cNvPicPr preferRelativeResize="0"/>
          <p:nvPr/>
        </p:nvPicPr>
        <p:blipFill>
          <a:blip r:embed="rId18">
            <a:alphaModFix/>
          </a:blip>
          <a:stretch>
            <a:fillRect/>
          </a:stretch>
        </p:blipFill>
        <p:spPr>
          <a:xfrm>
            <a:off x="6455625" y="134425"/>
            <a:ext cx="1244825" cy="365750"/>
          </a:xfrm>
          <a:prstGeom prst="rect">
            <a:avLst/>
          </a:prstGeom>
          <a:noFill/>
          <a:ln>
            <a:noFill/>
          </a:ln>
        </p:spPr>
      </p:pic>
      <p:pic>
        <p:nvPicPr>
          <p:cNvPr id="244" name="Google Shape;244;g3f5203acc17_0_153"/>
          <p:cNvPicPr preferRelativeResize="0"/>
          <p:nvPr/>
        </p:nvPicPr>
        <p:blipFill>
          <a:blip r:embed="rId19">
            <a:alphaModFix/>
          </a:blip>
          <a:stretch>
            <a:fillRect/>
          </a:stretch>
        </p:blipFill>
        <p:spPr>
          <a:xfrm>
            <a:off x="5973275" y="134425"/>
            <a:ext cx="364676" cy="3657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descr="umaine_logo.png" id="250" name="Google Shape;250;p17"/>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251" name="Google Shape;251;p17"/>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Building the NFR Corpus</a:t>
            </a:r>
            <a:endParaRPr b="0" i="0" sz="1300" u="none" cap="none" strike="noStrike">
              <a:solidFill>
                <a:schemeClr val="dk1"/>
              </a:solidFill>
              <a:latin typeface="Calibri"/>
              <a:ea typeface="Calibri"/>
              <a:cs typeface="Calibri"/>
              <a:sym typeface="Calibri"/>
            </a:endParaRPr>
          </a:p>
        </p:txBody>
      </p:sp>
      <p:cxnSp>
        <p:nvCxnSpPr>
          <p:cNvPr id="253" name="Google Shape;253;p17"/>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254" name="Google Shape;254;p17"/>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255" name="Google Shape;255;p17"/>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7</a:t>
            </a:r>
            <a:endParaRPr b="0" i="0" sz="700" u="none" cap="none" strike="noStrike">
              <a:solidFill>
                <a:schemeClr val="dk1"/>
              </a:solidFill>
              <a:latin typeface="Calibri"/>
              <a:ea typeface="Calibri"/>
              <a:cs typeface="Calibri"/>
              <a:sym typeface="Calibri"/>
            </a:endParaRPr>
          </a:p>
        </p:txBody>
      </p:sp>
      <p:sp>
        <p:nvSpPr>
          <p:cNvPr id="256" name="Google Shape;256;p17"/>
          <p:cNvSpPr/>
          <p:nvPr/>
        </p:nvSpPr>
        <p:spPr>
          <a:xfrm>
            <a:off x="1417320" y="1097280"/>
            <a:ext cx="41952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
          <p:cNvSpPr/>
          <p:nvPr/>
        </p:nvSpPr>
        <p:spPr>
          <a:xfrm>
            <a:off x="1600200" y="1097280"/>
            <a:ext cx="39210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lang="en-US" sz="2600">
                <a:solidFill>
                  <a:srgbClr val="FFFFFF"/>
                </a:solidFill>
              </a:rPr>
              <a:t>140 NFRs</a:t>
            </a:r>
            <a:endParaRPr b="0" i="0" sz="2600" u="none" cap="none" strike="noStrike">
              <a:solidFill>
                <a:schemeClr val="dk1"/>
              </a:solidFill>
              <a:latin typeface="Calibri"/>
              <a:ea typeface="Calibri"/>
              <a:cs typeface="Calibri"/>
              <a:sym typeface="Calibri"/>
            </a:endParaRPr>
          </a:p>
        </p:txBody>
      </p:sp>
      <p:sp>
        <p:nvSpPr>
          <p:cNvPr id="258" name="Google Shape;258;p17"/>
          <p:cNvSpPr/>
          <p:nvPr/>
        </p:nvSpPr>
        <p:spPr>
          <a:xfrm>
            <a:off x="5806440" y="109728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extracted from HIPAA by </a:t>
            </a:r>
            <a:r>
              <a:rPr lang="en-US" sz="1000">
                <a:solidFill>
                  <a:srgbClr val="8A8A8A"/>
                </a:solidFill>
              </a:rPr>
              <a:t>two</a:t>
            </a:r>
            <a:r>
              <a:rPr b="0" i="0" lang="en-US" sz="1000" u="none" cap="none" strike="noStrike">
                <a:solidFill>
                  <a:srgbClr val="8A8A8A"/>
                </a:solidFill>
                <a:latin typeface="Arial"/>
                <a:ea typeface="Arial"/>
                <a:cs typeface="Arial"/>
                <a:sym typeface="Arial"/>
              </a:rPr>
              <a:t> privacy &amp; SE experts</a:t>
            </a:r>
            <a:endParaRPr b="0" i="0" sz="1000" u="none" cap="none" strike="noStrike">
              <a:solidFill>
                <a:schemeClr val="dk1"/>
              </a:solidFill>
              <a:latin typeface="Calibri"/>
              <a:ea typeface="Calibri"/>
              <a:cs typeface="Calibri"/>
              <a:sym typeface="Calibri"/>
            </a:endParaRPr>
          </a:p>
        </p:txBody>
      </p:sp>
      <p:pic>
        <p:nvPicPr>
          <p:cNvPr id="259" name="Google Shape;259;p17"/>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260" name="Google Shape;260;p17"/>
          <p:cNvPicPr preferRelativeResize="0"/>
          <p:nvPr/>
        </p:nvPicPr>
        <p:blipFill>
          <a:blip r:embed="rId5">
            <a:alphaModFix/>
          </a:blip>
          <a:stretch>
            <a:fillRect/>
          </a:stretch>
        </p:blipFill>
        <p:spPr>
          <a:xfrm>
            <a:off x="5973275" y="134425"/>
            <a:ext cx="364676" cy="365752"/>
          </a:xfrm>
          <a:prstGeom prst="rect">
            <a:avLst/>
          </a:prstGeom>
          <a:noFill/>
          <a:ln>
            <a:noFill/>
          </a:ln>
        </p:spPr>
      </p:pic>
      <p:sp>
        <p:nvSpPr>
          <p:cNvPr id="261" name="Google Shape;261;p17"/>
          <p:cNvSpPr/>
          <p:nvPr/>
        </p:nvSpPr>
        <p:spPr>
          <a:xfrm>
            <a:off x="1005850" y="2204775"/>
            <a:ext cx="7772400" cy="1154100"/>
          </a:xfrm>
          <a:prstGeom prst="roundRect">
            <a:avLst>
              <a:gd fmla="val 5000"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1234450" y="2277927"/>
            <a:ext cx="7315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00"/>
              <a:buFont typeface="Arial"/>
              <a:buNone/>
            </a:pPr>
            <a:r>
              <a:rPr b="1" lang="en-US" sz="800">
                <a:solidFill>
                  <a:srgbClr val="222222"/>
                </a:solidFill>
              </a:rPr>
              <a:t>HIPAA</a:t>
            </a:r>
            <a:endParaRPr b="0" i="0" sz="800" u="none" cap="none" strike="noStrike">
              <a:solidFill>
                <a:schemeClr val="dk1"/>
              </a:solidFill>
              <a:latin typeface="Calibri"/>
              <a:ea typeface="Calibri"/>
              <a:cs typeface="Calibri"/>
              <a:sym typeface="Calibri"/>
            </a:endParaRPr>
          </a:p>
        </p:txBody>
      </p:sp>
      <p:sp>
        <p:nvSpPr>
          <p:cNvPr id="263" name="Google Shape;263;p17"/>
          <p:cNvSpPr/>
          <p:nvPr/>
        </p:nvSpPr>
        <p:spPr>
          <a:xfrm>
            <a:off x="1234450" y="2533959"/>
            <a:ext cx="7315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t/>
            </a:r>
            <a:endParaRPr sz="1300">
              <a:solidFill>
                <a:srgbClr val="222222"/>
              </a:solidFill>
            </a:endParaRPr>
          </a:p>
          <a:p>
            <a:pPr indent="0" lvl="0" marL="0" marR="0" rtl="0" algn="l">
              <a:spcBef>
                <a:spcPts val="0"/>
              </a:spcBef>
              <a:spcAft>
                <a:spcPts val="0"/>
              </a:spcAft>
              <a:buClr>
                <a:srgbClr val="222222"/>
              </a:buClr>
              <a:buSzPts val="1300"/>
              <a:buFont typeface="Arial"/>
              <a:buNone/>
            </a:pPr>
            <a:r>
              <a:rPr lang="en-US" sz="1300">
                <a:solidFill>
                  <a:srgbClr val="222222"/>
                </a:solidFill>
              </a:rPr>
              <a:t>HIPAA is a U.S. federal regulation that establishes standards for protecting the privacy and security of individually identifiable health information, known as electronic protected health information (ePHI). We use HIPAA as a representative domain of regulatory NFRs.</a:t>
            </a:r>
            <a:endParaRPr b="0" i="0" sz="1300" u="none" cap="none" strike="noStrike">
              <a:solidFill>
                <a:schemeClr val="dk1"/>
              </a:solidFill>
              <a:latin typeface="Calibri"/>
              <a:ea typeface="Calibri"/>
              <a:cs typeface="Calibri"/>
              <a:sym typeface="Calibri"/>
            </a:endParaRPr>
          </a:p>
        </p:txBody>
      </p:sp>
      <p:sp>
        <p:nvSpPr>
          <p:cNvPr id="264" name="Google Shape;264;p17"/>
          <p:cNvSpPr/>
          <p:nvPr/>
        </p:nvSpPr>
        <p:spPr>
          <a:xfrm>
            <a:off x="1051595" y="3685543"/>
            <a:ext cx="722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Arial"/>
              <a:buNone/>
            </a:pPr>
            <a:r>
              <a:rPr b="0" i="1" lang="en-US" sz="1000" u="none" cap="none" strike="noStrike">
                <a:solidFill>
                  <a:srgbClr val="8A8A8A"/>
                </a:solidFill>
                <a:latin typeface="Arial"/>
                <a:ea typeface="Arial"/>
                <a:cs typeface="Arial"/>
                <a:sym typeface="Arial"/>
              </a:rPr>
              <a:t>e.g.,  “The system shall ensure the integrity of ePHI that it creates.”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umaine_logo.png" id="270" name="Google Shape;270;p20"/>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271" name="Google Shape;271;p20"/>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Codebase &amp; Ground Truth</a:t>
            </a:r>
            <a:endParaRPr b="0" i="0" sz="1300" u="none" cap="none" strike="noStrike">
              <a:solidFill>
                <a:schemeClr val="dk1"/>
              </a:solidFill>
              <a:latin typeface="Calibri"/>
              <a:ea typeface="Calibri"/>
              <a:cs typeface="Calibri"/>
              <a:sym typeface="Calibri"/>
            </a:endParaRPr>
          </a:p>
        </p:txBody>
      </p:sp>
      <p:cxnSp>
        <p:nvCxnSpPr>
          <p:cNvPr id="273" name="Google Shape;273;p20"/>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274" name="Google Shape;274;p20"/>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275" name="Google Shape;275;p20"/>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8</a:t>
            </a:r>
            <a:endParaRPr b="0" i="0" sz="700" u="none" cap="none" strike="noStrike">
              <a:solidFill>
                <a:schemeClr val="dk1"/>
              </a:solidFill>
              <a:latin typeface="Calibri"/>
              <a:ea typeface="Calibri"/>
              <a:cs typeface="Calibri"/>
              <a:sym typeface="Calibri"/>
            </a:endParaRPr>
          </a:p>
        </p:txBody>
      </p:sp>
      <p:sp>
        <p:nvSpPr>
          <p:cNvPr id="276" name="Google Shape;276;p20"/>
          <p:cNvSpPr/>
          <p:nvPr/>
        </p:nvSpPr>
        <p:spPr>
          <a:xfrm>
            <a:off x="685800" y="960120"/>
            <a:ext cx="7772400" cy="566928"/>
          </a:xfrm>
          <a:prstGeom prst="roundRect">
            <a:avLst>
              <a:gd fmla="val 8065"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914400" y="960120"/>
            <a:ext cx="7315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iTrust</a:t>
            </a:r>
            <a:r>
              <a:rPr lang="en-US" sz="1200">
                <a:solidFill>
                  <a:srgbClr val="222222"/>
                </a:solidFill>
              </a:rPr>
              <a:t>:</a:t>
            </a:r>
            <a:r>
              <a:rPr b="0" i="0" lang="en-US" sz="1200" u="none" cap="none" strike="noStrike">
                <a:solidFill>
                  <a:srgbClr val="222222"/>
                </a:solidFill>
                <a:latin typeface="Arial"/>
                <a:ea typeface="Arial"/>
                <a:cs typeface="Arial"/>
                <a:sym typeface="Arial"/>
              </a:rPr>
              <a:t>  an EHR system built as a testbed for HIPAA security &amp; privacy requirements</a:t>
            </a:r>
            <a:endParaRPr b="0" i="0" sz="1200" u="none" cap="none" strike="noStrike">
              <a:solidFill>
                <a:schemeClr val="dk1"/>
              </a:solidFill>
              <a:latin typeface="Calibri"/>
              <a:ea typeface="Calibri"/>
              <a:cs typeface="Calibri"/>
              <a:sym typeface="Calibri"/>
            </a:endParaRPr>
          </a:p>
        </p:txBody>
      </p:sp>
      <p:sp>
        <p:nvSpPr>
          <p:cNvPr id="278" name="Google Shape;278;p20"/>
          <p:cNvSpPr/>
          <p:nvPr/>
        </p:nvSpPr>
        <p:spPr>
          <a:xfrm>
            <a:off x="685800"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685800"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685800"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WHAT</a:t>
            </a:r>
            <a:endParaRPr b="0" i="0" sz="1000" u="none" cap="none" strike="noStrike">
              <a:solidFill>
                <a:schemeClr val="dk1"/>
              </a:solidFill>
              <a:latin typeface="Calibri"/>
              <a:ea typeface="Calibri"/>
              <a:cs typeface="Calibri"/>
              <a:sym typeface="Calibri"/>
            </a:endParaRPr>
          </a:p>
        </p:txBody>
      </p:sp>
      <p:sp>
        <p:nvSpPr>
          <p:cNvPr id="281" name="Google Shape;281;p20"/>
          <p:cNvSpPr/>
          <p:nvPr/>
        </p:nvSpPr>
        <p:spPr>
          <a:xfrm>
            <a:off x="822960"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Satisfaction level</a:t>
            </a:r>
            <a:endParaRPr b="0" i="0" sz="1200" u="none" cap="none" strike="noStrike">
              <a:solidFill>
                <a:schemeClr val="dk1"/>
              </a:solidFill>
              <a:latin typeface="Calibri"/>
              <a:ea typeface="Calibri"/>
              <a:cs typeface="Calibri"/>
              <a:sym typeface="Calibri"/>
            </a:endParaRPr>
          </a:p>
        </p:txBody>
      </p:sp>
      <p:sp>
        <p:nvSpPr>
          <p:cNvPr id="282" name="Google Shape;282;p20"/>
          <p:cNvSpPr/>
          <p:nvPr/>
        </p:nvSpPr>
        <p:spPr>
          <a:xfrm>
            <a:off x="822960"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Satisfied / Weakly Satisfied /</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Weakly Denied / Denied</a:t>
            </a:r>
            <a:endParaRPr b="0" i="0" sz="900" u="none" cap="none" strike="noStrike">
              <a:solidFill>
                <a:schemeClr val="dk1"/>
              </a:solidFill>
              <a:latin typeface="Calibri"/>
              <a:ea typeface="Calibri"/>
              <a:cs typeface="Calibri"/>
              <a:sym typeface="Calibri"/>
            </a:endParaRPr>
          </a:p>
        </p:txBody>
      </p:sp>
      <p:pic>
        <p:nvPicPr>
          <p:cNvPr id="283" name="Google Shape;283;p20"/>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284" name="Google Shape;284;p20"/>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pic>
        <p:nvPicPr>
          <p:cNvPr descr="umaine_logo.png" id="290" name="Google Shape;290;p21"/>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291" name="Google Shape;291;p21"/>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1"/>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Codebase &amp; Ground Truth</a:t>
            </a:r>
            <a:endParaRPr b="0" i="0" sz="1300" u="none" cap="none" strike="noStrike">
              <a:solidFill>
                <a:schemeClr val="dk1"/>
              </a:solidFill>
              <a:latin typeface="Calibri"/>
              <a:ea typeface="Calibri"/>
              <a:cs typeface="Calibri"/>
              <a:sym typeface="Calibri"/>
            </a:endParaRPr>
          </a:p>
        </p:txBody>
      </p:sp>
      <p:cxnSp>
        <p:nvCxnSpPr>
          <p:cNvPr id="293" name="Google Shape;293;p21"/>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294" name="Google Shape;294;p21"/>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295" name="Google Shape;295;p21"/>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8</a:t>
            </a:r>
            <a:endParaRPr b="0" i="0" sz="700" u="none" cap="none" strike="noStrike">
              <a:solidFill>
                <a:schemeClr val="dk1"/>
              </a:solidFill>
              <a:latin typeface="Calibri"/>
              <a:ea typeface="Calibri"/>
              <a:cs typeface="Calibri"/>
              <a:sym typeface="Calibri"/>
            </a:endParaRPr>
          </a:p>
        </p:txBody>
      </p:sp>
      <p:sp>
        <p:nvSpPr>
          <p:cNvPr id="296" name="Google Shape;296;p21"/>
          <p:cNvSpPr/>
          <p:nvPr/>
        </p:nvSpPr>
        <p:spPr>
          <a:xfrm>
            <a:off x="685800" y="960120"/>
            <a:ext cx="7772400" cy="566928"/>
          </a:xfrm>
          <a:prstGeom prst="roundRect">
            <a:avLst>
              <a:gd fmla="val 8065"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a:off x="914400" y="960120"/>
            <a:ext cx="7315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iTrust</a:t>
            </a:r>
            <a:r>
              <a:rPr lang="en-US" sz="1200">
                <a:solidFill>
                  <a:srgbClr val="222222"/>
                </a:solidFill>
              </a:rPr>
              <a:t>:</a:t>
            </a:r>
            <a:r>
              <a:rPr b="0" i="0" lang="en-US" sz="1200" u="none" cap="none" strike="noStrike">
                <a:solidFill>
                  <a:srgbClr val="222222"/>
                </a:solidFill>
                <a:latin typeface="Arial"/>
                <a:ea typeface="Arial"/>
                <a:cs typeface="Arial"/>
                <a:sym typeface="Arial"/>
              </a:rPr>
              <a:t> an EHR system built as a testbed for HIPAA security &amp; privacy requirements</a:t>
            </a:r>
            <a:endParaRPr b="0" i="0" sz="1200" u="none" cap="none" strike="noStrike">
              <a:solidFill>
                <a:schemeClr val="dk1"/>
              </a:solidFill>
              <a:latin typeface="Calibri"/>
              <a:ea typeface="Calibri"/>
              <a:cs typeface="Calibri"/>
              <a:sym typeface="Calibri"/>
            </a:endParaRPr>
          </a:p>
        </p:txBody>
      </p:sp>
      <p:sp>
        <p:nvSpPr>
          <p:cNvPr id="298" name="Google Shape;298;p21"/>
          <p:cNvSpPr/>
          <p:nvPr/>
        </p:nvSpPr>
        <p:spPr>
          <a:xfrm>
            <a:off x="685800"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1"/>
          <p:cNvSpPr/>
          <p:nvPr/>
        </p:nvSpPr>
        <p:spPr>
          <a:xfrm>
            <a:off x="685800"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685800"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WHAT</a:t>
            </a:r>
            <a:endParaRPr b="0" i="0" sz="1000" u="none" cap="none" strike="noStrike">
              <a:solidFill>
                <a:schemeClr val="dk1"/>
              </a:solidFill>
              <a:latin typeface="Calibri"/>
              <a:ea typeface="Calibri"/>
              <a:cs typeface="Calibri"/>
              <a:sym typeface="Calibri"/>
            </a:endParaRPr>
          </a:p>
        </p:txBody>
      </p:sp>
      <p:sp>
        <p:nvSpPr>
          <p:cNvPr id="301" name="Google Shape;301;p21"/>
          <p:cNvSpPr/>
          <p:nvPr/>
        </p:nvSpPr>
        <p:spPr>
          <a:xfrm>
            <a:off x="822960"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Satisfaction level</a:t>
            </a:r>
            <a:endParaRPr b="0" i="0" sz="1200" u="none" cap="none" strike="noStrike">
              <a:solidFill>
                <a:schemeClr val="dk1"/>
              </a:solidFill>
              <a:latin typeface="Calibri"/>
              <a:ea typeface="Calibri"/>
              <a:cs typeface="Calibri"/>
              <a:sym typeface="Calibri"/>
            </a:endParaRPr>
          </a:p>
        </p:txBody>
      </p:sp>
      <p:sp>
        <p:nvSpPr>
          <p:cNvPr id="302" name="Google Shape;302;p21"/>
          <p:cNvSpPr/>
          <p:nvPr/>
        </p:nvSpPr>
        <p:spPr>
          <a:xfrm>
            <a:off x="822960"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Satisfied / Weakly Satisfied /</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Weakly Denied / Denied</a:t>
            </a:r>
            <a:endParaRPr b="0" i="0" sz="900" u="none" cap="none" strike="noStrike">
              <a:solidFill>
                <a:schemeClr val="dk1"/>
              </a:solidFill>
              <a:latin typeface="Calibri"/>
              <a:ea typeface="Calibri"/>
              <a:cs typeface="Calibri"/>
              <a:sym typeface="Calibri"/>
            </a:endParaRPr>
          </a:p>
        </p:txBody>
      </p:sp>
      <p:sp>
        <p:nvSpPr>
          <p:cNvPr id="303" name="Google Shape;303;p21"/>
          <p:cNvSpPr/>
          <p:nvPr/>
        </p:nvSpPr>
        <p:spPr>
          <a:xfrm>
            <a:off x="3355848"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
          <p:cNvSpPr/>
          <p:nvPr/>
        </p:nvSpPr>
        <p:spPr>
          <a:xfrm>
            <a:off x="3355848"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3355848"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WHY</a:t>
            </a:r>
            <a:endParaRPr b="0" i="0" sz="1000" u="none" cap="none" strike="noStrike">
              <a:solidFill>
                <a:schemeClr val="dk1"/>
              </a:solidFill>
              <a:latin typeface="Calibri"/>
              <a:ea typeface="Calibri"/>
              <a:cs typeface="Calibri"/>
              <a:sym typeface="Calibri"/>
            </a:endParaRPr>
          </a:p>
        </p:txBody>
      </p:sp>
      <p:sp>
        <p:nvSpPr>
          <p:cNvPr id="306" name="Google Shape;306;p21"/>
          <p:cNvSpPr/>
          <p:nvPr/>
        </p:nvSpPr>
        <p:spPr>
          <a:xfrm>
            <a:off x="3493008"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Reasoning</a:t>
            </a:r>
            <a:endParaRPr b="0" i="0" sz="1200" u="none" cap="none" strike="noStrike">
              <a:solidFill>
                <a:schemeClr val="dk1"/>
              </a:solidFill>
              <a:latin typeface="Calibri"/>
              <a:ea typeface="Calibri"/>
              <a:cs typeface="Calibri"/>
              <a:sym typeface="Calibri"/>
            </a:endParaRPr>
          </a:p>
        </p:txBody>
      </p:sp>
      <p:sp>
        <p:nvSpPr>
          <p:cNvPr id="307" name="Google Shape;307;p21"/>
          <p:cNvSpPr/>
          <p:nvPr/>
        </p:nvSpPr>
        <p:spPr>
          <a:xfrm>
            <a:off x="3493008"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justification</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for the level</a:t>
            </a:r>
            <a:endParaRPr b="0" i="0" sz="900" u="none" cap="none" strike="noStrike">
              <a:solidFill>
                <a:schemeClr val="dk1"/>
              </a:solidFill>
              <a:latin typeface="Calibri"/>
              <a:ea typeface="Calibri"/>
              <a:cs typeface="Calibri"/>
              <a:sym typeface="Calibri"/>
            </a:endParaRPr>
          </a:p>
        </p:txBody>
      </p:sp>
      <p:pic>
        <p:nvPicPr>
          <p:cNvPr id="308" name="Google Shape;308;p21"/>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309" name="Google Shape;309;p21"/>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pic>
        <p:nvPicPr>
          <p:cNvPr descr="umaine_logo.png" id="315" name="Google Shape;315;p22"/>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316" name="Google Shape;316;p22"/>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Codebase &amp; Ground Truth</a:t>
            </a:r>
            <a:endParaRPr b="0" i="0" sz="1300" u="none" cap="none" strike="noStrike">
              <a:solidFill>
                <a:schemeClr val="dk1"/>
              </a:solidFill>
              <a:latin typeface="Calibri"/>
              <a:ea typeface="Calibri"/>
              <a:cs typeface="Calibri"/>
              <a:sym typeface="Calibri"/>
            </a:endParaRPr>
          </a:p>
        </p:txBody>
      </p:sp>
      <p:cxnSp>
        <p:nvCxnSpPr>
          <p:cNvPr id="318" name="Google Shape;318;p22"/>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319" name="Google Shape;319;p22"/>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320" name="Google Shape;320;p22"/>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8</a:t>
            </a:r>
            <a:endParaRPr b="0" i="0" sz="700" u="none" cap="none" strike="noStrike">
              <a:solidFill>
                <a:schemeClr val="dk1"/>
              </a:solidFill>
              <a:latin typeface="Calibri"/>
              <a:ea typeface="Calibri"/>
              <a:cs typeface="Calibri"/>
              <a:sym typeface="Calibri"/>
            </a:endParaRPr>
          </a:p>
        </p:txBody>
      </p:sp>
      <p:sp>
        <p:nvSpPr>
          <p:cNvPr id="321" name="Google Shape;321;p22"/>
          <p:cNvSpPr/>
          <p:nvPr/>
        </p:nvSpPr>
        <p:spPr>
          <a:xfrm>
            <a:off x="685800" y="960120"/>
            <a:ext cx="7772400" cy="566928"/>
          </a:xfrm>
          <a:prstGeom prst="roundRect">
            <a:avLst>
              <a:gd fmla="val 8065"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914400" y="960120"/>
            <a:ext cx="7315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iTrust</a:t>
            </a:r>
            <a:r>
              <a:rPr lang="en-US" sz="1200">
                <a:solidFill>
                  <a:srgbClr val="222222"/>
                </a:solidFill>
              </a:rPr>
              <a:t>:</a:t>
            </a:r>
            <a:r>
              <a:rPr b="0" i="0" lang="en-US" sz="1200" u="none" cap="none" strike="noStrike">
                <a:solidFill>
                  <a:srgbClr val="222222"/>
                </a:solidFill>
                <a:latin typeface="Arial"/>
                <a:ea typeface="Arial"/>
                <a:cs typeface="Arial"/>
                <a:sym typeface="Arial"/>
              </a:rPr>
              <a:t>  an EHR system built as a testbed for HIPAA security &amp; privacy requirements</a:t>
            </a:r>
            <a:endParaRPr b="0" i="0" sz="1200" u="none" cap="none" strike="noStrike">
              <a:solidFill>
                <a:schemeClr val="dk1"/>
              </a:solidFill>
              <a:latin typeface="Calibri"/>
              <a:ea typeface="Calibri"/>
              <a:cs typeface="Calibri"/>
              <a:sym typeface="Calibri"/>
            </a:endParaRPr>
          </a:p>
        </p:txBody>
      </p:sp>
      <p:sp>
        <p:nvSpPr>
          <p:cNvPr id="323" name="Google Shape;323;p22"/>
          <p:cNvSpPr/>
          <p:nvPr/>
        </p:nvSpPr>
        <p:spPr>
          <a:xfrm>
            <a:off x="685800"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685800"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685800"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WHAT</a:t>
            </a:r>
            <a:endParaRPr b="0" i="0" sz="1000" u="none" cap="none" strike="noStrike">
              <a:solidFill>
                <a:schemeClr val="dk1"/>
              </a:solidFill>
              <a:latin typeface="Calibri"/>
              <a:ea typeface="Calibri"/>
              <a:cs typeface="Calibri"/>
              <a:sym typeface="Calibri"/>
            </a:endParaRPr>
          </a:p>
        </p:txBody>
      </p:sp>
      <p:sp>
        <p:nvSpPr>
          <p:cNvPr id="326" name="Google Shape;326;p22"/>
          <p:cNvSpPr/>
          <p:nvPr/>
        </p:nvSpPr>
        <p:spPr>
          <a:xfrm>
            <a:off x="822960"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Satisfaction level</a:t>
            </a:r>
            <a:endParaRPr b="0" i="0" sz="1200" u="none" cap="none" strike="noStrike">
              <a:solidFill>
                <a:schemeClr val="dk1"/>
              </a:solidFill>
              <a:latin typeface="Calibri"/>
              <a:ea typeface="Calibri"/>
              <a:cs typeface="Calibri"/>
              <a:sym typeface="Calibri"/>
            </a:endParaRPr>
          </a:p>
        </p:txBody>
      </p:sp>
      <p:sp>
        <p:nvSpPr>
          <p:cNvPr id="327" name="Google Shape;327;p22"/>
          <p:cNvSpPr/>
          <p:nvPr/>
        </p:nvSpPr>
        <p:spPr>
          <a:xfrm>
            <a:off x="822960"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Satisfied / Weakly Satisfied /</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Weakly Denied / Denied</a:t>
            </a:r>
            <a:endParaRPr b="0" i="0" sz="900" u="none" cap="none" strike="noStrike">
              <a:solidFill>
                <a:schemeClr val="dk1"/>
              </a:solidFill>
              <a:latin typeface="Calibri"/>
              <a:ea typeface="Calibri"/>
              <a:cs typeface="Calibri"/>
              <a:sym typeface="Calibri"/>
            </a:endParaRPr>
          </a:p>
        </p:txBody>
      </p:sp>
      <p:sp>
        <p:nvSpPr>
          <p:cNvPr id="328" name="Google Shape;328;p22"/>
          <p:cNvSpPr/>
          <p:nvPr/>
        </p:nvSpPr>
        <p:spPr>
          <a:xfrm>
            <a:off x="3355848"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3355848"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3355848"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WHY</a:t>
            </a:r>
            <a:endParaRPr b="0" i="0" sz="1000" u="none" cap="none" strike="noStrike">
              <a:solidFill>
                <a:schemeClr val="dk1"/>
              </a:solidFill>
              <a:latin typeface="Calibri"/>
              <a:ea typeface="Calibri"/>
              <a:cs typeface="Calibri"/>
              <a:sym typeface="Calibri"/>
            </a:endParaRPr>
          </a:p>
        </p:txBody>
      </p:sp>
      <p:sp>
        <p:nvSpPr>
          <p:cNvPr id="331" name="Google Shape;331;p22"/>
          <p:cNvSpPr/>
          <p:nvPr/>
        </p:nvSpPr>
        <p:spPr>
          <a:xfrm>
            <a:off x="3493008"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Reasoning</a:t>
            </a:r>
            <a:endParaRPr b="0" i="0" sz="1200" u="none" cap="none" strike="noStrike">
              <a:solidFill>
                <a:schemeClr val="dk1"/>
              </a:solidFill>
              <a:latin typeface="Calibri"/>
              <a:ea typeface="Calibri"/>
              <a:cs typeface="Calibri"/>
              <a:sym typeface="Calibri"/>
            </a:endParaRPr>
          </a:p>
        </p:txBody>
      </p:sp>
      <p:sp>
        <p:nvSpPr>
          <p:cNvPr id="332" name="Google Shape;332;p22"/>
          <p:cNvSpPr/>
          <p:nvPr/>
        </p:nvSpPr>
        <p:spPr>
          <a:xfrm>
            <a:off x="3493008"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lang="en-US" sz="900">
                <a:solidFill>
                  <a:srgbClr val="8A8A8A"/>
                </a:solidFill>
              </a:rPr>
              <a:t>J</a:t>
            </a:r>
            <a:r>
              <a:rPr b="0" i="0" lang="en-US" sz="900" u="none" cap="none" strike="noStrike">
                <a:solidFill>
                  <a:srgbClr val="8A8A8A"/>
                </a:solidFill>
                <a:latin typeface="Arial"/>
                <a:ea typeface="Arial"/>
                <a:cs typeface="Arial"/>
                <a:sym typeface="Arial"/>
              </a:rPr>
              <a:t>ustification</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for the level</a:t>
            </a:r>
            <a:endParaRPr b="0" i="0" sz="900" u="none" cap="none" strike="noStrike">
              <a:solidFill>
                <a:schemeClr val="dk1"/>
              </a:solidFill>
              <a:latin typeface="Calibri"/>
              <a:ea typeface="Calibri"/>
              <a:cs typeface="Calibri"/>
              <a:sym typeface="Calibri"/>
            </a:endParaRPr>
          </a:p>
        </p:txBody>
      </p:sp>
      <p:sp>
        <p:nvSpPr>
          <p:cNvPr id="333" name="Google Shape;333;p22"/>
          <p:cNvSpPr/>
          <p:nvPr/>
        </p:nvSpPr>
        <p:spPr>
          <a:xfrm>
            <a:off x="6025896" y="1874520"/>
            <a:ext cx="2432304" cy="1691640"/>
          </a:xfrm>
          <a:prstGeom prst="roundRect">
            <a:avLst>
              <a:gd fmla="val 3243"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2"/>
          <p:cNvSpPr/>
          <p:nvPr/>
        </p:nvSpPr>
        <p:spPr>
          <a:xfrm>
            <a:off x="6025896" y="1874520"/>
            <a:ext cx="2432304" cy="384048"/>
          </a:xfrm>
          <a:prstGeom prst="roundRect">
            <a:avLst>
              <a:gd fmla="val 1428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6025896" y="1874520"/>
            <a:ext cx="243230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WHERE</a:t>
            </a:r>
            <a:endParaRPr b="0" i="0" sz="1000" u="none" cap="none" strike="noStrike">
              <a:solidFill>
                <a:schemeClr val="dk1"/>
              </a:solidFill>
              <a:latin typeface="Calibri"/>
              <a:ea typeface="Calibri"/>
              <a:cs typeface="Calibri"/>
              <a:sym typeface="Calibri"/>
            </a:endParaRPr>
          </a:p>
        </p:txBody>
      </p:sp>
      <p:sp>
        <p:nvSpPr>
          <p:cNvPr id="336" name="Google Shape;336;p22"/>
          <p:cNvSpPr/>
          <p:nvPr/>
        </p:nvSpPr>
        <p:spPr>
          <a:xfrm>
            <a:off x="6163056" y="2377440"/>
            <a:ext cx="215798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0" lang="en-US" sz="1200" u="none" cap="none" strike="noStrike">
                <a:solidFill>
                  <a:srgbClr val="222222"/>
                </a:solidFill>
                <a:latin typeface="Arial"/>
                <a:ea typeface="Arial"/>
                <a:cs typeface="Arial"/>
                <a:sym typeface="Arial"/>
              </a:rPr>
              <a:t>Code location</a:t>
            </a:r>
            <a:endParaRPr b="0" i="0" sz="1200" u="none" cap="none" strike="noStrike">
              <a:solidFill>
                <a:schemeClr val="dk1"/>
              </a:solidFill>
              <a:latin typeface="Calibri"/>
              <a:ea typeface="Calibri"/>
              <a:cs typeface="Calibri"/>
              <a:sym typeface="Calibri"/>
            </a:endParaRPr>
          </a:p>
        </p:txBody>
      </p:sp>
      <p:sp>
        <p:nvSpPr>
          <p:cNvPr id="337" name="Google Shape;337;p22"/>
          <p:cNvSpPr/>
          <p:nvPr/>
        </p:nvSpPr>
        <p:spPr>
          <a:xfrm>
            <a:off x="6163056" y="2788920"/>
            <a:ext cx="2157984" cy="685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File names and</a:t>
            </a:r>
            <a:endParaRPr b="0" i="0" sz="9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line numbers</a:t>
            </a:r>
            <a:endParaRPr b="0" i="0" sz="900" u="none" cap="none" strike="noStrike">
              <a:solidFill>
                <a:schemeClr val="dk1"/>
              </a:solidFill>
              <a:latin typeface="Calibri"/>
              <a:ea typeface="Calibri"/>
              <a:cs typeface="Calibri"/>
              <a:sym typeface="Calibri"/>
            </a:endParaRPr>
          </a:p>
        </p:txBody>
      </p:sp>
      <p:sp>
        <p:nvSpPr>
          <p:cNvPr id="338" name="Google Shape;338;p22"/>
          <p:cNvSpPr/>
          <p:nvPr/>
        </p:nvSpPr>
        <p:spPr>
          <a:xfrm>
            <a:off x="685800" y="3794760"/>
            <a:ext cx="7772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Two experts · independent review · disagreements discussed to consensus</a:t>
            </a:r>
            <a:endParaRPr b="0" i="0" sz="1100" u="none" cap="none" strike="noStrike">
              <a:solidFill>
                <a:schemeClr val="dk1"/>
              </a:solidFill>
              <a:latin typeface="Calibri"/>
              <a:ea typeface="Calibri"/>
              <a:cs typeface="Calibri"/>
              <a:sym typeface="Calibri"/>
            </a:endParaRPr>
          </a:p>
        </p:txBody>
      </p:sp>
      <p:pic>
        <p:nvPicPr>
          <p:cNvPr id="339" name="Google Shape;339;p22"/>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340" name="Google Shape;340;p22"/>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pic>
        <p:nvPicPr>
          <p:cNvPr descr="umaine_logo.png" id="346" name="Google Shape;346;p23"/>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347" name="Google Shape;347;p23"/>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The Study Tool</a:t>
            </a:r>
            <a:endParaRPr b="0" i="0" sz="1300" u="none" cap="none" strike="noStrike">
              <a:solidFill>
                <a:schemeClr val="dk1"/>
              </a:solidFill>
              <a:latin typeface="Calibri"/>
              <a:ea typeface="Calibri"/>
              <a:cs typeface="Calibri"/>
              <a:sym typeface="Calibri"/>
            </a:endParaRPr>
          </a:p>
        </p:txBody>
      </p:sp>
      <p:cxnSp>
        <p:nvCxnSpPr>
          <p:cNvPr id="349" name="Google Shape;349;p23"/>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350" name="Google Shape;350;p23"/>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351" name="Google Shape;351;p23"/>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9</a:t>
            </a:r>
            <a:endParaRPr b="0" i="0" sz="700" u="none" cap="none" strike="noStrike">
              <a:solidFill>
                <a:schemeClr val="dk1"/>
              </a:solidFill>
              <a:latin typeface="Calibri"/>
              <a:ea typeface="Calibri"/>
              <a:cs typeface="Calibri"/>
              <a:sym typeface="Calibri"/>
            </a:endParaRPr>
          </a:p>
        </p:txBody>
      </p:sp>
      <p:pic>
        <p:nvPicPr>
          <p:cNvPr id="352" name="Google Shape;352;p23"/>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353" name="Google Shape;353;p23"/>
          <p:cNvPicPr preferRelativeResize="0"/>
          <p:nvPr/>
        </p:nvPicPr>
        <p:blipFill>
          <a:blip r:embed="rId5">
            <a:alphaModFix/>
          </a:blip>
          <a:stretch>
            <a:fillRect/>
          </a:stretch>
        </p:blipFill>
        <p:spPr>
          <a:xfrm>
            <a:off x="5973275" y="134425"/>
            <a:ext cx="364676" cy="365752"/>
          </a:xfrm>
          <a:prstGeom prst="rect">
            <a:avLst/>
          </a:prstGeom>
          <a:noFill/>
          <a:ln>
            <a:noFill/>
          </a:ln>
        </p:spPr>
      </p:pic>
      <p:pic>
        <p:nvPicPr>
          <p:cNvPr id="354" name="Google Shape;354;p23"/>
          <p:cNvPicPr preferRelativeResize="0"/>
          <p:nvPr/>
        </p:nvPicPr>
        <p:blipFill>
          <a:blip r:embed="rId6">
            <a:alphaModFix/>
          </a:blip>
          <a:stretch>
            <a:fillRect/>
          </a:stretch>
        </p:blipFill>
        <p:spPr>
          <a:xfrm>
            <a:off x="1058200" y="887398"/>
            <a:ext cx="7073326" cy="35470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pic>
        <p:nvPicPr>
          <p:cNvPr descr="umaine_logo.png" id="360" name="Google Shape;360;g3f5d2f75d88_0_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361" name="Google Shape;361;g3f5d2f75d88_0_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f5d2f75d88_0_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Turn Annotation</a:t>
            </a:r>
            <a:endParaRPr b="0" i="0" sz="1300" u="none" cap="none" strike="noStrike">
              <a:solidFill>
                <a:schemeClr val="dk1"/>
              </a:solidFill>
              <a:latin typeface="Calibri"/>
              <a:ea typeface="Calibri"/>
              <a:cs typeface="Calibri"/>
              <a:sym typeface="Calibri"/>
            </a:endParaRPr>
          </a:p>
        </p:txBody>
      </p:sp>
      <p:cxnSp>
        <p:nvCxnSpPr>
          <p:cNvPr id="363" name="Google Shape;363;g3f5d2f75d88_0_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364" name="Google Shape;364;g3f5d2f75d88_0_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365" name="Google Shape;365;g3f5d2f75d88_0_3"/>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11</a:t>
            </a:r>
            <a:endParaRPr b="0" i="0" sz="700" u="none" cap="none" strike="noStrike">
              <a:solidFill>
                <a:schemeClr val="dk1"/>
              </a:solidFill>
              <a:latin typeface="Calibri"/>
              <a:ea typeface="Calibri"/>
              <a:cs typeface="Calibri"/>
              <a:sym typeface="Calibri"/>
            </a:endParaRPr>
          </a:p>
        </p:txBody>
      </p:sp>
      <p:sp>
        <p:nvSpPr>
          <p:cNvPr id="366" name="Google Shape;366;g3f5d2f75d88_0_3"/>
          <p:cNvSpPr/>
          <p:nvPr/>
        </p:nvSpPr>
        <p:spPr>
          <a:xfrm>
            <a:off x="1407845" y="806467"/>
            <a:ext cx="7223700" cy="356700"/>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f5d2f75d88_0_3"/>
          <p:cNvSpPr/>
          <p:nvPr/>
        </p:nvSpPr>
        <p:spPr>
          <a:xfrm>
            <a:off x="1535861" y="806467"/>
            <a:ext cx="6967800" cy="35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Turn labels drawn from PARADISE + MT-Eval + MT-Bench-101</a:t>
            </a:r>
            <a:endParaRPr sz="1200">
              <a:solidFill>
                <a:srgbClr val="FFFFFF"/>
              </a:solidFill>
            </a:endParaRPr>
          </a:p>
        </p:txBody>
      </p:sp>
      <p:pic>
        <p:nvPicPr>
          <p:cNvPr id="368" name="Google Shape;368;g3f5d2f75d88_0_3"/>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369" name="Google Shape;369;g3f5d2f75d88_0_3"/>
          <p:cNvPicPr preferRelativeResize="0"/>
          <p:nvPr/>
        </p:nvPicPr>
        <p:blipFill>
          <a:blip r:embed="rId5">
            <a:alphaModFix/>
          </a:blip>
          <a:stretch>
            <a:fillRect/>
          </a:stretch>
        </p:blipFill>
        <p:spPr>
          <a:xfrm>
            <a:off x="5973275" y="134425"/>
            <a:ext cx="364676" cy="365752"/>
          </a:xfrm>
          <a:prstGeom prst="rect">
            <a:avLst/>
          </a:prstGeom>
          <a:noFill/>
          <a:ln>
            <a:noFill/>
          </a:ln>
        </p:spPr>
      </p:pic>
      <p:graphicFrame>
        <p:nvGraphicFramePr>
          <p:cNvPr id="370" name="Google Shape;370;g3f5d2f75d88_0_3"/>
          <p:cNvGraphicFramePr/>
          <p:nvPr/>
        </p:nvGraphicFramePr>
        <p:xfrm>
          <a:off x="640080" y="1272295"/>
          <a:ext cx="3000000" cy="3000000"/>
        </p:xfrm>
        <a:graphic>
          <a:graphicData uri="http://schemas.openxmlformats.org/drawingml/2006/table">
            <a:tbl>
              <a:tblPr>
                <a:noFill/>
                <a:tableStyleId>{C58A01A9-31D1-41C9-9F1A-FE5B03BA0646}</a:tableStyleId>
              </a:tblPr>
              <a:tblGrid>
                <a:gridCol w="2743200"/>
                <a:gridCol w="914400"/>
              </a:tblGrid>
              <a:tr h="2880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Label</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Count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370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Follow-up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195</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Recollections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156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Expansion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152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Refinement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53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User Initiatives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Proactive Interaction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Content Rephrasing</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Check Move (CM)</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Self-affirmation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Self-correction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371" name="Google Shape;371;g3f5d2f75d88_0_3"/>
          <p:cNvGraphicFramePr/>
          <p:nvPr/>
        </p:nvGraphicFramePr>
        <p:xfrm>
          <a:off x="4846320" y="1272295"/>
          <a:ext cx="3000000" cy="3000000"/>
        </p:xfrm>
        <a:graphic>
          <a:graphicData uri="http://schemas.openxmlformats.org/drawingml/2006/table">
            <a:tbl>
              <a:tblPr>
                <a:noFill/>
                <a:tableStyleId>{C58A01A9-31D1-41C9-9F1A-FE5B03BA0646}</a:tableStyleId>
              </a:tblPr>
              <a:tblGrid>
                <a:gridCol w="2743200"/>
                <a:gridCol w="914400"/>
              </a:tblGrid>
              <a:tr h="2880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Label</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Count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Separate Input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Instruction Clarification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Anaphora Resolution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Unsuitable Request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Abandoned Requests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Help Messages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Format Rephrasing</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Inappropriate Responses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Error</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Content Confusion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Relevant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cxnSp>
        <p:nvCxnSpPr>
          <p:cNvPr id="377" name="Google Shape;377;p29"/>
          <p:cNvCxnSpPr/>
          <p:nvPr/>
        </p:nvCxnSpPr>
        <p:spPr>
          <a:xfrm>
            <a:off x="0" y="2571750"/>
            <a:ext cx="9144000" cy="0"/>
          </a:xfrm>
          <a:prstGeom prst="straightConnector1">
            <a:avLst/>
          </a:prstGeom>
          <a:noFill/>
          <a:ln cap="flat" cmpd="sng" w="9525">
            <a:solidFill>
              <a:srgbClr val="D9D9D9"/>
            </a:solidFill>
            <a:prstDash val="solid"/>
            <a:round/>
            <a:headEnd len="sm" w="sm" type="none"/>
            <a:tailEnd len="sm" w="sm" type="none"/>
          </a:ln>
        </p:spPr>
      </p:cxnSp>
      <p:sp>
        <p:nvSpPr>
          <p:cNvPr id="378" name="Google Shape;378;p29"/>
          <p:cNvSpPr/>
          <p:nvPr/>
        </p:nvSpPr>
        <p:spPr>
          <a:xfrm>
            <a:off x="3611880" y="1609344"/>
            <a:ext cx="1920240" cy="192024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9"/>
          <p:cNvSpPr/>
          <p:nvPr/>
        </p:nvSpPr>
        <p:spPr>
          <a:xfrm>
            <a:off x="3611880" y="1609344"/>
            <a:ext cx="1920240" cy="1920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700"/>
              <a:buFont typeface="Arial"/>
              <a:buNone/>
            </a:pPr>
            <a:r>
              <a:rPr b="1" i="0" lang="en-US" sz="1700" u="none" cap="none" strike="noStrike">
                <a:solidFill>
                  <a:srgbClr val="222222"/>
                </a:solidFill>
                <a:latin typeface="Arial"/>
                <a:ea typeface="Arial"/>
                <a:cs typeface="Arial"/>
                <a:sym typeface="Arial"/>
              </a:rPr>
              <a:t>Results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pic>
        <p:nvPicPr>
          <p:cNvPr descr="umaine_logo.png" id="385" name="Google Shape;385;g3f578cb17a1_0_16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386" name="Google Shape;386;g3f578cb17a1_0_16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f578cb17a1_0_16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RQ1: Accuracy vs. Perceived Quality</a:t>
            </a:r>
            <a:endParaRPr b="0" i="0" sz="1300" u="none" cap="none" strike="noStrike">
              <a:solidFill>
                <a:schemeClr val="dk1"/>
              </a:solidFill>
              <a:latin typeface="Calibri"/>
              <a:ea typeface="Calibri"/>
              <a:cs typeface="Calibri"/>
              <a:sym typeface="Calibri"/>
            </a:endParaRPr>
          </a:p>
        </p:txBody>
      </p:sp>
      <p:cxnSp>
        <p:nvCxnSpPr>
          <p:cNvPr id="388" name="Google Shape;388;g3f578cb17a1_0_16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389" name="Google Shape;389;g3f578cb17a1_0_16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390" name="Google Shape;390;g3f578cb17a1_0_166"/>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12</a:t>
            </a:r>
            <a:endParaRPr b="0" i="0" sz="700" u="none" cap="none" strike="noStrike">
              <a:solidFill>
                <a:schemeClr val="dk1"/>
              </a:solidFill>
              <a:latin typeface="Calibri"/>
              <a:ea typeface="Calibri"/>
              <a:cs typeface="Calibri"/>
              <a:sym typeface="Calibri"/>
            </a:endParaRPr>
          </a:p>
        </p:txBody>
      </p:sp>
      <p:sp>
        <p:nvSpPr>
          <p:cNvPr id="391" name="Google Shape;391;g3f578cb17a1_0_166"/>
          <p:cNvSpPr/>
          <p:nvPr/>
        </p:nvSpPr>
        <p:spPr>
          <a:xfrm>
            <a:off x="2697480" y="822960"/>
            <a:ext cx="1691700" cy="548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Actual accuracy</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(vs. ground truth)</a:t>
            </a:r>
            <a:endParaRPr b="0" i="0" sz="1000" u="none" cap="none" strike="noStrike">
              <a:solidFill>
                <a:schemeClr val="dk1"/>
              </a:solidFill>
              <a:latin typeface="Calibri"/>
              <a:ea typeface="Calibri"/>
              <a:cs typeface="Calibri"/>
              <a:sym typeface="Calibri"/>
            </a:endParaRPr>
          </a:p>
        </p:txBody>
      </p:sp>
      <p:sp>
        <p:nvSpPr>
          <p:cNvPr id="392" name="Google Shape;392;g3f578cb17a1_0_166"/>
          <p:cNvSpPr/>
          <p:nvPr/>
        </p:nvSpPr>
        <p:spPr>
          <a:xfrm>
            <a:off x="5074920" y="822960"/>
            <a:ext cx="1691700" cy="548700"/>
          </a:xfrm>
          <a:prstGeom prst="rect">
            <a:avLst/>
          </a:prstGeom>
          <a:noFill/>
          <a:ln>
            <a:noFill/>
          </a:ln>
        </p:spPr>
        <p:txBody>
          <a:bodyPr anchorCtr="0" anchor="ctr" bIns="0" lIns="0" spcFirstLastPara="1" rIns="0" wrap="square" tIns="0">
            <a:noAutofit/>
          </a:bodyPr>
          <a:lstStyle/>
          <a:p>
            <a:pPr indent="0" lvl="0" marL="0" rtl="0" algn="ctr">
              <a:lnSpc>
                <a:spcPct val="120000"/>
              </a:lnSpc>
              <a:spcBef>
                <a:spcPts val="0"/>
              </a:spcBef>
              <a:spcAft>
                <a:spcPts val="0"/>
              </a:spcAft>
              <a:buClr>
                <a:srgbClr val="2E7D32"/>
              </a:buClr>
              <a:buSzPts val="1000"/>
              <a:buFont typeface="Arial"/>
              <a:buNone/>
            </a:pPr>
            <a:r>
              <a:rPr b="1" lang="en-US" sz="1000">
                <a:solidFill>
                  <a:srgbClr val="2E7D32"/>
                </a:solidFill>
              </a:rPr>
              <a:t>User Rating</a:t>
            </a:r>
            <a:endParaRPr b="0" i="0" sz="1000" u="none" cap="none" strike="noStrike">
              <a:solidFill>
                <a:schemeClr val="dk1"/>
              </a:solidFill>
              <a:latin typeface="Calibri"/>
              <a:ea typeface="Calibri"/>
              <a:cs typeface="Calibri"/>
              <a:sym typeface="Calibri"/>
            </a:endParaRPr>
          </a:p>
        </p:txBody>
      </p:sp>
      <p:sp>
        <p:nvSpPr>
          <p:cNvPr id="393" name="Google Shape;393;g3f578cb17a1_0_166"/>
          <p:cNvSpPr/>
          <p:nvPr/>
        </p:nvSpPr>
        <p:spPr>
          <a:xfrm>
            <a:off x="457200" y="150876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f578cb17a1_0_166"/>
          <p:cNvSpPr/>
          <p:nvPr/>
        </p:nvSpPr>
        <p:spPr>
          <a:xfrm>
            <a:off x="685800" y="150876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Satisfaction level</a:t>
            </a:r>
            <a:endParaRPr b="0" i="0" sz="1300" u="none" cap="none" strike="noStrike">
              <a:solidFill>
                <a:schemeClr val="dk1"/>
              </a:solidFill>
              <a:latin typeface="Calibri"/>
              <a:ea typeface="Calibri"/>
              <a:cs typeface="Calibri"/>
              <a:sym typeface="Calibri"/>
            </a:endParaRPr>
          </a:p>
        </p:txBody>
      </p:sp>
      <p:sp>
        <p:nvSpPr>
          <p:cNvPr id="395" name="Google Shape;395;g3f578cb17a1_0_166"/>
          <p:cNvSpPr/>
          <p:nvPr/>
        </p:nvSpPr>
        <p:spPr>
          <a:xfrm>
            <a:off x="269748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0.381</a:t>
            </a:r>
            <a:endParaRPr b="0" i="0" sz="2500" u="none" cap="none" strike="noStrike">
              <a:solidFill>
                <a:schemeClr val="dk1"/>
              </a:solidFill>
              <a:latin typeface="Calibri"/>
              <a:ea typeface="Calibri"/>
              <a:cs typeface="Calibri"/>
              <a:sym typeface="Calibri"/>
            </a:endParaRPr>
          </a:p>
        </p:txBody>
      </p:sp>
      <p:sp>
        <p:nvSpPr>
          <p:cNvPr id="396" name="Google Shape;396;g3f578cb17a1_0_166"/>
          <p:cNvSpPr/>
          <p:nvPr/>
        </p:nvSpPr>
        <p:spPr>
          <a:xfrm>
            <a:off x="2697480" y="198424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F1</a:t>
            </a:r>
            <a:endParaRPr b="0" i="0" sz="800" u="none" cap="none" strike="noStrike">
              <a:solidFill>
                <a:schemeClr val="dk1"/>
              </a:solidFill>
              <a:latin typeface="Calibri"/>
              <a:ea typeface="Calibri"/>
              <a:cs typeface="Calibri"/>
              <a:sym typeface="Calibri"/>
            </a:endParaRPr>
          </a:p>
        </p:txBody>
      </p:sp>
      <p:sp>
        <p:nvSpPr>
          <p:cNvPr id="397" name="Google Shape;397;g3f578cb17a1_0_166"/>
          <p:cNvSpPr/>
          <p:nvPr/>
        </p:nvSpPr>
        <p:spPr>
          <a:xfrm>
            <a:off x="4389120" y="150876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398" name="Google Shape;398;g3f578cb17a1_0_166"/>
          <p:cNvSpPr/>
          <p:nvPr/>
        </p:nvSpPr>
        <p:spPr>
          <a:xfrm>
            <a:off x="507492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3.27/4</a:t>
            </a:r>
            <a:endParaRPr b="0" i="0" sz="2500" u="none" cap="none" strike="noStrike">
              <a:solidFill>
                <a:schemeClr val="dk1"/>
              </a:solidFill>
              <a:latin typeface="Calibri"/>
              <a:ea typeface="Calibri"/>
              <a:cs typeface="Calibri"/>
              <a:sym typeface="Calibri"/>
            </a:endParaRPr>
          </a:p>
        </p:txBody>
      </p:sp>
      <p:pic>
        <p:nvPicPr>
          <p:cNvPr id="399" name="Google Shape;399;g3f578cb17a1_0_16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400" name="Google Shape;400;g3f578cb17a1_0_16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pic>
        <p:nvPicPr>
          <p:cNvPr descr="umaine_logo.png" id="406" name="Google Shape;406;g3f578cb17a1_0_188"/>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407" name="Google Shape;407;g3f578cb17a1_0_188"/>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f578cb17a1_0_188"/>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RQ1: Accuracy vs. Perceived Quality</a:t>
            </a:r>
            <a:endParaRPr b="0" i="0" sz="1300" u="none" cap="none" strike="noStrike">
              <a:solidFill>
                <a:schemeClr val="dk1"/>
              </a:solidFill>
              <a:latin typeface="Calibri"/>
              <a:ea typeface="Calibri"/>
              <a:cs typeface="Calibri"/>
              <a:sym typeface="Calibri"/>
            </a:endParaRPr>
          </a:p>
        </p:txBody>
      </p:sp>
      <p:cxnSp>
        <p:nvCxnSpPr>
          <p:cNvPr id="409" name="Google Shape;409;g3f578cb17a1_0_188"/>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410" name="Google Shape;410;g3f578cb17a1_0_188"/>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411" name="Google Shape;411;g3f578cb17a1_0_188"/>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12</a:t>
            </a:r>
            <a:endParaRPr b="0" i="0" sz="700" u="none" cap="none" strike="noStrike">
              <a:solidFill>
                <a:schemeClr val="dk1"/>
              </a:solidFill>
              <a:latin typeface="Calibri"/>
              <a:ea typeface="Calibri"/>
              <a:cs typeface="Calibri"/>
              <a:sym typeface="Calibri"/>
            </a:endParaRPr>
          </a:p>
        </p:txBody>
      </p:sp>
      <p:sp>
        <p:nvSpPr>
          <p:cNvPr id="412" name="Google Shape;412;g3f578cb17a1_0_188"/>
          <p:cNvSpPr/>
          <p:nvPr/>
        </p:nvSpPr>
        <p:spPr>
          <a:xfrm>
            <a:off x="2697480" y="822960"/>
            <a:ext cx="1691700" cy="548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Actual accuracy</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(vs. ground truth)</a:t>
            </a:r>
            <a:endParaRPr b="0" i="0" sz="1000" u="none" cap="none" strike="noStrike">
              <a:solidFill>
                <a:schemeClr val="dk1"/>
              </a:solidFill>
              <a:latin typeface="Calibri"/>
              <a:ea typeface="Calibri"/>
              <a:cs typeface="Calibri"/>
              <a:sym typeface="Calibri"/>
            </a:endParaRPr>
          </a:p>
        </p:txBody>
      </p:sp>
      <p:sp>
        <p:nvSpPr>
          <p:cNvPr id="413" name="Google Shape;413;g3f578cb17a1_0_188"/>
          <p:cNvSpPr/>
          <p:nvPr/>
        </p:nvSpPr>
        <p:spPr>
          <a:xfrm>
            <a:off x="5074920" y="822960"/>
            <a:ext cx="1691700" cy="548700"/>
          </a:xfrm>
          <a:prstGeom prst="rect">
            <a:avLst/>
          </a:prstGeom>
          <a:noFill/>
          <a:ln>
            <a:noFill/>
          </a:ln>
        </p:spPr>
        <p:txBody>
          <a:bodyPr anchorCtr="0" anchor="ctr" bIns="0" lIns="0" spcFirstLastPara="1" rIns="0" wrap="square" tIns="0">
            <a:noAutofit/>
          </a:bodyPr>
          <a:lstStyle/>
          <a:p>
            <a:pPr indent="0" lvl="0" marL="0" rtl="0" algn="ctr">
              <a:lnSpc>
                <a:spcPct val="120000"/>
              </a:lnSpc>
              <a:spcBef>
                <a:spcPts val="0"/>
              </a:spcBef>
              <a:spcAft>
                <a:spcPts val="0"/>
              </a:spcAft>
              <a:buClr>
                <a:srgbClr val="2E7D32"/>
              </a:buClr>
              <a:buSzPts val="1000"/>
              <a:buFont typeface="Arial"/>
              <a:buNone/>
            </a:pPr>
            <a:r>
              <a:rPr b="1" lang="en-US" sz="1000">
                <a:solidFill>
                  <a:srgbClr val="2E7D32"/>
                </a:solidFill>
              </a:rPr>
              <a:t>User Rating</a:t>
            </a:r>
            <a:endParaRPr b="0" i="0" sz="1000" u="none" cap="none" strike="noStrike">
              <a:solidFill>
                <a:schemeClr val="dk1"/>
              </a:solidFill>
              <a:latin typeface="Calibri"/>
              <a:ea typeface="Calibri"/>
              <a:cs typeface="Calibri"/>
              <a:sym typeface="Calibri"/>
            </a:endParaRPr>
          </a:p>
        </p:txBody>
      </p:sp>
      <p:sp>
        <p:nvSpPr>
          <p:cNvPr id="414" name="Google Shape;414;g3f578cb17a1_0_188"/>
          <p:cNvSpPr/>
          <p:nvPr/>
        </p:nvSpPr>
        <p:spPr>
          <a:xfrm>
            <a:off x="457200" y="150876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f578cb17a1_0_188"/>
          <p:cNvSpPr/>
          <p:nvPr/>
        </p:nvSpPr>
        <p:spPr>
          <a:xfrm>
            <a:off x="685800" y="150876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Satisfaction level</a:t>
            </a:r>
            <a:endParaRPr b="0" i="0" sz="1300" u="none" cap="none" strike="noStrike">
              <a:solidFill>
                <a:schemeClr val="dk1"/>
              </a:solidFill>
              <a:latin typeface="Calibri"/>
              <a:ea typeface="Calibri"/>
              <a:cs typeface="Calibri"/>
              <a:sym typeface="Calibri"/>
            </a:endParaRPr>
          </a:p>
        </p:txBody>
      </p:sp>
      <p:sp>
        <p:nvSpPr>
          <p:cNvPr id="416" name="Google Shape;416;g3f578cb17a1_0_188"/>
          <p:cNvSpPr/>
          <p:nvPr/>
        </p:nvSpPr>
        <p:spPr>
          <a:xfrm>
            <a:off x="269748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0.381</a:t>
            </a:r>
            <a:endParaRPr b="0" i="0" sz="2500" u="none" cap="none" strike="noStrike">
              <a:solidFill>
                <a:schemeClr val="dk1"/>
              </a:solidFill>
              <a:latin typeface="Calibri"/>
              <a:ea typeface="Calibri"/>
              <a:cs typeface="Calibri"/>
              <a:sym typeface="Calibri"/>
            </a:endParaRPr>
          </a:p>
        </p:txBody>
      </p:sp>
      <p:sp>
        <p:nvSpPr>
          <p:cNvPr id="417" name="Google Shape;417;g3f578cb17a1_0_188"/>
          <p:cNvSpPr/>
          <p:nvPr/>
        </p:nvSpPr>
        <p:spPr>
          <a:xfrm>
            <a:off x="2697480" y="198424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F1</a:t>
            </a:r>
            <a:endParaRPr b="0" i="0" sz="800" u="none" cap="none" strike="noStrike">
              <a:solidFill>
                <a:schemeClr val="dk1"/>
              </a:solidFill>
              <a:latin typeface="Calibri"/>
              <a:ea typeface="Calibri"/>
              <a:cs typeface="Calibri"/>
              <a:sym typeface="Calibri"/>
            </a:endParaRPr>
          </a:p>
        </p:txBody>
      </p:sp>
      <p:sp>
        <p:nvSpPr>
          <p:cNvPr id="418" name="Google Shape;418;g3f578cb17a1_0_188"/>
          <p:cNvSpPr/>
          <p:nvPr/>
        </p:nvSpPr>
        <p:spPr>
          <a:xfrm>
            <a:off x="4389120" y="150876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419" name="Google Shape;419;g3f578cb17a1_0_188"/>
          <p:cNvSpPr/>
          <p:nvPr/>
        </p:nvSpPr>
        <p:spPr>
          <a:xfrm>
            <a:off x="507492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3.27/4</a:t>
            </a:r>
            <a:endParaRPr b="0" i="0" sz="2500" u="none" cap="none" strike="noStrike">
              <a:solidFill>
                <a:schemeClr val="dk1"/>
              </a:solidFill>
              <a:latin typeface="Calibri"/>
              <a:ea typeface="Calibri"/>
              <a:cs typeface="Calibri"/>
              <a:sym typeface="Calibri"/>
            </a:endParaRPr>
          </a:p>
        </p:txBody>
      </p:sp>
      <p:sp>
        <p:nvSpPr>
          <p:cNvPr id="420" name="Google Shape;420;g3f578cb17a1_0_188"/>
          <p:cNvSpPr/>
          <p:nvPr/>
        </p:nvSpPr>
        <p:spPr>
          <a:xfrm>
            <a:off x="457200" y="233172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f578cb17a1_0_188"/>
          <p:cNvSpPr/>
          <p:nvPr/>
        </p:nvSpPr>
        <p:spPr>
          <a:xfrm>
            <a:off x="685800" y="233172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Reasoning</a:t>
            </a:r>
            <a:endParaRPr b="0" i="0" sz="1300" u="none" cap="none" strike="noStrike">
              <a:solidFill>
                <a:schemeClr val="dk1"/>
              </a:solidFill>
              <a:latin typeface="Calibri"/>
              <a:ea typeface="Calibri"/>
              <a:cs typeface="Calibri"/>
              <a:sym typeface="Calibri"/>
            </a:endParaRPr>
          </a:p>
        </p:txBody>
      </p:sp>
      <p:sp>
        <p:nvSpPr>
          <p:cNvPr id="422" name="Google Shape;422;g3f578cb17a1_0_188"/>
          <p:cNvSpPr/>
          <p:nvPr/>
        </p:nvSpPr>
        <p:spPr>
          <a:xfrm>
            <a:off x="2697480" y="238658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0.520</a:t>
            </a:r>
            <a:endParaRPr b="0" i="0" sz="2500" u="none" cap="none" strike="noStrike">
              <a:solidFill>
                <a:schemeClr val="dk1"/>
              </a:solidFill>
              <a:latin typeface="Calibri"/>
              <a:ea typeface="Calibri"/>
              <a:cs typeface="Calibri"/>
              <a:sym typeface="Calibri"/>
            </a:endParaRPr>
          </a:p>
        </p:txBody>
      </p:sp>
      <p:sp>
        <p:nvSpPr>
          <p:cNvPr id="423" name="Google Shape;423;g3f578cb17a1_0_188"/>
          <p:cNvSpPr/>
          <p:nvPr/>
        </p:nvSpPr>
        <p:spPr>
          <a:xfrm>
            <a:off x="2697480" y="280720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BERTScore F1</a:t>
            </a:r>
            <a:endParaRPr b="0" i="0" sz="800" u="none" cap="none" strike="noStrike">
              <a:solidFill>
                <a:schemeClr val="dk1"/>
              </a:solidFill>
              <a:latin typeface="Calibri"/>
              <a:ea typeface="Calibri"/>
              <a:cs typeface="Calibri"/>
              <a:sym typeface="Calibri"/>
            </a:endParaRPr>
          </a:p>
        </p:txBody>
      </p:sp>
      <p:sp>
        <p:nvSpPr>
          <p:cNvPr id="424" name="Google Shape;424;g3f578cb17a1_0_188"/>
          <p:cNvSpPr/>
          <p:nvPr/>
        </p:nvSpPr>
        <p:spPr>
          <a:xfrm>
            <a:off x="4389120" y="233172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425" name="Google Shape;425;g3f578cb17a1_0_188"/>
          <p:cNvSpPr/>
          <p:nvPr/>
        </p:nvSpPr>
        <p:spPr>
          <a:xfrm>
            <a:off x="5074920" y="238658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3.31/4</a:t>
            </a:r>
            <a:endParaRPr b="0" i="0" sz="2500" u="none" cap="none" strike="noStrike">
              <a:solidFill>
                <a:schemeClr val="dk1"/>
              </a:solidFill>
              <a:latin typeface="Calibri"/>
              <a:ea typeface="Calibri"/>
              <a:cs typeface="Calibri"/>
              <a:sym typeface="Calibri"/>
            </a:endParaRPr>
          </a:p>
        </p:txBody>
      </p:sp>
      <p:pic>
        <p:nvPicPr>
          <p:cNvPr id="426" name="Google Shape;426;g3f578cb17a1_0_18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427" name="Google Shape;427;g3f578cb17a1_0_18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pic>
        <p:nvPicPr>
          <p:cNvPr descr="umaine_logo.png" id="433" name="Google Shape;433;g3f578cb17a1_0_218"/>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434" name="Google Shape;434;g3f578cb17a1_0_218"/>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f578cb17a1_0_218"/>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RQ1: Accuracy vs. Perceived Quality</a:t>
            </a:r>
            <a:endParaRPr b="0" i="0" sz="1300" u="none" cap="none" strike="noStrike">
              <a:solidFill>
                <a:schemeClr val="dk1"/>
              </a:solidFill>
              <a:latin typeface="Calibri"/>
              <a:ea typeface="Calibri"/>
              <a:cs typeface="Calibri"/>
              <a:sym typeface="Calibri"/>
            </a:endParaRPr>
          </a:p>
        </p:txBody>
      </p:sp>
      <p:cxnSp>
        <p:nvCxnSpPr>
          <p:cNvPr id="436" name="Google Shape;436;g3f578cb17a1_0_218"/>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437" name="Google Shape;437;g3f578cb17a1_0_218"/>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438" name="Google Shape;438;g3f578cb17a1_0_218"/>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12</a:t>
            </a:r>
            <a:endParaRPr b="0" i="0" sz="700" u="none" cap="none" strike="noStrike">
              <a:solidFill>
                <a:schemeClr val="dk1"/>
              </a:solidFill>
              <a:latin typeface="Calibri"/>
              <a:ea typeface="Calibri"/>
              <a:cs typeface="Calibri"/>
              <a:sym typeface="Calibri"/>
            </a:endParaRPr>
          </a:p>
        </p:txBody>
      </p:sp>
      <p:sp>
        <p:nvSpPr>
          <p:cNvPr id="439" name="Google Shape;439;g3f578cb17a1_0_218"/>
          <p:cNvSpPr/>
          <p:nvPr/>
        </p:nvSpPr>
        <p:spPr>
          <a:xfrm>
            <a:off x="2697480" y="822960"/>
            <a:ext cx="1691700" cy="548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Actual accuracy</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C0392B"/>
              </a:buClr>
              <a:buSzPts val="1000"/>
              <a:buFont typeface="Arial"/>
              <a:buNone/>
            </a:pPr>
            <a:r>
              <a:rPr b="1" i="0" lang="en-US" sz="1000" u="none" cap="none" strike="noStrike">
                <a:solidFill>
                  <a:srgbClr val="C0392B"/>
                </a:solidFill>
                <a:latin typeface="Arial"/>
                <a:ea typeface="Arial"/>
                <a:cs typeface="Arial"/>
                <a:sym typeface="Arial"/>
              </a:rPr>
              <a:t>(vs. ground truth)</a:t>
            </a:r>
            <a:endParaRPr b="0" i="0" sz="1000" u="none" cap="none" strike="noStrike">
              <a:solidFill>
                <a:schemeClr val="dk1"/>
              </a:solidFill>
              <a:latin typeface="Calibri"/>
              <a:ea typeface="Calibri"/>
              <a:cs typeface="Calibri"/>
              <a:sym typeface="Calibri"/>
            </a:endParaRPr>
          </a:p>
        </p:txBody>
      </p:sp>
      <p:sp>
        <p:nvSpPr>
          <p:cNvPr id="440" name="Google Shape;440;g3f578cb17a1_0_218"/>
          <p:cNvSpPr/>
          <p:nvPr/>
        </p:nvSpPr>
        <p:spPr>
          <a:xfrm>
            <a:off x="5074920" y="822960"/>
            <a:ext cx="1691700" cy="5487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E7D32"/>
              </a:buClr>
              <a:buSzPts val="1000"/>
              <a:buFont typeface="Arial"/>
              <a:buNone/>
            </a:pPr>
            <a:r>
              <a:rPr b="1" lang="en-US" sz="1000">
                <a:solidFill>
                  <a:srgbClr val="2E7D32"/>
                </a:solidFill>
              </a:rPr>
              <a:t>User Rating</a:t>
            </a:r>
            <a:endParaRPr b="0" i="0" sz="1000" u="none" cap="none" strike="noStrike">
              <a:solidFill>
                <a:schemeClr val="dk1"/>
              </a:solidFill>
              <a:latin typeface="Calibri"/>
              <a:ea typeface="Calibri"/>
              <a:cs typeface="Calibri"/>
              <a:sym typeface="Calibri"/>
            </a:endParaRPr>
          </a:p>
        </p:txBody>
      </p:sp>
      <p:sp>
        <p:nvSpPr>
          <p:cNvPr id="441" name="Google Shape;441;g3f578cb17a1_0_218"/>
          <p:cNvSpPr/>
          <p:nvPr/>
        </p:nvSpPr>
        <p:spPr>
          <a:xfrm>
            <a:off x="457200" y="150876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f578cb17a1_0_218"/>
          <p:cNvSpPr/>
          <p:nvPr/>
        </p:nvSpPr>
        <p:spPr>
          <a:xfrm>
            <a:off x="685800" y="150876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Satisfaction level</a:t>
            </a:r>
            <a:endParaRPr b="0" i="0" sz="1300" u="none" cap="none" strike="noStrike">
              <a:solidFill>
                <a:schemeClr val="dk1"/>
              </a:solidFill>
              <a:latin typeface="Calibri"/>
              <a:ea typeface="Calibri"/>
              <a:cs typeface="Calibri"/>
              <a:sym typeface="Calibri"/>
            </a:endParaRPr>
          </a:p>
        </p:txBody>
      </p:sp>
      <p:sp>
        <p:nvSpPr>
          <p:cNvPr id="443" name="Google Shape;443;g3f578cb17a1_0_218"/>
          <p:cNvSpPr/>
          <p:nvPr/>
        </p:nvSpPr>
        <p:spPr>
          <a:xfrm>
            <a:off x="269748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0.381</a:t>
            </a:r>
            <a:endParaRPr b="0" i="0" sz="2500" u="none" cap="none" strike="noStrike">
              <a:solidFill>
                <a:schemeClr val="dk1"/>
              </a:solidFill>
              <a:latin typeface="Calibri"/>
              <a:ea typeface="Calibri"/>
              <a:cs typeface="Calibri"/>
              <a:sym typeface="Calibri"/>
            </a:endParaRPr>
          </a:p>
        </p:txBody>
      </p:sp>
      <p:sp>
        <p:nvSpPr>
          <p:cNvPr id="444" name="Google Shape;444;g3f578cb17a1_0_218"/>
          <p:cNvSpPr/>
          <p:nvPr/>
        </p:nvSpPr>
        <p:spPr>
          <a:xfrm>
            <a:off x="2697480" y="198424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F1</a:t>
            </a:r>
            <a:endParaRPr b="0" i="0" sz="800" u="none" cap="none" strike="noStrike">
              <a:solidFill>
                <a:schemeClr val="dk1"/>
              </a:solidFill>
              <a:latin typeface="Calibri"/>
              <a:ea typeface="Calibri"/>
              <a:cs typeface="Calibri"/>
              <a:sym typeface="Calibri"/>
            </a:endParaRPr>
          </a:p>
        </p:txBody>
      </p:sp>
      <p:sp>
        <p:nvSpPr>
          <p:cNvPr id="445" name="Google Shape;445;g3f578cb17a1_0_218"/>
          <p:cNvSpPr/>
          <p:nvPr/>
        </p:nvSpPr>
        <p:spPr>
          <a:xfrm>
            <a:off x="4389120" y="150876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446" name="Google Shape;446;g3f578cb17a1_0_218"/>
          <p:cNvSpPr/>
          <p:nvPr/>
        </p:nvSpPr>
        <p:spPr>
          <a:xfrm>
            <a:off x="5074920" y="156362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3.27/4</a:t>
            </a:r>
            <a:endParaRPr b="0" i="0" sz="2500" u="none" cap="none" strike="noStrike">
              <a:solidFill>
                <a:schemeClr val="dk1"/>
              </a:solidFill>
              <a:latin typeface="Calibri"/>
              <a:ea typeface="Calibri"/>
              <a:cs typeface="Calibri"/>
              <a:sym typeface="Calibri"/>
            </a:endParaRPr>
          </a:p>
        </p:txBody>
      </p:sp>
      <p:sp>
        <p:nvSpPr>
          <p:cNvPr id="447" name="Google Shape;447;g3f578cb17a1_0_218"/>
          <p:cNvSpPr/>
          <p:nvPr/>
        </p:nvSpPr>
        <p:spPr>
          <a:xfrm>
            <a:off x="457200" y="233172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f578cb17a1_0_218"/>
          <p:cNvSpPr/>
          <p:nvPr/>
        </p:nvSpPr>
        <p:spPr>
          <a:xfrm>
            <a:off x="685800" y="233172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Reasoning</a:t>
            </a:r>
            <a:endParaRPr b="0" i="0" sz="1300" u="none" cap="none" strike="noStrike">
              <a:solidFill>
                <a:schemeClr val="dk1"/>
              </a:solidFill>
              <a:latin typeface="Calibri"/>
              <a:ea typeface="Calibri"/>
              <a:cs typeface="Calibri"/>
              <a:sym typeface="Calibri"/>
            </a:endParaRPr>
          </a:p>
        </p:txBody>
      </p:sp>
      <p:sp>
        <p:nvSpPr>
          <p:cNvPr id="449" name="Google Shape;449;g3f578cb17a1_0_218"/>
          <p:cNvSpPr/>
          <p:nvPr/>
        </p:nvSpPr>
        <p:spPr>
          <a:xfrm>
            <a:off x="2697480" y="238658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0.520</a:t>
            </a:r>
            <a:endParaRPr b="0" i="0" sz="2500" u="none" cap="none" strike="noStrike">
              <a:solidFill>
                <a:schemeClr val="dk1"/>
              </a:solidFill>
              <a:latin typeface="Calibri"/>
              <a:ea typeface="Calibri"/>
              <a:cs typeface="Calibri"/>
              <a:sym typeface="Calibri"/>
            </a:endParaRPr>
          </a:p>
        </p:txBody>
      </p:sp>
      <p:sp>
        <p:nvSpPr>
          <p:cNvPr id="450" name="Google Shape;450;g3f578cb17a1_0_218"/>
          <p:cNvSpPr/>
          <p:nvPr/>
        </p:nvSpPr>
        <p:spPr>
          <a:xfrm>
            <a:off x="2697480" y="280720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BERTScore F1</a:t>
            </a:r>
            <a:endParaRPr b="0" i="0" sz="800" u="none" cap="none" strike="noStrike">
              <a:solidFill>
                <a:schemeClr val="dk1"/>
              </a:solidFill>
              <a:latin typeface="Calibri"/>
              <a:ea typeface="Calibri"/>
              <a:cs typeface="Calibri"/>
              <a:sym typeface="Calibri"/>
            </a:endParaRPr>
          </a:p>
        </p:txBody>
      </p:sp>
      <p:sp>
        <p:nvSpPr>
          <p:cNvPr id="451" name="Google Shape;451;g3f578cb17a1_0_218"/>
          <p:cNvSpPr/>
          <p:nvPr/>
        </p:nvSpPr>
        <p:spPr>
          <a:xfrm>
            <a:off x="4389120" y="233172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452" name="Google Shape;452;g3f578cb17a1_0_218"/>
          <p:cNvSpPr/>
          <p:nvPr/>
        </p:nvSpPr>
        <p:spPr>
          <a:xfrm>
            <a:off x="5074920" y="238658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3.31/4</a:t>
            </a:r>
            <a:endParaRPr b="0" i="0" sz="2500" u="none" cap="none" strike="noStrike">
              <a:solidFill>
                <a:schemeClr val="dk1"/>
              </a:solidFill>
              <a:latin typeface="Calibri"/>
              <a:ea typeface="Calibri"/>
              <a:cs typeface="Calibri"/>
              <a:sym typeface="Calibri"/>
            </a:endParaRPr>
          </a:p>
        </p:txBody>
      </p:sp>
      <p:sp>
        <p:nvSpPr>
          <p:cNvPr id="453" name="Google Shape;453;g3f578cb17a1_0_218"/>
          <p:cNvSpPr/>
          <p:nvPr/>
        </p:nvSpPr>
        <p:spPr>
          <a:xfrm>
            <a:off x="457200" y="3154680"/>
            <a:ext cx="8229600" cy="731400"/>
          </a:xfrm>
          <a:prstGeom prst="roundRect">
            <a:avLst>
              <a:gd fmla="val 6250"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f578cb17a1_0_218"/>
          <p:cNvSpPr/>
          <p:nvPr/>
        </p:nvSpPr>
        <p:spPr>
          <a:xfrm>
            <a:off x="685800" y="3154680"/>
            <a:ext cx="19659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Code location</a:t>
            </a:r>
            <a:endParaRPr b="0" i="0" sz="1300" u="none" cap="none" strike="noStrike">
              <a:solidFill>
                <a:schemeClr val="dk1"/>
              </a:solidFill>
              <a:latin typeface="Calibri"/>
              <a:ea typeface="Calibri"/>
              <a:cs typeface="Calibri"/>
              <a:sym typeface="Calibri"/>
            </a:endParaRPr>
          </a:p>
        </p:txBody>
      </p:sp>
      <p:sp>
        <p:nvSpPr>
          <p:cNvPr id="455" name="Google Shape;455;g3f578cb17a1_0_218"/>
          <p:cNvSpPr/>
          <p:nvPr/>
        </p:nvSpPr>
        <p:spPr>
          <a:xfrm>
            <a:off x="2697480" y="320954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2500"/>
              <a:buFont typeface="Arial"/>
              <a:buNone/>
            </a:pPr>
            <a:r>
              <a:rPr b="1" i="0" lang="en-US" sz="2500" u="none" cap="none" strike="noStrike">
                <a:solidFill>
                  <a:srgbClr val="C0392B"/>
                </a:solidFill>
                <a:latin typeface="Arial"/>
                <a:ea typeface="Arial"/>
                <a:cs typeface="Arial"/>
                <a:sym typeface="Arial"/>
              </a:rPr>
              <a:t>0.203</a:t>
            </a:r>
            <a:endParaRPr b="0" i="0" sz="2500" u="none" cap="none" strike="noStrike">
              <a:solidFill>
                <a:schemeClr val="dk1"/>
              </a:solidFill>
              <a:latin typeface="Calibri"/>
              <a:ea typeface="Calibri"/>
              <a:cs typeface="Calibri"/>
              <a:sym typeface="Calibri"/>
            </a:endParaRPr>
          </a:p>
        </p:txBody>
      </p:sp>
      <p:sp>
        <p:nvSpPr>
          <p:cNvPr id="456" name="Google Shape;456;g3f578cb17a1_0_218"/>
          <p:cNvSpPr/>
          <p:nvPr/>
        </p:nvSpPr>
        <p:spPr>
          <a:xfrm>
            <a:off x="2697480" y="3630168"/>
            <a:ext cx="16917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800"/>
              <a:buFont typeface="Arial"/>
              <a:buNone/>
            </a:pPr>
            <a:r>
              <a:rPr b="0" i="0" lang="en-US" sz="800" u="none" cap="none" strike="noStrike">
                <a:solidFill>
                  <a:srgbClr val="8A8A8A"/>
                </a:solidFill>
                <a:latin typeface="Arial"/>
                <a:ea typeface="Arial"/>
                <a:cs typeface="Arial"/>
                <a:sym typeface="Arial"/>
              </a:rPr>
              <a:t>F1</a:t>
            </a:r>
            <a:endParaRPr b="0" i="0" sz="800" u="none" cap="none" strike="noStrike">
              <a:solidFill>
                <a:schemeClr val="dk1"/>
              </a:solidFill>
              <a:latin typeface="Calibri"/>
              <a:ea typeface="Calibri"/>
              <a:cs typeface="Calibri"/>
              <a:sym typeface="Calibri"/>
            </a:endParaRPr>
          </a:p>
        </p:txBody>
      </p:sp>
      <p:sp>
        <p:nvSpPr>
          <p:cNvPr id="457" name="Google Shape;457;g3f578cb17a1_0_218"/>
          <p:cNvSpPr/>
          <p:nvPr/>
        </p:nvSpPr>
        <p:spPr>
          <a:xfrm>
            <a:off x="4389120" y="3154680"/>
            <a:ext cx="6858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1200"/>
              <a:buFont typeface="Arial"/>
              <a:buNone/>
            </a:pPr>
            <a:r>
              <a:rPr b="0" i="1" lang="en-US" sz="1200" u="none" cap="none" strike="noStrike">
                <a:solidFill>
                  <a:srgbClr val="8A8A8A"/>
                </a:solidFill>
                <a:latin typeface="Arial"/>
                <a:ea typeface="Arial"/>
                <a:cs typeface="Arial"/>
                <a:sym typeface="Arial"/>
              </a:rPr>
              <a:t>vs.</a:t>
            </a:r>
            <a:endParaRPr b="0" i="0" sz="1200" u="none" cap="none" strike="noStrike">
              <a:solidFill>
                <a:schemeClr val="dk1"/>
              </a:solidFill>
              <a:latin typeface="Calibri"/>
              <a:ea typeface="Calibri"/>
              <a:cs typeface="Calibri"/>
              <a:sym typeface="Calibri"/>
            </a:endParaRPr>
          </a:p>
        </p:txBody>
      </p:sp>
      <p:sp>
        <p:nvSpPr>
          <p:cNvPr id="458" name="Google Shape;458;g3f578cb17a1_0_218"/>
          <p:cNvSpPr/>
          <p:nvPr/>
        </p:nvSpPr>
        <p:spPr>
          <a:xfrm>
            <a:off x="5074920" y="3209544"/>
            <a:ext cx="1691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500"/>
              <a:buFont typeface="Arial"/>
              <a:buNone/>
            </a:pPr>
            <a:r>
              <a:rPr b="1" lang="en-US" sz="2500">
                <a:solidFill>
                  <a:srgbClr val="2E7D32"/>
                </a:solidFill>
              </a:rPr>
              <a:t>3.34/4</a:t>
            </a:r>
            <a:endParaRPr b="0" i="0" sz="2500" u="none" cap="none" strike="noStrike">
              <a:solidFill>
                <a:schemeClr val="dk1"/>
              </a:solidFill>
              <a:latin typeface="Calibri"/>
              <a:ea typeface="Calibri"/>
              <a:cs typeface="Calibri"/>
              <a:sym typeface="Calibri"/>
            </a:endParaRPr>
          </a:p>
        </p:txBody>
      </p:sp>
      <p:sp>
        <p:nvSpPr>
          <p:cNvPr id="459" name="Google Shape;459;g3f578cb17a1_0_218"/>
          <p:cNvSpPr/>
          <p:nvPr/>
        </p:nvSpPr>
        <p:spPr>
          <a:xfrm>
            <a:off x="457200" y="4041648"/>
            <a:ext cx="8229600" cy="475500"/>
          </a:xfrm>
          <a:prstGeom prst="roundRect">
            <a:avLst>
              <a:gd fmla="val 9615" name="adj"/>
            </a:avLst>
          </a:prstGeom>
          <a:solidFill>
            <a:srgbClr val="F4EE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f578cb17a1_0_218"/>
          <p:cNvSpPr/>
          <p:nvPr/>
        </p:nvSpPr>
        <p:spPr>
          <a:xfrm>
            <a:off x="457200" y="4041648"/>
            <a:ext cx="82296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050"/>
              <a:buFont typeface="Arial"/>
              <a:buNone/>
            </a:pPr>
            <a:r>
              <a:rPr b="1" i="0" lang="en-US" sz="1050" u="none" cap="none" strike="noStrike">
                <a:solidFill>
                  <a:srgbClr val="222222"/>
                </a:solidFill>
                <a:latin typeface="Arial"/>
                <a:ea typeface="Arial"/>
                <a:cs typeface="Arial"/>
                <a:sym typeface="Arial"/>
              </a:rPr>
              <a:t>Low accuracy on every row</a:t>
            </a:r>
            <a:r>
              <a:rPr b="1" lang="en-US" sz="1050">
                <a:solidFill>
                  <a:srgbClr val="222222"/>
                </a:solidFill>
              </a:rPr>
              <a:t>,</a:t>
            </a:r>
            <a:r>
              <a:rPr b="1" i="0" lang="en-US" sz="1050" u="none" cap="none" strike="noStrike">
                <a:solidFill>
                  <a:srgbClr val="222222"/>
                </a:solidFill>
                <a:latin typeface="Arial"/>
                <a:ea typeface="Arial"/>
                <a:cs typeface="Arial"/>
                <a:sym typeface="Arial"/>
              </a:rPr>
              <a:t> yet </a:t>
            </a:r>
            <a:r>
              <a:rPr b="1" lang="en-US" sz="1050">
                <a:solidFill>
                  <a:srgbClr val="222222"/>
                </a:solidFill>
              </a:rPr>
              <a:t>user rating</a:t>
            </a:r>
            <a:r>
              <a:rPr b="1" i="0" lang="en-US" sz="1050" u="none" cap="none" strike="noStrike">
                <a:solidFill>
                  <a:srgbClr val="222222"/>
                </a:solidFill>
                <a:latin typeface="Arial"/>
                <a:ea typeface="Arial"/>
                <a:cs typeface="Arial"/>
                <a:sym typeface="Arial"/>
              </a:rPr>
              <a:t> stays significantly above “agree” (t-test, p &lt; .001)</a:t>
            </a:r>
            <a:endParaRPr b="0" i="0" sz="1050" u="none" cap="none" strike="noStrike">
              <a:solidFill>
                <a:schemeClr val="dk1"/>
              </a:solidFill>
              <a:latin typeface="Calibri"/>
              <a:ea typeface="Calibri"/>
              <a:cs typeface="Calibri"/>
              <a:sym typeface="Calibri"/>
            </a:endParaRPr>
          </a:p>
        </p:txBody>
      </p:sp>
      <p:pic>
        <p:nvPicPr>
          <p:cNvPr id="461" name="Google Shape;461;g3f578cb17a1_0_21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462" name="Google Shape;462;g3f578cb17a1_0_21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7"/>
          <p:cNvSpPr/>
          <p:nvPr/>
        </p:nvSpPr>
        <p:spPr>
          <a:xfrm>
            <a:off x="457200" y="960120"/>
            <a:ext cx="822960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6400"/>
              <a:buFont typeface="Arial"/>
              <a:buNone/>
            </a:pPr>
            <a:r>
              <a:rPr b="1" lang="en-US" sz="6400">
                <a:solidFill>
                  <a:srgbClr val="2E7D32"/>
                </a:solidFill>
              </a:rPr>
              <a:t>91-94%</a:t>
            </a:r>
            <a:endParaRPr b="0" i="0" sz="6400" u="none" cap="none" strike="noStrike">
              <a:solidFill>
                <a:schemeClr val="dk1"/>
              </a:solidFill>
              <a:latin typeface="Calibri"/>
              <a:ea typeface="Calibri"/>
              <a:cs typeface="Calibri"/>
              <a:sym typeface="Calibri"/>
            </a:endParaRPr>
          </a:p>
        </p:txBody>
      </p:sp>
      <p:sp>
        <p:nvSpPr>
          <p:cNvPr id="469" name="Google Shape;469;p37"/>
          <p:cNvSpPr/>
          <p:nvPr/>
        </p:nvSpPr>
        <p:spPr>
          <a:xfrm>
            <a:off x="457200" y="196596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500"/>
              <a:buFont typeface="Arial"/>
              <a:buNone/>
            </a:pPr>
            <a:r>
              <a:rPr b="0" i="0" lang="en-US" sz="1500" u="none" cap="none" strike="noStrike">
                <a:solidFill>
                  <a:srgbClr val="222222"/>
                </a:solidFill>
                <a:latin typeface="Arial"/>
                <a:ea typeface="Arial"/>
                <a:cs typeface="Arial"/>
                <a:sym typeface="Arial"/>
              </a:rPr>
              <a:t>developer </a:t>
            </a:r>
            <a:r>
              <a:rPr lang="en-US" sz="1500">
                <a:solidFill>
                  <a:srgbClr val="222222"/>
                </a:solidFill>
              </a:rPr>
              <a:t>rating</a:t>
            </a:r>
            <a:endParaRPr b="0" i="0" sz="1500" u="none" cap="none" strike="noStrike">
              <a:solidFill>
                <a:schemeClr val="dk1"/>
              </a:solidFill>
              <a:latin typeface="Calibri"/>
              <a:ea typeface="Calibri"/>
              <a:cs typeface="Calibri"/>
              <a:sym typeface="Calibri"/>
            </a:endParaRPr>
          </a:p>
        </p:txBody>
      </p:sp>
      <p:cxnSp>
        <p:nvCxnSpPr>
          <p:cNvPr id="470" name="Google Shape;470;p37"/>
          <p:cNvCxnSpPr/>
          <p:nvPr/>
        </p:nvCxnSpPr>
        <p:spPr>
          <a:xfrm>
            <a:off x="3657600" y="2514600"/>
            <a:ext cx="1828800" cy="0"/>
          </a:xfrm>
          <a:prstGeom prst="straightConnector1">
            <a:avLst/>
          </a:prstGeom>
          <a:noFill/>
          <a:ln cap="flat" cmpd="sng" w="15875">
            <a:solidFill>
              <a:srgbClr val="D9D9D9"/>
            </a:solidFill>
            <a:prstDash val="solid"/>
            <a:round/>
            <a:headEnd len="sm" w="sm" type="none"/>
            <a:tailEnd len="sm" w="sm" type="none"/>
          </a:ln>
        </p:spPr>
      </p:cxnSp>
      <p:sp>
        <p:nvSpPr>
          <p:cNvPr id="471" name="Google Shape;471;p37"/>
          <p:cNvSpPr/>
          <p:nvPr/>
        </p:nvSpPr>
        <p:spPr>
          <a:xfrm>
            <a:off x="457200" y="2697480"/>
            <a:ext cx="822960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5200"/>
              <a:buFont typeface="Arial"/>
              <a:buNone/>
            </a:pPr>
            <a:r>
              <a:rPr b="1" i="0" lang="en-US" sz="5200" u="none" cap="none" strike="noStrike">
                <a:solidFill>
                  <a:srgbClr val="C0392B"/>
                </a:solidFill>
                <a:latin typeface="Arial"/>
                <a:ea typeface="Arial"/>
                <a:cs typeface="Arial"/>
                <a:sym typeface="Arial"/>
              </a:rPr>
              <a:t>F1 = 0.203 – 0.520</a:t>
            </a:r>
            <a:endParaRPr b="0" i="0" sz="5200" u="none" cap="none" strike="noStrike">
              <a:solidFill>
                <a:schemeClr val="dk1"/>
              </a:solidFill>
              <a:latin typeface="Calibri"/>
              <a:ea typeface="Calibri"/>
              <a:cs typeface="Calibri"/>
              <a:sym typeface="Calibri"/>
            </a:endParaRPr>
          </a:p>
        </p:txBody>
      </p:sp>
      <p:sp>
        <p:nvSpPr>
          <p:cNvPr id="472" name="Google Shape;472;p37"/>
          <p:cNvSpPr/>
          <p:nvPr/>
        </p:nvSpPr>
        <p:spPr>
          <a:xfrm>
            <a:off x="457200" y="361188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500"/>
              <a:buFont typeface="Arial"/>
              <a:buNone/>
            </a:pPr>
            <a:r>
              <a:rPr b="0" i="0" lang="en-US" sz="1500" u="none" cap="none" strike="noStrike">
                <a:solidFill>
                  <a:srgbClr val="222222"/>
                </a:solidFill>
                <a:latin typeface="Arial"/>
                <a:ea typeface="Arial"/>
                <a:cs typeface="Arial"/>
                <a:sym typeface="Arial"/>
              </a:rPr>
              <a:t>actual accuracy</a:t>
            </a:r>
            <a:endParaRPr b="0" i="0" sz="1500" u="none" cap="none" strike="noStrike">
              <a:solidFill>
                <a:schemeClr val="dk1"/>
              </a:solidFill>
              <a:latin typeface="Calibri"/>
              <a:ea typeface="Calibri"/>
              <a:cs typeface="Calibri"/>
              <a:sym typeface="Calibri"/>
            </a:endParaRPr>
          </a:p>
        </p:txBody>
      </p:sp>
      <p:sp>
        <p:nvSpPr>
          <p:cNvPr id="473" name="Google Shape;473;p37"/>
          <p:cNvSpPr/>
          <p:nvPr/>
        </p:nvSpPr>
        <p:spPr>
          <a:xfrm>
            <a:off x="3657600" y="4709160"/>
            <a:ext cx="1828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p:txBody>
      </p:sp>
      <p:sp>
        <p:nvSpPr>
          <p:cNvPr id="474" name="Google Shape;474;p37"/>
          <p:cNvSpPr/>
          <p:nvPr/>
        </p:nvSpPr>
        <p:spPr>
          <a:xfrm>
            <a:off x="8229600" y="4709160"/>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pic>
        <p:nvPicPr>
          <p:cNvPr descr="umaine_logo.png" id="480" name="Google Shape;480;p38"/>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481" name="Google Shape;481;p38"/>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8"/>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Why It Happens: One Case</a:t>
            </a:r>
            <a:endParaRPr b="0" i="0" sz="1300" u="none" cap="none" strike="noStrike">
              <a:solidFill>
                <a:schemeClr val="dk1"/>
              </a:solidFill>
              <a:latin typeface="Calibri"/>
              <a:ea typeface="Calibri"/>
              <a:cs typeface="Calibri"/>
              <a:sym typeface="Calibri"/>
            </a:endParaRPr>
          </a:p>
        </p:txBody>
      </p:sp>
      <p:cxnSp>
        <p:nvCxnSpPr>
          <p:cNvPr id="483" name="Google Shape;483;p38"/>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484" name="Google Shape;484;p38"/>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485" name="Google Shape;485;p38"/>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
        <p:nvSpPr>
          <p:cNvPr id="486" name="Google Shape;486;p38"/>
          <p:cNvSpPr/>
          <p:nvPr/>
        </p:nvSpPr>
        <p:spPr>
          <a:xfrm>
            <a:off x="685800" y="1143000"/>
            <a:ext cx="7772400" cy="914400"/>
          </a:xfrm>
          <a:prstGeom prst="roundRect">
            <a:avLst>
              <a:gd fmla="val 5000"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8"/>
          <p:cNvSpPr/>
          <p:nvPr/>
        </p:nvSpPr>
        <p:spPr>
          <a:xfrm>
            <a:off x="914400" y="121615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00"/>
              <a:buFont typeface="Arial"/>
              <a:buNone/>
            </a:pPr>
            <a:r>
              <a:rPr b="1" i="0" lang="en-US" sz="800" u="none" cap="none" strike="noStrike">
                <a:solidFill>
                  <a:srgbClr val="222222"/>
                </a:solidFill>
                <a:latin typeface="Arial"/>
                <a:ea typeface="Arial"/>
                <a:cs typeface="Arial"/>
                <a:sym typeface="Arial"/>
              </a:rPr>
              <a:t>THE NFR</a:t>
            </a:r>
            <a:endParaRPr b="0" i="0" sz="800" u="none" cap="none" strike="noStrike">
              <a:solidFill>
                <a:schemeClr val="dk1"/>
              </a:solidFill>
              <a:latin typeface="Calibri"/>
              <a:ea typeface="Calibri"/>
              <a:cs typeface="Calibri"/>
              <a:sym typeface="Calibri"/>
            </a:endParaRPr>
          </a:p>
        </p:txBody>
      </p:sp>
      <p:sp>
        <p:nvSpPr>
          <p:cNvPr id="488" name="Google Shape;488;p38"/>
          <p:cNvSpPr/>
          <p:nvPr/>
        </p:nvSpPr>
        <p:spPr>
          <a:xfrm>
            <a:off x="914400" y="147218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“The system shall implement procedures for creating passwords.”</a:t>
            </a:r>
            <a:endParaRPr b="0" i="0" sz="1300" u="none" cap="none" strike="noStrike">
              <a:solidFill>
                <a:schemeClr val="dk1"/>
              </a:solidFill>
              <a:latin typeface="Calibri"/>
              <a:ea typeface="Calibri"/>
              <a:cs typeface="Calibri"/>
              <a:sym typeface="Calibri"/>
            </a:endParaRPr>
          </a:p>
        </p:txBody>
      </p:sp>
      <p:pic>
        <p:nvPicPr>
          <p:cNvPr id="489" name="Google Shape;489;p3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490" name="Google Shape;490;p3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5" name="Shape 495"/>
        <p:cNvGrpSpPr/>
        <p:nvPr/>
      </p:nvGrpSpPr>
      <p:grpSpPr>
        <a:xfrm>
          <a:off x="0" y="0"/>
          <a:ext cx="0" cy="0"/>
          <a:chOff x="0" y="0"/>
          <a:chExt cx="0" cy="0"/>
        </a:xfrm>
      </p:grpSpPr>
      <p:pic>
        <p:nvPicPr>
          <p:cNvPr descr="umaine_logo.png" id="496" name="Google Shape;496;p39"/>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497" name="Google Shape;497;p39"/>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9"/>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Why It Happens: One Case</a:t>
            </a:r>
            <a:endParaRPr b="0" i="0" sz="1300" u="none" cap="none" strike="noStrike">
              <a:solidFill>
                <a:schemeClr val="dk1"/>
              </a:solidFill>
              <a:latin typeface="Calibri"/>
              <a:ea typeface="Calibri"/>
              <a:cs typeface="Calibri"/>
              <a:sym typeface="Calibri"/>
            </a:endParaRPr>
          </a:p>
        </p:txBody>
      </p:sp>
      <p:cxnSp>
        <p:nvCxnSpPr>
          <p:cNvPr id="499" name="Google Shape;499;p39"/>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500" name="Google Shape;500;p39"/>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501" name="Google Shape;501;p39"/>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
        <p:nvSpPr>
          <p:cNvPr id="502" name="Google Shape;502;p39"/>
          <p:cNvSpPr/>
          <p:nvPr/>
        </p:nvSpPr>
        <p:spPr>
          <a:xfrm>
            <a:off x="685800" y="1143000"/>
            <a:ext cx="7772400" cy="914400"/>
          </a:xfrm>
          <a:prstGeom prst="roundRect">
            <a:avLst>
              <a:gd fmla="val 5000"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9"/>
          <p:cNvSpPr/>
          <p:nvPr/>
        </p:nvSpPr>
        <p:spPr>
          <a:xfrm>
            <a:off x="914400" y="121615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00"/>
              <a:buFont typeface="Arial"/>
              <a:buNone/>
            </a:pPr>
            <a:r>
              <a:rPr b="1" i="0" lang="en-US" sz="800" u="none" cap="none" strike="noStrike">
                <a:solidFill>
                  <a:srgbClr val="222222"/>
                </a:solidFill>
                <a:latin typeface="Arial"/>
                <a:ea typeface="Arial"/>
                <a:cs typeface="Arial"/>
                <a:sym typeface="Arial"/>
              </a:rPr>
              <a:t>THE NFR</a:t>
            </a:r>
            <a:endParaRPr b="0" i="0" sz="800" u="none" cap="none" strike="noStrike">
              <a:solidFill>
                <a:schemeClr val="dk1"/>
              </a:solidFill>
              <a:latin typeface="Calibri"/>
              <a:ea typeface="Calibri"/>
              <a:cs typeface="Calibri"/>
              <a:sym typeface="Calibri"/>
            </a:endParaRPr>
          </a:p>
        </p:txBody>
      </p:sp>
      <p:sp>
        <p:nvSpPr>
          <p:cNvPr id="504" name="Google Shape;504;p39"/>
          <p:cNvSpPr/>
          <p:nvPr/>
        </p:nvSpPr>
        <p:spPr>
          <a:xfrm>
            <a:off x="914400" y="147218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“The system shall implement procedures for creating passwords.”</a:t>
            </a:r>
            <a:endParaRPr b="0" i="0" sz="1300" u="none" cap="none" strike="noStrike">
              <a:solidFill>
                <a:schemeClr val="dk1"/>
              </a:solidFill>
              <a:latin typeface="Calibri"/>
              <a:ea typeface="Calibri"/>
              <a:cs typeface="Calibri"/>
              <a:sym typeface="Calibri"/>
            </a:endParaRPr>
          </a:p>
        </p:txBody>
      </p:sp>
      <p:sp>
        <p:nvSpPr>
          <p:cNvPr id="505" name="Google Shape;505;p39"/>
          <p:cNvSpPr/>
          <p:nvPr/>
        </p:nvSpPr>
        <p:spPr>
          <a:xfrm>
            <a:off x="685800" y="2194560"/>
            <a:ext cx="7772400" cy="914400"/>
          </a:xfrm>
          <a:prstGeom prst="roundRect">
            <a:avLst>
              <a:gd fmla="val 5000" name="adj"/>
            </a:avLst>
          </a:prstGeom>
          <a:solidFill>
            <a:srgbClr val="FFFFFF"/>
          </a:solidFill>
          <a:ln cap="flat" cmpd="sng" w="1905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9"/>
          <p:cNvSpPr/>
          <p:nvPr/>
        </p:nvSpPr>
        <p:spPr>
          <a:xfrm>
            <a:off x="914400" y="2267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Arial"/>
              <a:buNone/>
            </a:pPr>
            <a:r>
              <a:rPr b="1" i="0" lang="en-US" sz="800" u="none" cap="none" strike="noStrike">
                <a:solidFill>
                  <a:srgbClr val="C0392B"/>
                </a:solidFill>
                <a:latin typeface="Arial"/>
                <a:ea typeface="Arial"/>
                <a:cs typeface="Arial"/>
                <a:sym typeface="Arial"/>
              </a:rPr>
              <a:t>THE SYSTEM SAID</a:t>
            </a:r>
            <a:endParaRPr b="0" i="0" sz="800" u="none" cap="none" strike="noStrike">
              <a:solidFill>
                <a:schemeClr val="dk1"/>
              </a:solidFill>
              <a:latin typeface="Calibri"/>
              <a:ea typeface="Calibri"/>
              <a:cs typeface="Calibri"/>
              <a:sym typeface="Calibri"/>
            </a:endParaRPr>
          </a:p>
        </p:txBody>
      </p:sp>
      <p:sp>
        <p:nvSpPr>
          <p:cNvPr id="507" name="Google Shape;507;p39"/>
          <p:cNvSpPr/>
          <p:nvPr/>
        </p:nvSpPr>
        <p:spPr>
          <a:xfrm>
            <a:off x="914400" y="252374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Cites ResetPasswordAction.java</a:t>
            </a:r>
            <a:r>
              <a:rPr lang="en-US" sz="1300">
                <a:solidFill>
                  <a:srgbClr val="222222"/>
                </a:solidFill>
              </a:rPr>
              <a:t>,</a:t>
            </a:r>
            <a:r>
              <a:rPr b="0" i="0" lang="en-US" sz="1300" u="none" cap="none" strike="noStrike">
                <a:solidFill>
                  <a:srgbClr val="222222"/>
                </a:solidFill>
                <a:latin typeface="Arial"/>
                <a:ea typeface="Arial"/>
                <a:cs typeface="Arial"/>
                <a:sym typeface="Arial"/>
              </a:rPr>
              <a:t> conflating password reset with password creation</a:t>
            </a:r>
            <a:endParaRPr b="0" i="0" sz="1300" u="none" cap="none" strike="noStrike">
              <a:solidFill>
                <a:schemeClr val="dk1"/>
              </a:solidFill>
              <a:latin typeface="Calibri"/>
              <a:ea typeface="Calibri"/>
              <a:cs typeface="Calibri"/>
              <a:sym typeface="Calibri"/>
            </a:endParaRPr>
          </a:p>
        </p:txBody>
      </p:sp>
      <p:pic>
        <p:nvPicPr>
          <p:cNvPr id="508" name="Google Shape;508;p39"/>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509" name="Google Shape;509;p39"/>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pic>
        <p:nvPicPr>
          <p:cNvPr descr="umaine_logo.png" id="515" name="Google Shape;515;p40"/>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516" name="Google Shape;516;p40"/>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0"/>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Why It Happens: One Case</a:t>
            </a:r>
            <a:endParaRPr b="0" i="0" sz="1300" u="none" cap="none" strike="noStrike">
              <a:solidFill>
                <a:schemeClr val="dk1"/>
              </a:solidFill>
              <a:latin typeface="Calibri"/>
              <a:ea typeface="Calibri"/>
              <a:cs typeface="Calibri"/>
              <a:sym typeface="Calibri"/>
            </a:endParaRPr>
          </a:p>
        </p:txBody>
      </p:sp>
      <p:cxnSp>
        <p:nvCxnSpPr>
          <p:cNvPr id="518" name="Google Shape;518;p40"/>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519" name="Google Shape;519;p40"/>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520" name="Google Shape;520;p40"/>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
        <p:nvSpPr>
          <p:cNvPr id="521" name="Google Shape;521;p40"/>
          <p:cNvSpPr/>
          <p:nvPr/>
        </p:nvSpPr>
        <p:spPr>
          <a:xfrm>
            <a:off x="685800" y="1143000"/>
            <a:ext cx="7772400" cy="914400"/>
          </a:xfrm>
          <a:prstGeom prst="roundRect">
            <a:avLst>
              <a:gd fmla="val 5000" name="adj"/>
            </a:avLst>
          </a:prstGeom>
          <a:solidFill>
            <a:srgbClr val="FFFFF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0"/>
          <p:cNvSpPr/>
          <p:nvPr/>
        </p:nvSpPr>
        <p:spPr>
          <a:xfrm>
            <a:off x="914400" y="121615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800"/>
              <a:buFont typeface="Arial"/>
              <a:buNone/>
            </a:pPr>
            <a:r>
              <a:rPr b="1" i="0" lang="en-US" sz="800" u="none" cap="none" strike="noStrike">
                <a:solidFill>
                  <a:srgbClr val="222222"/>
                </a:solidFill>
                <a:latin typeface="Arial"/>
                <a:ea typeface="Arial"/>
                <a:cs typeface="Arial"/>
                <a:sym typeface="Arial"/>
              </a:rPr>
              <a:t>THE NFR</a:t>
            </a:r>
            <a:endParaRPr b="0" i="0" sz="800" u="none" cap="none" strike="noStrike">
              <a:solidFill>
                <a:schemeClr val="dk1"/>
              </a:solidFill>
              <a:latin typeface="Calibri"/>
              <a:ea typeface="Calibri"/>
              <a:cs typeface="Calibri"/>
              <a:sym typeface="Calibri"/>
            </a:endParaRPr>
          </a:p>
        </p:txBody>
      </p:sp>
      <p:sp>
        <p:nvSpPr>
          <p:cNvPr id="523" name="Google Shape;523;p40"/>
          <p:cNvSpPr/>
          <p:nvPr/>
        </p:nvSpPr>
        <p:spPr>
          <a:xfrm>
            <a:off x="914400" y="147218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“The system shall implement procedures for creating passwords.”</a:t>
            </a:r>
            <a:endParaRPr b="0" i="0" sz="1300" u="none" cap="none" strike="noStrike">
              <a:solidFill>
                <a:schemeClr val="dk1"/>
              </a:solidFill>
              <a:latin typeface="Calibri"/>
              <a:ea typeface="Calibri"/>
              <a:cs typeface="Calibri"/>
              <a:sym typeface="Calibri"/>
            </a:endParaRPr>
          </a:p>
        </p:txBody>
      </p:sp>
      <p:sp>
        <p:nvSpPr>
          <p:cNvPr id="524" name="Google Shape;524;p40"/>
          <p:cNvSpPr/>
          <p:nvPr/>
        </p:nvSpPr>
        <p:spPr>
          <a:xfrm>
            <a:off x="685800" y="2194560"/>
            <a:ext cx="7772400" cy="914400"/>
          </a:xfrm>
          <a:prstGeom prst="roundRect">
            <a:avLst>
              <a:gd fmla="val 5000" name="adj"/>
            </a:avLst>
          </a:prstGeom>
          <a:solidFill>
            <a:srgbClr val="FFFFFF"/>
          </a:solidFill>
          <a:ln cap="flat" cmpd="sng" w="1905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0"/>
          <p:cNvSpPr/>
          <p:nvPr/>
        </p:nvSpPr>
        <p:spPr>
          <a:xfrm>
            <a:off x="914400" y="2267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Arial"/>
              <a:buNone/>
            </a:pPr>
            <a:r>
              <a:rPr b="1" i="0" lang="en-US" sz="800" u="none" cap="none" strike="noStrike">
                <a:solidFill>
                  <a:srgbClr val="C0392B"/>
                </a:solidFill>
                <a:latin typeface="Arial"/>
                <a:ea typeface="Arial"/>
                <a:cs typeface="Arial"/>
                <a:sym typeface="Arial"/>
              </a:rPr>
              <a:t>THE SYSTEM SAID</a:t>
            </a:r>
            <a:endParaRPr b="0" i="0" sz="800" u="none" cap="none" strike="noStrike">
              <a:solidFill>
                <a:schemeClr val="dk1"/>
              </a:solidFill>
              <a:latin typeface="Calibri"/>
              <a:ea typeface="Calibri"/>
              <a:cs typeface="Calibri"/>
              <a:sym typeface="Calibri"/>
            </a:endParaRPr>
          </a:p>
        </p:txBody>
      </p:sp>
      <p:sp>
        <p:nvSpPr>
          <p:cNvPr id="526" name="Google Shape;526;p40"/>
          <p:cNvSpPr/>
          <p:nvPr/>
        </p:nvSpPr>
        <p:spPr>
          <a:xfrm>
            <a:off x="914400" y="252374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Cites ResetPasswordAction.java</a:t>
            </a:r>
            <a:r>
              <a:rPr lang="en-US" sz="1300">
                <a:solidFill>
                  <a:srgbClr val="222222"/>
                </a:solidFill>
              </a:rPr>
              <a:t>:</a:t>
            </a:r>
            <a:r>
              <a:rPr b="0" i="0" lang="en-US" sz="1300" u="none" cap="none" strike="noStrike">
                <a:solidFill>
                  <a:srgbClr val="222222"/>
                </a:solidFill>
                <a:latin typeface="Arial"/>
                <a:ea typeface="Arial"/>
                <a:cs typeface="Arial"/>
                <a:sym typeface="Arial"/>
              </a:rPr>
              <a:t> conflating password reset with password creation</a:t>
            </a:r>
            <a:endParaRPr b="0" i="0" sz="1300" u="none" cap="none" strike="noStrike">
              <a:solidFill>
                <a:schemeClr val="dk1"/>
              </a:solidFill>
              <a:latin typeface="Calibri"/>
              <a:ea typeface="Calibri"/>
              <a:cs typeface="Calibri"/>
              <a:sym typeface="Calibri"/>
            </a:endParaRPr>
          </a:p>
        </p:txBody>
      </p:sp>
      <p:sp>
        <p:nvSpPr>
          <p:cNvPr id="527" name="Google Shape;527;p40"/>
          <p:cNvSpPr/>
          <p:nvPr/>
        </p:nvSpPr>
        <p:spPr>
          <a:xfrm>
            <a:off x="685800" y="3246120"/>
            <a:ext cx="7772400" cy="914400"/>
          </a:xfrm>
          <a:prstGeom prst="roundRect">
            <a:avLst>
              <a:gd fmla="val 5000" name="adj"/>
            </a:avLst>
          </a:prstGeom>
          <a:solidFill>
            <a:srgbClr val="FFFFFF"/>
          </a:solidFill>
          <a:ln cap="flat" cmpd="sng" w="1905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0"/>
          <p:cNvSpPr/>
          <p:nvPr/>
        </p:nvSpPr>
        <p:spPr>
          <a:xfrm>
            <a:off x="914400" y="331927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800"/>
              <a:buFont typeface="Arial"/>
              <a:buNone/>
            </a:pPr>
            <a:r>
              <a:rPr b="1" i="0" lang="en-US" sz="800" u="none" cap="none" strike="noStrike">
                <a:solidFill>
                  <a:srgbClr val="2E7D32"/>
                </a:solidFill>
                <a:latin typeface="Arial"/>
                <a:ea typeface="Arial"/>
                <a:cs typeface="Arial"/>
                <a:sym typeface="Arial"/>
              </a:rPr>
              <a:t>THE PARTICIPANT SAID</a:t>
            </a:r>
            <a:endParaRPr b="0" i="0" sz="800" u="none" cap="none" strike="noStrike">
              <a:solidFill>
                <a:schemeClr val="dk1"/>
              </a:solidFill>
              <a:latin typeface="Calibri"/>
              <a:ea typeface="Calibri"/>
              <a:cs typeface="Calibri"/>
              <a:sym typeface="Calibri"/>
            </a:endParaRPr>
          </a:p>
        </p:txBody>
      </p:sp>
      <p:sp>
        <p:nvSpPr>
          <p:cNvPr id="529" name="Google Shape;529;p40"/>
          <p:cNvSpPr/>
          <p:nvPr/>
        </p:nvSpPr>
        <p:spPr>
          <a:xfrm>
            <a:off x="914400" y="3575304"/>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Strongly Agree</a:t>
            </a:r>
            <a:endParaRPr b="0" i="0" sz="1300" u="none" cap="none" strike="noStrike">
              <a:solidFill>
                <a:schemeClr val="dk1"/>
              </a:solidFill>
              <a:latin typeface="Calibri"/>
              <a:ea typeface="Calibri"/>
              <a:cs typeface="Calibri"/>
              <a:sym typeface="Calibri"/>
            </a:endParaRPr>
          </a:p>
        </p:txBody>
      </p:sp>
      <p:sp>
        <p:nvSpPr>
          <p:cNvPr id="530" name="Google Shape;530;p40"/>
          <p:cNvSpPr/>
          <p:nvPr/>
        </p:nvSpPr>
        <p:spPr>
          <a:xfrm>
            <a:off x="685800" y="4206240"/>
            <a:ext cx="7772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200"/>
              <a:buFont typeface="Arial"/>
              <a:buNone/>
            </a:pPr>
            <a:r>
              <a:rPr b="1" i="1" lang="en-US" sz="1200" u="none" cap="none" strike="noStrike">
                <a:solidFill>
                  <a:srgbClr val="222222"/>
                </a:solidFill>
                <a:latin typeface="Arial"/>
                <a:ea typeface="Arial"/>
                <a:cs typeface="Arial"/>
                <a:sym typeface="Arial"/>
              </a:rPr>
              <a:t>Semantically adjacent. Functionally distinct. </a:t>
            </a:r>
            <a:r>
              <a:rPr b="1" i="1" lang="en-US" sz="1200">
                <a:solidFill>
                  <a:srgbClr val="222222"/>
                </a:solidFill>
              </a:rPr>
              <a:t>P</a:t>
            </a:r>
            <a:r>
              <a:rPr b="1" i="1" lang="en-US" sz="1200" u="none" cap="none" strike="noStrike">
                <a:solidFill>
                  <a:srgbClr val="222222"/>
                </a:solidFill>
                <a:latin typeface="Arial"/>
                <a:ea typeface="Arial"/>
                <a:cs typeface="Arial"/>
                <a:sym typeface="Arial"/>
              </a:rPr>
              <a:t>lausible</a:t>
            </a:r>
            <a:r>
              <a:rPr b="1" i="1" lang="en-US" sz="1200">
                <a:solidFill>
                  <a:srgbClr val="222222"/>
                </a:solidFill>
              </a:rPr>
              <a:t>, </a:t>
            </a:r>
            <a:r>
              <a:rPr b="1" i="1" lang="en-US" sz="1200" u="none" cap="none" strike="noStrike">
                <a:solidFill>
                  <a:srgbClr val="222222"/>
                </a:solidFill>
                <a:latin typeface="Arial"/>
                <a:ea typeface="Arial"/>
                <a:cs typeface="Arial"/>
                <a:sym typeface="Arial"/>
              </a:rPr>
              <a:t>and wrong.</a:t>
            </a:r>
            <a:endParaRPr b="0" i="0" sz="1200" u="none" cap="none" strike="noStrike">
              <a:solidFill>
                <a:schemeClr val="dk1"/>
              </a:solidFill>
              <a:latin typeface="Calibri"/>
              <a:ea typeface="Calibri"/>
              <a:cs typeface="Calibri"/>
              <a:sym typeface="Calibri"/>
            </a:endParaRPr>
          </a:p>
        </p:txBody>
      </p:sp>
      <p:pic>
        <p:nvPicPr>
          <p:cNvPr id="531" name="Google Shape;531;p40"/>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532" name="Google Shape;532;p40"/>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pic>
        <p:nvPicPr>
          <p:cNvPr descr="umaine_logo.png" id="538" name="Google Shape;538;g3f5d2f75d88_0_22"/>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539" name="Google Shape;539;g3f5d2f75d88_0_22"/>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f5d2f75d88_0_22"/>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lang="en-US" sz="1300">
                <a:solidFill>
                  <a:srgbClr val="222222"/>
                </a:solidFill>
              </a:rPr>
              <a:t>RQ2: Modeling User Satisfaction: </a:t>
            </a:r>
            <a:r>
              <a:rPr b="1" i="0" lang="en-US" sz="1300" u="none" cap="none" strike="noStrike">
                <a:solidFill>
                  <a:srgbClr val="222222"/>
                </a:solidFill>
                <a:latin typeface="Arial"/>
                <a:ea typeface="Arial"/>
                <a:cs typeface="Arial"/>
                <a:sym typeface="Arial"/>
              </a:rPr>
              <a:t>The PARADISE Framework</a:t>
            </a:r>
            <a:endParaRPr b="0" i="0" sz="1300" u="none" cap="none" strike="noStrike">
              <a:solidFill>
                <a:schemeClr val="dk1"/>
              </a:solidFill>
              <a:latin typeface="Calibri"/>
              <a:ea typeface="Calibri"/>
              <a:cs typeface="Calibri"/>
              <a:sym typeface="Calibri"/>
            </a:endParaRPr>
          </a:p>
        </p:txBody>
      </p:sp>
      <p:cxnSp>
        <p:nvCxnSpPr>
          <p:cNvPr id="541" name="Google Shape;541;g3f5d2f75d88_0_22"/>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542" name="Google Shape;542;g3f5d2f75d88_0_22"/>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Walker et al. "PARADISE: A general framework for evaluating spoken dialogue agents." ACL 1997</a:t>
            </a:r>
            <a:endParaRPr b="0" i="0" sz="600" u="none" cap="none" strike="noStrike">
              <a:solidFill>
                <a:schemeClr val="dk1"/>
              </a:solidFill>
              <a:latin typeface="Calibri"/>
              <a:ea typeface="Calibri"/>
              <a:cs typeface="Calibri"/>
              <a:sym typeface="Calibri"/>
            </a:endParaRPr>
          </a:p>
        </p:txBody>
      </p:sp>
      <p:sp>
        <p:nvSpPr>
          <p:cNvPr id="543" name="Google Shape;543;g3f5d2f75d88_0_22"/>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544" name="Google Shape;544;g3f5d2f75d88_0_22"/>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
        <p:nvSpPr>
          <p:cNvPr id="545" name="Google Shape;545;g3f5d2f75d88_0_22"/>
          <p:cNvSpPr/>
          <p:nvPr/>
        </p:nvSpPr>
        <p:spPr>
          <a:xfrm>
            <a:off x="685800" y="841248"/>
            <a:ext cx="7772400" cy="475500"/>
          </a:xfrm>
          <a:prstGeom prst="roundRect">
            <a:avLst>
              <a:gd fmla="val 9615"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f5d2f75d88_0_22"/>
          <p:cNvSpPr/>
          <p:nvPr/>
        </p:nvSpPr>
        <p:spPr>
          <a:xfrm>
            <a:off x="914400" y="841248"/>
            <a:ext cx="7315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Premise:  </a:t>
            </a:r>
            <a:r>
              <a:rPr b="0" i="0" lang="en-US" sz="1200" u="none" cap="none" strike="noStrike">
                <a:solidFill>
                  <a:srgbClr val="222222"/>
                </a:solidFill>
                <a:latin typeface="Arial"/>
                <a:ea typeface="Arial"/>
                <a:cs typeface="Arial"/>
                <a:sym typeface="Arial"/>
              </a:rPr>
              <a:t>a dialogue system’s primary objective is to maximize user satisfaction.</a:t>
            </a:r>
            <a:endParaRPr b="0" i="0" sz="1200" u="none" cap="none" strike="noStrike">
              <a:solidFill>
                <a:schemeClr val="dk1"/>
              </a:solidFill>
              <a:latin typeface="Calibri"/>
              <a:ea typeface="Calibri"/>
              <a:cs typeface="Calibri"/>
              <a:sym typeface="Calibri"/>
            </a:endParaRPr>
          </a:p>
        </p:txBody>
      </p:sp>
      <p:sp>
        <p:nvSpPr>
          <p:cNvPr id="547" name="Google Shape;547;g3f5d2f75d88_0_22"/>
          <p:cNvSpPr/>
          <p:nvPr/>
        </p:nvSpPr>
        <p:spPr>
          <a:xfrm>
            <a:off x="685800" y="1508760"/>
            <a:ext cx="7772400" cy="841200"/>
          </a:xfrm>
          <a:prstGeom prst="roundRect">
            <a:avLst>
              <a:gd fmla="val 6522"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3f5d2f75d88_0_22"/>
          <p:cNvSpPr/>
          <p:nvPr/>
        </p:nvSpPr>
        <p:spPr>
          <a:xfrm>
            <a:off x="685800" y="1508760"/>
            <a:ext cx="7772400" cy="8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2200"/>
              <a:buFont typeface="Arial"/>
              <a:buNone/>
            </a:pPr>
            <a:r>
              <a:rPr b="1" i="0" lang="en-US" sz="2200" u="none" cap="none" strike="noStrike">
                <a:solidFill>
                  <a:srgbClr val="222222"/>
                </a:solidFill>
                <a:latin typeface="Arial"/>
                <a:ea typeface="Arial"/>
                <a:cs typeface="Arial"/>
                <a:sym typeface="Arial"/>
              </a:rPr>
              <a:t>Performance  =  α · N(κ)  −  Σ wᵢ · N(cᵢ)</a:t>
            </a:r>
            <a:endParaRPr b="0" i="0" sz="2200" u="none" cap="none" strike="noStrike">
              <a:solidFill>
                <a:schemeClr val="dk1"/>
              </a:solidFill>
              <a:latin typeface="Calibri"/>
              <a:ea typeface="Calibri"/>
              <a:cs typeface="Calibri"/>
              <a:sym typeface="Calibri"/>
            </a:endParaRPr>
          </a:p>
        </p:txBody>
      </p:sp>
      <p:sp>
        <p:nvSpPr>
          <p:cNvPr id="549" name="Google Shape;549;g3f5d2f75d88_0_22"/>
          <p:cNvSpPr/>
          <p:nvPr/>
        </p:nvSpPr>
        <p:spPr>
          <a:xfrm>
            <a:off x="685800" y="2377440"/>
            <a:ext cx="7772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κ = task success (from a confusion matrix)   ·   cᵢ = dialogue costs   ·   wᵢ = learned weights   ·   N = Z-score normalization</a:t>
            </a:r>
            <a:endParaRPr b="0" i="0" sz="900" u="none" cap="none" strike="noStrike">
              <a:solidFill>
                <a:schemeClr val="dk1"/>
              </a:solidFill>
              <a:latin typeface="Calibri"/>
              <a:ea typeface="Calibri"/>
              <a:cs typeface="Calibri"/>
              <a:sym typeface="Calibri"/>
            </a:endParaRPr>
          </a:p>
        </p:txBody>
      </p:sp>
      <p:sp>
        <p:nvSpPr>
          <p:cNvPr id="550" name="Google Shape;550;g3f5d2f75d88_0_22"/>
          <p:cNvSpPr/>
          <p:nvPr/>
        </p:nvSpPr>
        <p:spPr>
          <a:xfrm>
            <a:off x="685800" y="2880360"/>
            <a:ext cx="3749100" cy="1298400"/>
          </a:xfrm>
          <a:prstGeom prst="roundRect">
            <a:avLst>
              <a:gd fmla="val 4225" name="adj"/>
            </a:avLst>
          </a:prstGeom>
          <a:solidFill>
            <a:srgbClr val="FFFFFF"/>
          </a:solidFill>
          <a:ln cap="flat" cmpd="sng" w="1587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g3f5d2f75d88_0_22"/>
          <p:cNvSpPr/>
          <p:nvPr/>
        </p:nvSpPr>
        <p:spPr>
          <a:xfrm>
            <a:off x="685800" y="2880360"/>
            <a:ext cx="3749100" cy="402300"/>
          </a:xfrm>
          <a:prstGeom prst="roundRect">
            <a:avLst>
              <a:gd fmla="val 1363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3f5d2f75d88_0_22"/>
          <p:cNvSpPr/>
          <p:nvPr/>
        </p:nvSpPr>
        <p:spPr>
          <a:xfrm>
            <a:off x="685800" y="2880360"/>
            <a:ext cx="3749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rPr>
              <a:t>Dialogue</a:t>
            </a:r>
            <a:r>
              <a:rPr b="1" lang="en-US" sz="1200">
                <a:solidFill>
                  <a:srgbClr val="FFFFFF"/>
                </a:solidFill>
              </a:rPr>
              <a:t> costs</a:t>
            </a:r>
            <a:endParaRPr b="0" i="0" sz="1200" u="none" cap="none" strike="noStrike">
              <a:solidFill>
                <a:schemeClr val="dk1"/>
              </a:solidFill>
              <a:latin typeface="Calibri"/>
              <a:ea typeface="Calibri"/>
              <a:cs typeface="Calibri"/>
              <a:sym typeface="Calibri"/>
            </a:endParaRPr>
          </a:p>
        </p:txBody>
      </p:sp>
      <p:sp>
        <p:nvSpPr>
          <p:cNvPr id="553" name="Google Shape;553;g3f5d2f75d88_0_22"/>
          <p:cNvSpPr/>
          <p:nvPr/>
        </p:nvSpPr>
        <p:spPr>
          <a:xfrm>
            <a:off x="4709160" y="2880360"/>
            <a:ext cx="3749100" cy="1298400"/>
          </a:xfrm>
          <a:prstGeom prst="roundRect">
            <a:avLst>
              <a:gd fmla="val 4225" name="adj"/>
            </a:avLst>
          </a:prstGeom>
          <a:solidFill>
            <a:srgbClr val="FFFFFF"/>
          </a:solidFill>
          <a:ln cap="flat" cmpd="sng" w="1587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g3f5d2f75d88_0_22"/>
          <p:cNvSpPr/>
          <p:nvPr/>
        </p:nvSpPr>
        <p:spPr>
          <a:xfrm>
            <a:off x="868675" y="3346696"/>
            <a:ext cx="3383400" cy="75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100"/>
              <a:buFont typeface="Arial"/>
              <a:buNone/>
            </a:pPr>
            <a:r>
              <a:rPr b="1" lang="en-US" sz="1100">
                <a:solidFill>
                  <a:srgbClr val="222222"/>
                </a:solidFill>
              </a:rPr>
              <a:t>e,g,. number of turns, elapsed time, mean words per response</a:t>
            </a:r>
            <a:endParaRPr b="0" i="0" sz="1100" u="none" cap="none" strike="noStrike">
              <a:solidFill>
                <a:schemeClr val="dk1"/>
              </a:solidFill>
              <a:latin typeface="Calibri"/>
              <a:ea typeface="Calibri"/>
              <a:cs typeface="Calibri"/>
              <a:sym typeface="Calibri"/>
            </a:endParaRPr>
          </a:p>
        </p:txBody>
      </p:sp>
      <p:sp>
        <p:nvSpPr>
          <p:cNvPr id="555" name="Google Shape;555;g3f5d2f75d88_0_22"/>
          <p:cNvSpPr/>
          <p:nvPr/>
        </p:nvSpPr>
        <p:spPr>
          <a:xfrm>
            <a:off x="4709160" y="2880360"/>
            <a:ext cx="3749100" cy="402300"/>
          </a:xfrm>
          <a:prstGeom prst="roundRect">
            <a:avLst>
              <a:gd fmla="val 13636" name="adj"/>
            </a:avLst>
          </a:prstGeom>
          <a:solidFill>
            <a:srgbClr val="2E4F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3f5d2f75d88_0_22"/>
          <p:cNvSpPr/>
          <p:nvPr/>
        </p:nvSpPr>
        <p:spPr>
          <a:xfrm>
            <a:off x="4709160" y="2880360"/>
            <a:ext cx="3749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rPr>
              <a:t>Dialogue </a:t>
            </a:r>
            <a:r>
              <a:rPr b="1" lang="en-US" sz="1200">
                <a:solidFill>
                  <a:srgbClr val="FFFFFF"/>
                </a:solidFill>
              </a:rPr>
              <a:t>interaction</a:t>
            </a:r>
            <a:r>
              <a:rPr b="1" lang="en-US" sz="1200">
                <a:solidFill>
                  <a:srgbClr val="FFFFFF"/>
                </a:solidFill>
              </a:rPr>
              <a:t> patterns</a:t>
            </a:r>
            <a:endParaRPr b="0" i="0" sz="1200" u="none" cap="none" strike="noStrike">
              <a:solidFill>
                <a:schemeClr val="dk1"/>
              </a:solidFill>
              <a:latin typeface="Calibri"/>
              <a:ea typeface="Calibri"/>
              <a:cs typeface="Calibri"/>
              <a:sym typeface="Calibri"/>
            </a:endParaRPr>
          </a:p>
        </p:txBody>
      </p:sp>
      <p:sp>
        <p:nvSpPr>
          <p:cNvPr id="557" name="Google Shape;557;g3f5d2f75d88_0_22"/>
          <p:cNvSpPr/>
          <p:nvPr/>
        </p:nvSpPr>
        <p:spPr>
          <a:xfrm>
            <a:off x="4892050" y="3346696"/>
            <a:ext cx="3383400" cy="75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100"/>
              <a:buFont typeface="Arial"/>
              <a:buNone/>
            </a:pPr>
            <a:r>
              <a:rPr b="1" lang="en-US" sz="1100">
                <a:solidFill>
                  <a:srgbClr val="222222"/>
                </a:solidFill>
              </a:rPr>
              <a:t>Number of follow up turns, number of refinement turns</a:t>
            </a:r>
            <a:endParaRPr b="0" i="0" sz="1100" u="none" cap="none" strike="noStrike">
              <a:solidFill>
                <a:schemeClr val="dk1"/>
              </a:solidFill>
              <a:latin typeface="Calibri"/>
              <a:ea typeface="Calibri"/>
              <a:cs typeface="Calibri"/>
              <a:sym typeface="Calibri"/>
            </a:endParaRPr>
          </a:p>
        </p:txBody>
      </p:sp>
      <p:pic>
        <p:nvPicPr>
          <p:cNvPr id="558" name="Google Shape;558;g3f5d2f75d88_0_22"/>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559" name="Google Shape;559;g3f5d2f75d88_0_22"/>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4" name="Shape 564"/>
        <p:cNvGrpSpPr/>
        <p:nvPr/>
      </p:nvGrpSpPr>
      <p:grpSpPr>
        <a:xfrm>
          <a:off x="0" y="0"/>
          <a:ext cx="0" cy="0"/>
          <a:chOff x="0" y="0"/>
          <a:chExt cx="0" cy="0"/>
        </a:xfrm>
      </p:grpSpPr>
      <p:pic>
        <p:nvPicPr>
          <p:cNvPr descr="umaine_logo.png" id="565" name="Google Shape;565;p41"/>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566" name="Google Shape;566;p41"/>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RQ2: Modeling User Satisfaction</a:t>
            </a:r>
            <a:endParaRPr b="0" i="0" sz="1300" u="none" cap="none" strike="noStrike">
              <a:solidFill>
                <a:schemeClr val="dk1"/>
              </a:solidFill>
              <a:latin typeface="Calibri"/>
              <a:ea typeface="Calibri"/>
              <a:cs typeface="Calibri"/>
              <a:sym typeface="Calibri"/>
            </a:endParaRPr>
          </a:p>
        </p:txBody>
      </p:sp>
      <p:cxnSp>
        <p:nvCxnSpPr>
          <p:cNvPr id="568" name="Google Shape;568;p41"/>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569" name="Google Shape;569;p41"/>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570" name="Google Shape;570;p41"/>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571" name="Google Shape;571;p41"/>
          <p:cNvSpPr/>
          <p:nvPr/>
        </p:nvSpPr>
        <p:spPr>
          <a:xfrm>
            <a:off x="685800" y="960120"/>
            <a:ext cx="7772400" cy="50292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1"/>
          <p:cNvSpPr/>
          <p:nvPr/>
        </p:nvSpPr>
        <p:spPr>
          <a:xfrm>
            <a:off x="685800" y="960120"/>
            <a:ext cx="7772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PARADISE  ·  21 candidate predictors  ·  32 dialogues  ·  backward elimination  →  3 survivors</a:t>
            </a:r>
            <a:endParaRPr b="0" i="0" sz="1100" u="none" cap="none" strike="noStrike">
              <a:solidFill>
                <a:schemeClr val="dk1"/>
              </a:solidFill>
              <a:latin typeface="Calibri"/>
              <a:ea typeface="Calibri"/>
              <a:cs typeface="Calibri"/>
              <a:sym typeface="Calibri"/>
            </a:endParaRPr>
          </a:p>
        </p:txBody>
      </p:sp>
      <p:pic>
        <p:nvPicPr>
          <p:cNvPr id="573" name="Google Shape;573;p41"/>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574" name="Google Shape;574;p41"/>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pic>
        <p:nvPicPr>
          <p:cNvPr descr="umaine_logo.png" id="580" name="Google Shape;580;p42"/>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581" name="Google Shape;581;p42"/>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RQ2: Modeling User Satisfaction</a:t>
            </a:r>
            <a:endParaRPr b="0" i="0" sz="1300" u="none" cap="none" strike="noStrike">
              <a:solidFill>
                <a:schemeClr val="dk1"/>
              </a:solidFill>
              <a:latin typeface="Calibri"/>
              <a:ea typeface="Calibri"/>
              <a:cs typeface="Calibri"/>
              <a:sym typeface="Calibri"/>
            </a:endParaRPr>
          </a:p>
        </p:txBody>
      </p:sp>
      <p:cxnSp>
        <p:nvCxnSpPr>
          <p:cNvPr id="583" name="Google Shape;583;p42"/>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584" name="Google Shape;584;p42"/>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585" name="Google Shape;585;p42"/>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586" name="Google Shape;586;p42"/>
          <p:cNvSpPr/>
          <p:nvPr/>
        </p:nvSpPr>
        <p:spPr>
          <a:xfrm>
            <a:off x="685800" y="960120"/>
            <a:ext cx="7772400" cy="50292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2"/>
          <p:cNvSpPr/>
          <p:nvPr/>
        </p:nvSpPr>
        <p:spPr>
          <a:xfrm>
            <a:off x="685800" y="960120"/>
            <a:ext cx="7772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PARADISE  ·  21 candidate predictors  ·  32 dialogues  ·  backward elimination  →  3 survivors</a:t>
            </a:r>
            <a:endParaRPr b="0" i="0" sz="1100" u="none" cap="none" strike="noStrike">
              <a:solidFill>
                <a:schemeClr val="dk1"/>
              </a:solidFill>
              <a:latin typeface="Calibri"/>
              <a:ea typeface="Calibri"/>
              <a:cs typeface="Calibri"/>
              <a:sym typeface="Calibri"/>
            </a:endParaRPr>
          </a:p>
        </p:txBody>
      </p:sp>
      <p:sp>
        <p:nvSpPr>
          <p:cNvPr id="588" name="Google Shape;588;p42"/>
          <p:cNvSpPr/>
          <p:nvPr/>
        </p:nvSpPr>
        <p:spPr>
          <a:xfrm>
            <a:off x="685800" y="1783080"/>
            <a:ext cx="1280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500"/>
              <a:buFont typeface="Arial"/>
              <a:buNone/>
            </a:pPr>
            <a:r>
              <a:rPr b="1" i="0" lang="en-US" sz="1500" u="none" cap="none" strike="noStrike">
                <a:solidFill>
                  <a:srgbClr val="222222"/>
                </a:solidFill>
                <a:latin typeface="Arial"/>
                <a:ea typeface="Arial"/>
                <a:cs typeface="Arial"/>
                <a:sym typeface="Arial"/>
              </a:rPr>
              <a:t>N̂(US)  =</a:t>
            </a:r>
            <a:endParaRPr b="0" i="0" sz="1500" u="none" cap="none" strike="noStrike">
              <a:solidFill>
                <a:schemeClr val="dk1"/>
              </a:solidFill>
              <a:latin typeface="Calibri"/>
              <a:ea typeface="Calibri"/>
              <a:cs typeface="Calibri"/>
              <a:sym typeface="Calibri"/>
            </a:endParaRPr>
          </a:p>
        </p:txBody>
      </p:sp>
      <p:sp>
        <p:nvSpPr>
          <p:cNvPr id="589" name="Google Shape;589;p42"/>
          <p:cNvSpPr/>
          <p:nvPr/>
        </p:nvSpPr>
        <p:spPr>
          <a:xfrm>
            <a:off x="2011680" y="1783080"/>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900"/>
              <a:buFont typeface="Arial"/>
              <a:buNone/>
            </a:pPr>
            <a:r>
              <a:rPr b="1" i="0" lang="en-US" sz="1900" u="none" cap="none" strike="noStrike">
                <a:solidFill>
                  <a:srgbClr val="C0392B"/>
                </a:solidFill>
                <a:latin typeface="Arial"/>
                <a:ea typeface="Arial"/>
                <a:cs typeface="Arial"/>
                <a:sym typeface="Arial"/>
              </a:rPr>
              <a:t>− 0.583</a:t>
            </a:r>
            <a:endParaRPr b="0" i="0" sz="1900" u="none" cap="none" strike="noStrike">
              <a:solidFill>
                <a:schemeClr val="dk1"/>
              </a:solidFill>
              <a:latin typeface="Calibri"/>
              <a:ea typeface="Calibri"/>
              <a:cs typeface="Calibri"/>
              <a:sym typeface="Calibri"/>
            </a:endParaRPr>
          </a:p>
        </p:txBody>
      </p:sp>
      <p:sp>
        <p:nvSpPr>
          <p:cNvPr id="590" name="Google Shape;590;p42"/>
          <p:cNvSpPr/>
          <p:nvPr/>
        </p:nvSpPr>
        <p:spPr>
          <a:xfrm>
            <a:off x="3383280" y="178308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N(Mean Words per Response)</a:t>
            </a:r>
            <a:endParaRPr b="0" i="0" sz="1300" u="none" cap="none" strike="noStrike">
              <a:solidFill>
                <a:schemeClr val="dk1"/>
              </a:solidFill>
              <a:latin typeface="Calibri"/>
              <a:ea typeface="Calibri"/>
              <a:cs typeface="Calibri"/>
              <a:sym typeface="Calibri"/>
            </a:endParaRPr>
          </a:p>
        </p:txBody>
      </p:sp>
      <p:sp>
        <p:nvSpPr>
          <p:cNvPr id="591" name="Google Shape;591;p42"/>
          <p:cNvSpPr/>
          <p:nvPr/>
        </p:nvSpPr>
        <p:spPr>
          <a:xfrm>
            <a:off x="6583680" y="1783080"/>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Arial"/>
              <a:buNone/>
            </a:pPr>
            <a:r>
              <a:rPr b="0" i="1" lang="en-US" sz="1000" u="none" cap="none" strike="noStrike">
                <a:solidFill>
                  <a:srgbClr val="C0392B"/>
                </a:solidFill>
                <a:latin typeface="Arial"/>
                <a:ea typeface="Arial"/>
                <a:cs typeface="Arial"/>
                <a:sym typeface="Arial"/>
              </a:rPr>
              <a:t>Verbosity hurts</a:t>
            </a:r>
            <a:endParaRPr b="0" i="0" sz="1000" u="none" cap="none" strike="noStrike">
              <a:solidFill>
                <a:schemeClr val="dk1"/>
              </a:solidFill>
              <a:latin typeface="Calibri"/>
              <a:ea typeface="Calibri"/>
              <a:cs typeface="Calibri"/>
              <a:sym typeface="Calibri"/>
            </a:endParaRPr>
          </a:p>
        </p:txBody>
      </p:sp>
      <p:pic>
        <p:nvPicPr>
          <p:cNvPr id="592" name="Google Shape;592;p42"/>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593" name="Google Shape;593;p42"/>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pic>
        <p:nvPicPr>
          <p:cNvPr descr="umaine_logo.png" id="599" name="Google Shape;599;p43"/>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600" name="Google Shape;600;p43"/>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3"/>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RQ2: Modeling User Satisfaction</a:t>
            </a:r>
            <a:endParaRPr b="0" i="0" sz="1300" u="none" cap="none" strike="noStrike">
              <a:solidFill>
                <a:schemeClr val="dk1"/>
              </a:solidFill>
              <a:latin typeface="Calibri"/>
              <a:ea typeface="Calibri"/>
              <a:cs typeface="Calibri"/>
              <a:sym typeface="Calibri"/>
            </a:endParaRPr>
          </a:p>
        </p:txBody>
      </p:sp>
      <p:cxnSp>
        <p:nvCxnSpPr>
          <p:cNvPr id="602" name="Google Shape;602;p43"/>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603" name="Google Shape;603;p43"/>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604" name="Google Shape;604;p43"/>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605" name="Google Shape;605;p43"/>
          <p:cNvSpPr/>
          <p:nvPr/>
        </p:nvSpPr>
        <p:spPr>
          <a:xfrm>
            <a:off x="685800" y="960120"/>
            <a:ext cx="7772400" cy="50292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3"/>
          <p:cNvSpPr/>
          <p:nvPr/>
        </p:nvSpPr>
        <p:spPr>
          <a:xfrm>
            <a:off x="685800" y="960120"/>
            <a:ext cx="7772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PARADISE  ·  21 candidate predictors  ·  32 dialogues  ·  backward elimination  →  3 survivors</a:t>
            </a:r>
            <a:endParaRPr b="0" i="0" sz="1100" u="none" cap="none" strike="noStrike">
              <a:solidFill>
                <a:schemeClr val="dk1"/>
              </a:solidFill>
              <a:latin typeface="Calibri"/>
              <a:ea typeface="Calibri"/>
              <a:cs typeface="Calibri"/>
              <a:sym typeface="Calibri"/>
            </a:endParaRPr>
          </a:p>
        </p:txBody>
      </p:sp>
      <p:sp>
        <p:nvSpPr>
          <p:cNvPr id="607" name="Google Shape;607;p43"/>
          <p:cNvSpPr/>
          <p:nvPr/>
        </p:nvSpPr>
        <p:spPr>
          <a:xfrm>
            <a:off x="685800" y="1783080"/>
            <a:ext cx="1280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500"/>
              <a:buFont typeface="Arial"/>
              <a:buNone/>
            </a:pPr>
            <a:r>
              <a:rPr b="1" i="0" lang="en-US" sz="1500" u="none" cap="none" strike="noStrike">
                <a:solidFill>
                  <a:srgbClr val="222222"/>
                </a:solidFill>
                <a:latin typeface="Arial"/>
                <a:ea typeface="Arial"/>
                <a:cs typeface="Arial"/>
                <a:sym typeface="Arial"/>
              </a:rPr>
              <a:t>N̂(US)  =</a:t>
            </a:r>
            <a:endParaRPr b="0" i="0" sz="1500" u="none" cap="none" strike="noStrike">
              <a:solidFill>
                <a:schemeClr val="dk1"/>
              </a:solidFill>
              <a:latin typeface="Calibri"/>
              <a:ea typeface="Calibri"/>
              <a:cs typeface="Calibri"/>
              <a:sym typeface="Calibri"/>
            </a:endParaRPr>
          </a:p>
        </p:txBody>
      </p:sp>
      <p:sp>
        <p:nvSpPr>
          <p:cNvPr id="608" name="Google Shape;608;p43"/>
          <p:cNvSpPr/>
          <p:nvPr/>
        </p:nvSpPr>
        <p:spPr>
          <a:xfrm>
            <a:off x="2011680" y="1783080"/>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900"/>
              <a:buFont typeface="Arial"/>
              <a:buNone/>
            </a:pPr>
            <a:r>
              <a:rPr b="1" i="0" lang="en-US" sz="1900" u="none" cap="none" strike="noStrike">
                <a:solidFill>
                  <a:srgbClr val="C0392B"/>
                </a:solidFill>
                <a:latin typeface="Arial"/>
                <a:ea typeface="Arial"/>
                <a:cs typeface="Arial"/>
                <a:sym typeface="Arial"/>
              </a:rPr>
              <a:t>− 0.583</a:t>
            </a:r>
            <a:endParaRPr b="0" i="0" sz="1900" u="none" cap="none" strike="noStrike">
              <a:solidFill>
                <a:schemeClr val="dk1"/>
              </a:solidFill>
              <a:latin typeface="Calibri"/>
              <a:ea typeface="Calibri"/>
              <a:cs typeface="Calibri"/>
              <a:sym typeface="Calibri"/>
            </a:endParaRPr>
          </a:p>
        </p:txBody>
      </p:sp>
      <p:sp>
        <p:nvSpPr>
          <p:cNvPr id="609" name="Google Shape;609;p43"/>
          <p:cNvSpPr/>
          <p:nvPr/>
        </p:nvSpPr>
        <p:spPr>
          <a:xfrm>
            <a:off x="3383280" y="178308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N(Mean Words per Response)</a:t>
            </a:r>
            <a:endParaRPr b="0" i="0" sz="1300" u="none" cap="none" strike="noStrike">
              <a:solidFill>
                <a:schemeClr val="dk1"/>
              </a:solidFill>
              <a:latin typeface="Calibri"/>
              <a:ea typeface="Calibri"/>
              <a:cs typeface="Calibri"/>
              <a:sym typeface="Calibri"/>
            </a:endParaRPr>
          </a:p>
        </p:txBody>
      </p:sp>
      <p:sp>
        <p:nvSpPr>
          <p:cNvPr id="610" name="Google Shape;610;p43"/>
          <p:cNvSpPr/>
          <p:nvPr/>
        </p:nvSpPr>
        <p:spPr>
          <a:xfrm>
            <a:off x="6583680" y="1783080"/>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Arial"/>
              <a:buNone/>
            </a:pPr>
            <a:r>
              <a:rPr b="0" i="1" lang="en-US" sz="1000" u="none" cap="none" strike="noStrike">
                <a:solidFill>
                  <a:srgbClr val="C0392B"/>
                </a:solidFill>
                <a:latin typeface="Arial"/>
                <a:ea typeface="Arial"/>
                <a:cs typeface="Arial"/>
                <a:sym typeface="Arial"/>
              </a:rPr>
              <a:t>Verbosity hurts</a:t>
            </a:r>
            <a:endParaRPr b="0" i="0" sz="1000" u="none" cap="none" strike="noStrike">
              <a:solidFill>
                <a:schemeClr val="dk1"/>
              </a:solidFill>
              <a:latin typeface="Calibri"/>
              <a:ea typeface="Calibri"/>
              <a:cs typeface="Calibri"/>
              <a:sym typeface="Calibri"/>
            </a:endParaRPr>
          </a:p>
        </p:txBody>
      </p:sp>
      <p:sp>
        <p:nvSpPr>
          <p:cNvPr id="611" name="Google Shape;611;p43"/>
          <p:cNvSpPr/>
          <p:nvPr/>
        </p:nvSpPr>
        <p:spPr>
          <a:xfrm>
            <a:off x="2011680" y="2532888"/>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900"/>
              <a:buFont typeface="Arial"/>
              <a:buNone/>
            </a:pPr>
            <a:r>
              <a:rPr b="1" i="0" lang="en-US" sz="1900" u="none" cap="none" strike="noStrike">
                <a:solidFill>
                  <a:srgbClr val="C0392B"/>
                </a:solidFill>
                <a:latin typeface="Arial"/>
                <a:ea typeface="Arial"/>
                <a:cs typeface="Arial"/>
                <a:sym typeface="Arial"/>
              </a:rPr>
              <a:t>− 0.485</a:t>
            </a:r>
            <a:endParaRPr b="0" i="0" sz="1900" u="none" cap="none" strike="noStrike">
              <a:solidFill>
                <a:schemeClr val="dk1"/>
              </a:solidFill>
              <a:latin typeface="Calibri"/>
              <a:ea typeface="Calibri"/>
              <a:cs typeface="Calibri"/>
              <a:sym typeface="Calibri"/>
            </a:endParaRPr>
          </a:p>
        </p:txBody>
      </p:sp>
      <p:sp>
        <p:nvSpPr>
          <p:cNvPr id="612" name="Google Shape;612;p43"/>
          <p:cNvSpPr/>
          <p:nvPr/>
        </p:nvSpPr>
        <p:spPr>
          <a:xfrm>
            <a:off x="3383280" y="2532888"/>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N(Given Data)</a:t>
            </a:r>
            <a:endParaRPr b="0" i="0" sz="1300" u="none" cap="none" strike="noStrike">
              <a:solidFill>
                <a:schemeClr val="dk1"/>
              </a:solidFill>
              <a:latin typeface="Calibri"/>
              <a:ea typeface="Calibri"/>
              <a:cs typeface="Calibri"/>
              <a:sym typeface="Calibri"/>
            </a:endParaRPr>
          </a:p>
        </p:txBody>
      </p:sp>
      <p:sp>
        <p:nvSpPr>
          <p:cNvPr id="613" name="Google Shape;613;p43"/>
          <p:cNvSpPr/>
          <p:nvPr/>
        </p:nvSpPr>
        <p:spPr>
          <a:xfrm>
            <a:off x="6583680" y="2532888"/>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Arial"/>
              <a:buNone/>
            </a:pPr>
            <a:r>
              <a:rPr b="0" i="1" lang="en-US" sz="1000" u="none" cap="none" strike="noStrike">
                <a:solidFill>
                  <a:srgbClr val="C0392B"/>
                </a:solidFill>
                <a:latin typeface="Arial"/>
                <a:ea typeface="Arial"/>
                <a:cs typeface="Arial"/>
                <a:sym typeface="Arial"/>
              </a:rPr>
              <a:t>Information-dumping hurts</a:t>
            </a:r>
            <a:endParaRPr b="0" i="0" sz="1000" u="none" cap="none" strike="noStrike">
              <a:solidFill>
                <a:schemeClr val="dk1"/>
              </a:solidFill>
              <a:latin typeface="Calibri"/>
              <a:ea typeface="Calibri"/>
              <a:cs typeface="Calibri"/>
              <a:sym typeface="Calibri"/>
            </a:endParaRPr>
          </a:p>
        </p:txBody>
      </p:sp>
      <p:pic>
        <p:nvPicPr>
          <p:cNvPr id="614" name="Google Shape;614;p43"/>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615" name="Google Shape;615;p43"/>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pic>
        <p:nvPicPr>
          <p:cNvPr descr="umaine_logo.png" id="621" name="Google Shape;621;p44"/>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622" name="Google Shape;622;p44"/>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RQ2: Modeling User Satisfaction</a:t>
            </a:r>
            <a:endParaRPr b="0" i="0" sz="1300" u="none" cap="none" strike="noStrike">
              <a:solidFill>
                <a:schemeClr val="dk1"/>
              </a:solidFill>
              <a:latin typeface="Calibri"/>
              <a:ea typeface="Calibri"/>
              <a:cs typeface="Calibri"/>
              <a:sym typeface="Calibri"/>
            </a:endParaRPr>
          </a:p>
        </p:txBody>
      </p:sp>
      <p:cxnSp>
        <p:nvCxnSpPr>
          <p:cNvPr id="624" name="Google Shape;624;p44"/>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625" name="Google Shape;625;p44"/>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626" name="Google Shape;626;p44"/>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627" name="Google Shape;627;p44"/>
          <p:cNvSpPr/>
          <p:nvPr/>
        </p:nvSpPr>
        <p:spPr>
          <a:xfrm>
            <a:off x="685800" y="960120"/>
            <a:ext cx="7772400" cy="50292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4"/>
          <p:cNvSpPr/>
          <p:nvPr/>
        </p:nvSpPr>
        <p:spPr>
          <a:xfrm>
            <a:off x="685800" y="960120"/>
            <a:ext cx="7772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PARADISE  ·  21 candidate predictors  ·  32 dialogues  ·  backward elimination  →  3 survivors</a:t>
            </a:r>
            <a:endParaRPr b="0" i="0" sz="1100" u="none" cap="none" strike="noStrike">
              <a:solidFill>
                <a:schemeClr val="dk1"/>
              </a:solidFill>
              <a:latin typeface="Calibri"/>
              <a:ea typeface="Calibri"/>
              <a:cs typeface="Calibri"/>
              <a:sym typeface="Calibri"/>
            </a:endParaRPr>
          </a:p>
        </p:txBody>
      </p:sp>
      <p:sp>
        <p:nvSpPr>
          <p:cNvPr id="629" name="Google Shape;629;p44"/>
          <p:cNvSpPr/>
          <p:nvPr/>
        </p:nvSpPr>
        <p:spPr>
          <a:xfrm>
            <a:off x="685800" y="1783080"/>
            <a:ext cx="12801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500"/>
              <a:buFont typeface="Arial"/>
              <a:buNone/>
            </a:pPr>
            <a:r>
              <a:rPr b="1" i="0" lang="en-US" sz="1500" u="none" cap="none" strike="noStrike">
                <a:solidFill>
                  <a:srgbClr val="222222"/>
                </a:solidFill>
                <a:latin typeface="Arial"/>
                <a:ea typeface="Arial"/>
                <a:cs typeface="Arial"/>
                <a:sym typeface="Arial"/>
              </a:rPr>
              <a:t>N̂(US)  =</a:t>
            </a:r>
            <a:endParaRPr b="0" i="0" sz="1500" u="none" cap="none" strike="noStrike">
              <a:solidFill>
                <a:schemeClr val="dk1"/>
              </a:solidFill>
              <a:latin typeface="Calibri"/>
              <a:ea typeface="Calibri"/>
              <a:cs typeface="Calibri"/>
              <a:sym typeface="Calibri"/>
            </a:endParaRPr>
          </a:p>
        </p:txBody>
      </p:sp>
      <p:sp>
        <p:nvSpPr>
          <p:cNvPr id="630" name="Google Shape;630;p44"/>
          <p:cNvSpPr/>
          <p:nvPr/>
        </p:nvSpPr>
        <p:spPr>
          <a:xfrm>
            <a:off x="2011680" y="1783080"/>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900"/>
              <a:buFont typeface="Arial"/>
              <a:buNone/>
            </a:pPr>
            <a:r>
              <a:rPr b="1" i="0" lang="en-US" sz="1900" u="none" cap="none" strike="noStrike">
                <a:solidFill>
                  <a:srgbClr val="C0392B"/>
                </a:solidFill>
                <a:latin typeface="Arial"/>
                <a:ea typeface="Arial"/>
                <a:cs typeface="Arial"/>
                <a:sym typeface="Arial"/>
              </a:rPr>
              <a:t>− 0.583</a:t>
            </a:r>
            <a:endParaRPr b="0" i="0" sz="1900" u="none" cap="none" strike="noStrike">
              <a:solidFill>
                <a:schemeClr val="dk1"/>
              </a:solidFill>
              <a:latin typeface="Calibri"/>
              <a:ea typeface="Calibri"/>
              <a:cs typeface="Calibri"/>
              <a:sym typeface="Calibri"/>
            </a:endParaRPr>
          </a:p>
        </p:txBody>
      </p:sp>
      <p:sp>
        <p:nvSpPr>
          <p:cNvPr id="631" name="Google Shape;631;p44"/>
          <p:cNvSpPr/>
          <p:nvPr/>
        </p:nvSpPr>
        <p:spPr>
          <a:xfrm>
            <a:off x="3383280" y="1783080"/>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N(Mean Words per Response)</a:t>
            </a:r>
            <a:endParaRPr b="0" i="0" sz="1300" u="none" cap="none" strike="noStrike">
              <a:solidFill>
                <a:schemeClr val="dk1"/>
              </a:solidFill>
              <a:latin typeface="Calibri"/>
              <a:ea typeface="Calibri"/>
              <a:cs typeface="Calibri"/>
              <a:sym typeface="Calibri"/>
            </a:endParaRPr>
          </a:p>
        </p:txBody>
      </p:sp>
      <p:sp>
        <p:nvSpPr>
          <p:cNvPr id="632" name="Google Shape;632;p44"/>
          <p:cNvSpPr/>
          <p:nvPr/>
        </p:nvSpPr>
        <p:spPr>
          <a:xfrm>
            <a:off x="6583680" y="1783080"/>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Arial"/>
              <a:buNone/>
            </a:pPr>
            <a:r>
              <a:rPr b="0" i="1" lang="en-US" sz="1000" u="none" cap="none" strike="noStrike">
                <a:solidFill>
                  <a:srgbClr val="C0392B"/>
                </a:solidFill>
                <a:latin typeface="Arial"/>
                <a:ea typeface="Arial"/>
                <a:cs typeface="Arial"/>
                <a:sym typeface="Arial"/>
              </a:rPr>
              <a:t>Verbosity hurts</a:t>
            </a:r>
            <a:endParaRPr b="0" i="0" sz="1000" u="none" cap="none" strike="noStrike">
              <a:solidFill>
                <a:schemeClr val="dk1"/>
              </a:solidFill>
              <a:latin typeface="Calibri"/>
              <a:ea typeface="Calibri"/>
              <a:cs typeface="Calibri"/>
              <a:sym typeface="Calibri"/>
            </a:endParaRPr>
          </a:p>
        </p:txBody>
      </p:sp>
      <p:sp>
        <p:nvSpPr>
          <p:cNvPr id="633" name="Google Shape;633;p44"/>
          <p:cNvSpPr/>
          <p:nvPr/>
        </p:nvSpPr>
        <p:spPr>
          <a:xfrm>
            <a:off x="2011680" y="2532888"/>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900"/>
              <a:buFont typeface="Arial"/>
              <a:buNone/>
            </a:pPr>
            <a:r>
              <a:rPr b="1" i="0" lang="en-US" sz="1900" u="none" cap="none" strike="noStrike">
                <a:solidFill>
                  <a:srgbClr val="C0392B"/>
                </a:solidFill>
                <a:latin typeface="Arial"/>
                <a:ea typeface="Arial"/>
                <a:cs typeface="Arial"/>
                <a:sym typeface="Arial"/>
              </a:rPr>
              <a:t>− 0.485</a:t>
            </a:r>
            <a:endParaRPr b="0" i="0" sz="1900" u="none" cap="none" strike="noStrike">
              <a:solidFill>
                <a:schemeClr val="dk1"/>
              </a:solidFill>
              <a:latin typeface="Calibri"/>
              <a:ea typeface="Calibri"/>
              <a:cs typeface="Calibri"/>
              <a:sym typeface="Calibri"/>
            </a:endParaRPr>
          </a:p>
        </p:txBody>
      </p:sp>
      <p:sp>
        <p:nvSpPr>
          <p:cNvPr id="634" name="Google Shape;634;p44"/>
          <p:cNvSpPr/>
          <p:nvPr/>
        </p:nvSpPr>
        <p:spPr>
          <a:xfrm>
            <a:off x="3383280" y="2532888"/>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N(Given Data)</a:t>
            </a:r>
            <a:endParaRPr b="0" i="0" sz="1300" u="none" cap="none" strike="noStrike">
              <a:solidFill>
                <a:schemeClr val="dk1"/>
              </a:solidFill>
              <a:latin typeface="Calibri"/>
              <a:ea typeface="Calibri"/>
              <a:cs typeface="Calibri"/>
              <a:sym typeface="Calibri"/>
            </a:endParaRPr>
          </a:p>
        </p:txBody>
      </p:sp>
      <p:sp>
        <p:nvSpPr>
          <p:cNvPr id="635" name="Google Shape;635;p44"/>
          <p:cNvSpPr/>
          <p:nvPr/>
        </p:nvSpPr>
        <p:spPr>
          <a:xfrm>
            <a:off x="6583680" y="2532888"/>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Arial"/>
              <a:buNone/>
            </a:pPr>
            <a:r>
              <a:rPr b="0" i="1" lang="en-US" sz="1000" u="none" cap="none" strike="noStrike">
                <a:solidFill>
                  <a:srgbClr val="C0392B"/>
                </a:solidFill>
                <a:latin typeface="Arial"/>
                <a:ea typeface="Arial"/>
                <a:cs typeface="Arial"/>
                <a:sym typeface="Arial"/>
              </a:rPr>
              <a:t>Information-dumping hurts</a:t>
            </a:r>
            <a:endParaRPr b="0" i="0" sz="1000" u="none" cap="none" strike="noStrike">
              <a:solidFill>
                <a:schemeClr val="dk1"/>
              </a:solidFill>
              <a:latin typeface="Calibri"/>
              <a:ea typeface="Calibri"/>
              <a:cs typeface="Calibri"/>
              <a:sym typeface="Calibri"/>
            </a:endParaRPr>
          </a:p>
        </p:txBody>
      </p:sp>
      <p:sp>
        <p:nvSpPr>
          <p:cNvPr id="636" name="Google Shape;636;p44"/>
          <p:cNvSpPr/>
          <p:nvPr/>
        </p:nvSpPr>
        <p:spPr>
          <a:xfrm>
            <a:off x="2011680" y="3282696"/>
            <a:ext cx="123444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32"/>
              </a:buClr>
              <a:buSzPts val="1900"/>
              <a:buFont typeface="Arial"/>
              <a:buNone/>
            </a:pPr>
            <a:r>
              <a:rPr b="1" i="0" lang="en-US" sz="1900" u="none" cap="none" strike="noStrike">
                <a:solidFill>
                  <a:srgbClr val="2E7D32"/>
                </a:solidFill>
                <a:latin typeface="Arial"/>
                <a:ea typeface="Arial"/>
                <a:cs typeface="Arial"/>
                <a:sym typeface="Arial"/>
              </a:rPr>
              <a:t>+ 0.422</a:t>
            </a:r>
            <a:endParaRPr b="0" i="0" sz="1900" u="none" cap="none" strike="noStrike">
              <a:solidFill>
                <a:schemeClr val="dk1"/>
              </a:solidFill>
              <a:latin typeface="Calibri"/>
              <a:ea typeface="Calibri"/>
              <a:cs typeface="Calibri"/>
              <a:sym typeface="Calibri"/>
            </a:endParaRPr>
          </a:p>
        </p:txBody>
      </p:sp>
      <p:sp>
        <p:nvSpPr>
          <p:cNvPr id="637" name="Google Shape;637;p44"/>
          <p:cNvSpPr/>
          <p:nvPr/>
        </p:nvSpPr>
        <p:spPr>
          <a:xfrm>
            <a:off x="3383280" y="3282696"/>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0" i="0" lang="en-US" sz="1300" u="none" cap="none" strike="noStrike">
                <a:solidFill>
                  <a:srgbClr val="222222"/>
                </a:solidFill>
                <a:latin typeface="Arial"/>
                <a:ea typeface="Arial"/>
                <a:cs typeface="Arial"/>
                <a:sym typeface="Arial"/>
              </a:rPr>
              <a:t>·  N(Proactive Interaction)</a:t>
            </a:r>
            <a:endParaRPr b="0" i="0" sz="1300" u="none" cap="none" strike="noStrike">
              <a:solidFill>
                <a:schemeClr val="dk1"/>
              </a:solidFill>
              <a:latin typeface="Calibri"/>
              <a:ea typeface="Calibri"/>
              <a:cs typeface="Calibri"/>
              <a:sym typeface="Calibri"/>
            </a:endParaRPr>
          </a:p>
        </p:txBody>
      </p:sp>
      <p:sp>
        <p:nvSpPr>
          <p:cNvPr id="638" name="Google Shape;638;p44"/>
          <p:cNvSpPr/>
          <p:nvPr/>
        </p:nvSpPr>
        <p:spPr>
          <a:xfrm>
            <a:off x="6583680" y="3282696"/>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00"/>
              <a:buFont typeface="Arial"/>
              <a:buNone/>
            </a:pPr>
            <a:r>
              <a:rPr b="0" i="1" lang="en-US" sz="1000" u="none" cap="none" strike="noStrike">
                <a:solidFill>
                  <a:srgbClr val="2E7D32"/>
                </a:solidFill>
                <a:latin typeface="Arial"/>
                <a:ea typeface="Arial"/>
                <a:cs typeface="Arial"/>
                <a:sym typeface="Arial"/>
              </a:rPr>
              <a:t>Taking initiative helps</a:t>
            </a:r>
            <a:endParaRPr b="0" i="0" sz="1000" u="none" cap="none" strike="noStrike">
              <a:solidFill>
                <a:schemeClr val="dk1"/>
              </a:solidFill>
              <a:latin typeface="Calibri"/>
              <a:ea typeface="Calibri"/>
              <a:cs typeface="Calibri"/>
              <a:sym typeface="Calibri"/>
            </a:endParaRPr>
          </a:p>
        </p:txBody>
      </p:sp>
      <p:sp>
        <p:nvSpPr>
          <p:cNvPr id="639" name="Google Shape;639;p44"/>
          <p:cNvSpPr/>
          <p:nvPr/>
        </p:nvSpPr>
        <p:spPr>
          <a:xfrm>
            <a:off x="685800" y="3913632"/>
            <a:ext cx="7772400" cy="475500"/>
          </a:xfrm>
          <a:prstGeom prst="roundRect">
            <a:avLst>
              <a:gd fmla="val 9615" name="adj"/>
            </a:avLst>
          </a:prstGeom>
          <a:solidFill>
            <a:srgbClr val="FD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4"/>
          <p:cNvSpPr/>
          <p:nvPr/>
        </p:nvSpPr>
        <p:spPr>
          <a:xfrm>
            <a:off x="685800" y="3913632"/>
            <a:ext cx="77724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100"/>
              <a:buFont typeface="Arial"/>
              <a:buNone/>
            </a:pPr>
            <a:r>
              <a:rPr b="1" i="0" lang="en-US" sz="1100" u="none" cap="none" strike="noStrike">
                <a:solidFill>
                  <a:srgbClr val="C0392B"/>
                </a:solidFill>
                <a:latin typeface="Arial"/>
                <a:ea typeface="Arial"/>
                <a:cs typeface="Arial"/>
                <a:sym typeface="Arial"/>
              </a:rPr>
              <a:t>Not in the model:  task success.  Whether the system was right did not predict satisfaction.</a:t>
            </a:r>
            <a:endParaRPr b="0" i="0" sz="1100" u="none" cap="none" strike="noStrike">
              <a:solidFill>
                <a:schemeClr val="dk1"/>
              </a:solidFill>
              <a:latin typeface="Calibri"/>
              <a:ea typeface="Calibri"/>
              <a:cs typeface="Calibri"/>
              <a:sym typeface="Calibri"/>
            </a:endParaRPr>
          </a:p>
        </p:txBody>
      </p:sp>
      <p:pic>
        <p:nvPicPr>
          <p:cNvPr id="641" name="Google Shape;641;p44"/>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642" name="Google Shape;642;p44"/>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7" name="Shape 647"/>
        <p:cNvGrpSpPr/>
        <p:nvPr/>
      </p:nvGrpSpPr>
      <p:grpSpPr>
        <a:xfrm>
          <a:off x="0" y="0"/>
          <a:ext cx="0" cy="0"/>
          <a:chOff x="0" y="0"/>
          <a:chExt cx="0" cy="0"/>
        </a:xfrm>
      </p:grpSpPr>
      <p:pic>
        <p:nvPicPr>
          <p:cNvPr descr="umaine_logo.png" id="648" name="Google Shape;648;p47"/>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649" name="Google Shape;649;p47"/>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7"/>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Summary</a:t>
            </a:r>
            <a:endParaRPr b="0" i="0" sz="1300" u="none" cap="none" strike="noStrike">
              <a:solidFill>
                <a:schemeClr val="dk1"/>
              </a:solidFill>
              <a:latin typeface="Calibri"/>
              <a:ea typeface="Calibri"/>
              <a:cs typeface="Calibri"/>
              <a:sym typeface="Calibri"/>
            </a:endParaRPr>
          </a:p>
        </p:txBody>
      </p:sp>
      <p:cxnSp>
        <p:nvCxnSpPr>
          <p:cNvPr id="651" name="Google Shape;651;p47"/>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652" name="Google Shape;652;p47"/>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653" name="Google Shape;653;p47"/>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18</a:t>
            </a:r>
            <a:endParaRPr b="0" i="0" sz="700" u="none" cap="none" strike="noStrike">
              <a:solidFill>
                <a:schemeClr val="dk1"/>
              </a:solidFill>
              <a:latin typeface="Calibri"/>
              <a:ea typeface="Calibri"/>
              <a:cs typeface="Calibri"/>
              <a:sym typeface="Calibri"/>
            </a:endParaRPr>
          </a:p>
        </p:txBody>
      </p:sp>
      <p:sp>
        <p:nvSpPr>
          <p:cNvPr id="654" name="Google Shape;654;p47"/>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7"/>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56" name="Google Shape;656;p47"/>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7"/>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91–94% agreement, F1 of 0.203–0.520 against expert ground truth</a:t>
            </a:r>
            <a:endParaRPr b="0" i="0" sz="1200" u="none" cap="none" strike="noStrike">
              <a:solidFill>
                <a:schemeClr val="dk1"/>
              </a:solidFill>
              <a:latin typeface="Calibri"/>
              <a:ea typeface="Calibri"/>
              <a:cs typeface="Calibri"/>
              <a:sym typeface="Calibri"/>
            </a:endParaRPr>
          </a:p>
        </p:txBody>
      </p:sp>
      <p:pic>
        <p:nvPicPr>
          <p:cNvPr id="658" name="Google Shape;658;p47"/>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659" name="Google Shape;659;p47"/>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4" name="Shape 664"/>
        <p:cNvGrpSpPr/>
        <p:nvPr/>
      </p:nvGrpSpPr>
      <p:grpSpPr>
        <a:xfrm>
          <a:off x="0" y="0"/>
          <a:ext cx="0" cy="0"/>
          <a:chOff x="0" y="0"/>
          <a:chExt cx="0" cy="0"/>
        </a:xfrm>
      </p:grpSpPr>
      <p:pic>
        <p:nvPicPr>
          <p:cNvPr descr="umaine_logo.png" id="665" name="Google Shape;665;p48"/>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666" name="Google Shape;666;p48"/>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8"/>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Summary</a:t>
            </a:r>
            <a:endParaRPr b="0" i="0" sz="1300" u="none" cap="none" strike="noStrike">
              <a:solidFill>
                <a:schemeClr val="dk1"/>
              </a:solidFill>
              <a:latin typeface="Calibri"/>
              <a:ea typeface="Calibri"/>
              <a:cs typeface="Calibri"/>
              <a:sym typeface="Calibri"/>
            </a:endParaRPr>
          </a:p>
        </p:txBody>
      </p:sp>
      <p:cxnSp>
        <p:nvCxnSpPr>
          <p:cNvPr id="668" name="Google Shape;668;p48"/>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669" name="Google Shape;669;p48"/>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670" name="Google Shape;670;p48"/>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18</a:t>
            </a:r>
            <a:endParaRPr b="0" i="0" sz="700" u="none" cap="none" strike="noStrike">
              <a:solidFill>
                <a:schemeClr val="dk1"/>
              </a:solidFill>
              <a:latin typeface="Calibri"/>
              <a:ea typeface="Calibri"/>
              <a:cs typeface="Calibri"/>
              <a:sym typeface="Calibri"/>
            </a:endParaRPr>
          </a:p>
        </p:txBody>
      </p:sp>
      <p:sp>
        <p:nvSpPr>
          <p:cNvPr id="671" name="Google Shape;671;p48"/>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8"/>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73" name="Google Shape;673;p48"/>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8"/>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91–94% agreement, F1 of 0.203–0.520 against expert ground truth</a:t>
            </a:r>
            <a:endParaRPr b="0" i="0" sz="1200" u="none" cap="none" strike="noStrike">
              <a:solidFill>
                <a:schemeClr val="dk1"/>
              </a:solidFill>
              <a:latin typeface="Calibri"/>
              <a:ea typeface="Calibri"/>
              <a:cs typeface="Calibri"/>
              <a:sym typeface="Calibri"/>
            </a:endParaRPr>
          </a:p>
        </p:txBody>
      </p:sp>
      <p:pic>
        <p:nvPicPr>
          <p:cNvPr id="675" name="Google Shape;675;p4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676" name="Google Shape;676;p48"/>
          <p:cNvPicPr preferRelativeResize="0"/>
          <p:nvPr/>
        </p:nvPicPr>
        <p:blipFill>
          <a:blip r:embed="rId5">
            <a:alphaModFix/>
          </a:blip>
          <a:stretch>
            <a:fillRect/>
          </a:stretch>
        </p:blipFill>
        <p:spPr>
          <a:xfrm>
            <a:off x="5973275" y="134425"/>
            <a:ext cx="364676" cy="365752"/>
          </a:xfrm>
          <a:prstGeom prst="rect">
            <a:avLst/>
          </a:prstGeom>
          <a:noFill/>
          <a:ln>
            <a:noFill/>
          </a:ln>
        </p:spPr>
      </p:pic>
      <p:sp>
        <p:nvSpPr>
          <p:cNvPr id="677" name="Google Shape;677;p48"/>
          <p:cNvSpPr/>
          <p:nvPr/>
        </p:nvSpPr>
        <p:spPr>
          <a:xfrm>
            <a:off x="941832" y="1842516"/>
            <a:ext cx="274200" cy="2742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8"/>
          <p:cNvSpPr/>
          <p:nvPr/>
        </p:nvSpPr>
        <p:spPr>
          <a:xfrm>
            <a:off x="941832" y="184251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679" name="Google Shape;679;p48"/>
          <p:cNvSpPr/>
          <p:nvPr/>
        </p:nvSpPr>
        <p:spPr>
          <a:xfrm>
            <a:off x="1417325" y="1801377"/>
            <a:ext cx="7223700" cy="434100"/>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8"/>
          <p:cNvSpPr/>
          <p:nvPr/>
        </p:nvSpPr>
        <p:spPr>
          <a:xfrm>
            <a:off x="1545311" y="1840068"/>
            <a:ext cx="6967800" cy="35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Satisfaction is driven by </a:t>
            </a:r>
            <a:r>
              <a:rPr lang="en-US" sz="1200">
                <a:solidFill>
                  <a:srgbClr val="FFFFFF"/>
                </a:solidFill>
              </a:rPr>
              <a:t>number of given data turns, mean word per turn and</a:t>
            </a:r>
            <a:r>
              <a:rPr b="0" i="0" lang="en-US" sz="1200" u="none" cap="none" strike="noStrike">
                <a:solidFill>
                  <a:srgbClr val="FFFFFF"/>
                </a:solidFill>
                <a:latin typeface="Arial"/>
                <a:ea typeface="Arial"/>
                <a:cs typeface="Arial"/>
                <a:sym typeface="Arial"/>
              </a:rPr>
              <a:t>  proactiv</a:t>
            </a:r>
            <a:r>
              <a:rPr lang="en-US" sz="1200">
                <a:solidFill>
                  <a:srgbClr val="FFFFFF"/>
                </a:solidFill>
              </a:rPr>
              <a:t>e interaction</a:t>
            </a:r>
            <a:endParaRPr sz="1200">
              <a:solidFill>
                <a:srgbClr val="FFFFFF"/>
              </a:solidFill>
            </a:endParaRPr>
          </a:p>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 not by being correct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pic>
        <p:nvPicPr>
          <p:cNvPr descr="umaine_logo.png" id="686" name="Google Shape;686;p49"/>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687" name="Google Shape;687;p49"/>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9"/>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Summary</a:t>
            </a:r>
            <a:endParaRPr b="0" i="0" sz="1300" u="none" cap="none" strike="noStrike">
              <a:solidFill>
                <a:schemeClr val="dk1"/>
              </a:solidFill>
              <a:latin typeface="Calibri"/>
              <a:ea typeface="Calibri"/>
              <a:cs typeface="Calibri"/>
              <a:sym typeface="Calibri"/>
            </a:endParaRPr>
          </a:p>
        </p:txBody>
      </p:sp>
      <p:cxnSp>
        <p:nvCxnSpPr>
          <p:cNvPr id="689" name="Google Shape;689;p49"/>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690" name="Google Shape;690;p49"/>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691" name="Google Shape;691;p49"/>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18</a:t>
            </a:r>
            <a:endParaRPr b="0" i="0" sz="700" u="none" cap="none" strike="noStrike">
              <a:solidFill>
                <a:schemeClr val="dk1"/>
              </a:solidFill>
              <a:latin typeface="Calibri"/>
              <a:ea typeface="Calibri"/>
              <a:cs typeface="Calibri"/>
              <a:sym typeface="Calibri"/>
            </a:endParaRPr>
          </a:p>
        </p:txBody>
      </p:sp>
      <p:sp>
        <p:nvSpPr>
          <p:cNvPr id="692" name="Google Shape;692;p49"/>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9"/>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694" name="Google Shape;694;p49"/>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9"/>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91–94% agreement, F1 of 0.203–0.520 against expert ground truth</a:t>
            </a:r>
            <a:endParaRPr b="0" i="0" sz="1200" u="none" cap="none" strike="noStrike">
              <a:solidFill>
                <a:schemeClr val="dk1"/>
              </a:solidFill>
              <a:latin typeface="Calibri"/>
              <a:ea typeface="Calibri"/>
              <a:cs typeface="Calibri"/>
              <a:sym typeface="Calibri"/>
            </a:endParaRPr>
          </a:p>
        </p:txBody>
      </p:sp>
      <p:sp>
        <p:nvSpPr>
          <p:cNvPr id="696" name="Google Shape;696;p49"/>
          <p:cNvSpPr/>
          <p:nvPr/>
        </p:nvSpPr>
        <p:spPr>
          <a:xfrm>
            <a:off x="941832" y="1842516"/>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9"/>
          <p:cNvSpPr/>
          <p:nvPr/>
        </p:nvSpPr>
        <p:spPr>
          <a:xfrm>
            <a:off x="941832" y="18425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698" name="Google Shape;698;p49"/>
          <p:cNvSpPr/>
          <p:nvPr/>
        </p:nvSpPr>
        <p:spPr>
          <a:xfrm>
            <a:off x="1417325" y="1801377"/>
            <a:ext cx="7223700" cy="434100"/>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9"/>
          <p:cNvSpPr/>
          <p:nvPr/>
        </p:nvSpPr>
        <p:spPr>
          <a:xfrm>
            <a:off x="1545311" y="1840068"/>
            <a:ext cx="6967800" cy="35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Satisfaction is driven by </a:t>
            </a:r>
            <a:r>
              <a:rPr lang="en-US" sz="1200">
                <a:solidFill>
                  <a:srgbClr val="FFFFFF"/>
                </a:solidFill>
              </a:rPr>
              <a:t>number of given data turns, mean word per turn and</a:t>
            </a:r>
            <a:r>
              <a:rPr b="0" i="0" lang="en-US" sz="1200" u="none" cap="none" strike="noStrike">
                <a:solidFill>
                  <a:srgbClr val="FFFFFF"/>
                </a:solidFill>
                <a:latin typeface="Arial"/>
                <a:ea typeface="Arial"/>
                <a:cs typeface="Arial"/>
                <a:sym typeface="Arial"/>
              </a:rPr>
              <a:t>  proactiv</a:t>
            </a:r>
            <a:r>
              <a:rPr lang="en-US" sz="1200">
                <a:solidFill>
                  <a:srgbClr val="FFFFFF"/>
                </a:solidFill>
              </a:rPr>
              <a:t>e interaction</a:t>
            </a:r>
            <a:endParaRPr sz="1200">
              <a:solidFill>
                <a:srgbClr val="FFFFFF"/>
              </a:solidFill>
            </a:endParaRPr>
          </a:p>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 not by being correct</a:t>
            </a:r>
            <a:endParaRPr b="0" i="0" sz="1200" u="none" cap="none" strike="noStrike">
              <a:solidFill>
                <a:schemeClr val="dk1"/>
              </a:solidFill>
              <a:latin typeface="Calibri"/>
              <a:ea typeface="Calibri"/>
              <a:cs typeface="Calibri"/>
              <a:sym typeface="Calibri"/>
            </a:endParaRPr>
          </a:p>
        </p:txBody>
      </p:sp>
      <p:sp>
        <p:nvSpPr>
          <p:cNvPr id="700" name="Google Shape;700;p49"/>
          <p:cNvSpPr/>
          <p:nvPr/>
        </p:nvSpPr>
        <p:spPr>
          <a:xfrm>
            <a:off x="941832" y="2409444"/>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9"/>
          <p:cNvSpPr/>
          <p:nvPr/>
        </p:nvSpPr>
        <p:spPr>
          <a:xfrm>
            <a:off x="941832" y="24094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702" name="Google Shape;702;p49"/>
          <p:cNvSpPr/>
          <p:nvPr/>
        </p:nvSpPr>
        <p:spPr>
          <a:xfrm>
            <a:off x="1417320" y="2368296"/>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9"/>
          <p:cNvSpPr/>
          <p:nvPr/>
        </p:nvSpPr>
        <p:spPr>
          <a:xfrm>
            <a:off x="1545336" y="2368296"/>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Corpus + annotated dialogues open-source: github.com/</a:t>
            </a:r>
            <a:r>
              <a:rPr lang="en-US" sz="1200">
                <a:solidFill>
                  <a:srgbClr val="FFFFFF"/>
                </a:solidFill>
              </a:rPr>
              <a:t>PERC-Lab</a:t>
            </a:r>
            <a:r>
              <a:rPr b="0" i="0" lang="en-US" sz="1200" u="none" cap="none" strike="noStrike">
                <a:solidFill>
                  <a:srgbClr val="FFFFFF"/>
                </a:solidFill>
                <a:latin typeface="Arial"/>
                <a:ea typeface="Arial"/>
                <a:cs typeface="Arial"/>
                <a:sym typeface="Arial"/>
              </a:rPr>
              <a:t>/DialogueNFR</a:t>
            </a:r>
            <a:endParaRPr b="0" i="0" sz="1200" u="none" cap="none" strike="noStrike">
              <a:solidFill>
                <a:schemeClr val="dk1"/>
              </a:solidFill>
              <a:latin typeface="Calibri"/>
              <a:ea typeface="Calibri"/>
              <a:cs typeface="Calibri"/>
              <a:sym typeface="Calibri"/>
            </a:endParaRPr>
          </a:p>
        </p:txBody>
      </p:sp>
      <p:pic>
        <p:nvPicPr>
          <p:cNvPr id="704" name="Google Shape;704;p49"/>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705" name="Google Shape;705;p49"/>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f578cb17a1_0_629"/>
          <p:cNvSpPr txBox="1"/>
          <p:nvPr>
            <p:ph idx="1" type="subTitle"/>
          </p:nvPr>
        </p:nvSpPr>
        <p:spPr>
          <a:xfrm>
            <a:off x="2371500" y="2093775"/>
            <a:ext cx="3554100" cy="7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8A8A8A"/>
              </a:buClr>
              <a:buSzPts val="1600"/>
              <a:buFont typeface="Arial"/>
              <a:buNone/>
            </a:pPr>
            <a:r>
              <a:rPr lang="en-US" sz="2200">
                <a:solidFill>
                  <a:srgbClr val="8A8A8A"/>
                </a:solidFill>
              </a:rPr>
              <a:t>Any questions?</a:t>
            </a:r>
            <a:endParaRPr b="1" i="1" sz="4200">
              <a:solidFill>
                <a:schemeClr val="dk1"/>
              </a:solidFill>
              <a:latin typeface="Lora"/>
              <a:ea typeface="Lora"/>
              <a:cs typeface="Lora"/>
              <a:sym typeface="Lora"/>
            </a:endParaRPr>
          </a:p>
          <a:p>
            <a:pPr indent="0" lvl="0" marL="0" marR="0" rtl="0" algn="l">
              <a:lnSpc>
                <a:spcPct val="100000"/>
              </a:lnSpc>
              <a:spcBef>
                <a:spcPts val="600"/>
              </a:spcBef>
              <a:spcAft>
                <a:spcPts val="0"/>
              </a:spcAft>
              <a:buClr>
                <a:schemeClr val="accent1"/>
              </a:buClr>
              <a:buSzPts val="24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600"/>
              </a:spcBef>
              <a:spcAft>
                <a:spcPts val="0"/>
              </a:spcAft>
              <a:buClr>
                <a:schemeClr val="accent1"/>
              </a:buClr>
              <a:buSzPts val="2400"/>
              <a:buFont typeface="Quattrocento Sans"/>
              <a:buNone/>
            </a:pPr>
            <a:r>
              <a:rPr b="0" i="0" lang="en-US" sz="1800" u="none" cap="none" strike="noStrike">
                <a:solidFill>
                  <a:schemeClr val="dk1"/>
                </a:solidFill>
                <a:latin typeface="Quattrocento Sans"/>
                <a:ea typeface="Quattrocento Sans"/>
                <a:cs typeface="Quattrocento Sans"/>
                <a:sym typeface="Quattrocento Sans"/>
              </a:rPr>
              <a:t>You can contact </a:t>
            </a:r>
            <a:r>
              <a:rPr lang="en-US" sz="1800">
                <a:solidFill>
                  <a:schemeClr val="dk1"/>
                </a:solidFill>
                <a:latin typeface="Quattrocento Sans"/>
                <a:ea typeface="Quattrocento Sans"/>
                <a:cs typeface="Quattrocento Sans"/>
                <a:sym typeface="Quattrocento Sans"/>
              </a:rPr>
              <a:t>me</a:t>
            </a:r>
            <a:r>
              <a:rPr b="0" i="0" lang="en-US" sz="1800" u="none" cap="none" strike="noStrike">
                <a:solidFill>
                  <a:schemeClr val="dk1"/>
                </a:solidFill>
                <a:latin typeface="Quattrocento Sans"/>
                <a:ea typeface="Quattrocento Sans"/>
                <a:cs typeface="Quattrocento Sans"/>
                <a:sym typeface="Quattrocento Sans"/>
              </a:rPr>
              <a:t> at</a:t>
            </a:r>
            <a:endParaRPr b="0" i="0" sz="1800" u="none" cap="none" strike="noStrike">
              <a:solidFill>
                <a:schemeClr val="dk1"/>
              </a:solidFill>
              <a:latin typeface="Quattrocento Sans"/>
              <a:ea typeface="Quattrocento Sans"/>
              <a:cs typeface="Quattrocento Sans"/>
              <a:sym typeface="Quattrocento Sans"/>
            </a:endParaRPr>
          </a:p>
          <a:p>
            <a:pPr indent="-342900" lvl="0" marL="457200" marR="0" rtl="0" algn="l">
              <a:lnSpc>
                <a:spcPct val="100000"/>
              </a:lnSpc>
              <a:spcBef>
                <a:spcPts val="600"/>
              </a:spcBef>
              <a:spcAft>
                <a:spcPts val="0"/>
              </a:spcAft>
              <a:buClr>
                <a:schemeClr val="accent1"/>
              </a:buClr>
              <a:buSzPts val="1800"/>
              <a:buFont typeface="Quattrocento Sans"/>
              <a:buChar char="◉"/>
            </a:pPr>
            <a:r>
              <a:rPr lang="en-US" sz="1800">
                <a:solidFill>
                  <a:schemeClr val="dk1"/>
                </a:solidFill>
                <a:latin typeface="Quattrocento Sans"/>
                <a:ea typeface="Quattrocento Sans"/>
                <a:cs typeface="Quattrocento Sans"/>
                <a:sym typeface="Quattrocento Sans"/>
              </a:rPr>
              <a:t>ali.pourghasemi@maine.edu</a:t>
            </a:r>
            <a:endParaRPr b="0" i="0" sz="1800" u="none" cap="none" strike="noStrike">
              <a:solidFill>
                <a:schemeClr val="dk1"/>
              </a:solidFill>
              <a:latin typeface="Quattrocento Sans"/>
              <a:ea typeface="Quattrocento Sans"/>
              <a:cs typeface="Quattrocento Sans"/>
              <a:sym typeface="Quattrocento Sans"/>
            </a:endParaRPr>
          </a:p>
        </p:txBody>
      </p:sp>
      <p:cxnSp>
        <p:nvCxnSpPr>
          <p:cNvPr id="711" name="Google Shape;711;g3f578cb17a1_0_629"/>
          <p:cNvCxnSpPr/>
          <p:nvPr/>
        </p:nvCxnSpPr>
        <p:spPr>
          <a:xfrm>
            <a:off x="6450" y="1428750"/>
            <a:ext cx="2397300" cy="0"/>
          </a:xfrm>
          <a:prstGeom prst="straightConnector1">
            <a:avLst/>
          </a:prstGeom>
          <a:noFill/>
          <a:ln cap="flat" cmpd="sng" w="9525">
            <a:solidFill>
              <a:srgbClr val="CCCCCC"/>
            </a:solidFill>
            <a:prstDash val="solid"/>
            <a:round/>
            <a:headEnd len="sm" w="sm" type="none"/>
            <a:tailEnd len="sm" w="sm" type="none"/>
          </a:ln>
        </p:spPr>
      </p:cxnSp>
      <p:sp>
        <p:nvSpPr>
          <p:cNvPr id="712" name="Google Shape;712;g3f578cb17a1_0_629"/>
          <p:cNvSpPr txBox="1"/>
          <p:nvPr>
            <p:ph type="ctrTitle"/>
          </p:nvPr>
        </p:nvSpPr>
        <p:spPr>
          <a:xfrm>
            <a:off x="2371625" y="816550"/>
            <a:ext cx="4908000" cy="115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22222"/>
              </a:buClr>
              <a:buSzPts val="4000"/>
              <a:buFont typeface="Arial"/>
              <a:buNone/>
            </a:pPr>
            <a:r>
              <a:rPr b="1" lang="en-US" sz="4000">
                <a:solidFill>
                  <a:srgbClr val="222222"/>
                </a:solidFill>
              </a:rPr>
              <a:t>Thanks!</a:t>
            </a:r>
            <a:endParaRPr b="1" sz="6000">
              <a:solidFill>
                <a:schemeClr val="dk1"/>
              </a:solidFill>
              <a:latin typeface="Lora"/>
              <a:ea typeface="Lora"/>
              <a:cs typeface="Lora"/>
              <a:sym typeface="Lora"/>
            </a:endParaRPr>
          </a:p>
        </p:txBody>
      </p:sp>
      <p:cxnSp>
        <p:nvCxnSpPr>
          <p:cNvPr id="713" name="Google Shape;713;g3f578cb17a1_0_629"/>
          <p:cNvCxnSpPr/>
          <p:nvPr/>
        </p:nvCxnSpPr>
        <p:spPr>
          <a:xfrm>
            <a:off x="5589800" y="1428750"/>
            <a:ext cx="3554100" cy="0"/>
          </a:xfrm>
          <a:prstGeom prst="straightConnector1">
            <a:avLst/>
          </a:prstGeom>
          <a:noFill/>
          <a:ln cap="flat" cmpd="sng" w="9525">
            <a:solidFill>
              <a:srgbClr val="CCCCCC"/>
            </a:solidFill>
            <a:prstDash val="solid"/>
            <a:round/>
            <a:headEnd len="sm" w="sm" type="none"/>
            <a:tailEnd len="sm" w="sm" type="none"/>
          </a:ln>
        </p:spPr>
      </p:cxnSp>
      <p:sp>
        <p:nvSpPr>
          <p:cNvPr id="714" name="Google Shape;714;g3f578cb17a1_0_629"/>
          <p:cNvSpPr/>
          <p:nvPr/>
        </p:nvSpPr>
        <p:spPr>
          <a:xfrm>
            <a:off x="831925" y="859175"/>
            <a:ext cx="1139100" cy="1139100"/>
          </a:xfrm>
          <a:prstGeom prst="ellipse">
            <a:avLst/>
          </a:prstGeom>
          <a:solidFill>
            <a:srgbClr val="FFC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5" name="Google Shape;715;g3f578cb17a1_0_629"/>
          <p:cNvGrpSpPr/>
          <p:nvPr/>
        </p:nvGrpSpPr>
        <p:grpSpPr>
          <a:xfrm>
            <a:off x="1148895" y="1190761"/>
            <a:ext cx="505722" cy="475767"/>
            <a:chOff x="5972700" y="2330200"/>
            <a:chExt cx="411625" cy="387275"/>
          </a:xfrm>
        </p:grpSpPr>
        <p:sp>
          <p:nvSpPr>
            <p:cNvPr id="716" name="Google Shape;716;g3f578cb17a1_0_629"/>
            <p:cNvSpPr/>
            <p:nvPr/>
          </p:nvSpPr>
          <p:spPr>
            <a:xfrm>
              <a:off x="5972700" y="2476950"/>
              <a:ext cx="98050" cy="219825"/>
            </a:xfrm>
            <a:custGeom>
              <a:rect b="b" l="l" r="r" t="t"/>
              <a:pathLst>
                <a:path extrusionOk="0" fill="none" h="8793" w="3922">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3f578cb17a1_0_629"/>
            <p:cNvSpPr/>
            <p:nvPr/>
          </p:nvSpPr>
          <p:spPr>
            <a:xfrm>
              <a:off x="6078025" y="2330200"/>
              <a:ext cx="306300" cy="387275"/>
            </a:xfrm>
            <a:custGeom>
              <a:rect b="b" l="l" r="r" t="t"/>
              <a:pathLst>
                <a:path extrusionOk="0" fill="none" h="15491" w="12252">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umaine_logo.png" id="718" name="Google Shape;718;g3f578cb17a1_0_629"/>
          <p:cNvPicPr preferRelativeResize="0"/>
          <p:nvPr/>
        </p:nvPicPr>
        <p:blipFill rotWithShape="1">
          <a:blip r:embed="rId3">
            <a:alphaModFix/>
          </a:blip>
          <a:srcRect b="0" l="0" r="0" t="0"/>
          <a:stretch/>
        </p:blipFill>
        <p:spPr>
          <a:xfrm>
            <a:off x="7680960" y="256032"/>
            <a:ext cx="1097280" cy="349301"/>
          </a:xfrm>
          <a:prstGeom prst="rect">
            <a:avLst/>
          </a:prstGeom>
          <a:noFill/>
          <a:ln>
            <a:noFill/>
          </a:ln>
        </p:spPr>
      </p:pic>
      <p:pic>
        <p:nvPicPr>
          <p:cNvPr id="719" name="Google Shape;719;g3f578cb17a1_0_629"/>
          <p:cNvPicPr preferRelativeResize="0"/>
          <p:nvPr/>
        </p:nvPicPr>
        <p:blipFill>
          <a:blip r:embed="rId4">
            <a:alphaModFix/>
          </a:blip>
          <a:stretch>
            <a:fillRect/>
          </a:stretch>
        </p:blipFill>
        <p:spPr>
          <a:xfrm>
            <a:off x="6256208" y="256025"/>
            <a:ext cx="1244817" cy="365750"/>
          </a:xfrm>
          <a:prstGeom prst="rect">
            <a:avLst/>
          </a:prstGeom>
          <a:noFill/>
          <a:ln>
            <a:noFill/>
          </a:ln>
        </p:spPr>
      </p:pic>
      <p:pic>
        <p:nvPicPr>
          <p:cNvPr id="720" name="Google Shape;720;g3f578cb17a1_0_629"/>
          <p:cNvPicPr preferRelativeResize="0"/>
          <p:nvPr/>
        </p:nvPicPr>
        <p:blipFill>
          <a:blip r:embed="rId5">
            <a:alphaModFix/>
          </a:blip>
          <a:stretch>
            <a:fillRect/>
          </a:stretch>
        </p:blipFill>
        <p:spPr>
          <a:xfrm>
            <a:off x="5711590" y="256025"/>
            <a:ext cx="364681" cy="365752"/>
          </a:xfrm>
          <a:prstGeom prst="rect">
            <a:avLst/>
          </a:prstGeom>
          <a:noFill/>
          <a:ln>
            <a:noFill/>
          </a:ln>
        </p:spPr>
      </p:pic>
      <p:pic>
        <p:nvPicPr>
          <p:cNvPr id="721" name="Google Shape;721;g3f578cb17a1_0_629"/>
          <p:cNvPicPr preferRelativeResize="0"/>
          <p:nvPr/>
        </p:nvPicPr>
        <p:blipFill>
          <a:blip r:embed="rId6">
            <a:alphaModFix/>
          </a:blip>
          <a:stretch>
            <a:fillRect/>
          </a:stretch>
        </p:blipFill>
        <p:spPr>
          <a:xfrm>
            <a:off x="6602945" y="2093763"/>
            <a:ext cx="2175299" cy="2656628"/>
          </a:xfrm>
          <a:prstGeom prst="rect">
            <a:avLst/>
          </a:prstGeom>
          <a:noFill/>
          <a:ln>
            <a:noFill/>
          </a:ln>
        </p:spPr>
      </p:pic>
      <p:pic>
        <p:nvPicPr>
          <p:cNvPr id="722" name="Google Shape;722;g3f578cb17a1_0_629"/>
          <p:cNvPicPr preferRelativeResize="0"/>
          <p:nvPr/>
        </p:nvPicPr>
        <p:blipFill>
          <a:blip r:embed="rId7">
            <a:alphaModFix/>
          </a:blip>
          <a:stretch>
            <a:fillRect/>
          </a:stretch>
        </p:blipFill>
        <p:spPr>
          <a:xfrm>
            <a:off x="171750" y="2093775"/>
            <a:ext cx="2175299" cy="265663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pic>
        <p:nvPicPr>
          <p:cNvPr descr="umaine_logo.png" id="728" name="Google Shape;728;g3f578cb17a1_0_554"/>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729" name="Google Shape;729;g3f578cb17a1_0_554"/>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f578cb17a1_0_554"/>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References</a:t>
            </a:r>
            <a:endParaRPr b="0" i="0" sz="1300" u="none" cap="none" strike="noStrike">
              <a:solidFill>
                <a:schemeClr val="dk1"/>
              </a:solidFill>
              <a:latin typeface="Calibri"/>
              <a:ea typeface="Calibri"/>
              <a:cs typeface="Calibri"/>
              <a:sym typeface="Calibri"/>
            </a:endParaRPr>
          </a:p>
        </p:txBody>
      </p:sp>
      <p:cxnSp>
        <p:nvCxnSpPr>
          <p:cNvPr id="731" name="Google Shape;731;g3f578cb17a1_0_554"/>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732" name="Google Shape;732;g3f578cb17a1_0_554"/>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733" name="Google Shape;733;g3f578cb17a1_0_554"/>
          <p:cNvSpPr/>
          <p:nvPr/>
        </p:nvSpPr>
        <p:spPr>
          <a:xfrm>
            <a:off x="685800" y="960120"/>
            <a:ext cx="7772400" cy="35661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Amyot, D., et al. “Evaluating goal models within the goal-oriented requirement language.” IJIS, 2010.</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Bai, G., et al. “MT-Bench-101: A fine-grained benchmark for evaluating LLMs in multi-turn dialogues.” ACL 2024.</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Burke, M. J., &amp; Dunlap, W. P. “Estimating interrater agreement with the average deviation index.” ORM, 2002.</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Hajdinjak, M., &amp; Mihelič, F. “The PARADISE evaluation framework: Issues and findings.” Comput. Ling., 2006.</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Kwan, W.-C., et al. “MT-Eval: A multi-turn capabilities evaluation benchmark for LLMs.” EMNLP 2024.</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Laban, P., et al. “LLMs get lost in multi-turn conversation.” arXiv:2505.06120, 2025.</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Meneely, A., Smith, B., &amp; Williams, L. “iTrust electronic health care system case study.” 2012.</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Walker, M., et al. “PARADISE: A framework for evaluating spoken dialogue agents.” ACL 1997.</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Zhang, T., et al. “BERTScore: Evaluating text generation with BERT.” arXiv:1904.09675, 2019.</a:t>
            </a:r>
            <a:endParaRPr b="0" i="0" sz="900" u="none" cap="none" strike="noStrike">
              <a:solidFill>
                <a:schemeClr val="dk1"/>
              </a:solidFill>
              <a:latin typeface="Calibri"/>
              <a:ea typeface="Calibri"/>
              <a:cs typeface="Calibri"/>
              <a:sym typeface="Calibri"/>
            </a:endParaRPr>
          </a:p>
        </p:txBody>
      </p:sp>
      <p:pic>
        <p:nvPicPr>
          <p:cNvPr id="734" name="Google Shape;734;g3f578cb17a1_0_554"/>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735" name="Google Shape;735;g3f578cb17a1_0_554"/>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0" name="Shape 740"/>
        <p:cNvGrpSpPr/>
        <p:nvPr/>
      </p:nvGrpSpPr>
      <p:grpSpPr>
        <a:xfrm>
          <a:off x="0" y="0"/>
          <a:ext cx="0" cy="0"/>
          <a:chOff x="0" y="0"/>
          <a:chExt cx="0" cy="0"/>
        </a:xfrm>
      </p:grpSpPr>
      <p:pic>
        <p:nvPicPr>
          <p:cNvPr descr="umaine_logo.png" id="741" name="Google Shape;741;g3f578cb17a1_0_76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742" name="Google Shape;742;g3f578cb17a1_0_76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f578cb17a1_0_76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Building the NFR Corpus</a:t>
            </a:r>
            <a:endParaRPr b="0" i="0" sz="1300" u="none" cap="none" strike="noStrike">
              <a:solidFill>
                <a:schemeClr val="dk1"/>
              </a:solidFill>
              <a:latin typeface="Calibri"/>
              <a:ea typeface="Calibri"/>
              <a:cs typeface="Calibri"/>
              <a:sym typeface="Calibri"/>
            </a:endParaRPr>
          </a:p>
        </p:txBody>
      </p:sp>
      <p:cxnSp>
        <p:nvCxnSpPr>
          <p:cNvPr id="744" name="Google Shape;744;g3f578cb17a1_0_76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745" name="Google Shape;745;g3f578cb17a1_0_76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746" name="Google Shape;746;g3f578cb17a1_0_766"/>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7</a:t>
            </a:r>
            <a:endParaRPr b="0" i="0" sz="700" u="none" cap="none" strike="noStrike">
              <a:solidFill>
                <a:schemeClr val="dk1"/>
              </a:solidFill>
              <a:latin typeface="Calibri"/>
              <a:ea typeface="Calibri"/>
              <a:cs typeface="Calibri"/>
              <a:sym typeface="Calibri"/>
            </a:endParaRPr>
          </a:p>
        </p:txBody>
      </p:sp>
      <p:sp>
        <p:nvSpPr>
          <p:cNvPr id="747" name="Google Shape;747;g3f578cb17a1_0_766"/>
          <p:cNvSpPr/>
          <p:nvPr/>
        </p:nvSpPr>
        <p:spPr>
          <a:xfrm>
            <a:off x="1417320" y="1097280"/>
            <a:ext cx="41952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3f578cb17a1_0_766"/>
          <p:cNvSpPr/>
          <p:nvPr/>
        </p:nvSpPr>
        <p:spPr>
          <a:xfrm>
            <a:off x="1600200" y="1097280"/>
            <a:ext cx="39210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650</a:t>
            </a:r>
            <a:endParaRPr b="0" i="0" sz="2600" u="none" cap="none" strike="noStrike">
              <a:solidFill>
                <a:schemeClr val="dk1"/>
              </a:solidFill>
              <a:latin typeface="Calibri"/>
              <a:ea typeface="Calibri"/>
              <a:cs typeface="Calibri"/>
              <a:sym typeface="Calibri"/>
            </a:endParaRPr>
          </a:p>
        </p:txBody>
      </p:sp>
      <p:sp>
        <p:nvSpPr>
          <p:cNvPr id="749" name="Google Shape;749;g3f578cb17a1_0_766"/>
          <p:cNvSpPr/>
          <p:nvPr/>
        </p:nvSpPr>
        <p:spPr>
          <a:xfrm>
            <a:off x="5806440" y="109728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statements extracted from HIPAA by a privacy &amp; SE expert</a:t>
            </a:r>
            <a:endParaRPr b="0" i="0" sz="1000" u="none" cap="none" strike="noStrike">
              <a:solidFill>
                <a:schemeClr val="dk1"/>
              </a:solidFill>
              <a:latin typeface="Calibri"/>
              <a:ea typeface="Calibri"/>
              <a:cs typeface="Calibri"/>
              <a:sym typeface="Calibri"/>
            </a:endParaRPr>
          </a:p>
        </p:txBody>
      </p:sp>
      <p:pic>
        <p:nvPicPr>
          <p:cNvPr id="750" name="Google Shape;750;g3f578cb17a1_0_76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751" name="Google Shape;751;g3f578cb17a1_0_76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6" name="Shape 756"/>
        <p:cNvGrpSpPr/>
        <p:nvPr/>
      </p:nvGrpSpPr>
      <p:grpSpPr>
        <a:xfrm>
          <a:off x="0" y="0"/>
          <a:ext cx="0" cy="0"/>
          <a:chOff x="0" y="0"/>
          <a:chExt cx="0" cy="0"/>
        </a:xfrm>
      </p:grpSpPr>
      <p:pic>
        <p:nvPicPr>
          <p:cNvPr descr="umaine_logo.png" id="757" name="Google Shape;757;g3f578cb17a1_0_781"/>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758" name="Google Shape;758;g3f578cb17a1_0_781"/>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g3f578cb17a1_0_781"/>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Building the NFR Corpus</a:t>
            </a:r>
            <a:endParaRPr b="0" i="0" sz="1300" u="none" cap="none" strike="noStrike">
              <a:solidFill>
                <a:schemeClr val="dk1"/>
              </a:solidFill>
              <a:latin typeface="Calibri"/>
              <a:ea typeface="Calibri"/>
              <a:cs typeface="Calibri"/>
              <a:sym typeface="Calibri"/>
            </a:endParaRPr>
          </a:p>
        </p:txBody>
      </p:sp>
      <p:cxnSp>
        <p:nvCxnSpPr>
          <p:cNvPr id="760" name="Google Shape;760;g3f578cb17a1_0_781"/>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761" name="Google Shape;761;g3f578cb17a1_0_781"/>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762" name="Google Shape;762;g3f578cb17a1_0_781"/>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7</a:t>
            </a:r>
            <a:endParaRPr b="0" i="0" sz="700" u="none" cap="none" strike="noStrike">
              <a:solidFill>
                <a:schemeClr val="dk1"/>
              </a:solidFill>
              <a:latin typeface="Calibri"/>
              <a:ea typeface="Calibri"/>
              <a:cs typeface="Calibri"/>
              <a:sym typeface="Calibri"/>
            </a:endParaRPr>
          </a:p>
        </p:txBody>
      </p:sp>
      <p:sp>
        <p:nvSpPr>
          <p:cNvPr id="763" name="Google Shape;763;g3f578cb17a1_0_781"/>
          <p:cNvSpPr/>
          <p:nvPr/>
        </p:nvSpPr>
        <p:spPr>
          <a:xfrm>
            <a:off x="1417320" y="1097280"/>
            <a:ext cx="41952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g3f578cb17a1_0_781"/>
          <p:cNvSpPr/>
          <p:nvPr/>
        </p:nvSpPr>
        <p:spPr>
          <a:xfrm>
            <a:off x="1600200" y="1097280"/>
            <a:ext cx="39210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650</a:t>
            </a:r>
            <a:endParaRPr b="0" i="0" sz="2600" u="none" cap="none" strike="noStrike">
              <a:solidFill>
                <a:schemeClr val="dk1"/>
              </a:solidFill>
              <a:latin typeface="Calibri"/>
              <a:ea typeface="Calibri"/>
              <a:cs typeface="Calibri"/>
              <a:sym typeface="Calibri"/>
            </a:endParaRPr>
          </a:p>
        </p:txBody>
      </p:sp>
      <p:sp>
        <p:nvSpPr>
          <p:cNvPr id="765" name="Google Shape;765;g3f578cb17a1_0_781"/>
          <p:cNvSpPr/>
          <p:nvPr/>
        </p:nvSpPr>
        <p:spPr>
          <a:xfrm>
            <a:off x="5806440" y="109728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statements extracted from HIPAA by a privacy &amp; SE expert</a:t>
            </a:r>
            <a:endParaRPr b="0" i="0" sz="1000" u="none" cap="none" strike="noStrike">
              <a:solidFill>
                <a:schemeClr val="dk1"/>
              </a:solidFill>
              <a:latin typeface="Calibri"/>
              <a:ea typeface="Calibri"/>
              <a:cs typeface="Calibri"/>
              <a:sym typeface="Calibri"/>
            </a:endParaRPr>
          </a:p>
        </p:txBody>
      </p:sp>
      <p:sp>
        <p:nvSpPr>
          <p:cNvPr id="766" name="Google Shape;766;g3f578cb17a1_0_781"/>
          <p:cNvSpPr/>
          <p:nvPr/>
        </p:nvSpPr>
        <p:spPr>
          <a:xfrm>
            <a:off x="1417320" y="2103120"/>
            <a:ext cx="31749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g3f578cb17a1_0_781"/>
          <p:cNvSpPr/>
          <p:nvPr/>
        </p:nvSpPr>
        <p:spPr>
          <a:xfrm>
            <a:off x="1600200" y="2103120"/>
            <a:ext cx="29004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180</a:t>
            </a:r>
            <a:endParaRPr b="0" i="0" sz="2600" u="none" cap="none" strike="noStrike">
              <a:solidFill>
                <a:schemeClr val="dk1"/>
              </a:solidFill>
              <a:latin typeface="Calibri"/>
              <a:ea typeface="Calibri"/>
              <a:cs typeface="Calibri"/>
              <a:sym typeface="Calibri"/>
            </a:endParaRPr>
          </a:p>
        </p:txBody>
      </p:sp>
      <p:sp>
        <p:nvSpPr>
          <p:cNvPr id="768" name="Google Shape;768;g3f578cb17a1_0_781"/>
          <p:cNvSpPr/>
          <p:nvPr/>
        </p:nvSpPr>
        <p:spPr>
          <a:xfrm>
            <a:off x="5806440" y="210312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after two filters: SWEBOK software-construction scope + within iTrust scope</a:t>
            </a:r>
            <a:endParaRPr b="0" i="0" sz="1000" u="none" cap="none" strike="noStrike">
              <a:solidFill>
                <a:schemeClr val="dk1"/>
              </a:solidFill>
              <a:latin typeface="Calibri"/>
              <a:ea typeface="Calibri"/>
              <a:cs typeface="Calibri"/>
              <a:sym typeface="Calibri"/>
            </a:endParaRPr>
          </a:p>
        </p:txBody>
      </p:sp>
      <p:sp>
        <p:nvSpPr>
          <p:cNvPr id="769" name="Google Shape;769;g3f578cb17a1_0_781"/>
          <p:cNvSpPr/>
          <p:nvPr/>
        </p:nvSpPr>
        <p:spPr>
          <a:xfrm>
            <a:off x="932688" y="2267712"/>
            <a:ext cx="274200" cy="365700"/>
          </a:xfrm>
          <a:prstGeom prst="downArrow">
            <a:avLst>
              <a:gd fmla="val 50000" name="adj1"/>
              <a:gd fmla="val 50000" name="adj2"/>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0" name="Google Shape;770;g3f578cb17a1_0_781"/>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771" name="Google Shape;771;g3f578cb17a1_0_781"/>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pic>
        <p:nvPicPr>
          <p:cNvPr descr="umaine_logo.png" id="777" name="Google Shape;777;g3f578cb17a1_0_800"/>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778" name="Google Shape;778;g3f578cb17a1_0_800"/>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f578cb17a1_0_800"/>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Building the NFR Corpus</a:t>
            </a:r>
            <a:endParaRPr b="0" i="0" sz="1300" u="none" cap="none" strike="noStrike">
              <a:solidFill>
                <a:schemeClr val="dk1"/>
              </a:solidFill>
              <a:latin typeface="Calibri"/>
              <a:ea typeface="Calibri"/>
              <a:cs typeface="Calibri"/>
              <a:sym typeface="Calibri"/>
            </a:endParaRPr>
          </a:p>
        </p:txBody>
      </p:sp>
      <p:cxnSp>
        <p:nvCxnSpPr>
          <p:cNvPr id="780" name="Google Shape;780;g3f578cb17a1_0_800"/>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781" name="Google Shape;781;g3f578cb17a1_0_800"/>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782" name="Google Shape;782;g3f578cb17a1_0_800"/>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7</a:t>
            </a:r>
            <a:endParaRPr b="0" i="0" sz="700" u="none" cap="none" strike="noStrike">
              <a:solidFill>
                <a:schemeClr val="dk1"/>
              </a:solidFill>
              <a:latin typeface="Calibri"/>
              <a:ea typeface="Calibri"/>
              <a:cs typeface="Calibri"/>
              <a:sym typeface="Calibri"/>
            </a:endParaRPr>
          </a:p>
        </p:txBody>
      </p:sp>
      <p:sp>
        <p:nvSpPr>
          <p:cNvPr id="783" name="Google Shape;783;g3f578cb17a1_0_800"/>
          <p:cNvSpPr/>
          <p:nvPr/>
        </p:nvSpPr>
        <p:spPr>
          <a:xfrm>
            <a:off x="1417320" y="1097280"/>
            <a:ext cx="41952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g3f578cb17a1_0_800"/>
          <p:cNvSpPr/>
          <p:nvPr/>
        </p:nvSpPr>
        <p:spPr>
          <a:xfrm>
            <a:off x="1600200" y="1097280"/>
            <a:ext cx="39210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650</a:t>
            </a:r>
            <a:endParaRPr b="0" i="0" sz="2600" u="none" cap="none" strike="noStrike">
              <a:solidFill>
                <a:schemeClr val="dk1"/>
              </a:solidFill>
              <a:latin typeface="Calibri"/>
              <a:ea typeface="Calibri"/>
              <a:cs typeface="Calibri"/>
              <a:sym typeface="Calibri"/>
            </a:endParaRPr>
          </a:p>
        </p:txBody>
      </p:sp>
      <p:sp>
        <p:nvSpPr>
          <p:cNvPr id="785" name="Google Shape;785;g3f578cb17a1_0_800"/>
          <p:cNvSpPr/>
          <p:nvPr/>
        </p:nvSpPr>
        <p:spPr>
          <a:xfrm>
            <a:off x="5806440" y="109728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statements extracted from HIPAA by a privacy &amp; SE expert</a:t>
            </a:r>
            <a:endParaRPr b="0" i="0" sz="1000" u="none" cap="none" strike="noStrike">
              <a:solidFill>
                <a:schemeClr val="dk1"/>
              </a:solidFill>
              <a:latin typeface="Calibri"/>
              <a:ea typeface="Calibri"/>
              <a:cs typeface="Calibri"/>
              <a:sym typeface="Calibri"/>
            </a:endParaRPr>
          </a:p>
        </p:txBody>
      </p:sp>
      <p:sp>
        <p:nvSpPr>
          <p:cNvPr id="786" name="Google Shape;786;g3f578cb17a1_0_800"/>
          <p:cNvSpPr/>
          <p:nvPr/>
        </p:nvSpPr>
        <p:spPr>
          <a:xfrm>
            <a:off x="1417320" y="2103120"/>
            <a:ext cx="3174900" cy="804600"/>
          </a:xfrm>
          <a:prstGeom prst="roundRect">
            <a:avLst>
              <a:gd fmla="val 5682"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3f578cb17a1_0_800"/>
          <p:cNvSpPr/>
          <p:nvPr/>
        </p:nvSpPr>
        <p:spPr>
          <a:xfrm>
            <a:off x="1600200" y="2103120"/>
            <a:ext cx="29004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180</a:t>
            </a:r>
            <a:endParaRPr b="0" i="0" sz="2600" u="none" cap="none" strike="noStrike">
              <a:solidFill>
                <a:schemeClr val="dk1"/>
              </a:solidFill>
              <a:latin typeface="Calibri"/>
              <a:ea typeface="Calibri"/>
              <a:cs typeface="Calibri"/>
              <a:sym typeface="Calibri"/>
            </a:endParaRPr>
          </a:p>
        </p:txBody>
      </p:sp>
      <p:sp>
        <p:nvSpPr>
          <p:cNvPr id="788" name="Google Shape;788;g3f578cb17a1_0_800"/>
          <p:cNvSpPr/>
          <p:nvPr/>
        </p:nvSpPr>
        <p:spPr>
          <a:xfrm>
            <a:off x="5806440" y="210312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after two filters: SWEBOK software-construction scope + within iTrust scope</a:t>
            </a:r>
            <a:endParaRPr b="0" i="0" sz="1000" u="none" cap="none" strike="noStrike">
              <a:solidFill>
                <a:schemeClr val="dk1"/>
              </a:solidFill>
              <a:latin typeface="Calibri"/>
              <a:ea typeface="Calibri"/>
              <a:cs typeface="Calibri"/>
              <a:sym typeface="Calibri"/>
            </a:endParaRPr>
          </a:p>
        </p:txBody>
      </p:sp>
      <p:sp>
        <p:nvSpPr>
          <p:cNvPr id="789" name="Google Shape;789;g3f578cb17a1_0_800"/>
          <p:cNvSpPr/>
          <p:nvPr/>
        </p:nvSpPr>
        <p:spPr>
          <a:xfrm>
            <a:off x="932688" y="2267712"/>
            <a:ext cx="274200" cy="365700"/>
          </a:xfrm>
          <a:prstGeom prst="downArrow">
            <a:avLst>
              <a:gd fmla="val 50000" name="adj1"/>
              <a:gd fmla="val 50000" name="adj2"/>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g3f578cb17a1_0_800"/>
          <p:cNvSpPr/>
          <p:nvPr/>
        </p:nvSpPr>
        <p:spPr>
          <a:xfrm>
            <a:off x="1417320" y="3108960"/>
            <a:ext cx="2154300" cy="804600"/>
          </a:xfrm>
          <a:prstGeom prst="roundRect">
            <a:avLst>
              <a:gd fmla="val 5682" name="adj"/>
            </a:avLst>
          </a:prstGeom>
          <a:solidFill>
            <a:srgbClr val="2E4F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g3f578cb17a1_0_800"/>
          <p:cNvSpPr/>
          <p:nvPr/>
        </p:nvSpPr>
        <p:spPr>
          <a:xfrm>
            <a:off x="1600200" y="3108960"/>
            <a:ext cx="18801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Arial"/>
              <a:buNone/>
            </a:pPr>
            <a:r>
              <a:rPr b="1" i="0" lang="en-US" sz="2600" u="none" cap="none" strike="noStrike">
                <a:solidFill>
                  <a:srgbClr val="FFFFFF"/>
                </a:solidFill>
                <a:latin typeface="Arial"/>
                <a:ea typeface="Arial"/>
                <a:cs typeface="Arial"/>
                <a:sym typeface="Arial"/>
              </a:rPr>
              <a:t>148</a:t>
            </a:r>
            <a:endParaRPr b="0" i="0" sz="2600" u="none" cap="none" strike="noStrike">
              <a:solidFill>
                <a:schemeClr val="dk1"/>
              </a:solidFill>
              <a:latin typeface="Calibri"/>
              <a:ea typeface="Calibri"/>
              <a:cs typeface="Calibri"/>
              <a:sym typeface="Calibri"/>
            </a:endParaRPr>
          </a:p>
        </p:txBody>
      </p:sp>
      <p:sp>
        <p:nvSpPr>
          <p:cNvPr id="792" name="Google Shape;792;g3f578cb17a1_0_800"/>
          <p:cNvSpPr/>
          <p:nvPr/>
        </p:nvSpPr>
        <p:spPr>
          <a:xfrm>
            <a:off x="5806440" y="3108960"/>
            <a:ext cx="2880300" cy="804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after second-expert review</a:t>
            </a:r>
            <a:endParaRPr b="0" i="0" sz="1000" u="none" cap="none" strike="noStrike">
              <a:solidFill>
                <a:schemeClr val="dk1"/>
              </a:solidFill>
              <a:latin typeface="Calibri"/>
              <a:ea typeface="Calibri"/>
              <a:cs typeface="Calibri"/>
              <a:sym typeface="Calibri"/>
            </a:endParaRPr>
          </a:p>
        </p:txBody>
      </p:sp>
      <p:sp>
        <p:nvSpPr>
          <p:cNvPr id="793" name="Google Shape;793;g3f578cb17a1_0_800"/>
          <p:cNvSpPr/>
          <p:nvPr/>
        </p:nvSpPr>
        <p:spPr>
          <a:xfrm>
            <a:off x="932688" y="3273552"/>
            <a:ext cx="274200" cy="365700"/>
          </a:xfrm>
          <a:prstGeom prst="downArrow">
            <a:avLst>
              <a:gd fmla="val 50000" name="adj1"/>
              <a:gd fmla="val 50000" name="adj2"/>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g3f578cb17a1_0_800"/>
          <p:cNvSpPr/>
          <p:nvPr/>
        </p:nvSpPr>
        <p:spPr>
          <a:xfrm>
            <a:off x="1417320" y="4069080"/>
            <a:ext cx="722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Arial"/>
              <a:buNone/>
            </a:pPr>
            <a:r>
              <a:rPr b="0" i="1" lang="en-US" sz="1000" u="none" cap="none" strike="noStrike">
                <a:solidFill>
                  <a:srgbClr val="8A8A8A"/>
                </a:solidFill>
                <a:latin typeface="Arial"/>
                <a:ea typeface="Arial"/>
                <a:cs typeface="Arial"/>
                <a:sym typeface="Arial"/>
              </a:rPr>
              <a:t>e.g.,  “The system shall ensure the integrity of ePHI that it creates.”</a:t>
            </a:r>
            <a:endParaRPr b="0" i="0" sz="1000" u="none" cap="none" strike="noStrike">
              <a:solidFill>
                <a:schemeClr val="dk1"/>
              </a:solidFill>
              <a:latin typeface="Calibri"/>
              <a:ea typeface="Calibri"/>
              <a:cs typeface="Calibri"/>
              <a:sym typeface="Calibri"/>
            </a:endParaRPr>
          </a:p>
        </p:txBody>
      </p:sp>
      <p:pic>
        <p:nvPicPr>
          <p:cNvPr id="795" name="Google Shape;795;g3f578cb17a1_0_800"/>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796" name="Google Shape;796;g3f578cb17a1_0_800"/>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pic>
        <p:nvPicPr>
          <p:cNvPr descr="umaine_logo.png" id="802" name="Google Shape;802;p24"/>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803" name="Google Shape;803;p24"/>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Participants </a:t>
            </a:r>
            <a:endParaRPr b="0" i="0" sz="1300" u="none" cap="none" strike="noStrike">
              <a:solidFill>
                <a:schemeClr val="dk1"/>
              </a:solidFill>
              <a:latin typeface="Calibri"/>
              <a:ea typeface="Calibri"/>
              <a:cs typeface="Calibri"/>
              <a:sym typeface="Calibri"/>
            </a:endParaRPr>
          </a:p>
        </p:txBody>
      </p:sp>
      <p:cxnSp>
        <p:nvCxnSpPr>
          <p:cNvPr id="805" name="Google Shape;805;p24"/>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806" name="Google Shape;806;p24"/>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807" name="Google Shape;807;p24"/>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10</a:t>
            </a:r>
            <a:endParaRPr b="0" i="0" sz="700" u="none" cap="none" strike="noStrike">
              <a:solidFill>
                <a:schemeClr val="dk1"/>
              </a:solidFill>
              <a:latin typeface="Calibri"/>
              <a:ea typeface="Calibri"/>
              <a:cs typeface="Calibri"/>
              <a:sym typeface="Calibri"/>
            </a:endParaRPr>
          </a:p>
        </p:txBody>
      </p:sp>
      <p:sp>
        <p:nvSpPr>
          <p:cNvPr id="808" name="Google Shape;808;p24"/>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4"/>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810" name="Google Shape;810;p24"/>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4"/>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49 programmers recruited</a:t>
            </a:r>
            <a:r>
              <a:rPr lang="en-US" sz="1200">
                <a:solidFill>
                  <a:srgbClr val="FFFFFF"/>
                </a:solidFill>
              </a:rPr>
              <a:t>:</a:t>
            </a:r>
            <a:r>
              <a:rPr b="0" i="0" lang="en-US" sz="1200" u="none" cap="none" strike="noStrike">
                <a:solidFill>
                  <a:srgbClr val="FFFFFF"/>
                </a:solidFill>
                <a:latin typeface="Arial"/>
                <a:ea typeface="Arial"/>
                <a:cs typeface="Arial"/>
                <a:sym typeface="Arial"/>
              </a:rPr>
              <a:t> 8 pilot + 41 main study</a:t>
            </a:r>
            <a:endParaRPr b="0" i="0" sz="1200" u="none" cap="none" strike="noStrike">
              <a:solidFill>
                <a:schemeClr val="dk1"/>
              </a:solidFill>
              <a:latin typeface="Calibri"/>
              <a:ea typeface="Calibri"/>
              <a:cs typeface="Calibri"/>
              <a:sym typeface="Calibri"/>
            </a:endParaRPr>
          </a:p>
        </p:txBody>
      </p:sp>
      <p:pic>
        <p:nvPicPr>
          <p:cNvPr id="812" name="Google Shape;812;p24"/>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813" name="Google Shape;813;p24"/>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8" name="Shape 818"/>
        <p:cNvGrpSpPr/>
        <p:nvPr/>
      </p:nvGrpSpPr>
      <p:grpSpPr>
        <a:xfrm>
          <a:off x="0" y="0"/>
          <a:ext cx="0" cy="0"/>
          <a:chOff x="0" y="0"/>
          <a:chExt cx="0" cy="0"/>
        </a:xfrm>
      </p:grpSpPr>
      <p:pic>
        <p:nvPicPr>
          <p:cNvPr descr="umaine_logo.png" id="819" name="Google Shape;819;p25"/>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820" name="Google Shape;820;p25"/>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5"/>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Participants</a:t>
            </a:r>
            <a:endParaRPr b="0" i="0" sz="1300" u="none" cap="none" strike="noStrike">
              <a:solidFill>
                <a:schemeClr val="dk1"/>
              </a:solidFill>
              <a:latin typeface="Calibri"/>
              <a:ea typeface="Calibri"/>
              <a:cs typeface="Calibri"/>
              <a:sym typeface="Calibri"/>
            </a:endParaRPr>
          </a:p>
        </p:txBody>
      </p:sp>
      <p:cxnSp>
        <p:nvCxnSpPr>
          <p:cNvPr id="822" name="Google Shape;822;p25"/>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823" name="Google Shape;823;p25"/>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824" name="Google Shape;824;p25"/>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10</a:t>
            </a:r>
            <a:endParaRPr b="0" i="0" sz="700" u="none" cap="none" strike="noStrike">
              <a:solidFill>
                <a:schemeClr val="dk1"/>
              </a:solidFill>
              <a:latin typeface="Calibri"/>
              <a:ea typeface="Calibri"/>
              <a:cs typeface="Calibri"/>
              <a:sym typeface="Calibri"/>
            </a:endParaRPr>
          </a:p>
        </p:txBody>
      </p:sp>
      <p:sp>
        <p:nvSpPr>
          <p:cNvPr id="825" name="Google Shape;825;p25"/>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5"/>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827" name="Google Shape;827;p25"/>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5"/>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49 programmers recruited</a:t>
            </a:r>
            <a:r>
              <a:rPr lang="en-US" sz="1200">
                <a:solidFill>
                  <a:srgbClr val="FFFFFF"/>
                </a:solidFill>
              </a:rPr>
              <a:t>:</a:t>
            </a:r>
            <a:r>
              <a:rPr b="0" i="0" lang="en-US" sz="1200" u="none" cap="none" strike="noStrike">
                <a:solidFill>
                  <a:srgbClr val="FFFFFF"/>
                </a:solidFill>
                <a:latin typeface="Arial"/>
                <a:ea typeface="Arial"/>
                <a:cs typeface="Arial"/>
                <a:sym typeface="Arial"/>
              </a:rPr>
              <a:t> 8 pilot + 41 main study</a:t>
            </a:r>
            <a:endParaRPr b="0" i="0" sz="1200" u="none" cap="none" strike="noStrike">
              <a:solidFill>
                <a:schemeClr val="dk1"/>
              </a:solidFill>
              <a:latin typeface="Calibri"/>
              <a:ea typeface="Calibri"/>
              <a:cs typeface="Calibri"/>
              <a:sym typeface="Calibri"/>
            </a:endParaRPr>
          </a:p>
        </p:txBody>
      </p:sp>
      <p:sp>
        <p:nvSpPr>
          <p:cNvPr id="829" name="Google Shape;829;p25"/>
          <p:cNvSpPr/>
          <p:nvPr/>
        </p:nvSpPr>
        <p:spPr>
          <a:xfrm>
            <a:off x="941832" y="1842516"/>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5"/>
          <p:cNvSpPr/>
          <p:nvPr/>
        </p:nvSpPr>
        <p:spPr>
          <a:xfrm>
            <a:off x="941832" y="18425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831" name="Google Shape;831;p25"/>
          <p:cNvSpPr/>
          <p:nvPr/>
        </p:nvSpPr>
        <p:spPr>
          <a:xfrm>
            <a:off x="1417320" y="1801368"/>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5"/>
          <p:cNvSpPr/>
          <p:nvPr/>
        </p:nvSpPr>
        <p:spPr>
          <a:xfrm>
            <a:off x="1545336" y="1801368"/>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Screened: CS/Math degree, software engineering role, 95–100% approval</a:t>
            </a:r>
            <a:endParaRPr b="0" i="0" sz="1200" u="none" cap="none" strike="noStrike">
              <a:solidFill>
                <a:schemeClr val="dk1"/>
              </a:solidFill>
              <a:latin typeface="Calibri"/>
              <a:ea typeface="Calibri"/>
              <a:cs typeface="Calibri"/>
              <a:sym typeface="Calibri"/>
            </a:endParaRPr>
          </a:p>
        </p:txBody>
      </p:sp>
      <p:pic>
        <p:nvPicPr>
          <p:cNvPr id="833" name="Google Shape;833;p25"/>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834" name="Google Shape;834;p25"/>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9" name="Shape 839"/>
        <p:cNvGrpSpPr/>
        <p:nvPr/>
      </p:nvGrpSpPr>
      <p:grpSpPr>
        <a:xfrm>
          <a:off x="0" y="0"/>
          <a:ext cx="0" cy="0"/>
          <a:chOff x="0" y="0"/>
          <a:chExt cx="0" cy="0"/>
        </a:xfrm>
      </p:grpSpPr>
      <p:pic>
        <p:nvPicPr>
          <p:cNvPr descr="umaine_logo.png" id="840" name="Google Shape;840;p26"/>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841" name="Google Shape;841;p26"/>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6"/>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Participants</a:t>
            </a:r>
            <a:endParaRPr b="0" i="0" sz="1300" u="none" cap="none" strike="noStrike">
              <a:solidFill>
                <a:schemeClr val="dk1"/>
              </a:solidFill>
              <a:latin typeface="Calibri"/>
              <a:ea typeface="Calibri"/>
              <a:cs typeface="Calibri"/>
              <a:sym typeface="Calibri"/>
            </a:endParaRPr>
          </a:p>
        </p:txBody>
      </p:sp>
      <p:cxnSp>
        <p:nvCxnSpPr>
          <p:cNvPr id="843" name="Google Shape;843;p26"/>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844" name="Google Shape;844;p26"/>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845" name="Google Shape;845;p26"/>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10</a:t>
            </a:r>
            <a:endParaRPr b="0" i="0" sz="700" u="none" cap="none" strike="noStrike">
              <a:solidFill>
                <a:schemeClr val="dk1"/>
              </a:solidFill>
              <a:latin typeface="Calibri"/>
              <a:ea typeface="Calibri"/>
              <a:cs typeface="Calibri"/>
              <a:sym typeface="Calibri"/>
            </a:endParaRPr>
          </a:p>
        </p:txBody>
      </p:sp>
      <p:sp>
        <p:nvSpPr>
          <p:cNvPr id="846" name="Google Shape;846;p26"/>
          <p:cNvSpPr/>
          <p:nvPr/>
        </p:nvSpPr>
        <p:spPr>
          <a:xfrm>
            <a:off x="941832" y="127558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6"/>
          <p:cNvSpPr/>
          <p:nvPr/>
        </p:nvSpPr>
        <p:spPr>
          <a:xfrm>
            <a:off x="941832" y="12755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848" name="Google Shape;848;p26"/>
          <p:cNvSpPr/>
          <p:nvPr/>
        </p:nvSpPr>
        <p:spPr>
          <a:xfrm>
            <a:off x="1417320" y="123444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6"/>
          <p:cNvSpPr/>
          <p:nvPr/>
        </p:nvSpPr>
        <p:spPr>
          <a:xfrm>
            <a:off x="1545336" y="1234440"/>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49 programmers recruited</a:t>
            </a:r>
            <a:r>
              <a:rPr lang="en-US" sz="1200">
                <a:solidFill>
                  <a:srgbClr val="FFFFFF"/>
                </a:solidFill>
              </a:rPr>
              <a:t>:</a:t>
            </a:r>
            <a:r>
              <a:rPr b="0" i="0" lang="en-US" sz="1200" u="none" cap="none" strike="noStrike">
                <a:solidFill>
                  <a:srgbClr val="FFFFFF"/>
                </a:solidFill>
                <a:latin typeface="Arial"/>
                <a:ea typeface="Arial"/>
                <a:cs typeface="Arial"/>
                <a:sym typeface="Arial"/>
              </a:rPr>
              <a:t> 8 pilot + 41 main study</a:t>
            </a:r>
            <a:endParaRPr b="0" i="0" sz="1200" u="none" cap="none" strike="noStrike">
              <a:solidFill>
                <a:schemeClr val="dk1"/>
              </a:solidFill>
              <a:latin typeface="Calibri"/>
              <a:ea typeface="Calibri"/>
              <a:cs typeface="Calibri"/>
              <a:sym typeface="Calibri"/>
            </a:endParaRPr>
          </a:p>
        </p:txBody>
      </p:sp>
      <p:sp>
        <p:nvSpPr>
          <p:cNvPr id="850" name="Google Shape;850;p26"/>
          <p:cNvSpPr/>
          <p:nvPr/>
        </p:nvSpPr>
        <p:spPr>
          <a:xfrm>
            <a:off x="941832" y="1842516"/>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6"/>
          <p:cNvSpPr/>
          <p:nvPr/>
        </p:nvSpPr>
        <p:spPr>
          <a:xfrm>
            <a:off x="941832" y="18425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852" name="Google Shape;852;p26"/>
          <p:cNvSpPr/>
          <p:nvPr/>
        </p:nvSpPr>
        <p:spPr>
          <a:xfrm>
            <a:off x="1417320" y="1801368"/>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6"/>
          <p:cNvSpPr/>
          <p:nvPr/>
        </p:nvSpPr>
        <p:spPr>
          <a:xfrm>
            <a:off x="1545336" y="1801368"/>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Screened: CS/Math degree, software engineering role, 95–100% approval</a:t>
            </a:r>
            <a:endParaRPr b="0" i="0" sz="1200" u="none" cap="none" strike="noStrike">
              <a:solidFill>
                <a:schemeClr val="dk1"/>
              </a:solidFill>
              <a:latin typeface="Calibri"/>
              <a:ea typeface="Calibri"/>
              <a:cs typeface="Calibri"/>
              <a:sym typeface="Calibri"/>
            </a:endParaRPr>
          </a:p>
        </p:txBody>
      </p:sp>
      <p:sp>
        <p:nvSpPr>
          <p:cNvPr id="854" name="Google Shape;854;p26"/>
          <p:cNvSpPr/>
          <p:nvPr/>
        </p:nvSpPr>
        <p:spPr>
          <a:xfrm>
            <a:off x="941832" y="2409444"/>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6"/>
          <p:cNvSpPr/>
          <p:nvPr/>
        </p:nvSpPr>
        <p:spPr>
          <a:xfrm>
            <a:off x="941832" y="24094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856" name="Google Shape;856;p26"/>
          <p:cNvSpPr/>
          <p:nvPr/>
        </p:nvSpPr>
        <p:spPr>
          <a:xfrm>
            <a:off x="1417320" y="2368296"/>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6"/>
          <p:cNvSpPr/>
          <p:nvPr/>
        </p:nvSpPr>
        <p:spPr>
          <a:xfrm>
            <a:off x="1545336" y="2368296"/>
            <a:ext cx="696772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34 dialogues after attention-check and quality filtering (406 turns)</a:t>
            </a:r>
            <a:endParaRPr b="0" i="0" sz="1200" u="none" cap="none" strike="noStrike">
              <a:solidFill>
                <a:schemeClr val="dk1"/>
              </a:solidFill>
              <a:latin typeface="Calibri"/>
              <a:ea typeface="Calibri"/>
              <a:cs typeface="Calibri"/>
              <a:sym typeface="Calibri"/>
            </a:endParaRPr>
          </a:p>
        </p:txBody>
      </p:sp>
      <p:pic>
        <p:nvPicPr>
          <p:cNvPr id="858" name="Google Shape;858;p2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859" name="Google Shape;859;p2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pic>
        <p:nvPicPr>
          <p:cNvPr descr="umaine_logo.png" id="865" name="Google Shape;865;p28"/>
          <p:cNvPicPr preferRelativeResize="0"/>
          <p:nvPr/>
        </p:nvPicPr>
        <p:blipFill rotWithShape="1">
          <a:blip r:embed="rId3">
            <a:alphaModFix/>
          </a:blip>
          <a:srcRect b="0" l="0" r="0" t="0"/>
          <a:stretch/>
        </p:blipFill>
        <p:spPr>
          <a:xfrm>
            <a:off x="7818120" y="164592"/>
            <a:ext cx="960120" cy="305410"/>
          </a:xfrm>
          <a:prstGeom prst="rect">
            <a:avLst/>
          </a:prstGeom>
          <a:noFill/>
          <a:ln>
            <a:noFill/>
          </a:ln>
        </p:spPr>
      </p:pic>
      <p:sp>
        <p:nvSpPr>
          <p:cNvPr id="866" name="Google Shape;866;p28"/>
          <p:cNvSpPr/>
          <p:nvPr/>
        </p:nvSpPr>
        <p:spPr>
          <a:xfrm>
            <a:off x="411480" y="274320"/>
            <a:ext cx="237744" cy="237744"/>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8"/>
          <p:cNvSpPr/>
          <p:nvPr/>
        </p:nvSpPr>
        <p:spPr>
          <a:xfrm>
            <a:off x="731520" y="2468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Turn Annotation</a:t>
            </a:r>
            <a:endParaRPr b="0" i="0" sz="1300" u="none" cap="none" strike="noStrike">
              <a:solidFill>
                <a:schemeClr val="dk1"/>
              </a:solidFill>
              <a:latin typeface="Calibri"/>
              <a:ea typeface="Calibri"/>
              <a:cs typeface="Calibri"/>
              <a:sym typeface="Calibri"/>
            </a:endParaRPr>
          </a:p>
        </p:txBody>
      </p:sp>
      <p:cxnSp>
        <p:nvCxnSpPr>
          <p:cNvPr id="868" name="Google Shape;868;p28"/>
          <p:cNvCxnSpPr/>
          <p:nvPr/>
        </p:nvCxnSpPr>
        <p:spPr>
          <a:xfrm>
            <a:off x="411480" y="640080"/>
            <a:ext cx="8366760" cy="0"/>
          </a:xfrm>
          <a:prstGeom prst="straightConnector1">
            <a:avLst/>
          </a:prstGeom>
          <a:noFill/>
          <a:ln cap="flat" cmpd="sng" w="9525">
            <a:solidFill>
              <a:srgbClr val="D9D9D9"/>
            </a:solidFill>
            <a:prstDash val="solid"/>
            <a:round/>
            <a:headEnd len="sm" w="sm" type="none"/>
            <a:tailEnd len="sm" w="sm" type="none"/>
          </a:ln>
        </p:spPr>
      </p:cxnSp>
      <p:sp>
        <p:nvSpPr>
          <p:cNvPr id="869" name="Google Shape;869;p28"/>
          <p:cNvSpPr/>
          <p:nvPr/>
        </p:nvSpPr>
        <p:spPr>
          <a:xfrm>
            <a:off x="3931920" y="4681728"/>
            <a:ext cx="1463040" cy="292608"/>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870" name="Google Shape;870;p28"/>
          <p:cNvSpPr/>
          <p:nvPr/>
        </p:nvSpPr>
        <p:spPr>
          <a:xfrm>
            <a:off x="8229600" y="4681728"/>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11</a:t>
            </a:r>
            <a:endParaRPr b="0" i="0" sz="700" u="none" cap="none" strike="noStrike">
              <a:solidFill>
                <a:schemeClr val="dk1"/>
              </a:solidFill>
              <a:latin typeface="Calibri"/>
              <a:ea typeface="Calibri"/>
              <a:cs typeface="Calibri"/>
              <a:sym typeface="Calibri"/>
            </a:endParaRPr>
          </a:p>
        </p:txBody>
      </p:sp>
      <p:sp>
        <p:nvSpPr>
          <p:cNvPr id="871" name="Google Shape;871;p28"/>
          <p:cNvSpPr/>
          <p:nvPr/>
        </p:nvSpPr>
        <p:spPr>
          <a:xfrm>
            <a:off x="941832" y="1367028"/>
            <a:ext cx="274320" cy="27432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8"/>
          <p:cNvSpPr/>
          <p:nvPr/>
        </p:nvSpPr>
        <p:spPr>
          <a:xfrm>
            <a:off x="941832" y="13670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a:t>
            </a:r>
            <a:endParaRPr b="0" i="0" sz="1000" u="none" cap="none" strike="noStrike">
              <a:solidFill>
                <a:schemeClr val="dk1"/>
              </a:solidFill>
              <a:latin typeface="Calibri"/>
              <a:ea typeface="Calibri"/>
              <a:cs typeface="Calibri"/>
              <a:sym typeface="Calibri"/>
            </a:endParaRPr>
          </a:p>
        </p:txBody>
      </p:sp>
      <p:sp>
        <p:nvSpPr>
          <p:cNvPr id="873" name="Google Shape;873;p28"/>
          <p:cNvSpPr/>
          <p:nvPr/>
        </p:nvSpPr>
        <p:spPr>
          <a:xfrm>
            <a:off x="1417320" y="1325880"/>
            <a:ext cx="7223760" cy="356616"/>
          </a:xfrm>
          <a:prstGeom prst="roundRect">
            <a:avLst>
              <a:gd fmla="val 12821"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8"/>
          <p:cNvSpPr/>
          <p:nvPr/>
        </p:nvSpPr>
        <p:spPr>
          <a:xfrm>
            <a:off x="1545336" y="1325880"/>
            <a:ext cx="6967728" cy="356616"/>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Turn labels drawn from PARADISE + MT-Eval + MT-Bench-101</a:t>
            </a:r>
            <a:endParaRPr sz="1200">
              <a:solidFill>
                <a:srgbClr val="FFFFFF"/>
              </a:solidFill>
            </a:endParaRPr>
          </a:p>
        </p:txBody>
      </p:sp>
      <p:pic>
        <p:nvPicPr>
          <p:cNvPr id="875" name="Google Shape;875;p2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876" name="Google Shape;876;p28"/>
          <p:cNvPicPr preferRelativeResize="0"/>
          <p:nvPr/>
        </p:nvPicPr>
        <p:blipFill>
          <a:blip r:embed="rId5">
            <a:alphaModFix/>
          </a:blip>
          <a:stretch>
            <a:fillRect/>
          </a:stretch>
        </p:blipFill>
        <p:spPr>
          <a:xfrm>
            <a:off x="5973275" y="134425"/>
            <a:ext cx="364676" cy="365752"/>
          </a:xfrm>
          <a:prstGeom prst="rect">
            <a:avLst/>
          </a:prstGeom>
          <a:noFill/>
          <a:ln>
            <a:noFill/>
          </a:ln>
        </p:spPr>
      </p:pic>
      <p:graphicFrame>
        <p:nvGraphicFramePr>
          <p:cNvPr id="877" name="Google Shape;877;p28"/>
          <p:cNvGraphicFramePr/>
          <p:nvPr/>
        </p:nvGraphicFramePr>
        <p:xfrm>
          <a:off x="2743205" y="2368295"/>
          <a:ext cx="3000000" cy="3000000"/>
        </p:xfrm>
        <a:graphic>
          <a:graphicData uri="http://schemas.openxmlformats.org/drawingml/2006/table">
            <a:tbl>
              <a:tblPr>
                <a:noFill/>
                <a:tableStyleId>{C58A01A9-31D1-41C9-9F1A-FE5B03BA0646}</a:tableStyleId>
              </a:tblPr>
              <a:tblGrid>
                <a:gridCol w="2743200"/>
                <a:gridCol w="914400"/>
              </a:tblGrid>
              <a:tr h="2880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Label</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Count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Follow-up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195</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Refinement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53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User Initiatives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Proactive Interaction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Content Rephrasing</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Self-affirmation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a:solidFill>
                            <a:srgbClr val="222222"/>
                          </a:solidFill>
                        </a:rPr>
                        <a: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a:solidFill>
                            <a:srgbClr val="222222"/>
                          </a:solidFill>
                        </a:rPr>
                        <a: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2" name="Shape 882"/>
        <p:cNvGrpSpPr/>
        <p:nvPr/>
      </p:nvGrpSpPr>
      <p:grpSpPr>
        <a:xfrm>
          <a:off x="0" y="0"/>
          <a:ext cx="0" cy="0"/>
          <a:chOff x="0" y="0"/>
          <a:chExt cx="0" cy="0"/>
        </a:xfrm>
      </p:grpSpPr>
      <p:pic>
        <p:nvPicPr>
          <p:cNvPr descr="umaine_logo.png" id="883" name="Google Shape;883;g3f578cb17a1_0_258"/>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884" name="Google Shape;884;g3f578cb17a1_0_258"/>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g3f578cb17a1_0_258"/>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The PARADISE Framework</a:t>
            </a:r>
            <a:endParaRPr b="0" i="0" sz="1300" u="none" cap="none" strike="noStrike">
              <a:solidFill>
                <a:schemeClr val="dk1"/>
              </a:solidFill>
              <a:latin typeface="Calibri"/>
              <a:ea typeface="Calibri"/>
              <a:cs typeface="Calibri"/>
              <a:sym typeface="Calibri"/>
            </a:endParaRPr>
          </a:p>
        </p:txBody>
      </p:sp>
      <p:cxnSp>
        <p:nvCxnSpPr>
          <p:cNvPr id="886" name="Google Shape;886;g3f578cb17a1_0_258"/>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887" name="Google Shape;887;g3f578cb17a1_0_258"/>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Walker et al. "PARADISE: A general framework for evaluating spoken dialogue agents." ACL 1997</a:t>
            </a:r>
            <a:endParaRPr b="0" i="0" sz="600" u="none" cap="none" strike="noStrike">
              <a:solidFill>
                <a:schemeClr val="dk1"/>
              </a:solidFill>
              <a:latin typeface="Calibri"/>
              <a:ea typeface="Calibri"/>
              <a:cs typeface="Calibri"/>
              <a:sym typeface="Calibri"/>
            </a:endParaRPr>
          </a:p>
        </p:txBody>
      </p:sp>
      <p:sp>
        <p:nvSpPr>
          <p:cNvPr id="888" name="Google Shape;888;g3f578cb17a1_0_258"/>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889" name="Google Shape;889;g3f578cb17a1_0_258"/>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15</a:t>
            </a:r>
            <a:endParaRPr b="0" i="0" sz="700" u="none" cap="none" strike="noStrike">
              <a:solidFill>
                <a:schemeClr val="dk1"/>
              </a:solidFill>
              <a:latin typeface="Calibri"/>
              <a:ea typeface="Calibri"/>
              <a:cs typeface="Calibri"/>
              <a:sym typeface="Calibri"/>
            </a:endParaRPr>
          </a:p>
        </p:txBody>
      </p:sp>
      <p:sp>
        <p:nvSpPr>
          <p:cNvPr id="890" name="Google Shape;890;g3f578cb17a1_0_258"/>
          <p:cNvSpPr/>
          <p:nvPr/>
        </p:nvSpPr>
        <p:spPr>
          <a:xfrm>
            <a:off x="685800" y="841248"/>
            <a:ext cx="7772400" cy="475500"/>
          </a:xfrm>
          <a:prstGeom prst="roundRect">
            <a:avLst>
              <a:gd fmla="val 9615"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g3f578cb17a1_0_258"/>
          <p:cNvSpPr/>
          <p:nvPr/>
        </p:nvSpPr>
        <p:spPr>
          <a:xfrm>
            <a:off x="914400" y="841248"/>
            <a:ext cx="73152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Premise:  </a:t>
            </a:r>
            <a:r>
              <a:rPr b="0" i="0" lang="en-US" sz="1200" u="none" cap="none" strike="noStrike">
                <a:solidFill>
                  <a:srgbClr val="222222"/>
                </a:solidFill>
                <a:latin typeface="Arial"/>
                <a:ea typeface="Arial"/>
                <a:cs typeface="Arial"/>
                <a:sym typeface="Arial"/>
              </a:rPr>
              <a:t>a dialogue system’s primary objective is to maximize user satisfaction.</a:t>
            </a:r>
            <a:endParaRPr b="0" i="0" sz="1200" u="none" cap="none" strike="noStrike">
              <a:solidFill>
                <a:schemeClr val="dk1"/>
              </a:solidFill>
              <a:latin typeface="Calibri"/>
              <a:ea typeface="Calibri"/>
              <a:cs typeface="Calibri"/>
              <a:sym typeface="Calibri"/>
            </a:endParaRPr>
          </a:p>
        </p:txBody>
      </p:sp>
      <p:sp>
        <p:nvSpPr>
          <p:cNvPr id="892" name="Google Shape;892;g3f578cb17a1_0_258"/>
          <p:cNvSpPr/>
          <p:nvPr/>
        </p:nvSpPr>
        <p:spPr>
          <a:xfrm>
            <a:off x="685800" y="1508760"/>
            <a:ext cx="7772400" cy="841200"/>
          </a:xfrm>
          <a:prstGeom prst="roundRect">
            <a:avLst>
              <a:gd fmla="val 6522" name="adj"/>
            </a:avLst>
          </a:prstGeom>
          <a:solidFill>
            <a:srgbClr val="FFFFFF"/>
          </a:solidFill>
          <a:ln cap="flat" cmpd="sng" w="15875">
            <a:solidFill>
              <a:srgbClr val="4372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g3f578cb17a1_0_258"/>
          <p:cNvSpPr/>
          <p:nvPr/>
        </p:nvSpPr>
        <p:spPr>
          <a:xfrm>
            <a:off x="685800" y="1508760"/>
            <a:ext cx="7772400" cy="84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2200"/>
              <a:buFont typeface="Arial"/>
              <a:buNone/>
            </a:pPr>
            <a:r>
              <a:rPr b="1" i="0" lang="en-US" sz="2200" u="none" cap="none" strike="noStrike">
                <a:solidFill>
                  <a:srgbClr val="222222"/>
                </a:solidFill>
                <a:latin typeface="Arial"/>
                <a:ea typeface="Arial"/>
                <a:cs typeface="Arial"/>
                <a:sym typeface="Arial"/>
              </a:rPr>
              <a:t>Performance  =  α · N(κ)  −  Σ wᵢ · N(cᵢ)</a:t>
            </a:r>
            <a:endParaRPr b="0" i="0" sz="2200" u="none" cap="none" strike="noStrike">
              <a:solidFill>
                <a:schemeClr val="dk1"/>
              </a:solidFill>
              <a:latin typeface="Calibri"/>
              <a:ea typeface="Calibri"/>
              <a:cs typeface="Calibri"/>
              <a:sym typeface="Calibri"/>
            </a:endParaRPr>
          </a:p>
        </p:txBody>
      </p:sp>
      <p:sp>
        <p:nvSpPr>
          <p:cNvPr id="894" name="Google Shape;894;g3f578cb17a1_0_258"/>
          <p:cNvSpPr/>
          <p:nvPr/>
        </p:nvSpPr>
        <p:spPr>
          <a:xfrm>
            <a:off x="685800" y="2377440"/>
            <a:ext cx="7772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A8A"/>
              </a:buClr>
              <a:buSzPts val="900"/>
              <a:buFont typeface="Arial"/>
              <a:buNone/>
            </a:pPr>
            <a:r>
              <a:rPr b="0" i="0" lang="en-US" sz="900" u="none" cap="none" strike="noStrike">
                <a:solidFill>
                  <a:srgbClr val="8A8A8A"/>
                </a:solidFill>
                <a:latin typeface="Arial"/>
                <a:ea typeface="Arial"/>
                <a:cs typeface="Arial"/>
                <a:sym typeface="Arial"/>
              </a:rPr>
              <a:t>κ = task success (from a confusion matrix)   ·   cᵢ = dialogue costs   ·   wᵢ = learned weights   ·   N = Z-score normalization</a:t>
            </a:r>
            <a:endParaRPr b="0" i="0" sz="900" u="none" cap="none" strike="noStrike">
              <a:solidFill>
                <a:schemeClr val="dk1"/>
              </a:solidFill>
              <a:latin typeface="Calibri"/>
              <a:ea typeface="Calibri"/>
              <a:cs typeface="Calibri"/>
              <a:sym typeface="Calibri"/>
            </a:endParaRPr>
          </a:p>
        </p:txBody>
      </p:sp>
      <p:sp>
        <p:nvSpPr>
          <p:cNvPr id="895" name="Google Shape;895;g3f578cb17a1_0_258"/>
          <p:cNvSpPr/>
          <p:nvPr/>
        </p:nvSpPr>
        <p:spPr>
          <a:xfrm>
            <a:off x="685800" y="2880360"/>
            <a:ext cx="3749100" cy="1298400"/>
          </a:xfrm>
          <a:prstGeom prst="roundRect">
            <a:avLst>
              <a:gd fmla="val 4225" name="adj"/>
            </a:avLst>
          </a:prstGeom>
          <a:solidFill>
            <a:srgbClr val="FFFFFF"/>
          </a:solidFill>
          <a:ln cap="flat" cmpd="sng" w="1587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g3f578cb17a1_0_258"/>
          <p:cNvSpPr/>
          <p:nvPr/>
        </p:nvSpPr>
        <p:spPr>
          <a:xfrm>
            <a:off x="685800" y="2880360"/>
            <a:ext cx="3749100" cy="402300"/>
          </a:xfrm>
          <a:prstGeom prst="roundRect">
            <a:avLst>
              <a:gd fmla="val 13636"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g3f578cb17a1_0_258"/>
          <p:cNvSpPr/>
          <p:nvPr/>
        </p:nvSpPr>
        <p:spPr>
          <a:xfrm>
            <a:off x="685800" y="2880360"/>
            <a:ext cx="3749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Efficiency costs</a:t>
            </a:r>
            <a:endParaRPr b="0" i="0" sz="1200" u="none" cap="none" strike="noStrike">
              <a:solidFill>
                <a:schemeClr val="dk1"/>
              </a:solidFill>
              <a:latin typeface="Calibri"/>
              <a:ea typeface="Calibri"/>
              <a:cs typeface="Calibri"/>
              <a:sym typeface="Calibri"/>
            </a:endParaRPr>
          </a:p>
        </p:txBody>
      </p:sp>
      <p:sp>
        <p:nvSpPr>
          <p:cNvPr id="898" name="Google Shape;898;g3f578cb17a1_0_258"/>
          <p:cNvSpPr/>
          <p:nvPr/>
        </p:nvSpPr>
        <p:spPr>
          <a:xfrm>
            <a:off x="868680" y="3346704"/>
            <a:ext cx="3383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100"/>
              <a:buFont typeface="Arial"/>
              <a:buNone/>
            </a:pPr>
            <a:r>
              <a:rPr b="1" i="0" lang="en-US" sz="1100" u="none" cap="none" strike="noStrike">
                <a:solidFill>
                  <a:srgbClr val="222222"/>
                </a:solidFill>
                <a:latin typeface="Arial"/>
                <a:ea typeface="Arial"/>
                <a:cs typeface="Arial"/>
                <a:sym typeface="Arial"/>
              </a:rPr>
              <a:t>how much effort the task took</a:t>
            </a:r>
            <a:endParaRPr b="0" i="0" sz="1100" u="none" cap="none" strike="noStrike">
              <a:solidFill>
                <a:schemeClr val="dk1"/>
              </a:solidFill>
              <a:latin typeface="Calibri"/>
              <a:ea typeface="Calibri"/>
              <a:cs typeface="Calibri"/>
              <a:sym typeface="Calibri"/>
            </a:endParaRPr>
          </a:p>
        </p:txBody>
      </p:sp>
      <p:sp>
        <p:nvSpPr>
          <p:cNvPr id="899" name="Google Shape;899;g3f578cb17a1_0_258"/>
          <p:cNvSpPr/>
          <p:nvPr/>
        </p:nvSpPr>
        <p:spPr>
          <a:xfrm>
            <a:off x="868680" y="3694176"/>
            <a:ext cx="3383400" cy="411600"/>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8A8A8A"/>
              </a:buClr>
              <a:buSzPts val="950"/>
              <a:buFont typeface="Arial"/>
              <a:buNone/>
            </a:pPr>
            <a:r>
              <a:rPr b="0" i="0" lang="en-US" sz="950" u="none" cap="none" strike="noStrike">
                <a:solidFill>
                  <a:srgbClr val="8A8A8A"/>
                </a:solidFill>
                <a:latin typeface="Arial"/>
                <a:ea typeface="Arial"/>
                <a:cs typeface="Arial"/>
                <a:sym typeface="Arial"/>
              </a:rPr>
              <a:t>e.g., number of turns, elapsed time</a:t>
            </a:r>
            <a:endParaRPr b="0" i="0" sz="950" u="none" cap="none" strike="noStrike">
              <a:solidFill>
                <a:schemeClr val="dk1"/>
              </a:solidFill>
              <a:latin typeface="Calibri"/>
              <a:ea typeface="Calibri"/>
              <a:cs typeface="Calibri"/>
              <a:sym typeface="Calibri"/>
            </a:endParaRPr>
          </a:p>
        </p:txBody>
      </p:sp>
      <p:sp>
        <p:nvSpPr>
          <p:cNvPr id="900" name="Google Shape;900;g3f578cb17a1_0_258"/>
          <p:cNvSpPr/>
          <p:nvPr/>
        </p:nvSpPr>
        <p:spPr>
          <a:xfrm>
            <a:off x="4709160" y="2880360"/>
            <a:ext cx="3749100" cy="1298400"/>
          </a:xfrm>
          <a:prstGeom prst="roundRect">
            <a:avLst>
              <a:gd fmla="val 4225" name="adj"/>
            </a:avLst>
          </a:prstGeom>
          <a:solidFill>
            <a:srgbClr val="FFFFFF"/>
          </a:solidFill>
          <a:ln cap="flat" cmpd="sng" w="1587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g3f578cb17a1_0_258"/>
          <p:cNvSpPr/>
          <p:nvPr/>
        </p:nvSpPr>
        <p:spPr>
          <a:xfrm>
            <a:off x="4709160" y="2880360"/>
            <a:ext cx="3749100" cy="402300"/>
          </a:xfrm>
          <a:prstGeom prst="roundRect">
            <a:avLst>
              <a:gd fmla="val 13636" name="adj"/>
            </a:avLst>
          </a:prstGeom>
          <a:solidFill>
            <a:srgbClr val="2E4F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g3f578cb17a1_0_258"/>
          <p:cNvSpPr/>
          <p:nvPr/>
        </p:nvSpPr>
        <p:spPr>
          <a:xfrm>
            <a:off x="4709160" y="2880360"/>
            <a:ext cx="3749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Quality costs</a:t>
            </a:r>
            <a:endParaRPr b="0" i="0" sz="1200" u="none" cap="none" strike="noStrike">
              <a:solidFill>
                <a:schemeClr val="dk1"/>
              </a:solidFill>
              <a:latin typeface="Calibri"/>
              <a:ea typeface="Calibri"/>
              <a:cs typeface="Calibri"/>
              <a:sym typeface="Calibri"/>
            </a:endParaRPr>
          </a:p>
        </p:txBody>
      </p:sp>
      <p:sp>
        <p:nvSpPr>
          <p:cNvPr id="903" name="Google Shape;903;g3f578cb17a1_0_258"/>
          <p:cNvSpPr/>
          <p:nvPr/>
        </p:nvSpPr>
        <p:spPr>
          <a:xfrm>
            <a:off x="4892040" y="3346704"/>
            <a:ext cx="3383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100"/>
              <a:buFont typeface="Arial"/>
              <a:buNone/>
            </a:pPr>
            <a:r>
              <a:rPr b="1" i="0" lang="en-US" sz="1100" u="none" cap="none" strike="noStrike">
                <a:solidFill>
                  <a:srgbClr val="222222"/>
                </a:solidFill>
                <a:latin typeface="Arial"/>
                <a:ea typeface="Arial"/>
                <a:cs typeface="Arial"/>
                <a:sym typeface="Arial"/>
              </a:rPr>
              <a:t>what shapes the user’s perception</a:t>
            </a:r>
            <a:endParaRPr b="0" i="0" sz="1100" u="none" cap="none" strike="noStrike">
              <a:solidFill>
                <a:schemeClr val="dk1"/>
              </a:solidFill>
              <a:latin typeface="Calibri"/>
              <a:ea typeface="Calibri"/>
              <a:cs typeface="Calibri"/>
              <a:sym typeface="Calibri"/>
            </a:endParaRPr>
          </a:p>
        </p:txBody>
      </p:sp>
      <p:sp>
        <p:nvSpPr>
          <p:cNvPr id="904" name="Google Shape;904;g3f578cb17a1_0_258"/>
          <p:cNvSpPr/>
          <p:nvPr/>
        </p:nvSpPr>
        <p:spPr>
          <a:xfrm>
            <a:off x="4892040" y="3694176"/>
            <a:ext cx="3383400" cy="411600"/>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8A8A8A"/>
              </a:buClr>
              <a:buSzPts val="950"/>
              <a:buFont typeface="Arial"/>
              <a:buNone/>
            </a:pPr>
            <a:r>
              <a:rPr b="0" i="0" lang="en-US" sz="950" u="none" cap="none" strike="noStrike">
                <a:solidFill>
                  <a:srgbClr val="8A8A8A"/>
                </a:solidFill>
                <a:latin typeface="Arial"/>
                <a:ea typeface="Arial"/>
                <a:cs typeface="Arial"/>
                <a:sym typeface="Arial"/>
              </a:rPr>
              <a:t>e.g., response delay, errors, unsuitable responses</a:t>
            </a:r>
            <a:endParaRPr b="0" i="0" sz="950" u="none" cap="none" strike="noStrike">
              <a:solidFill>
                <a:schemeClr val="dk1"/>
              </a:solidFill>
              <a:latin typeface="Calibri"/>
              <a:ea typeface="Calibri"/>
              <a:cs typeface="Calibri"/>
              <a:sym typeface="Calibri"/>
            </a:endParaRPr>
          </a:p>
        </p:txBody>
      </p:sp>
      <p:pic>
        <p:nvPicPr>
          <p:cNvPr id="905" name="Google Shape;905;g3f578cb17a1_0_25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906" name="Google Shape;906;g3f578cb17a1_0_25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1" name="Shape 911"/>
        <p:cNvGrpSpPr/>
        <p:nvPr/>
      </p:nvGrpSpPr>
      <p:grpSpPr>
        <a:xfrm>
          <a:off x="0" y="0"/>
          <a:ext cx="0" cy="0"/>
          <a:chOff x="0" y="0"/>
          <a:chExt cx="0" cy="0"/>
        </a:xfrm>
      </p:grpSpPr>
      <p:pic>
        <p:nvPicPr>
          <p:cNvPr descr="umaine_logo.png" id="912" name="Google Shape;912;g3f578cb17a1_0_28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913" name="Google Shape;913;g3f578cb17a1_0_28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g3f578cb17a1_0_28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Deriving the Performance Function</a:t>
            </a:r>
            <a:endParaRPr b="0" i="0" sz="1300" u="none" cap="none" strike="noStrike">
              <a:solidFill>
                <a:schemeClr val="dk1"/>
              </a:solidFill>
              <a:latin typeface="Calibri"/>
              <a:ea typeface="Calibri"/>
              <a:cs typeface="Calibri"/>
              <a:sym typeface="Calibri"/>
            </a:endParaRPr>
          </a:p>
        </p:txBody>
      </p:sp>
      <p:cxnSp>
        <p:nvCxnSpPr>
          <p:cNvPr id="915" name="Google Shape;915;g3f578cb17a1_0_28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916" name="Google Shape;916;g3f578cb17a1_0_286"/>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Walker et al. ACL 1997 · Hajdinjak &amp; Mihelič. “The PARADISE evaluation framework: Issues and findings.” Computational Linguistics 2006</a:t>
            </a:r>
            <a:endParaRPr b="0" i="0" sz="600" u="none" cap="none" strike="noStrike">
              <a:solidFill>
                <a:schemeClr val="dk1"/>
              </a:solidFill>
              <a:latin typeface="Calibri"/>
              <a:ea typeface="Calibri"/>
              <a:cs typeface="Calibri"/>
              <a:sym typeface="Calibri"/>
            </a:endParaRPr>
          </a:p>
        </p:txBody>
      </p:sp>
      <p:sp>
        <p:nvSpPr>
          <p:cNvPr id="917" name="Google Shape;917;g3f578cb17a1_0_28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918" name="Google Shape;918;g3f578cb17a1_0_286"/>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919" name="Google Shape;919;g3f578cb17a1_0_286"/>
          <p:cNvSpPr/>
          <p:nvPr/>
        </p:nvSpPr>
        <p:spPr>
          <a:xfrm>
            <a:off x="685800" y="841248"/>
            <a:ext cx="7772400" cy="50280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3f578cb17a1_0_286"/>
          <p:cNvSpPr/>
          <p:nvPr/>
        </p:nvSpPr>
        <p:spPr>
          <a:xfrm>
            <a:off x="914400" y="841248"/>
            <a:ext cx="73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Fit multivariate linear regression:  </a:t>
            </a:r>
            <a:r>
              <a:rPr b="0" i="0" lang="en-US" sz="1200" u="none" cap="none" strike="noStrike">
                <a:solidFill>
                  <a:srgbClr val="222222"/>
                </a:solidFill>
                <a:latin typeface="Arial"/>
                <a:ea typeface="Arial"/>
                <a:cs typeface="Arial"/>
                <a:sym typeface="Arial"/>
              </a:rPr>
              <a:t>user satisfaction  ~  task success + dialogue costs</a:t>
            </a:r>
            <a:endParaRPr b="0" i="0" sz="1200" u="none" cap="none" strike="noStrike">
              <a:solidFill>
                <a:schemeClr val="dk1"/>
              </a:solidFill>
              <a:latin typeface="Calibri"/>
              <a:ea typeface="Calibri"/>
              <a:cs typeface="Calibri"/>
              <a:sym typeface="Calibri"/>
            </a:endParaRPr>
          </a:p>
        </p:txBody>
      </p:sp>
      <p:sp>
        <p:nvSpPr>
          <p:cNvPr id="921" name="Google Shape;921;g3f578cb17a1_0_286"/>
          <p:cNvSpPr/>
          <p:nvPr/>
        </p:nvSpPr>
        <p:spPr>
          <a:xfrm>
            <a:off x="685800" y="1719072"/>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g3f578cb17a1_0_286"/>
          <p:cNvSpPr/>
          <p:nvPr/>
        </p:nvSpPr>
        <p:spPr>
          <a:xfrm>
            <a:off x="685800" y="1719072"/>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923" name="Google Shape;923;g3f578cb17a1_0_286"/>
          <p:cNvSpPr/>
          <p:nvPr/>
        </p:nvSpPr>
        <p:spPr>
          <a:xfrm>
            <a:off x="1188720" y="1554480"/>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g3f578cb17a1_0_286"/>
          <p:cNvSpPr/>
          <p:nvPr/>
        </p:nvSpPr>
        <p:spPr>
          <a:xfrm>
            <a:off x="1417320" y="1554480"/>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Normalize   </a:t>
            </a:r>
            <a:r>
              <a:rPr b="0" i="0" lang="en-US" sz="1200" u="none" cap="none" strike="noStrike">
                <a:solidFill>
                  <a:srgbClr val="222222"/>
                </a:solidFill>
                <a:latin typeface="Arial"/>
                <a:ea typeface="Arial"/>
                <a:cs typeface="Arial"/>
                <a:sym typeface="Arial"/>
              </a:rPr>
              <a:t>Z-score every variable so the weights are directly comparable ( |w| ≤ 1 )</a:t>
            </a:r>
            <a:endParaRPr b="0" i="0" sz="1200" u="none" cap="none" strike="noStrike">
              <a:solidFill>
                <a:schemeClr val="dk1"/>
              </a:solidFill>
              <a:latin typeface="Calibri"/>
              <a:ea typeface="Calibri"/>
              <a:cs typeface="Calibri"/>
              <a:sym typeface="Calibri"/>
            </a:endParaRPr>
          </a:p>
        </p:txBody>
      </p:sp>
      <p:pic>
        <p:nvPicPr>
          <p:cNvPr id="925" name="Google Shape;925;g3f578cb17a1_0_28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926" name="Google Shape;926;g3f578cb17a1_0_28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1" name="Shape 931"/>
        <p:cNvGrpSpPr/>
        <p:nvPr/>
      </p:nvGrpSpPr>
      <p:grpSpPr>
        <a:xfrm>
          <a:off x="0" y="0"/>
          <a:ext cx="0" cy="0"/>
          <a:chOff x="0" y="0"/>
          <a:chExt cx="0" cy="0"/>
        </a:xfrm>
      </p:grpSpPr>
      <p:pic>
        <p:nvPicPr>
          <p:cNvPr descr="umaine_logo.png" id="932" name="Google Shape;932;g3f578cb17a1_0_305"/>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933" name="Google Shape;933;g3f578cb17a1_0_305"/>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g3f578cb17a1_0_305"/>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Deriving the Performance Function</a:t>
            </a:r>
            <a:endParaRPr b="0" i="0" sz="1300" u="none" cap="none" strike="noStrike">
              <a:solidFill>
                <a:schemeClr val="dk1"/>
              </a:solidFill>
              <a:latin typeface="Calibri"/>
              <a:ea typeface="Calibri"/>
              <a:cs typeface="Calibri"/>
              <a:sym typeface="Calibri"/>
            </a:endParaRPr>
          </a:p>
        </p:txBody>
      </p:sp>
      <p:cxnSp>
        <p:nvCxnSpPr>
          <p:cNvPr id="935" name="Google Shape;935;g3f578cb17a1_0_305"/>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936" name="Google Shape;936;g3f578cb17a1_0_305"/>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Walker et al. ACL 1997 · Hajdinjak &amp; Mihelič. “The PARADISE evaluation framework: Issues and findings.” Computational Linguistics 2006</a:t>
            </a:r>
            <a:endParaRPr b="0" i="0" sz="600" u="none" cap="none" strike="noStrike">
              <a:solidFill>
                <a:schemeClr val="dk1"/>
              </a:solidFill>
              <a:latin typeface="Calibri"/>
              <a:ea typeface="Calibri"/>
              <a:cs typeface="Calibri"/>
              <a:sym typeface="Calibri"/>
            </a:endParaRPr>
          </a:p>
        </p:txBody>
      </p:sp>
      <p:sp>
        <p:nvSpPr>
          <p:cNvPr id="937" name="Google Shape;937;g3f578cb17a1_0_305"/>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938" name="Google Shape;938;g3f578cb17a1_0_305"/>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939" name="Google Shape;939;g3f578cb17a1_0_305"/>
          <p:cNvSpPr/>
          <p:nvPr/>
        </p:nvSpPr>
        <p:spPr>
          <a:xfrm>
            <a:off x="685800" y="841248"/>
            <a:ext cx="7772400" cy="50280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g3f578cb17a1_0_305"/>
          <p:cNvSpPr/>
          <p:nvPr/>
        </p:nvSpPr>
        <p:spPr>
          <a:xfrm>
            <a:off x="914400" y="841248"/>
            <a:ext cx="73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Fit multivariate linear regression:  </a:t>
            </a:r>
            <a:r>
              <a:rPr b="0" i="0" lang="en-US" sz="1200" u="none" cap="none" strike="noStrike">
                <a:solidFill>
                  <a:srgbClr val="222222"/>
                </a:solidFill>
                <a:latin typeface="Arial"/>
                <a:ea typeface="Arial"/>
                <a:cs typeface="Arial"/>
                <a:sym typeface="Arial"/>
              </a:rPr>
              <a:t>user satisfaction  ~  task success + dialogue costs</a:t>
            </a:r>
            <a:endParaRPr b="0" i="0" sz="1200" u="none" cap="none" strike="noStrike">
              <a:solidFill>
                <a:schemeClr val="dk1"/>
              </a:solidFill>
              <a:latin typeface="Calibri"/>
              <a:ea typeface="Calibri"/>
              <a:cs typeface="Calibri"/>
              <a:sym typeface="Calibri"/>
            </a:endParaRPr>
          </a:p>
        </p:txBody>
      </p:sp>
      <p:sp>
        <p:nvSpPr>
          <p:cNvPr id="941" name="Google Shape;941;g3f578cb17a1_0_305"/>
          <p:cNvSpPr/>
          <p:nvPr/>
        </p:nvSpPr>
        <p:spPr>
          <a:xfrm>
            <a:off x="685800" y="1719072"/>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g3f578cb17a1_0_305"/>
          <p:cNvSpPr/>
          <p:nvPr/>
        </p:nvSpPr>
        <p:spPr>
          <a:xfrm>
            <a:off x="685800" y="1719072"/>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943" name="Google Shape;943;g3f578cb17a1_0_305"/>
          <p:cNvSpPr/>
          <p:nvPr/>
        </p:nvSpPr>
        <p:spPr>
          <a:xfrm>
            <a:off x="1188720" y="1554480"/>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g3f578cb17a1_0_305"/>
          <p:cNvSpPr/>
          <p:nvPr/>
        </p:nvSpPr>
        <p:spPr>
          <a:xfrm>
            <a:off x="1417320" y="1554480"/>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Normalize   </a:t>
            </a:r>
            <a:r>
              <a:rPr b="0" i="0" lang="en-US" sz="1200" u="none" cap="none" strike="noStrike">
                <a:solidFill>
                  <a:srgbClr val="222222"/>
                </a:solidFill>
                <a:latin typeface="Arial"/>
                <a:ea typeface="Arial"/>
                <a:cs typeface="Arial"/>
                <a:sym typeface="Arial"/>
              </a:rPr>
              <a:t>Z-score every variable so the weights are directly comparable ( |w| ≤ 1 )</a:t>
            </a:r>
            <a:endParaRPr b="0" i="0" sz="1200" u="none" cap="none" strike="noStrike">
              <a:solidFill>
                <a:schemeClr val="dk1"/>
              </a:solidFill>
              <a:latin typeface="Calibri"/>
              <a:ea typeface="Calibri"/>
              <a:cs typeface="Calibri"/>
              <a:sym typeface="Calibri"/>
            </a:endParaRPr>
          </a:p>
        </p:txBody>
      </p:sp>
      <p:sp>
        <p:nvSpPr>
          <p:cNvPr id="945" name="Google Shape;945;g3f578cb17a1_0_305"/>
          <p:cNvSpPr/>
          <p:nvPr/>
        </p:nvSpPr>
        <p:spPr>
          <a:xfrm>
            <a:off x="685800" y="2468880"/>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g3f578cb17a1_0_305"/>
          <p:cNvSpPr/>
          <p:nvPr/>
        </p:nvSpPr>
        <p:spPr>
          <a:xfrm>
            <a:off x="685800" y="2468880"/>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947" name="Google Shape;947;g3f578cb17a1_0_305"/>
          <p:cNvSpPr/>
          <p:nvPr/>
        </p:nvSpPr>
        <p:spPr>
          <a:xfrm>
            <a:off x="1188720" y="2304288"/>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g3f578cb17a1_0_305"/>
          <p:cNvSpPr/>
          <p:nvPr/>
        </p:nvSpPr>
        <p:spPr>
          <a:xfrm>
            <a:off x="1417320" y="2304288"/>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De-correlate   </a:t>
            </a:r>
            <a:r>
              <a:rPr b="0" i="0" lang="en-US" sz="1200" u="none" cap="none" strike="noStrike">
                <a:solidFill>
                  <a:srgbClr val="222222"/>
                </a:solidFill>
                <a:latin typeface="Arial"/>
                <a:ea typeface="Arial"/>
                <a:cs typeface="Arial"/>
                <a:sym typeface="Arial"/>
              </a:rPr>
              <a:t>Drop predictors with | r | &gt; 0.7 — keep the more significant one of each pair</a:t>
            </a:r>
            <a:endParaRPr b="0" i="0" sz="1200" u="none" cap="none" strike="noStrike">
              <a:solidFill>
                <a:schemeClr val="dk1"/>
              </a:solidFill>
              <a:latin typeface="Calibri"/>
              <a:ea typeface="Calibri"/>
              <a:cs typeface="Calibri"/>
              <a:sym typeface="Calibri"/>
            </a:endParaRPr>
          </a:p>
        </p:txBody>
      </p:sp>
      <p:pic>
        <p:nvPicPr>
          <p:cNvPr id="949" name="Google Shape;949;g3f578cb17a1_0_305"/>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950" name="Google Shape;950;g3f578cb17a1_0_305"/>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5" name="Shape 955"/>
        <p:cNvGrpSpPr/>
        <p:nvPr/>
      </p:nvGrpSpPr>
      <p:grpSpPr>
        <a:xfrm>
          <a:off x="0" y="0"/>
          <a:ext cx="0" cy="0"/>
          <a:chOff x="0" y="0"/>
          <a:chExt cx="0" cy="0"/>
        </a:xfrm>
      </p:grpSpPr>
      <p:pic>
        <p:nvPicPr>
          <p:cNvPr descr="umaine_logo.png" id="956" name="Google Shape;956;g3f578cb17a1_0_328"/>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957" name="Google Shape;957;g3f578cb17a1_0_328"/>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g3f578cb17a1_0_328"/>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Deriving the Performance Function</a:t>
            </a:r>
            <a:endParaRPr b="0" i="0" sz="1300" u="none" cap="none" strike="noStrike">
              <a:solidFill>
                <a:schemeClr val="dk1"/>
              </a:solidFill>
              <a:latin typeface="Calibri"/>
              <a:ea typeface="Calibri"/>
              <a:cs typeface="Calibri"/>
              <a:sym typeface="Calibri"/>
            </a:endParaRPr>
          </a:p>
        </p:txBody>
      </p:sp>
      <p:cxnSp>
        <p:nvCxnSpPr>
          <p:cNvPr id="959" name="Google Shape;959;g3f578cb17a1_0_328"/>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960" name="Google Shape;960;g3f578cb17a1_0_328"/>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Walker et al. ACL 1997 · Hajdinjak &amp; Mihelič. “The PARADISE evaluation framework: Issues and findings.” Computational Linguistics 2006</a:t>
            </a:r>
            <a:endParaRPr b="0" i="0" sz="600" u="none" cap="none" strike="noStrike">
              <a:solidFill>
                <a:schemeClr val="dk1"/>
              </a:solidFill>
              <a:latin typeface="Calibri"/>
              <a:ea typeface="Calibri"/>
              <a:cs typeface="Calibri"/>
              <a:sym typeface="Calibri"/>
            </a:endParaRPr>
          </a:p>
        </p:txBody>
      </p:sp>
      <p:sp>
        <p:nvSpPr>
          <p:cNvPr id="961" name="Google Shape;961;g3f578cb17a1_0_328"/>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962" name="Google Shape;962;g3f578cb17a1_0_328"/>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16</a:t>
            </a:r>
            <a:endParaRPr b="0" i="0" sz="700" u="none" cap="none" strike="noStrike">
              <a:solidFill>
                <a:schemeClr val="dk1"/>
              </a:solidFill>
              <a:latin typeface="Calibri"/>
              <a:ea typeface="Calibri"/>
              <a:cs typeface="Calibri"/>
              <a:sym typeface="Calibri"/>
            </a:endParaRPr>
          </a:p>
        </p:txBody>
      </p:sp>
      <p:sp>
        <p:nvSpPr>
          <p:cNvPr id="963" name="Google Shape;963;g3f578cb17a1_0_328"/>
          <p:cNvSpPr/>
          <p:nvPr/>
        </p:nvSpPr>
        <p:spPr>
          <a:xfrm>
            <a:off x="685800" y="841248"/>
            <a:ext cx="7772400" cy="502800"/>
          </a:xfrm>
          <a:prstGeom prst="roundRect">
            <a:avLst>
              <a:gd fmla="val 9091" name="adj"/>
            </a:avLst>
          </a:prstGeom>
          <a:solidFill>
            <a:srgbClr val="EEF2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g3f578cb17a1_0_328"/>
          <p:cNvSpPr/>
          <p:nvPr/>
        </p:nvSpPr>
        <p:spPr>
          <a:xfrm>
            <a:off x="914400" y="841248"/>
            <a:ext cx="73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Fit multivariate linear regression:  </a:t>
            </a:r>
            <a:r>
              <a:rPr b="0" i="0" lang="en-US" sz="1200" u="none" cap="none" strike="noStrike">
                <a:solidFill>
                  <a:srgbClr val="222222"/>
                </a:solidFill>
                <a:latin typeface="Arial"/>
                <a:ea typeface="Arial"/>
                <a:cs typeface="Arial"/>
                <a:sym typeface="Arial"/>
              </a:rPr>
              <a:t>user satisfaction  ~  task success + dialogue costs</a:t>
            </a:r>
            <a:endParaRPr b="0" i="0" sz="1200" u="none" cap="none" strike="noStrike">
              <a:solidFill>
                <a:schemeClr val="dk1"/>
              </a:solidFill>
              <a:latin typeface="Calibri"/>
              <a:ea typeface="Calibri"/>
              <a:cs typeface="Calibri"/>
              <a:sym typeface="Calibri"/>
            </a:endParaRPr>
          </a:p>
        </p:txBody>
      </p:sp>
      <p:sp>
        <p:nvSpPr>
          <p:cNvPr id="965" name="Google Shape;965;g3f578cb17a1_0_328"/>
          <p:cNvSpPr/>
          <p:nvPr/>
        </p:nvSpPr>
        <p:spPr>
          <a:xfrm>
            <a:off x="685800" y="1719072"/>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f578cb17a1_0_328"/>
          <p:cNvSpPr/>
          <p:nvPr/>
        </p:nvSpPr>
        <p:spPr>
          <a:xfrm>
            <a:off x="685800" y="1719072"/>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967" name="Google Shape;967;g3f578cb17a1_0_328"/>
          <p:cNvSpPr/>
          <p:nvPr/>
        </p:nvSpPr>
        <p:spPr>
          <a:xfrm>
            <a:off x="1188720" y="1554480"/>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f578cb17a1_0_328"/>
          <p:cNvSpPr/>
          <p:nvPr/>
        </p:nvSpPr>
        <p:spPr>
          <a:xfrm>
            <a:off x="1417320" y="1554480"/>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Normalize   </a:t>
            </a:r>
            <a:r>
              <a:rPr b="0" i="0" lang="en-US" sz="1200" u="none" cap="none" strike="noStrike">
                <a:solidFill>
                  <a:srgbClr val="222222"/>
                </a:solidFill>
                <a:latin typeface="Arial"/>
                <a:ea typeface="Arial"/>
                <a:cs typeface="Arial"/>
                <a:sym typeface="Arial"/>
              </a:rPr>
              <a:t>Z-score every variable so the weights are directly comparable ( |w| ≤ 1 )</a:t>
            </a:r>
            <a:endParaRPr b="0" i="0" sz="1200" u="none" cap="none" strike="noStrike">
              <a:solidFill>
                <a:schemeClr val="dk1"/>
              </a:solidFill>
              <a:latin typeface="Calibri"/>
              <a:ea typeface="Calibri"/>
              <a:cs typeface="Calibri"/>
              <a:sym typeface="Calibri"/>
            </a:endParaRPr>
          </a:p>
        </p:txBody>
      </p:sp>
      <p:sp>
        <p:nvSpPr>
          <p:cNvPr id="969" name="Google Shape;969;g3f578cb17a1_0_328"/>
          <p:cNvSpPr/>
          <p:nvPr/>
        </p:nvSpPr>
        <p:spPr>
          <a:xfrm>
            <a:off x="685800" y="2468880"/>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g3f578cb17a1_0_328"/>
          <p:cNvSpPr/>
          <p:nvPr/>
        </p:nvSpPr>
        <p:spPr>
          <a:xfrm>
            <a:off x="685800" y="2468880"/>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971" name="Google Shape;971;g3f578cb17a1_0_328"/>
          <p:cNvSpPr/>
          <p:nvPr/>
        </p:nvSpPr>
        <p:spPr>
          <a:xfrm>
            <a:off x="1188720" y="2304288"/>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g3f578cb17a1_0_328"/>
          <p:cNvSpPr/>
          <p:nvPr/>
        </p:nvSpPr>
        <p:spPr>
          <a:xfrm>
            <a:off x="1417320" y="2304288"/>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De-correlate   </a:t>
            </a:r>
            <a:r>
              <a:rPr b="0" i="0" lang="en-US" sz="1200" u="none" cap="none" strike="noStrike">
                <a:solidFill>
                  <a:srgbClr val="222222"/>
                </a:solidFill>
                <a:latin typeface="Arial"/>
                <a:ea typeface="Arial"/>
                <a:cs typeface="Arial"/>
                <a:sym typeface="Arial"/>
              </a:rPr>
              <a:t>Drop predictors with | r | &gt; 0.7 — keep the more significant one of each pair</a:t>
            </a:r>
            <a:endParaRPr b="0" i="0" sz="1200" u="none" cap="none" strike="noStrike">
              <a:solidFill>
                <a:schemeClr val="dk1"/>
              </a:solidFill>
              <a:latin typeface="Calibri"/>
              <a:ea typeface="Calibri"/>
              <a:cs typeface="Calibri"/>
              <a:sym typeface="Calibri"/>
            </a:endParaRPr>
          </a:p>
        </p:txBody>
      </p:sp>
      <p:sp>
        <p:nvSpPr>
          <p:cNvPr id="973" name="Google Shape;973;g3f578cb17a1_0_328"/>
          <p:cNvSpPr/>
          <p:nvPr/>
        </p:nvSpPr>
        <p:spPr>
          <a:xfrm>
            <a:off x="685800" y="3218688"/>
            <a:ext cx="329100" cy="329100"/>
          </a:xfrm>
          <a:prstGeom prst="ellipse">
            <a:avLst/>
          </a:prstGeom>
          <a:solidFill>
            <a:srgbClr val="2222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g3f578cb17a1_0_328"/>
          <p:cNvSpPr/>
          <p:nvPr/>
        </p:nvSpPr>
        <p:spPr>
          <a:xfrm>
            <a:off x="685800" y="3218688"/>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975" name="Google Shape;975;g3f578cb17a1_0_328"/>
          <p:cNvSpPr/>
          <p:nvPr/>
        </p:nvSpPr>
        <p:spPr>
          <a:xfrm>
            <a:off x="1188720" y="3054096"/>
            <a:ext cx="7269600" cy="658500"/>
          </a:xfrm>
          <a:prstGeom prst="roundRect">
            <a:avLst>
              <a:gd fmla="val 6944" name="adj"/>
            </a:avLst>
          </a:prstGeom>
          <a:solidFill>
            <a:srgbClr val="FFFFFF"/>
          </a:solidFill>
          <a:ln cap="flat" cmpd="sng" w="127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g3f578cb17a1_0_328"/>
          <p:cNvSpPr/>
          <p:nvPr/>
        </p:nvSpPr>
        <p:spPr>
          <a:xfrm>
            <a:off x="1417320" y="3054096"/>
            <a:ext cx="68580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4F8F"/>
              </a:buClr>
              <a:buSzPts val="1200"/>
              <a:buFont typeface="Arial"/>
              <a:buNone/>
            </a:pPr>
            <a:r>
              <a:rPr b="1" i="0" lang="en-US" sz="1200" u="none" cap="none" strike="noStrike">
                <a:solidFill>
                  <a:srgbClr val="2E4F8F"/>
                </a:solidFill>
                <a:latin typeface="Arial"/>
                <a:ea typeface="Arial"/>
                <a:cs typeface="Arial"/>
                <a:sym typeface="Arial"/>
              </a:rPr>
              <a:t>Backward elimination   </a:t>
            </a:r>
            <a:r>
              <a:rPr b="0" i="0" lang="en-US" sz="1200" u="none" cap="none" strike="noStrike">
                <a:solidFill>
                  <a:srgbClr val="222222"/>
                </a:solidFill>
                <a:latin typeface="Arial"/>
                <a:ea typeface="Arial"/>
                <a:cs typeface="Arial"/>
                <a:sym typeface="Arial"/>
              </a:rPr>
              <a:t>Iteratively remove predictors that are not significant ( p &gt; 0.05 )</a:t>
            </a:r>
            <a:endParaRPr b="0" i="0" sz="1200" u="none" cap="none" strike="noStrike">
              <a:solidFill>
                <a:schemeClr val="dk1"/>
              </a:solidFill>
              <a:latin typeface="Calibri"/>
              <a:ea typeface="Calibri"/>
              <a:cs typeface="Calibri"/>
              <a:sym typeface="Calibri"/>
            </a:endParaRPr>
          </a:p>
        </p:txBody>
      </p:sp>
      <p:sp>
        <p:nvSpPr>
          <p:cNvPr id="977" name="Google Shape;977;g3f578cb17a1_0_328"/>
          <p:cNvSpPr/>
          <p:nvPr/>
        </p:nvSpPr>
        <p:spPr>
          <a:xfrm>
            <a:off x="685800" y="3931920"/>
            <a:ext cx="7772400" cy="475500"/>
          </a:xfrm>
          <a:prstGeom prst="roundRect">
            <a:avLst>
              <a:gd fmla="val 9615" name="adj"/>
            </a:avLst>
          </a:prstGeom>
          <a:solidFill>
            <a:srgbClr val="FFF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g3f578cb17a1_0_328"/>
          <p:cNvSpPr/>
          <p:nvPr/>
        </p:nvSpPr>
        <p:spPr>
          <a:xfrm>
            <a:off x="685800" y="3931920"/>
            <a:ext cx="77724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C00"/>
              </a:buClr>
              <a:buSzPts val="1150"/>
              <a:buFont typeface="Arial"/>
              <a:buNone/>
            </a:pPr>
            <a:r>
              <a:rPr b="1" i="0" lang="en-US" sz="1150" u="none" cap="none" strike="noStrike">
                <a:solidFill>
                  <a:srgbClr val="7A5C00"/>
                </a:solidFill>
                <a:latin typeface="Arial"/>
                <a:ea typeface="Arial"/>
                <a:cs typeface="Arial"/>
                <a:sym typeface="Arial"/>
              </a:rPr>
              <a:t>The surviving weights — and their signs — reveal what drives user satisfaction.</a:t>
            </a:r>
            <a:endParaRPr b="0" i="0" sz="1150" u="none" cap="none" strike="noStrike">
              <a:solidFill>
                <a:schemeClr val="dk1"/>
              </a:solidFill>
              <a:latin typeface="Calibri"/>
              <a:ea typeface="Calibri"/>
              <a:cs typeface="Calibri"/>
              <a:sym typeface="Calibri"/>
            </a:endParaRPr>
          </a:p>
        </p:txBody>
      </p:sp>
      <p:pic>
        <p:nvPicPr>
          <p:cNvPr id="979" name="Google Shape;979;g3f578cb17a1_0_32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980" name="Google Shape;980;g3f578cb17a1_0_32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pic>
        <p:nvPicPr>
          <p:cNvPr descr="umaine_logo.png" id="986" name="Google Shape;986;g3f578cb17a1_0_359"/>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987" name="Google Shape;987;g3f578cb17a1_0_359"/>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g3f578cb17a1_0_359"/>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Figure 1 — Methodology Overview</a:t>
            </a:r>
            <a:endParaRPr b="0" i="0" sz="1300" u="none" cap="none" strike="noStrike">
              <a:solidFill>
                <a:schemeClr val="dk1"/>
              </a:solidFill>
              <a:latin typeface="Calibri"/>
              <a:ea typeface="Calibri"/>
              <a:cs typeface="Calibri"/>
              <a:sym typeface="Calibri"/>
            </a:endParaRPr>
          </a:p>
        </p:txBody>
      </p:sp>
      <p:cxnSp>
        <p:nvCxnSpPr>
          <p:cNvPr id="989" name="Google Shape;989;g3f578cb17a1_0_359"/>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990" name="Google Shape;990;g3f578cb17a1_0_359"/>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pic>
        <p:nvPicPr>
          <p:cNvPr descr="fig1.png" id="991" name="Google Shape;991;g3f578cb17a1_0_359"/>
          <p:cNvPicPr preferRelativeResize="0"/>
          <p:nvPr/>
        </p:nvPicPr>
        <p:blipFill rotWithShape="1">
          <a:blip r:embed="rId4">
            <a:alphaModFix/>
          </a:blip>
          <a:srcRect b="0" l="0" r="0" t="0"/>
          <a:stretch/>
        </p:blipFill>
        <p:spPr>
          <a:xfrm>
            <a:off x="457200" y="1325880"/>
            <a:ext cx="8229600" cy="3063240"/>
          </a:xfrm>
          <a:prstGeom prst="rect">
            <a:avLst/>
          </a:prstGeom>
          <a:noFill/>
          <a:ln>
            <a:noFill/>
          </a:ln>
        </p:spPr>
      </p:pic>
      <p:pic>
        <p:nvPicPr>
          <p:cNvPr id="992" name="Google Shape;992;g3f578cb17a1_0_359"/>
          <p:cNvPicPr preferRelativeResize="0"/>
          <p:nvPr/>
        </p:nvPicPr>
        <p:blipFill>
          <a:blip r:embed="rId5">
            <a:alphaModFix/>
          </a:blip>
          <a:stretch>
            <a:fillRect/>
          </a:stretch>
        </p:blipFill>
        <p:spPr>
          <a:xfrm>
            <a:off x="6455625" y="134425"/>
            <a:ext cx="1244825" cy="365750"/>
          </a:xfrm>
          <a:prstGeom prst="rect">
            <a:avLst/>
          </a:prstGeom>
          <a:noFill/>
          <a:ln>
            <a:noFill/>
          </a:ln>
        </p:spPr>
      </p:pic>
      <p:pic>
        <p:nvPicPr>
          <p:cNvPr id="993" name="Google Shape;993;g3f578cb17a1_0_359"/>
          <p:cNvPicPr preferRelativeResize="0"/>
          <p:nvPr/>
        </p:nvPicPr>
        <p:blipFill>
          <a:blip r:embed="rId6">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8" name="Shape 998"/>
        <p:cNvGrpSpPr/>
        <p:nvPr/>
      </p:nvGrpSpPr>
      <p:grpSpPr>
        <a:xfrm>
          <a:off x="0" y="0"/>
          <a:ext cx="0" cy="0"/>
          <a:chOff x="0" y="0"/>
          <a:chExt cx="0" cy="0"/>
        </a:xfrm>
      </p:grpSpPr>
      <p:pic>
        <p:nvPicPr>
          <p:cNvPr descr="umaine_logo.png" id="999" name="Google Shape;999;g3f578cb17a1_0_369"/>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00" name="Google Shape;1000;g3f578cb17a1_0_369"/>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g3f578cb17a1_0_369"/>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Figure 2 — Survey Tool Interface</a:t>
            </a:r>
            <a:endParaRPr b="0" i="0" sz="1300" u="none" cap="none" strike="noStrike">
              <a:solidFill>
                <a:schemeClr val="dk1"/>
              </a:solidFill>
              <a:latin typeface="Calibri"/>
              <a:ea typeface="Calibri"/>
              <a:cs typeface="Calibri"/>
              <a:sym typeface="Calibri"/>
            </a:endParaRPr>
          </a:p>
        </p:txBody>
      </p:sp>
      <p:cxnSp>
        <p:nvCxnSpPr>
          <p:cNvPr id="1002" name="Google Shape;1002;g3f578cb17a1_0_369"/>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03" name="Google Shape;1003;g3f578cb17a1_0_369"/>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pic>
        <p:nvPicPr>
          <p:cNvPr descr="fig2.png" id="1004" name="Google Shape;1004;g3f578cb17a1_0_369"/>
          <p:cNvPicPr preferRelativeResize="0"/>
          <p:nvPr/>
        </p:nvPicPr>
        <p:blipFill rotWithShape="1">
          <a:blip r:embed="rId4">
            <a:alphaModFix/>
          </a:blip>
          <a:srcRect b="0" l="0" r="0" t="0"/>
          <a:stretch/>
        </p:blipFill>
        <p:spPr>
          <a:xfrm>
            <a:off x="1280160" y="960120"/>
            <a:ext cx="6583680" cy="3300983"/>
          </a:xfrm>
          <a:prstGeom prst="rect">
            <a:avLst/>
          </a:prstGeom>
          <a:noFill/>
          <a:ln>
            <a:noFill/>
          </a:ln>
        </p:spPr>
      </p:pic>
      <p:pic>
        <p:nvPicPr>
          <p:cNvPr id="1005" name="Google Shape;1005;g3f578cb17a1_0_369"/>
          <p:cNvPicPr preferRelativeResize="0"/>
          <p:nvPr/>
        </p:nvPicPr>
        <p:blipFill>
          <a:blip r:embed="rId5">
            <a:alphaModFix/>
          </a:blip>
          <a:stretch>
            <a:fillRect/>
          </a:stretch>
        </p:blipFill>
        <p:spPr>
          <a:xfrm>
            <a:off x="6455625" y="134425"/>
            <a:ext cx="1244825" cy="365750"/>
          </a:xfrm>
          <a:prstGeom prst="rect">
            <a:avLst/>
          </a:prstGeom>
          <a:noFill/>
          <a:ln>
            <a:noFill/>
          </a:ln>
        </p:spPr>
      </p:pic>
      <p:pic>
        <p:nvPicPr>
          <p:cNvPr id="1006" name="Google Shape;1006;g3f578cb17a1_0_369"/>
          <p:cNvPicPr preferRelativeResize="0"/>
          <p:nvPr/>
        </p:nvPicPr>
        <p:blipFill>
          <a:blip r:embed="rId6">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1" name="Shape 1011"/>
        <p:cNvGrpSpPr/>
        <p:nvPr/>
      </p:nvGrpSpPr>
      <p:grpSpPr>
        <a:xfrm>
          <a:off x="0" y="0"/>
          <a:ext cx="0" cy="0"/>
          <a:chOff x="0" y="0"/>
          <a:chExt cx="0" cy="0"/>
        </a:xfrm>
      </p:grpSpPr>
      <p:pic>
        <p:nvPicPr>
          <p:cNvPr descr="umaine_logo.png" id="1012" name="Google Shape;1012;g3f578cb17a1_0_379"/>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13" name="Google Shape;1013;g3f578cb17a1_0_379"/>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g3f578cb17a1_0_379"/>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1 — Related Work in Evaluating LLMs</a:t>
            </a:r>
            <a:endParaRPr b="0" i="0" sz="1300" u="none" cap="none" strike="noStrike">
              <a:solidFill>
                <a:schemeClr val="dk1"/>
              </a:solidFill>
              <a:latin typeface="Calibri"/>
              <a:ea typeface="Calibri"/>
              <a:cs typeface="Calibri"/>
              <a:sym typeface="Calibri"/>
            </a:endParaRPr>
          </a:p>
        </p:txBody>
      </p:sp>
      <p:cxnSp>
        <p:nvCxnSpPr>
          <p:cNvPr id="1015" name="Google Shape;1015;g3f578cb17a1_0_379"/>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16" name="Google Shape;1016;g3f578cb17a1_0_379"/>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MT = Multi-turn · SM = Satisfaction Modeling</a:t>
            </a:r>
            <a:endParaRPr b="0" i="0" sz="600" u="none" cap="none" strike="noStrike">
              <a:solidFill>
                <a:schemeClr val="dk1"/>
              </a:solidFill>
              <a:latin typeface="Calibri"/>
              <a:ea typeface="Calibri"/>
              <a:cs typeface="Calibri"/>
              <a:sym typeface="Calibri"/>
            </a:endParaRPr>
          </a:p>
        </p:txBody>
      </p:sp>
      <p:sp>
        <p:nvSpPr>
          <p:cNvPr id="1017" name="Google Shape;1017;g3f578cb17a1_0_379"/>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018" name="Google Shape;1018;g3f578cb17a1_0_379"/>
          <p:cNvGraphicFramePr/>
          <p:nvPr/>
        </p:nvGraphicFramePr>
        <p:xfrm>
          <a:off x="1234440" y="932688"/>
          <a:ext cx="3000000" cy="3000000"/>
        </p:xfrm>
        <a:graphic>
          <a:graphicData uri="http://schemas.openxmlformats.org/drawingml/2006/table">
            <a:tbl>
              <a:tblPr>
                <a:noFill/>
                <a:tableStyleId>{C58A01A9-31D1-41C9-9F1A-FE5B03BA0646}</a:tableStyleId>
              </a:tblPr>
              <a:tblGrid>
                <a:gridCol w="2468875"/>
                <a:gridCol w="640075"/>
                <a:gridCol w="640075"/>
                <a:gridCol w="2926075"/>
              </a:tblGrid>
              <a:tr h="233175">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Work</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MT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SM</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Evaluation target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Chen et al. (2021)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Hendrycks et al. (2021)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Yin et al. (2018)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Jimenez et al. (2023)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Bug fixing</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Jain et al.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generation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Aider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editing</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Wu and Fard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Clarification ability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Laban et al.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MT degradation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Vaithilingam et al. (2022)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User expectations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Kumar et al. (2025)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Agent collaboration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Liu et al. (2024b)</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Code quality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Sarkar et al. (2022)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User experience</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Liang et al. (2024)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Usability</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33175">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This work</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NFR assessment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4372C3"/>
                    </a:solidFill>
                  </a:tcPr>
                </a:tc>
              </a:tr>
            </a:tbl>
          </a:graphicData>
        </a:graphic>
      </p:graphicFrame>
      <p:pic>
        <p:nvPicPr>
          <p:cNvPr id="1019" name="Google Shape;1019;g3f578cb17a1_0_379"/>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020" name="Google Shape;1020;g3f578cb17a1_0_379"/>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5" name="Shape 1025"/>
        <p:cNvGrpSpPr/>
        <p:nvPr/>
      </p:nvGrpSpPr>
      <p:grpSpPr>
        <a:xfrm>
          <a:off x="0" y="0"/>
          <a:ext cx="0" cy="0"/>
          <a:chOff x="0" y="0"/>
          <a:chExt cx="0" cy="0"/>
        </a:xfrm>
      </p:grpSpPr>
      <p:pic>
        <p:nvPicPr>
          <p:cNvPr descr="umaine_logo.png" id="1026" name="Google Shape;1026;g3f578cb17a1_0_390"/>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27" name="Google Shape;1027;g3f578cb17a1_0_390"/>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g3f578cb17a1_0_390"/>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3 — Key Statistics of Collected Dialogues</a:t>
            </a:r>
            <a:endParaRPr b="0" i="0" sz="1300" u="none" cap="none" strike="noStrike">
              <a:solidFill>
                <a:schemeClr val="dk1"/>
              </a:solidFill>
              <a:latin typeface="Calibri"/>
              <a:ea typeface="Calibri"/>
              <a:cs typeface="Calibri"/>
              <a:sym typeface="Calibri"/>
            </a:endParaRPr>
          </a:p>
        </p:txBody>
      </p:sp>
      <p:cxnSp>
        <p:nvCxnSpPr>
          <p:cNvPr id="1029" name="Google Shape;1029;g3f578cb17a1_0_390"/>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30" name="Google Shape;1030;g3f578cb17a1_0_390"/>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031" name="Google Shape;1031;g3f578cb17a1_0_390"/>
          <p:cNvGraphicFramePr/>
          <p:nvPr/>
        </p:nvGraphicFramePr>
        <p:xfrm>
          <a:off x="2377440" y="1005840"/>
          <a:ext cx="3000000" cy="3000000"/>
        </p:xfrm>
        <a:graphic>
          <a:graphicData uri="http://schemas.openxmlformats.org/drawingml/2006/table">
            <a:tbl>
              <a:tblPr>
                <a:noFill/>
                <a:tableStyleId>{C58A01A9-31D1-41C9-9F1A-FE5B03BA0646}</a:tableStyleId>
              </a:tblPr>
              <a:tblGrid>
                <a:gridCol w="3017525"/>
                <a:gridCol w="1371600"/>
              </a:tblGrid>
              <a:tr h="32005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Statistic</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Value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Total # Dialogues</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34</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Total # Turns</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406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Avg. # Turns per Dialogue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11.94</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Avg. # Words in Prompt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60.90</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Max. # Words in Prompt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496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Avg. # Words in Response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129.46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Max. # Words in Response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877</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Avg. # Words per Turn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190.36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20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Max. # Words per Turn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1206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032" name="Google Shape;1032;g3f578cb17a1_0_390"/>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033" name="Google Shape;1033;g3f578cb17a1_0_390"/>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8" name="Shape 1038"/>
        <p:cNvGrpSpPr/>
        <p:nvPr/>
      </p:nvGrpSpPr>
      <p:grpSpPr>
        <a:xfrm>
          <a:off x="0" y="0"/>
          <a:ext cx="0" cy="0"/>
          <a:chOff x="0" y="0"/>
          <a:chExt cx="0" cy="0"/>
        </a:xfrm>
      </p:grpSpPr>
      <p:pic>
        <p:nvPicPr>
          <p:cNvPr descr="umaine_logo.png" id="1039" name="Google Shape;1039;g3f578cb17a1_0_400"/>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40" name="Google Shape;1040;g3f578cb17a1_0_400"/>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g3f578cb17a1_0_400"/>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2 — Inter-Rater Reliability (Cohen's κ)</a:t>
            </a:r>
            <a:endParaRPr b="0" i="0" sz="1300" u="none" cap="none" strike="noStrike">
              <a:solidFill>
                <a:schemeClr val="dk1"/>
              </a:solidFill>
              <a:latin typeface="Calibri"/>
              <a:ea typeface="Calibri"/>
              <a:cs typeface="Calibri"/>
              <a:sym typeface="Calibri"/>
            </a:endParaRPr>
          </a:p>
        </p:txBody>
      </p:sp>
      <p:cxnSp>
        <p:nvCxnSpPr>
          <p:cNvPr id="1042" name="Google Shape;1042;g3f578cb17a1_0_400"/>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43" name="Google Shape;1043;g3f578cb17a1_0_400"/>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 = insufficient variation to compute κ</a:t>
            </a:r>
            <a:endParaRPr b="0" i="0" sz="600" u="none" cap="none" strike="noStrike">
              <a:solidFill>
                <a:schemeClr val="dk1"/>
              </a:solidFill>
              <a:latin typeface="Calibri"/>
              <a:ea typeface="Calibri"/>
              <a:cs typeface="Calibri"/>
              <a:sym typeface="Calibri"/>
            </a:endParaRPr>
          </a:p>
        </p:txBody>
      </p:sp>
      <p:sp>
        <p:nvSpPr>
          <p:cNvPr id="1044" name="Google Shape;1044;g3f578cb17a1_0_400"/>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045" name="Google Shape;1045;g3f578cb17a1_0_400"/>
          <p:cNvGraphicFramePr/>
          <p:nvPr/>
        </p:nvGraphicFramePr>
        <p:xfrm>
          <a:off x="411480" y="932688"/>
          <a:ext cx="3000000" cy="3000000"/>
        </p:xfrm>
        <a:graphic>
          <a:graphicData uri="http://schemas.openxmlformats.org/drawingml/2006/table">
            <a:tbl>
              <a:tblPr>
                <a:noFill/>
                <a:tableStyleId>{C58A01A9-31D1-41C9-9F1A-FE5B03BA0646}</a:tableStyleId>
              </a:tblPr>
              <a:tblGrid>
                <a:gridCol w="1783075"/>
                <a:gridCol w="777250"/>
                <a:gridCol w="822950"/>
                <a:gridCol w="731525"/>
              </a:tblGrid>
              <a:tr h="251450">
                <a:tc>
                  <a:txBody>
                    <a:bodyPr/>
                    <a:lstStyle/>
                    <a:p>
                      <a:pPr indent="0" lvl="0" marL="0" marR="0" rtl="0" algn="l">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Label</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R1</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R1-redo</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R2</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Recollections</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0.640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0.772</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Expansion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0.129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0.602</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0.666</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Refinement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0.176</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0.729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0.615</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Follow-up</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0.289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0.796</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0.884</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User initiatives</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0.668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0.898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Unsuitable-request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Inappropriate resp.</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Error</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Help messages</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Given-data</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0.408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Check move</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0.369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0.638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0.791</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1046" name="Google Shape;1046;g3f578cb17a1_0_400"/>
          <p:cNvGraphicFramePr/>
          <p:nvPr/>
        </p:nvGraphicFramePr>
        <p:xfrm>
          <a:off x="4663440" y="932688"/>
          <a:ext cx="3000000" cy="3000000"/>
        </p:xfrm>
        <a:graphic>
          <a:graphicData uri="http://schemas.openxmlformats.org/drawingml/2006/table">
            <a:tbl>
              <a:tblPr>
                <a:noFill/>
                <a:tableStyleId>{C58A01A9-31D1-41C9-9F1A-FE5B03BA0646}</a:tableStyleId>
              </a:tblPr>
              <a:tblGrid>
                <a:gridCol w="1783075"/>
                <a:gridCol w="777250"/>
                <a:gridCol w="822950"/>
                <a:gridCol w="731525"/>
              </a:tblGrid>
              <a:tr h="251450">
                <a:tc>
                  <a:txBody>
                    <a:bodyPr/>
                    <a:lstStyle/>
                    <a:p>
                      <a:pPr indent="0" lvl="0" marL="0" marR="0" rtl="0" algn="l">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Label</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R1</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R1-redo</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850"/>
                        <a:buFont typeface="Arial"/>
                        <a:buNone/>
                      </a:pPr>
                      <a:r>
                        <a:rPr b="1" lang="en-US" sz="850" u="none" cap="none" strike="noStrike">
                          <a:solidFill>
                            <a:srgbClr val="FFFFFF"/>
                          </a:solidFill>
                          <a:latin typeface="Arial"/>
                          <a:ea typeface="Arial"/>
                          <a:cs typeface="Arial"/>
                          <a:sym typeface="Arial"/>
                        </a:rPr>
                        <a:t>R2</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Relevant data</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Abandoned requests</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Anaphora Resolution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Separate Input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Content Confusion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Content Rephrasing</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0.370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0.912</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0.813</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Format Rephrasing</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Self-correction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0.558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0.811</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Self-affirmation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0.728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0.878</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0.769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Instruction Clarif.</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0.479</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0.790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51450">
                <a:tc>
                  <a:txBody>
                    <a:bodyPr/>
                    <a:lstStyle/>
                    <a:p>
                      <a:pPr indent="0" lvl="0" marL="0" marR="0" rtl="0" algn="l">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Proactive Interaction</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1.000</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850"/>
                        <a:buFont typeface="Arial"/>
                        <a:buNone/>
                      </a:pPr>
                      <a:r>
                        <a:rPr lang="en-US" sz="850" u="none" cap="none" strike="noStrike">
                          <a:solidFill>
                            <a:srgbClr val="222222"/>
                          </a:solidFill>
                          <a:latin typeface="Arial"/>
                          <a:ea typeface="Arial"/>
                          <a:cs typeface="Arial"/>
                          <a:sym typeface="Arial"/>
                        </a:rPr>
                        <a:t>–</a:t>
                      </a:r>
                      <a:endParaRPr sz="8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1047" name="Google Shape;1047;g3f578cb17a1_0_400"/>
          <p:cNvSpPr/>
          <p:nvPr/>
        </p:nvSpPr>
        <p:spPr>
          <a:xfrm>
            <a:off x="411480" y="4069080"/>
            <a:ext cx="83667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Size:  50 / 50 / 54       Average κ:  0.323 / 0.836 / 0.812</a:t>
            </a:r>
            <a:endParaRPr b="0" i="0" sz="1100" u="none" cap="none" strike="noStrike">
              <a:solidFill>
                <a:schemeClr val="dk1"/>
              </a:solidFill>
              <a:latin typeface="Calibri"/>
              <a:ea typeface="Calibri"/>
              <a:cs typeface="Calibri"/>
              <a:sym typeface="Calibri"/>
            </a:endParaRPr>
          </a:p>
        </p:txBody>
      </p:sp>
      <p:pic>
        <p:nvPicPr>
          <p:cNvPr id="1048" name="Google Shape;1048;g3f578cb17a1_0_400"/>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049" name="Google Shape;1049;g3f578cb17a1_0_400"/>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4" name="Shape 1054"/>
        <p:cNvGrpSpPr/>
        <p:nvPr/>
      </p:nvGrpSpPr>
      <p:grpSpPr>
        <a:xfrm>
          <a:off x="0" y="0"/>
          <a:ext cx="0" cy="0"/>
          <a:chOff x="0" y="0"/>
          <a:chExt cx="0" cy="0"/>
        </a:xfrm>
      </p:grpSpPr>
      <p:pic>
        <p:nvPicPr>
          <p:cNvPr descr="umaine_logo.png" id="1055" name="Google Shape;1055;g3f578cb17a1_0_41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56" name="Google Shape;1056;g3f578cb17a1_0_41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g3f578cb17a1_0_41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Figure 3 — Participant Agreement Distribution (RQ1)</a:t>
            </a:r>
            <a:endParaRPr b="0" i="0" sz="1300" u="none" cap="none" strike="noStrike">
              <a:solidFill>
                <a:schemeClr val="dk1"/>
              </a:solidFill>
              <a:latin typeface="Calibri"/>
              <a:ea typeface="Calibri"/>
              <a:cs typeface="Calibri"/>
              <a:sym typeface="Calibri"/>
            </a:endParaRPr>
          </a:p>
        </p:txBody>
      </p:sp>
      <p:cxnSp>
        <p:nvCxnSpPr>
          <p:cNvPr id="1058" name="Google Shape;1058;g3f578cb17a1_0_41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59" name="Google Shape;1059;g3f578cb17a1_0_41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pic>
        <p:nvPicPr>
          <p:cNvPr descr="fig3.png" id="1060" name="Google Shape;1060;g3f578cb17a1_0_413"/>
          <p:cNvPicPr preferRelativeResize="0"/>
          <p:nvPr/>
        </p:nvPicPr>
        <p:blipFill rotWithShape="1">
          <a:blip r:embed="rId4">
            <a:alphaModFix/>
          </a:blip>
          <a:srcRect b="0" l="0" r="0" t="0"/>
          <a:stretch/>
        </p:blipFill>
        <p:spPr>
          <a:xfrm>
            <a:off x="640080" y="1417320"/>
            <a:ext cx="7863840" cy="2752344"/>
          </a:xfrm>
          <a:prstGeom prst="rect">
            <a:avLst/>
          </a:prstGeom>
          <a:noFill/>
          <a:ln>
            <a:noFill/>
          </a:ln>
        </p:spPr>
      </p:pic>
      <p:pic>
        <p:nvPicPr>
          <p:cNvPr id="1061" name="Google Shape;1061;g3f578cb17a1_0_413"/>
          <p:cNvPicPr preferRelativeResize="0"/>
          <p:nvPr/>
        </p:nvPicPr>
        <p:blipFill>
          <a:blip r:embed="rId5">
            <a:alphaModFix/>
          </a:blip>
          <a:stretch>
            <a:fillRect/>
          </a:stretch>
        </p:blipFill>
        <p:spPr>
          <a:xfrm>
            <a:off x="6455625" y="134425"/>
            <a:ext cx="1244825" cy="365750"/>
          </a:xfrm>
          <a:prstGeom prst="rect">
            <a:avLst/>
          </a:prstGeom>
          <a:noFill/>
          <a:ln>
            <a:noFill/>
          </a:ln>
        </p:spPr>
      </p:pic>
      <p:pic>
        <p:nvPicPr>
          <p:cNvPr id="1062" name="Google Shape;1062;g3f578cb17a1_0_413"/>
          <p:cNvPicPr preferRelativeResize="0"/>
          <p:nvPr/>
        </p:nvPicPr>
        <p:blipFill>
          <a:blip r:embed="rId6">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7" name="Shape 1067"/>
        <p:cNvGrpSpPr/>
        <p:nvPr/>
      </p:nvGrpSpPr>
      <p:grpSpPr>
        <a:xfrm>
          <a:off x="0" y="0"/>
          <a:ext cx="0" cy="0"/>
          <a:chOff x="0" y="0"/>
          <a:chExt cx="0" cy="0"/>
        </a:xfrm>
      </p:grpSpPr>
      <p:pic>
        <p:nvPicPr>
          <p:cNvPr descr="umaine_logo.png" id="1068" name="Google Shape;1068;g3f578cb17a1_0_42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69" name="Google Shape;1069;g3f578cb17a1_0_42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g3f578cb17a1_0_42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4 — Accuracy of LLM vs. Ground Truth (RQ1)</a:t>
            </a:r>
            <a:endParaRPr b="0" i="0" sz="1300" u="none" cap="none" strike="noStrike">
              <a:solidFill>
                <a:schemeClr val="dk1"/>
              </a:solidFill>
              <a:latin typeface="Calibri"/>
              <a:ea typeface="Calibri"/>
              <a:cs typeface="Calibri"/>
              <a:sym typeface="Calibri"/>
            </a:endParaRPr>
          </a:p>
        </p:txBody>
      </p:sp>
      <p:cxnSp>
        <p:nvCxnSpPr>
          <p:cNvPr id="1071" name="Google Shape;1071;g3f578cb17a1_0_42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72" name="Google Shape;1072;g3f578cb17a1_0_42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073" name="Google Shape;1073;g3f578cb17a1_0_423"/>
          <p:cNvGraphicFramePr/>
          <p:nvPr/>
        </p:nvGraphicFramePr>
        <p:xfrm>
          <a:off x="1737360" y="896112"/>
          <a:ext cx="3000000" cy="3000000"/>
        </p:xfrm>
        <a:graphic>
          <a:graphicData uri="http://schemas.openxmlformats.org/drawingml/2006/table">
            <a:tbl>
              <a:tblPr>
                <a:noFill/>
                <a:tableStyleId>{C58A01A9-31D1-41C9-9F1A-FE5B03BA0646}</a:tableStyleId>
              </a:tblPr>
              <a:tblGrid>
                <a:gridCol w="2103125"/>
                <a:gridCol w="2468875"/>
                <a:gridCol w="1097275"/>
              </a:tblGrid>
              <a:tr h="242325">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Dimension</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Metric</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50"/>
                        <a:buFont typeface="Arial"/>
                        <a:buNone/>
                      </a:pPr>
                      <a:r>
                        <a:rPr b="1" lang="en-US" sz="950" u="none" cap="none" strike="noStrike">
                          <a:solidFill>
                            <a:srgbClr val="FFFFFF"/>
                          </a:solidFill>
                          <a:latin typeface="Arial"/>
                          <a:ea typeface="Arial"/>
                          <a:cs typeface="Arial"/>
                          <a:sym typeface="Arial"/>
                        </a:rPr>
                        <a:t>Score</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42325">
                <a:tc rowSpan="3">
                  <a:txBody>
                    <a:bodyPr/>
                    <a:lstStyle/>
                    <a:p>
                      <a:pPr indent="0" lvl="0" marL="0" rtl="0" algn="l">
                        <a:spcBef>
                          <a:spcPts val="0"/>
                        </a:spcBef>
                        <a:spcAft>
                          <a:spcPts val="0"/>
                        </a:spcAft>
                        <a:buNone/>
                      </a:pPr>
                      <a:r>
                        <a:rPr lang="en-US" sz="950">
                          <a:solidFill>
                            <a:srgbClr val="222222"/>
                          </a:solidFill>
                        </a:rPr>
                        <a:t>Satisfaction Level</a:t>
                      </a:r>
                      <a:endParaRPr sz="950"/>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Precision</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0.438</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Recall</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0.418</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950"/>
                        <a:buFont typeface="Arial"/>
                        <a:buNone/>
                      </a:pPr>
                      <a:r>
                        <a:rPr b="1" lang="en-US" sz="950" u="none" cap="none" strike="noStrike">
                          <a:solidFill>
                            <a:srgbClr val="C0392B"/>
                          </a:solidFill>
                          <a:latin typeface="Arial"/>
                          <a:ea typeface="Arial"/>
                          <a:cs typeface="Arial"/>
                          <a:sym typeface="Arial"/>
                        </a:rPr>
                        <a:t>0.381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rowSpan="7">
                  <a:txBody>
                    <a:bodyPr/>
                    <a:lstStyle/>
                    <a:p>
                      <a:pPr indent="0" lvl="0" marL="0" rtl="0" algn="l">
                        <a:spcBef>
                          <a:spcPts val="0"/>
                        </a:spcBef>
                        <a:spcAft>
                          <a:spcPts val="0"/>
                        </a:spcAft>
                        <a:buNone/>
                      </a:pPr>
                      <a:r>
                        <a:rPr lang="en-US" sz="950">
                          <a:solidFill>
                            <a:srgbClr val="222222"/>
                          </a:solidFill>
                        </a:rPr>
                        <a:t>Reasoning</a:t>
                      </a:r>
                      <a:endParaRPr sz="950"/>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BERTScore Precision</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0.521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BERTScore Recall</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0.529</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BERTScore F1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950"/>
                        <a:buFont typeface="Arial"/>
                        <a:buNone/>
                      </a:pPr>
                      <a:r>
                        <a:rPr b="1" lang="en-US" sz="950" u="none" cap="none" strike="noStrike">
                          <a:solidFill>
                            <a:srgbClr val="C0392B"/>
                          </a:solidFill>
                          <a:latin typeface="Arial"/>
                          <a:ea typeface="Arial"/>
                          <a:cs typeface="Arial"/>
                          <a:sym typeface="Arial"/>
                        </a:rPr>
                        <a:t>0.520</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Cosine Similarity</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0.774</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ROUGE-1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0.204</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ROUGE-2</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0.037</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ROUGE-L</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0.156</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rowSpan="3">
                  <a:txBody>
                    <a:bodyPr/>
                    <a:lstStyle/>
                    <a:p>
                      <a:pPr indent="0" lvl="0" marL="0" rtl="0" algn="l">
                        <a:spcBef>
                          <a:spcPts val="0"/>
                        </a:spcBef>
                        <a:spcAft>
                          <a:spcPts val="0"/>
                        </a:spcAft>
                        <a:buNone/>
                      </a:pPr>
                      <a:r>
                        <a:rPr lang="en-US" sz="950">
                          <a:solidFill>
                            <a:srgbClr val="222222"/>
                          </a:solidFill>
                        </a:rPr>
                        <a:t>Code Location</a:t>
                      </a:r>
                      <a:endParaRPr sz="950"/>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Precision</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0.151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Recall</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0.142</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42325">
                <a:tc vMerge="1"/>
                <a:tc>
                  <a:txBody>
                    <a:bodyPr/>
                    <a:lstStyle/>
                    <a:p>
                      <a:pPr indent="0" lvl="0" marL="0" marR="0" rtl="0" algn="l">
                        <a:spcBef>
                          <a:spcPts val="0"/>
                        </a:spcBef>
                        <a:spcAft>
                          <a:spcPts val="0"/>
                        </a:spcAft>
                        <a:buClr>
                          <a:srgbClr val="222222"/>
                        </a:buClr>
                        <a:buSzPts val="950"/>
                        <a:buFont typeface="Arial"/>
                        <a:buNone/>
                      </a:pPr>
                      <a:r>
                        <a:rPr lang="en-US" sz="950" u="none" cap="none" strike="noStrike">
                          <a:solidFill>
                            <a:srgbClr val="222222"/>
                          </a:solidFill>
                          <a:latin typeface="Arial"/>
                          <a:ea typeface="Arial"/>
                          <a:cs typeface="Arial"/>
                          <a:sym typeface="Arial"/>
                        </a:rPr>
                        <a:t>F1</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950"/>
                        <a:buFont typeface="Arial"/>
                        <a:buNone/>
                      </a:pPr>
                      <a:r>
                        <a:rPr b="1" lang="en-US" sz="950" u="none" cap="none" strike="noStrike">
                          <a:solidFill>
                            <a:srgbClr val="C0392B"/>
                          </a:solidFill>
                          <a:latin typeface="Arial"/>
                          <a:ea typeface="Arial"/>
                          <a:cs typeface="Arial"/>
                          <a:sym typeface="Arial"/>
                        </a:rPr>
                        <a:t>0.203</a:t>
                      </a:r>
                      <a:endParaRPr sz="95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074" name="Google Shape;1074;g3f578cb17a1_0_423"/>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075" name="Google Shape;1075;g3f578cb17a1_0_423"/>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0" name="Shape 1080"/>
        <p:cNvGrpSpPr/>
        <p:nvPr/>
      </p:nvGrpSpPr>
      <p:grpSpPr>
        <a:xfrm>
          <a:off x="0" y="0"/>
          <a:ext cx="0" cy="0"/>
          <a:chOff x="0" y="0"/>
          <a:chExt cx="0" cy="0"/>
        </a:xfrm>
      </p:grpSpPr>
      <p:pic>
        <p:nvPicPr>
          <p:cNvPr descr="umaine_logo.png" id="1081" name="Google Shape;1081;g3f578cb17a1_0_43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82" name="Google Shape;1082;g3f578cb17a1_0_43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g3f578cb17a1_0_43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8 — One-Sample t-Tests for Agreement (RQ1)</a:t>
            </a:r>
            <a:endParaRPr b="0" i="0" sz="1300" u="none" cap="none" strike="noStrike">
              <a:solidFill>
                <a:schemeClr val="dk1"/>
              </a:solidFill>
              <a:latin typeface="Calibri"/>
              <a:ea typeface="Calibri"/>
              <a:cs typeface="Calibri"/>
              <a:sym typeface="Calibri"/>
            </a:endParaRPr>
          </a:p>
        </p:txBody>
      </p:sp>
      <p:cxnSp>
        <p:nvCxnSpPr>
          <p:cNvPr id="1084" name="Google Shape;1084;g3f578cb17a1_0_43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85" name="Google Shape;1085;g3f578cb17a1_0_433"/>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H₀: μ ≤ 3 (the “agree” threshold)</a:t>
            </a:r>
            <a:endParaRPr b="0" i="0" sz="600" u="none" cap="none" strike="noStrike">
              <a:solidFill>
                <a:schemeClr val="dk1"/>
              </a:solidFill>
              <a:latin typeface="Calibri"/>
              <a:ea typeface="Calibri"/>
              <a:cs typeface="Calibri"/>
              <a:sym typeface="Calibri"/>
            </a:endParaRPr>
          </a:p>
        </p:txBody>
      </p:sp>
      <p:sp>
        <p:nvSpPr>
          <p:cNvPr id="1086" name="Google Shape;1086;g3f578cb17a1_0_43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087" name="Google Shape;1087;g3f578cb17a1_0_433"/>
          <p:cNvGraphicFramePr/>
          <p:nvPr/>
        </p:nvGraphicFramePr>
        <p:xfrm>
          <a:off x="1371600" y="1417320"/>
          <a:ext cx="3000000" cy="3000000"/>
        </p:xfrm>
        <a:graphic>
          <a:graphicData uri="http://schemas.openxmlformats.org/drawingml/2006/table">
            <a:tbl>
              <a:tblPr>
                <a:noFill/>
                <a:tableStyleId>{C58A01A9-31D1-41C9-9F1A-FE5B03BA0646}</a:tableStyleId>
              </a:tblPr>
              <a:tblGrid>
                <a:gridCol w="2377450"/>
                <a:gridCol w="1005850"/>
                <a:gridCol w="1005850"/>
                <a:gridCol w="1005850"/>
                <a:gridCol w="1005850"/>
              </a:tblGrid>
              <a:tr h="38405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Dimension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Mean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SD</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p</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Satisfaction Level</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3.27</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0.66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7.49</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&lt; .001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Reasoning</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3.31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0.63</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9.05</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&lt; .001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Code Location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3.34</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0.60</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10.41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&lt; .001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088" name="Google Shape;1088;g3f578cb17a1_0_433"/>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089" name="Google Shape;1089;g3f578cb17a1_0_433"/>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4" name="Shape 1094"/>
        <p:cNvGrpSpPr/>
        <p:nvPr/>
      </p:nvGrpSpPr>
      <p:grpSpPr>
        <a:xfrm>
          <a:off x="0" y="0"/>
          <a:ext cx="0" cy="0"/>
          <a:chOff x="0" y="0"/>
          <a:chExt cx="0" cy="0"/>
        </a:xfrm>
      </p:grpSpPr>
      <p:pic>
        <p:nvPicPr>
          <p:cNvPr descr="umaine_logo.png" id="1095" name="Google Shape;1095;g3f578cb17a1_0_444"/>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096" name="Google Shape;1096;g3f578cb17a1_0_444"/>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g3f578cb17a1_0_444"/>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5 — Mean Agreement &amp; Rating Divergence (RQ1)</a:t>
            </a:r>
            <a:endParaRPr b="0" i="0" sz="1300" u="none" cap="none" strike="noStrike">
              <a:solidFill>
                <a:schemeClr val="dk1"/>
              </a:solidFill>
              <a:latin typeface="Calibri"/>
              <a:ea typeface="Calibri"/>
              <a:cs typeface="Calibri"/>
              <a:sym typeface="Calibri"/>
            </a:endParaRPr>
          </a:p>
        </p:txBody>
      </p:sp>
      <p:cxnSp>
        <p:nvCxnSpPr>
          <p:cNvPr id="1098" name="Google Shape;1098;g3f578cb17a1_0_444"/>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099" name="Google Shape;1099;g3f578cb17a1_0_444"/>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High AD = # NFRs with Average-Deviation index &gt; 0.67 (lack of consensus)</a:t>
            </a:r>
            <a:endParaRPr b="0" i="0" sz="600" u="none" cap="none" strike="noStrike">
              <a:solidFill>
                <a:schemeClr val="dk1"/>
              </a:solidFill>
              <a:latin typeface="Calibri"/>
              <a:ea typeface="Calibri"/>
              <a:cs typeface="Calibri"/>
              <a:sym typeface="Calibri"/>
            </a:endParaRPr>
          </a:p>
        </p:txBody>
      </p:sp>
      <p:sp>
        <p:nvSpPr>
          <p:cNvPr id="1100" name="Google Shape;1100;g3f578cb17a1_0_444"/>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01" name="Google Shape;1101;g3f578cb17a1_0_444"/>
          <p:cNvGraphicFramePr/>
          <p:nvPr/>
        </p:nvGraphicFramePr>
        <p:xfrm>
          <a:off x="2011680" y="1417320"/>
          <a:ext cx="3000000" cy="3000000"/>
        </p:xfrm>
        <a:graphic>
          <a:graphicData uri="http://schemas.openxmlformats.org/drawingml/2006/table">
            <a:tbl>
              <a:tblPr>
                <a:noFill/>
                <a:tableStyleId>{C58A01A9-31D1-41C9-9F1A-FE5B03BA0646}</a:tableStyleId>
              </a:tblPr>
              <a:tblGrid>
                <a:gridCol w="2560325"/>
                <a:gridCol w="1280150"/>
                <a:gridCol w="1280150"/>
              </a:tblGrid>
              <a:tr h="38405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Dimension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Mean Agr.</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High AD</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Satisfaction Level</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3.27</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19</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Reasoning</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3.31</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13</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84050">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Code Location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3.34</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15</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1102" name="Google Shape;1102;g3f578cb17a1_0_444"/>
          <p:cNvSpPr/>
          <p:nvPr/>
        </p:nvSpPr>
        <p:spPr>
          <a:xfrm>
            <a:off x="685800" y="3291840"/>
            <a:ext cx="7772400" cy="5487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A8A8A"/>
              </a:buClr>
              <a:buSzPts val="1000"/>
              <a:buFont typeface="Arial"/>
              <a:buNone/>
            </a:pPr>
            <a:r>
              <a:rPr b="0" i="0" lang="en-US" sz="1000" u="none" cap="none" strike="noStrike">
                <a:solidFill>
                  <a:srgbClr val="8A8A8A"/>
                </a:solidFill>
                <a:latin typeface="Arial"/>
                <a:ea typeface="Arial"/>
                <a:cs typeface="Arial"/>
                <a:sym typeface="Arial"/>
              </a:rPr>
              <a:t>Of the 148 NFRs: 6 diverged on all three dimensions, 6 on two.  Single-dimension divergences: code location 9, satisfaction level 7, reasoning 1.</a:t>
            </a:r>
            <a:endParaRPr b="0" i="0" sz="1000" u="none" cap="none" strike="noStrike">
              <a:solidFill>
                <a:schemeClr val="dk1"/>
              </a:solidFill>
              <a:latin typeface="Calibri"/>
              <a:ea typeface="Calibri"/>
              <a:cs typeface="Calibri"/>
              <a:sym typeface="Calibri"/>
            </a:endParaRPr>
          </a:p>
        </p:txBody>
      </p:sp>
      <p:pic>
        <p:nvPicPr>
          <p:cNvPr id="1103" name="Google Shape;1103;g3f578cb17a1_0_444"/>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04" name="Google Shape;1104;g3f578cb17a1_0_444"/>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9" name="Shape 1109"/>
        <p:cNvGrpSpPr/>
        <p:nvPr/>
      </p:nvGrpSpPr>
      <p:grpSpPr>
        <a:xfrm>
          <a:off x="0" y="0"/>
          <a:ext cx="0" cy="0"/>
          <a:chOff x="0" y="0"/>
          <a:chExt cx="0" cy="0"/>
        </a:xfrm>
      </p:grpSpPr>
      <p:pic>
        <p:nvPicPr>
          <p:cNvPr descr="umaine_logo.png" id="1110" name="Google Shape;1110;g3f578cb17a1_0_45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11" name="Google Shape;1111;g3f578cb17a1_0_45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g3f578cb17a1_0_45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Figure 4 — Participants' PARADISE Ratings (RQ2)</a:t>
            </a:r>
            <a:endParaRPr b="0" i="0" sz="1300" u="none" cap="none" strike="noStrike">
              <a:solidFill>
                <a:schemeClr val="dk1"/>
              </a:solidFill>
              <a:latin typeface="Calibri"/>
              <a:ea typeface="Calibri"/>
              <a:cs typeface="Calibri"/>
              <a:sym typeface="Calibri"/>
            </a:endParaRPr>
          </a:p>
        </p:txBody>
      </p:sp>
      <p:cxnSp>
        <p:nvCxnSpPr>
          <p:cNvPr id="1113" name="Google Shape;1113;g3f578cb17a1_0_45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14" name="Google Shape;1114;g3f578cb17a1_0_45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pic>
        <p:nvPicPr>
          <p:cNvPr descr="fig4.png" id="1115" name="Google Shape;1115;g3f578cb17a1_0_456"/>
          <p:cNvPicPr preferRelativeResize="0"/>
          <p:nvPr/>
        </p:nvPicPr>
        <p:blipFill rotWithShape="1">
          <a:blip r:embed="rId4">
            <a:alphaModFix/>
          </a:blip>
          <a:srcRect b="0" l="0" r="0" t="0"/>
          <a:stretch/>
        </p:blipFill>
        <p:spPr>
          <a:xfrm>
            <a:off x="1463040" y="960120"/>
            <a:ext cx="6217920" cy="3246120"/>
          </a:xfrm>
          <a:prstGeom prst="rect">
            <a:avLst/>
          </a:prstGeom>
          <a:noFill/>
          <a:ln>
            <a:noFill/>
          </a:ln>
        </p:spPr>
      </p:pic>
      <p:pic>
        <p:nvPicPr>
          <p:cNvPr id="1116" name="Google Shape;1116;g3f578cb17a1_0_456"/>
          <p:cNvPicPr preferRelativeResize="0"/>
          <p:nvPr/>
        </p:nvPicPr>
        <p:blipFill>
          <a:blip r:embed="rId5">
            <a:alphaModFix/>
          </a:blip>
          <a:stretch>
            <a:fillRect/>
          </a:stretch>
        </p:blipFill>
        <p:spPr>
          <a:xfrm>
            <a:off x="6455625" y="134425"/>
            <a:ext cx="1244825" cy="365750"/>
          </a:xfrm>
          <a:prstGeom prst="rect">
            <a:avLst/>
          </a:prstGeom>
          <a:noFill/>
          <a:ln>
            <a:noFill/>
          </a:ln>
        </p:spPr>
      </p:pic>
      <p:pic>
        <p:nvPicPr>
          <p:cNvPr id="1117" name="Google Shape;1117;g3f578cb17a1_0_456"/>
          <p:cNvPicPr preferRelativeResize="0"/>
          <p:nvPr/>
        </p:nvPicPr>
        <p:blipFill>
          <a:blip r:embed="rId6">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2" name="Shape 1122"/>
        <p:cNvGrpSpPr/>
        <p:nvPr/>
      </p:nvGrpSpPr>
      <p:grpSpPr>
        <a:xfrm>
          <a:off x="0" y="0"/>
          <a:ext cx="0" cy="0"/>
          <a:chOff x="0" y="0"/>
          <a:chExt cx="0" cy="0"/>
        </a:xfrm>
      </p:grpSpPr>
      <p:pic>
        <p:nvPicPr>
          <p:cNvPr descr="umaine_logo.png" id="1123" name="Google Shape;1123;g3f578cb17a1_0_466"/>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24" name="Google Shape;1124;g3f578cb17a1_0_466"/>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g3f578cb17a1_0_466"/>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6 — Total Counts of Dialogue-Act Labels (RQ2)</a:t>
            </a:r>
            <a:endParaRPr b="0" i="0" sz="1300" u="none" cap="none" strike="noStrike">
              <a:solidFill>
                <a:schemeClr val="dk1"/>
              </a:solidFill>
              <a:latin typeface="Calibri"/>
              <a:ea typeface="Calibri"/>
              <a:cs typeface="Calibri"/>
              <a:sym typeface="Calibri"/>
            </a:endParaRPr>
          </a:p>
        </p:txBody>
      </p:sp>
      <p:cxnSp>
        <p:nvCxnSpPr>
          <p:cNvPr id="1126" name="Google Shape;1126;g3f578cb17a1_0_466"/>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27" name="Google Shape;1127;g3f578cb17a1_0_466"/>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28" name="Google Shape;1128;g3f578cb17a1_0_466"/>
          <p:cNvGraphicFramePr/>
          <p:nvPr/>
        </p:nvGraphicFramePr>
        <p:xfrm>
          <a:off x="640080" y="960120"/>
          <a:ext cx="3000000" cy="3000000"/>
        </p:xfrm>
        <a:graphic>
          <a:graphicData uri="http://schemas.openxmlformats.org/drawingml/2006/table">
            <a:tbl>
              <a:tblPr>
                <a:noFill/>
                <a:tableStyleId>{C58A01A9-31D1-41C9-9F1A-FE5B03BA0646}</a:tableStyleId>
              </a:tblPr>
              <a:tblGrid>
                <a:gridCol w="2743200"/>
                <a:gridCol w="914400"/>
              </a:tblGrid>
              <a:tr h="2880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Label</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Count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370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Follow-up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195</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Recollections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156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Expansion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152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Refinement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53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User Initiatives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Proactive Interaction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Content Rephrasing</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Check Move (CM)</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Self-affirmation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Self-correction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1129" name="Google Shape;1129;g3f578cb17a1_0_466"/>
          <p:cNvGraphicFramePr/>
          <p:nvPr/>
        </p:nvGraphicFramePr>
        <p:xfrm>
          <a:off x="4846320" y="960120"/>
          <a:ext cx="3000000" cy="3000000"/>
        </p:xfrm>
        <a:graphic>
          <a:graphicData uri="http://schemas.openxmlformats.org/drawingml/2006/table">
            <a:tbl>
              <a:tblPr>
                <a:noFill/>
                <a:tableStyleId>{C58A01A9-31D1-41C9-9F1A-FE5B03BA0646}</a:tableStyleId>
              </a:tblPr>
              <a:tblGrid>
                <a:gridCol w="2743200"/>
                <a:gridCol w="914400"/>
              </a:tblGrid>
              <a:tr h="288025">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Label</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Count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Separate Input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Instruction Clarification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Anaphora Resolution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Unsuitable Request</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Abandoned Requests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Help Messages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Format Rephrasing</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2</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Inappropriate Responses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Error</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Content Confusion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88025">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Relevant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130" name="Google Shape;1130;g3f578cb17a1_0_466"/>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31" name="Google Shape;1131;g3f578cb17a1_0_466"/>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6" name="Shape 1136"/>
        <p:cNvGrpSpPr/>
        <p:nvPr/>
      </p:nvGrpSpPr>
      <p:grpSpPr>
        <a:xfrm>
          <a:off x="0" y="0"/>
          <a:ext cx="0" cy="0"/>
          <a:chOff x="0" y="0"/>
          <a:chExt cx="0" cy="0"/>
        </a:xfrm>
      </p:grpSpPr>
      <p:pic>
        <p:nvPicPr>
          <p:cNvPr descr="umaine_logo.png" id="1137" name="Google Shape;1137;g3f578cb17a1_0_477"/>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38" name="Google Shape;1138;g3f578cb17a1_0_477"/>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g3f578cb17a1_0_477"/>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11 — Descriptive Statistics for All Predictors (RQ2)</a:t>
            </a:r>
            <a:endParaRPr b="0" i="0" sz="1300" u="none" cap="none" strike="noStrike">
              <a:solidFill>
                <a:schemeClr val="dk1"/>
              </a:solidFill>
              <a:latin typeface="Calibri"/>
              <a:ea typeface="Calibri"/>
              <a:cs typeface="Calibri"/>
              <a:sym typeface="Calibri"/>
            </a:endParaRPr>
          </a:p>
        </p:txBody>
      </p:sp>
      <p:cxnSp>
        <p:nvCxnSpPr>
          <p:cNvPr id="1140" name="Google Shape;1140;g3f578cb17a1_0_477"/>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41" name="Google Shape;1141;g3f578cb17a1_0_477"/>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42" name="Google Shape;1142;g3f578cb17a1_0_477"/>
          <p:cNvGraphicFramePr/>
          <p:nvPr/>
        </p:nvGraphicFramePr>
        <p:xfrm>
          <a:off x="274320" y="868680"/>
          <a:ext cx="3000000" cy="3000000"/>
        </p:xfrm>
        <a:graphic>
          <a:graphicData uri="http://schemas.openxmlformats.org/drawingml/2006/table">
            <a:tbl>
              <a:tblPr>
                <a:noFill/>
                <a:tableStyleId>{C58A01A9-31D1-41C9-9F1A-FE5B03BA0646}</a:tableStyleId>
              </a:tblPr>
              <a:tblGrid>
                <a:gridCol w="1600200"/>
                <a:gridCol w="658375"/>
                <a:gridCol w="658375"/>
                <a:gridCol w="603500"/>
                <a:gridCol w="658375"/>
              </a:tblGrid>
              <a:tr h="203000">
                <a:tc>
                  <a:txBody>
                    <a:bodyPr/>
                    <a:lstStyle/>
                    <a:p>
                      <a:pPr indent="0" lvl="0" marL="0" marR="0" rtl="0" algn="l">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Variable</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Mean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SD</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Min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Max</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User Satisfaction (US)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31.26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3.65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37.00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Number of Turns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11.94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7.95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27.00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Mean Response Time (s)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45.80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33.05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12.59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157.77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Elapsed Time (s)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3496.4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9230.8</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312.9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55369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Mean Words / Request</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60.90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42.13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9.41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229.50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Mean Words / Response</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129.46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105.49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50.91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548.00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User Initiatives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0.38</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Unsuitable Requests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Inappropriate Responses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Errors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Help Messages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Given data</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10.88</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7.47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26.00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Check Moves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0.79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Relevant Data</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Abandoned Requests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Unsuitable Request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0.036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Inappropriate Resp.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0.021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0.125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1143" name="Google Shape;1143;g3f578cb17a1_0_477"/>
          <p:cNvGraphicFramePr/>
          <p:nvPr/>
        </p:nvGraphicFramePr>
        <p:xfrm>
          <a:off x="4690872" y="868680"/>
          <a:ext cx="3000000" cy="3000000"/>
        </p:xfrm>
        <a:graphic>
          <a:graphicData uri="http://schemas.openxmlformats.org/drawingml/2006/table">
            <a:tbl>
              <a:tblPr>
                <a:noFill/>
                <a:tableStyleId>{C58A01A9-31D1-41C9-9F1A-FE5B03BA0646}</a:tableStyleId>
              </a:tblPr>
              <a:tblGrid>
                <a:gridCol w="1600200"/>
                <a:gridCol w="658375"/>
                <a:gridCol w="658375"/>
                <a:gridCol w="603500"/>
                <a:gridCol w="658375"/>
              </a:tblGrid>
              <a:tr h="203000">
                <a:tc>
                  <a:txBody>
                    <a:bodyPr/>
                    <a:lstStyle/>
                    <a:p>
                      <a:pPr indent="0" lvl="0" marL="0" marR="0" rtl="0" algn="l">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Variable</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Mean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SD</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Min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740"/>
                        <a:buFont typeface="Arial"/>
                        <a:buNone/>
                      </a:pPr>
                      <a:r>
                        <a:rPr b="1" lang="en-US" sz="740" u="none" cap="none" strike="noStrike">
                          <a:solidFill>
                            <a:srgbClr val="FFFFFF"/>
                          </a:solidFill>
                          <a:latin typeface="Arial"/>
                          <a:ea typeface="Arial"/>
                          <a:cs typeface="Arial"/>
                          <a:sym typeface="Arial"/>
                        </a:rPr>
                        <a:t>Max</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Help Message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0.014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0.063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Given data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0.907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0.121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0.583</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Check Move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0.064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0.105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0.500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Relevant Data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Abandoned Request Ratio</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0.002</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0.040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Recollections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4.59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3.64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Expansion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4.47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4.01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Refinement</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1.56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2.27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Follow-up</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5.74</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5.48</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18.00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Anaphora Resolution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0.57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Content Confusion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Self-correction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0.47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1.11</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Self-affirmation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0.68</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1.39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5.00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Instruction Clarification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0.29</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0.52</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Proactive Interaction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2.17</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12.00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Task Success</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0.95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0.26</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0.55</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1.80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03000">
                <a:tc>
                  <a:txBody>
                    <a:bodyPr/>
                    <a:lstStyle/>
                    <a:p>
                      <a:pPr indent="0" lvl="0" marL="0" marR="0" rtl="0" algn="l">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Task Completion</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0.90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0.20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0.10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740"/>
                        <a:buFont typeface="Arial"/>
                        <a:buNone/>
                      </a:pPr>
                      <a:r>
                        <a:rPr lang="en-US" sz="740" u="none" cap="none" strike="noStrike">
                          <a:solidFill>
                            <a:srgbClr val="222222"/>
                          </a:solidFill>
                          <a:latin typeface="Arial"/>
                          <a:ea typeface="Arial"/>
                          <a:cs typeface="Arial"/>
                          <a:sym typeface="Arial"/>
                        </a:rPr>
                        <a:t>1.00</a:t>
                      </a:r>
                      <a:endParaRPr sz="74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144" name="Google Shape;1144;g3f578cb17a1_0_477"/>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45" name="Google Shape;1145;g3f578cb17a1_0_477"/>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0" name="Shape 1150"/>
        <p:cNvGrpSpPr/>
        <p:nvPr/>
      </p:nvGrpSpPr>
      <p:grpSpPr>
        <a:xfrm>
          <a:off x="0" y="0"/>
          <a:ext cx="0" cy="0"/>
          <a:chOff x="0" y="0"/>
          <a:chExt cx="0" cy="0"/>
        </a:xfrm>
      </p:grpSpPr>
      <p:pic>
        <p:nvPicPr>
          <p:cNvPr descr="umaine_logo.png" id="1151" name="Google Shape;1151;g3f578cb17a1_0_488"/>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52" name="Google Shape;1152;g3f578cb17a1_0_488"/>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g3f578cb17a1_0_488"/>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9 — Predictors Removed for High Correlation (RQ2)</a:t>
            </a:r>
            <a:endParaRPr b="0" i="0" sz="1300" u="none" cap="none" strike="noStrike">
              <a:solidFill>
                <a:schemeClr val="dk1"/>
              </a:solidFill>
              <a:latin typeface="Calibri"/>
              <a:ea typeface="Calibri"/>
              <a:cs typeface="Calibri"/>
              <a:sym typeface="Calibri"/>
            </a:endParaRPr>
          </a:p>
        </p:txBody>
      </p:sp>
      <p:cxnSp>
        <p:nvCxnSpPr>
          <p:cNvPr id="1154" name="Google Shape;1154;g3f578cb17a1_0_488"/>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55" name="Google Shape;1155;g3f578cb17a1_0_488"/>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|r| &gt; 0.7; for each pair the predictor with the higher p-value against US was removed</a:t>
            </a:r>
            <a:endParaRPr b="0" i="0" sz="600" u="none" cap="none" strike="noStrike">
              <a:solidFill>
                <a:schemeClr val="dk1"/>
              </a:solidFill>
              <a:latin typeface="Calibri"/>
              <a:ea typeface="Calibri"/>
              <a:cs typeface="Calibri"/>
              <a:sym typeface="Calibri"/>
            </a:endParaRPr>
          </a:p>
        </p:txBody>
      </p:sp>
      <p:sp>
        <p:nvSpPr>
          <p:cNvPr id="1156" name="Google Shape;1156;g3f578cb17a1_0_488"/>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57" name="Google Shape;1157;g3f578cb17a1_0_488"/>
          <p:cNvGraphicFramePr/>
          <p:nvPr/>
        </p:nvGraphicFramePr>
        <p:xfrm>
          <a:off x="1280160" y="960120"/>
          <a:ext cx="3000000" cy="3000000"/>
        </p:xfrm>
        <a:graphic>
          <a:graphicData uri="http://schemas.openxmlformats.org/drawingml/2006/table">
            <a:tbl>
              <a:tblPr>
                <a:noFill/>
                <a:tableStyleId>{C58A01A9-31D1-41C9-9F1A-FE5B03BA0646}</a:tableStyleId>
              </a:tblPr>
              <a:tblGrid>
                <a:gridCol w="2651750"/>
                <a:gridCol w="2468875"/>
                <a:gridCol w="1463050"/>
              </a:tblGrid>
              <a:tr h="301750">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Removed</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Retained</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000"/>
                        <a:buFont typeface="Arial"/>
                        <a:buNone/>
                      </a:pPr>
                      <a:r>
                        <a:rPr b="1" lang="en-US" sz="1000" u="none" cap="none" strike="noStrike">
                          <a:solidFill>
                            <a:srgbClr val="FFFFFF"/>
                          </a:solidFill>
                          <a:latin typeface="Arial"/>
                          <a:ea typeface="Arial"/>
                          <a:cs typeface="Arial"/>
                          <a:sym typeface="Arial"/>
                        </a:rPr>
                        <a:t>r</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Errors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Inappropriate Resp.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1.000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Inappropriate Resp. Ratio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Inappropriate Resp.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1.000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Abandoned Requests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Abandoned Req. Ratio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0.999</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Help Message Ratio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Help Messages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0.996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000000"/>
                        </a:buClr>
                        <a:buSzPts val="1000"/>
                        <a:buFont typeface="Arial"/>
                        <a:buNone/>
                      </a:pPr>
                      <a:r>
                        <a:rPr b="1" lang="en-US" sz="1000" u="none" cap="none" strike="noStrike">
                          <a:solidFill>
                            <a:srgbClr val="000000"/>
                          </a:solidFill>
                          <a:latin typeface="Arial"/>
                          <a:ea typeface="Arial"/>
                          <a:cs typeface="Arial"/>
                          <a:sym typeface="Arial"/>
                        </a:rPr>
                        <a:t>Number of Turns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1" lang="en-US" sz="1000" u="none" cap="none" strike="noStrike">
                          <a:solidFill>
                            <a:srgbClr val="000000"/>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000"/>
                        <a:buFont typeface="Arial"/>
                        <a:buNone/>
                      </a:pPr>
                      <a:r>
                        <a:rPr b="1" lang="en-US" sz="1000" u="none" cap="none" strike="noStrike">
                          <a:solidFill>
                            <a:srgbClr val="C0392B"/>
                          </a:solidFill>
                          <a:latin typeface="Arial"/>
                          <a:ea typeface="Arial"/>
                          <a:cs typeface="Arial"/>
                          <a:sym typeface="Arial"/>
                        </a:rPr>
                        <a:t>0.981</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Expansion</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0.867</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Follow-up</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0.860</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Recollections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Given data</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0.853</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301750">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Unsuitable Req. Ratio</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Unsuitable Requests</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000"/>
                        <a:buFont typeface="Arial"/>
                        <a:buNone/>
                      </a:pPr>
                      <a:r>
                        <a:rPr lang="en-US" sz="1000" u="none" cap="none" strike="noStrike">
                          <a:solidFill>
                            <a:srgbClr val="222222"/>
                          </a:solidFill>
                          <a:latin typeface="Arial"/>
                          <a:ea typeface="Arial"/>
                          <a:cs typeface="Arial"/>
                          <a:sym typeface="Arial"/>
                        </a:rPr>
                        <a:t>0.806</a:t>
                      </a:r>
                      <a:endParaRPr sz="10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158" name="Google Shape;1158;g3f578cb17a1_0_488"/>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59" name="Google Shape;1159;g3f578cb17a1_0_488"/>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4" name="Shape 1164"/>
        <p:cNvGrpSpPr/>
        <p:nvPr/>
      </p:nvGrpSpPr>
      <p:grpSpPr>
        <a:xfrm>
          <a:off x="0" y="0"/>
          <a:ext cx="0" cy="0"/>
          <a:chOff x="0" y="0"/>
          <a:chExt cx="0" cy="0"/>
        </a:xfrm>
      </p:grpSpPr>
      <p:pic>
        <p:nvPicPr>
          <p:cNvPr descr="umaine_logo.png" id="1165" name="Google Shape;1165;g3f578cb17a1_0_499"/>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66" name="Google Shape;1166;g3f578cb17a1_0_499"/>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g3f578cb17a1_0_499"/>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10 — Backward-Elimination Sequence (RQ2)</a:t>
            </a:r>
            <a:endParaRPr b="0" i="0" sz="1300" u="none" cap="none" strike="noStrike">
              <a:solidFill>
                <a:schemeClr val="dk1"/>
              </a:solidFill>
              <a:latin typeface="Calibri"/>
              <a:ea typeface="Calibri"/>
              <a:cs typeface="Calibri"/>
              <a:sym typeface="Calibri"/>
            </a:endParaRPr>
          </a:p>
        </p:txBody>
      </p:sp>
      <p:cxnSp>
        <p:nvCxnSpPr>
          <p:cNvPr id="1168" name="Google Shape;1168;g3f578cb17a1_0_499"/>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69" name="Google Shape;1169;g3f578cb17a1_0_499"/>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Highest-p predictor removed at each step; stopped when all remaining were significant (p &lt; 0.05)</a:t>
            </a:r>
            <a:endParaRPr b="0" i="0" sz="600" u="none" cap="none" strike="noStrike">
              <a:solidFill>
                <a:schemeClr val="dk1"/>
              </a:solidFill>
              <a:latin typeface="Calibri"/>
              <a:ea typeface="Calibri"/>
              <a:cs typeface="Calibri"/>
              <a:sym typeface="Calibri"/>
            </a:endParaRPr>
          </a:p>
        </p:txBody>
      </p:sp>
      <p:sp>
        <p:nvSpPr>
          <p:cNvPr id="1170" name="Google Shape;1170;g3f578cb17a1_0_499"/>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71" name="Google Shape;1171;g3f578cb17a1_0_499"/>
          <p:cNvGraphicFramePr/>
          <p:nvPr/>
        </p:nvGraphicFramePr>
        <p:xfrm>
          <a:off x="320040" y="1005840"/>
          <a:ext cx="3000000" cy="3000000"/>
        </p:xfrm>
        <a:graphic>
          <a:graphicData uri="http://schemas.openxmlformats.org/drawingml/2006/table">
            <a:tbl>
              <a:tblPr>
                <a:noFill/>
                <a:tableStyleId>{C58A01A9-31D1-41C9-9F1A-FE5B03BA0646}</a:tableStyleId>
              </a:tblPr>
              <a:tblGrid>
                <a:gridCol w="365750"/>
                <a:gridCol w="2468875"/>
                <a:gridCol w="731525"/>
                <a:gridCol w="731525"/>
              </a:tblGrid>
              <a:tr h="274325">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Removed predictor</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p</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R²</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Mean Words Request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.853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Given data Ratio</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.802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Mean Response Time</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.865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.726</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Task Completion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.803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Instruction Clarification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Self-correction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.681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.721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Check Move Ratio</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.652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.718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Check Moves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.688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.714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9</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Unsuitable Requests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.534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.711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graphicFrame>
        <p:nvGraphicFramePr>
          <p:cNvPr id="1172" name="Google Shape;1172;g3f578cb17a1_0_499"/>
          <p:cNvGraphicFramePr/>
          <p:nvPr/>
        </p:nvGraphicFramePr>
        <p:xfrm>
          <a:off x="4617720" y="1005840"/>
          <a:ext cx="3000000" cy="3000000"/>
        </p:xfrm>
        <a:graphic>
          <a:graphicData uri="http://schemas.openxmlformats.org/drawingml/2006/table">
            <a:tbl>
              <a:tblPr>
                <a:noFill/>
                <a:tableStyleId>{C58A01A9-31D1-41C9-9F1A-FE5B03BA0646}</a:tableStyleId>
              </a:tblPr>
              <a:tblGrid>
                <a:gridCol w="365750"/>
                <a:gridCol w="2468875"/>
                <a:gridCol w="731525"/>
                <a:gridCol w="731525"/>
              </a:tblGrid>
              <a:tr h="274325">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l">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Removed predictor</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p</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R²</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10</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Inappropriate Responses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.484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.705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Anaphora Resolution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.446</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.697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User Initiatives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.138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.688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Elapsed Time</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.074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.652</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Refinement</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.111</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.597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Help Messages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.150</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.549</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16</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Self-affirmation</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.157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.507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17</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Abandoned Request Ratio</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.166</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.465</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274325">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18</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Task Success</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.134</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900"/>
                        <a:buFont typeface="Arial"/>
                        <a:buNone/>
                      </a:pPr>
                      <a:r>
                        <a:rPr lang="en-US" sz="900" u="none" cap="none" strike="noStrike">
                          <a:solidFill>
                            <a:srgbClr val="222222"/>
                          </a:solidFill>
                          <a:latin typeface="Arial"/>
                          <a:ea typeface="Arial"/>
                          <a:cs typeface="Arial"/>
                          <a:sym typeface="Arial"/>
                        </a:rPr>
                        <a:t>.423</a:t>
                      </a:r>
                      <a:endParaRPr sz="9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pic>
        <p:nvPicPr>
          <p:cNvPr id="1173" name="Google Shape;1173;g3f578cb17a1_0_499"/>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74" name="Google Shape;1174;g3f578cb17a1_0_499"/>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9" name="Shape 1179"/>
        <p:cNvGrpSpPr/>
        <p:nvPr/>
      </p:nvGrpSpPr>
      <p:grpSpPr>
        <a:xfrm>
          <a:off x="0" y="0"/>
          <a:ext cx="0" cy="0"/>
          <a:chOff x="0" y="0"/>
          <a:chExt cx="0" cy="0"/>
        </a:xfrm>
      </p:grpSpPr>
      <p:pic>
        <p:nvPicPr>
          <p:cNvPr descr="umaine_logo.png" id="1180" name="Google Shape;1180;g3f578cb17a1_0_511"/>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81" name="Google Shape;1181;g3f578cb17a1_0_511"/>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g3f578cb17a1_0_511"/>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Table 7 — PARADISE Performance-Function Coefficients (RQ2)</a:t>
            </a:r>
            <a:endParaRPr b="0" i="0" sz="1300" u="none" cap="none" strike="noStrike">
              <a:solidFill>
                <a:schemeClr val="dk1"/>
              </a:solidFill>
              <a:latin typeface="Calibri"/>
              <a:ea typeface="Calibri"/>
              <a:cs typeface="Calibri"/>
              <a:sym typeface="Calibri"/>
            </a:endParaRPr>
          </a:p>
        </p:txBody>
      </p:sp>
      <p:cxnSp>
        <p:nvCxnSpPr>
          <p:cNvPr id="1183" name="Google Shape;1183;g3f578cb17a1_0_511"/>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84" name="Google Shape;1184;g3f578cb17a1_0_511"/>
          <p:cNvSpPr/>
          <p:nvPr/>
        </p:nvSpPr>
        <p:spPr>
          <a:xfrm>
            <a:off x="411480" y="4590288"/>
            <a:ext cx="3017400" cy="45720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8A8A8A"/>
              </a:buClr>
              <a:buSzPts val="600"/>
              <a:buFont typeface="Arial"/>
              <a:buNone/>
            </a:pPr>
            <a:r>
              <a:rPr b="0" i="0" lang="en-US" sz="600" u="none" cap="none" strike="noStrike">
                <a:solidFill>
                  <a:srgbClr val="8A8A8A"/>
                </a:solidFill>
                <a:latin typeface="Arial"/>
                <a:ea typeface="Arial"/>
                <a:cs typeface="Arial"/>
                <a:sym typeface="Arial"/>
              </a:rPr>
              <a:t>β: standardized coefficient · SE: standard error · t: test statistic</a:t>
            </a:r>
            <a:endParaRPr b="0" i="0" sz="600" u="none" cap="none" strike="noStrike">
              <a:solidFill>
                <a:schemeClr val="dk1"/>
              </a:solidFill>
              <a:latin typeface="Calibri"/>
              <a:ea typeface="Calibri"/>
              <a:cs typeface="Calibri"/>
              <a:sym typeface="Calibri"/>
            </a:endParaRPr>
          </a:p>
        </p:txBody>
      </p:sp>
      <p:sp>
        <p:nvSpPr>
          <p:cNvPr id="1185" name="Google Shape;1185;g3f578cb17a1_0_511"/>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graphicFrame>
        <p:nvGraphicFramePr>
          <p:cNvPr id="1186" name="Google Shape;1186;g3f578cb17a1_0_511"/>
          <p:cNvGraphicFramePr/>
          <p:nvPr/>
        </p:nvGraphicFramePr>
        <p:xfrm>
          <a:off x="1005840" y="1417320"/>
          <a:ext cx="3000000" cy="3000000"/>
        </p:xfrm>
        <a:graphic>
          <a:graphicData uri="http://schemas.openxmlformats.org/drawingml/2006/table">
            <a:tbl>
              <a:tblPr>
                <a:noFill/>
                <a:tableStyleId>{C58A01A9-31D1-41C9-9F1A-FE5B03BA0646}</a:tableStyleId>
              </a:tblPr>
              <a:tblGrid>
                <a:gridCol w="3108950"/>
                <a:gridCol w="1005850"/>
                <a:gridCol w="1005850"/>
                <a:gridCol w="1005850"/>
                <a:gridCol w="1005850"/>
              </a:tblGrid>
              <a:tr h="411475">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Predictor</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β</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SE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t</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c>
                  <a:txBody>
                    <a:bodyPr/>
                    <a:lstStyle/>
                    <a:p>
                      <a:pPr indent="0" lvl="0" marL="0" marR="0" rtl="0" algn="ctr">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p</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222222"/>
                    </a:solidFill>
                  </a:tcPr>
                </a:tc>
              </a:tr>
              <a:tr h="411475">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Mean Words per Response</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200"/>
                        <a:buFont typeface="Arial"/>
                        <a:buNone/>
                      </a:pPr>
                      <a:r>
                        <a:rPr b="1" lang="en-US" sz="1200" u="none" cap="none" strike="noStrike">
                          <a:solidFill>
                            <a:srgbClr val="C0392B"/>
                          </a:solidFill>
                          <a:latin typeface="Arial"/>
                          <a:ea typeface="Arial"/>
                          <a:cs typeface="Arial"/>
                          <a:sym typeface="Arial"/>
                        </a:rPr>
                        <a:t>−0.583</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0.174</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−3.35</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.002</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Given data</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C0392B"/>
                        </a:buClr>
                        <a:buSzPts val="1200"/>
                        <a:buFont typeface="Arial"/>
                        <a:buNone/>
                      </a:pPr>
                      <a:r>
                        <a:rPr b="1" lang="en-US" sz="1200" u="none" cap="none" strike="noStrike">
                          <a:solidFill>
                            <a:srgbClr val="C0392B"/>
                          </a:solidFill>
                          <a:latin typeface="Arial"/>
                          <a:ea typeface="Arial"/>
                          <a:cs typeface="Arial"/>
                          <a:sym typeface="Arial"/>
                        </a:rPr>
                        <a:t>−0.485</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0.162</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−2.99</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.006</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Proactive Interaction</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E7D32"/>
                        </a:buClr>
                        <a:buSzPts val="1200"/>
                        <a:buFont typeface="Arial"/>
                        <a:buNone/>
                      </a:pPr>
                      <a:r>
                        <a:rPr b="1" lang="en-US" sz="1200" u="none" cap="none" strike="noStrike">
                          <a:solidFill>
                            <a:srgbClr val="2E7D32"/>
                          </a:solidFill>
                          <a:latin typeface="Arial"/>
                          <a:ea typeface="Arial"/>
                          <a:cs typeface="Arial"/>
                          <a:sym typeface="Arial"/>
                        </a:rPr>
                        <a:t>0.422</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0.163</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2.60</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200"/>
                        <a:buFont typeface="Arial"/>
                        <a:buNone/>
                      </a:pPr>
                      <a:r>
                        <a:rPr lang="en-US" sz="1200" u="none" cap="none" strike="noStrike">
                          <a:solidFill>
                            <a:srgbClr val="222222"/>
                          </a:solidFill>
                          <a:latin typeface="Arial"/>
                          <a:ea typeface="Arial"/>
                          <a:cs typeface="Arial"/>
                          <a:sym typeface="Arial"/>
                        </a:rPr>
                        <a:t>.015</a:t>
                      </a:r>
                      <a:endParaRPr sz="1200" u="none" cap="none" strike="noStrike">
                        <a:latin typeface="Arial"/>
                        <a:ea typeface="Arial"/>
                        <a:cs typeface="Arial"/>
                        <a:sym typeface="Arial"/>
                      </a:endParaRPr>
                    </a:p>
                  </a:txBody>
                  <a:tcPr marT="45725" marB="45725" marR="91450" marL="914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1187" name="Google Shape;1187;g3f578cb17a1_0_511"/>
          <p:cNvSpPr/>
          <p:nvPr/>
        </p:nvSpPr>
        <p:spPr>
          <a:xfrm>
            <a:off x="548640" y="3200400"/>
            <a:ext cx="8046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222"/>
              </a:buClr>
              <a:buSzPts val="1100"/>
              <a:buFont typeface="Arial"/>
              <a:buNone/>
            </a:pPr>
            <a:r>
              <a:rPr b="0" i="1" lang="en-US" sz="1100" u="none" cap="none" strike="noStrike">
                <a:solidFill>
                  <a:srgbClr val="222222"/>
                </a:solidFill>
                <a:latin typeface="Arial"/>
                <a:ea typeface="Arial"/>
                <a:cs typeface="Arial"/>
                <a:sym typeface="Arial"/>
              </a:rPr>
              <a:t>N̂(US)  =  −0.583·N(Mean Words/Response)  −  0.485·N(Given Data)  +  0.422·N(Proactive Interaction)</a:t>
            </a:r>
            <a:endParaRPr b="0" i="0" sz="1100" u="none" cap="none" strike="noStrike">
              <a:solidFill>
                <a:schemeClr val="dk1"/>
              </a:solidFill>
              <a:latin typeface="Calibri"/>
              <a:ea typeface="Calibri"/>
              <a:cs typeface="Calibri"/>
              <a:sym typeface="Calibri"/>
            </a:endParaRPr>
          </a:p>
        </p:txBody>
      </p:sp>
      <p:pic>
        <p:nvPicPr>
          <p:cNvPr id="1188" name="Google Shape;1188;g3f578cb17a1_0_511"/>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189" name="Google Shape;1189;g3f578cb17a1_0_511"/>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4" name="Shape 1194"/>
        <p:cNvGrpSpPr/>
        <p:nvPr/>
      </p:nvGrpSpPr>
      <p:grpSpPr>
        <a:xfrm>
          <a:off x="0" y="0"/>
          <a:ext cx="0" cy="0"/>
          <a:chOff x="0" y="0"/>
          <a:chExt cx="0" cy="0"/>
        </a:xfrm>
      </p:grpSpPr>
      <p:pic>
        <p:nvPicPr>
          <p:cNvPr descr="umaine_logo.png" id="1195" name="Google Shape;1195;g3f578cb17a1_0_523"/>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196" name="Google Shape;1196;g3f578cb17a1_0_523"/>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g3f578cb17a1_0_523"/>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i="0" lang="en-US" sz="1300" u="none" cap="none" strike="noStrike">
                <a:solidFill>
                  <a:srgbClr val="222222"/>
                </a:solidFill>
                <a:latin typeface="Arial"/>
                <a:ea typeface="Arial"/>
                <a:cs typeface="Arial"/>
                <a:sym typeface="Arial"/>
              </a:rPr>
              <a:t>Figure 5 — Participant Demographics</a:t>
            </a:r>
            <a:endParaRPr b="0" i="0" sz="1300" u="none" cap="none" strike="noStrike">
              <a:solidFill>
                <a:schemeClr val="dk1"/>
              </a:solidFill>
              <a:latin typeface="Calibri"/>
              <a:ea typeface="Calibri"/>
              <a:cs typeface="Calibri"/>
              <a:sym typeface="Calibri"/>
            </a:endParaRPr>
          </a:p>
        </p:txBody>
      </p:sp>
      <p:cxnSp>
        <p:nvCxnSpPr>
          <p:cNvPr id="1198" name="Google Shape;1198;g3f578cb17a1_0_523"/>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199" name="Google Shape;1199;g3f578cb17a1_0_523"/>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200" name="Google Shape;1200;g3f578cb17a1_0_523"/>
          <p:cNvSpPr/>
          <p:nvPr/>
        </p:nvSpPr>
        <p:spPr>
          <a:xfrm>
            <a:off x="502920" y="1097280"/>
            <a:ext cx="3931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Pilot study (n = 8)</a:t>
            </a:r>
            <a:endParaRPr b="0" i="0" sz="1100" u="none" cap="none" strike="noStrike">
              <a:solidFill>
                <a:schemeClr val="dk1"/>
              </a:solidFill>
              <a:latin typeface="Calibri"/>
              <a:ea typeface="Calibri"/>
              <a:cs typeface="Calibri"/>
              <a:sym typeface="Calibri"/>
            </a:endParaRPr>
          </a:p>
        </p:txBody>
      </p:sp>
      <p:sp>
        <p:nvSpPr>
          <p:cNvPr id="1201" name="Google Shape;1201;g3f578cb17a1_0_523"/>
          <p:cNvSpPr/>
          <p:nvPr/>
        </p:nvSpPr>
        <p:spPr>
          <a:xfrm>
            <a:off x="4709160" y="1097280"/>
            <a:ext cx="3931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4F8F"/>
              </a:buClr>
              <a:buSzPts val="1100"/>
              <a:buFont typeface="Arial"/>
              <a:buNone/>
            </a:pPr>
            <a:r>
              <a:rPr b="1" i="0" lang="en-US" sz="1100" u="none" cap="none" strike="noStrike">
                <a:solidFill>
                  <a:srgbClr val="2E4F8F"/>
                </a:solidFill>
                <a:latin typeface="Arial"/>
                <a:ea typeface="Arial"/>
                <a:cs typeface="Arial"/>
                <a:sym typeface="Arial"/>
              </a:rPr>
              <a:t>Main study (n = 41)</a:t>
            </a:r>
            <a:endParaRPr b="0" i="0" sz="1100" u="none" cap="none" strike="noStrike">
              <a:solidFill>
                <a:schemeClr val="dk1"/>
              </a:solidFill>
              <a:latin typeface="Calibri"/>
              <a:ea typeface="Calibri"/>
              <a:cs typeface="Calibri"/>
              <a:sym typeface="Calibri"/>
            </a:endParaRPr>
          </a:p>
        </p:txBody>
      </p:sp>
      <p:pic>
        <p:nvPicPr>
          <p:cNvPr descr="fig5a.png" id="1202" name="Google Shape;1202;g3f578cb17a1_0_523"/>
          <p:cNvPicPr preferRelativeResize="0"/>
          <p:nvPr/>
        </p:nvPicPr>
        <p:blipFill rotWithShape="1">
          <a:blip r:embed="rId4">
            <a:alphaModFix/>
          </a:blip>
          <a:srcRect b="0" l="0" r="0" t="0"/>
          <a:stretch/>
        </p:blipFill>
        <p:spPr>
          <a:xfrm>
            <a:off x="502920" y="1463040"/>
            <a:ext cx="3931920" cy="2432304"/>
          </a:xfrm>
          <a:prstGeom prst="rect">
            <a:avLst/>
          </a:prstGeom>
          <a:noFill/>
          <a:ln>
            <a:noFill/>
          </a:ln>
        </p:spPr>
      </p:pic>
      <p:pic>
        <p:nvPicPr>
          <p:cNvPr descr="fig5b.png" id="1203" name="Google Shape;1203;g3f578cb17a1_0_523"/>
          <p:cNvPicPr preferRelativeResize="0"/>
          <p:nvPr/>
        </p:nvPicPr>
        <p:blipFill rotWithShape="1">
          <a:blip r:embed="rId5">
            <a:alphaModFix/>
          </a:blip>
          <a:srcRect b="0" l="0" r="0" t="0"/>
          <a:stretch/>
        </p:blipFill>
        <p:spPr>
          <a:xfrm>
            <a:off x="4709160" y="1463040"/>
            <a:ext cx="3931920" cy="2432304"/>
          </a:xfrm>
          <a:prstGeom prst="rect">
            <a:avLst/>
          </a:prstGeom>
          <a:noFill/>
          <a:ln>
            <a:noFill/>
          </a:ln>
        </p:spPr>
      </p:pic>
      <p:pic>
        <p:nvPicPr>
          <p:cNvPr id="1204" name="Google Shape;1204;g3f578cb17a1_0_523"/>
          <p:cNvPicPr preferRelativeResize="0"/>
          <p:nvPr/>
        </p:nvPicPr>
        <p:blipFill>
          <a:blip r:embed="rId6">
            <a:alphaModFix/>
          </a:blip>
          <a:stretch>
            <a:fillRect/>
          </a:stretch>
        </p:blipFill>
        <p:spPr>
          <a:xfrm>
            <a:off x="6455625" y="134425"/>
            <a:ext cx="1244825" cy="365750"/>
          </a:xfrm>
          <a:prstGeom prst="rect">
            <a:avLst/>
          </a:prstGeom>
          <a:noFill/>
          <a:ln>
            <a:noFill/>
          </a:ln>
        </p:spPr>
      </p:pic>
      <p:pic>
        <p:nvPicPr>
          <p:cNvPr id="1205" name="Google Shape;1205;g3f578cb17a1_0_523"/>
          <p:cNvPicPr preferRelativeResize="0"/>
          <p:nvPr/>
        </p:nvPicPr>
        <p:blipFill>
          <a:blip r:embed="rId7">
            <a:alphaModFix/>
          </a:blip>
          <a:stretch>
            <a:fillRect/>
          </a:stretch>
        </p:blipFill>
        <p:spPr>
          <a:xfrm>
            <a:off x="5973275" y="134425"/>
            <a:ext cx="364676" cy="36575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0" name="Shape 1210"/>
        <p:cNvGrpSpPr/>
        <p:nvPr/>
      </p:nvGrpSpPr>
      <p:grpSpPr>
        <a:xfrm>
          <a:off x="0" y="0"/>
          <a:ext cx="0" cy="0"/>
          <a:chOff x="0" y="0"/>
          <a:chExt cx="0" cy="0"/>
        </a:xfrm>
      </p:grpSpPr>
      <p:pic>
        <p:nvPicPr>
          <p:cNvPr descr="umaine_logo.png" id="1211" name="Google Shape;1211;g3f578cb17a1_0_735"/>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212" name="Google Shape;1212;g3f578cb17a1_0_735"/>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g3f578cb17a1_0_735"/>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Arial"/>
              <a:buNone/>
            </a:pPr>
            <a:r>
              <a:rPr b="1" lang="en-US" sz="1300">
                <a:solidFill>
                  <a:srgbClr val="222222"/>
                </a:solidFill>
              </a:rPr>
              <a:t>What causes high satisfaction</a:t>
            </a:r>
            <a:endParaRPr b="0" i="0" sz="1300" u="none" cap="none" strike="noStrike">
              <a:solidFill>
                <a:schemeClr val="dk1"/>
              </a:solidFill>
              <a:latin typeface="Calibri"/>
              <a:ea typeface="Calibri"/>
              <a:cs typeface="Calibri"/>
              <a:sym typeface="Calibri"/>
            </a:endParaRPr>
          </a:p>
        </p:txBody>
      </p:sp>
      <p:cxnSp>
        <p:nvCxnSpPr>
          <p:cNvPr id="1214" name="Google Shape;1214;g3f578cb17a1_0_735"/>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215" name="Google Shape;1215;g3f578cb17a1_0_735"/>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216" name="Google Shape;1216;g3f578cb17a1_0_735"/>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17</a:t>
            </a:r>
            <a:endParaRPr b="0" i="0" sz="700" u="none" cap="none" strike="noStrike">
              <a:solidFill>
                <a:schemeClr val="dk1"/>
              </a:solidFill>
              <a:latin typeface="Calibri"/>
              <a:ea typeface="Calibri"/>
              <a:cs typeface="Calibri"/>
              <a:sym typeface="Calibri"/>
            </a:endParaRPr>
          </a:p>
        </p:txBody>
      </p:sp>
      <p:sp>
        <p:nvSpPr>
          <p:cNvPr id="1217" name="Google Shape;1217;g3f578cb17a1_0_735"/>
          <p:cNvSpPr/>
          <p:nvPr/>
        </p:nvSpPr>
        <p:spPr>
          <a:xfrm>
            <a:off x="685800" y="1234440"/>
            <a:ext cx="7772400" cy="1051500"/>
          </a:xfrm>
          <a:prstGeom prst="roundRect">
            <a:avLst>
              <a:gd fmla="val 5217"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g3f578cb17a1_0_735"/>
          <p:cNvSpPr/>
          <p:nvPr/>
        </p:nvSpPr>
        <p:spPr>
          <a:xfrm>
            <a:off x="685800" y="1234440"/>
            <a:ext cx="7772400" cy="105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Be concise.  Be proactive.  Don’t dump information.</a:t>
            </a:r>
            <a:endParaRPr b="0" i="0" sz="1700" u="none" cap="none" strike="noStrike">
              <a:solidFill>
                <a:schemeClr val="dk1"/>
              </a:solidFill>
              <a:latin typeface="Calibri"/>
              <a:ea typeface="Calibri"/>
              <a:cs typeface="Calibri"/>
              <a:sym typeface="Calibri"/>
            </a:endParaRPr>
          </a:p>
        </p:txBody>
      </p:sp>
      <p:pic>
        <p:nvPicPr>
          <p:cNvPr id="1219" name="Google Shape;1219;g3f578cb17a1_0_735"/>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220" name="Google Shape;1220;g3f578cb17a1_0_735"/>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5" name="Shape 1225"/>
        <p:cNvGrpSpPr/>
        <p:nvPr/>
      </p:nvGrpSpPr>
      <p:grpSpPr>
        <a:xfrm>
          <a:off x="0" y="0"/>
          <a:ext cx="0" cy="0"/>
          <a:chOff x="0" y="0"/>
          <a:chExt cx="0" cy="0"/>
        </a:xfrm>
      </p:grpSpPr>
      <p:pic>
        <p:nvPicPr>
          <p:cNvPr descr="umaine_logo.png" id="1226" name="Google Shape;1226;g3f578cb17a1_0_749"/>
          <p:cNvPicPr preferRelativeResize="0"/>
          <p:nvPr/>
        </p:nvPicPr>
        <p:blipFill rotWithShape="1">
          <a:blip r:embed="rId3">
            <a:alphaModFix/>
          </a:blip>
          <a:srcRect b="0" l="0" r="0" t="0"/>
          <a:stretch/>
        </p:blipFill>
        <p:spPr>
          <a:xfrm>
            <a:off x="7818120" y="164592"/>
            <a:ext cx="960118" cy="305410"/>
          </a:xfrm>
          <a:prstGeom prst="rect">
            <a:avLst/>
          </a:prstGeom>
          <a:noFill/>
          <a:ln>
            <a:noFill/>
          </a:ln>
        </p:spPr>
      </p:pic>
      <p:sp>
        <p:nvSpPr>
          <p:cNvPr id="1227" name="Google Shape;1227;g3f578cb17a1_0_749"/>
          <p:cNvSpPr/>
          <p:nvPr/>
        </p:nvSpPr>
        <p:spPr>
          <a:xfrm>
            <a:off x="411480" y="274320"/>
            <a:ext cx="237600" cy="237600"/>
          </a:xfrm>
          <a:prstGeom prst="ellipse">
            <a:avLst/>
          </a:prstGeom>
          <a:solidFill>
            <a:srgbClr val="FFC7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g3f578cb17a1_0_749"/>
          <p:cNvSpPr/>
          <p:nvPr/>
        </p:nvSpPr>
        <p:spPr>
          <a:xfrm>
            <a:off x="731520" y="246888"/>
            <a:ext cx="5943600" cy="29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22222"/>
              </a:buClr>
              <a:buSzPts val="1300"/>
              <a:buFont typeface="Arial"/>
              <a:buNone/>
            </a:pPr>
            <a:r>
              <a:rPr b="1" lang="en-US" sz="1300">
                <a:solidFill>
                  <a:srgbClr val="222222"/>
                </a:solidFill>
              </a:rPr>
              <a:t>What causes high satisfaction and a Warning</a:t>
            </a:r>
            <a:endParaRPr b="1" sz="1300">
              <a:solidFill>
                <a:srgbClr val="222222"/>
              </a:solidFill>
            </a:endParaRPr>
          </a:p>
        </p:txBody>
      </p:sp>
      <p:cxnSp>
        <p:nvCxnSpPr>
          <p:cNvPr id="1229" name="Google Shape;1229;g3f578cb17a1_0_749"/>
          <p:cNvCxnSpPr/>
          <p:nvPr/>
        </p:nvCxnSpPr>
        <p:spPr>
          <a:xfrm>
            <a:off x="411480" y="640080"/>
            <a:ext cx="8366700" cy="0"/>
          </a:xfrm>
          <a:prstGeom prst="straightConnector1">
            <a:avLst/>
          </a:prstGeom>
          <a:noFill/>
          <a:ln cap="flat" cmpd="sng" w="9525">
            <a:solidFill>
              <a:srgbClr val="D9D9D9"/>
            </a:solidFill>
            <a:prstDash val="solid"/>
            <a:round/>
            <a:headEnd len="sm" w="sm" type="none"/>
            <a:tailEnd len="sm" w="sm" type="none"/>
          </a:ln>
        </p:spPr>
      </p:cxnSp>
      <p:sp>
        <p:nvSpPr>
          <p:cNvPr id="1230" name="Google Shape;1230;g3f578cb17a1_0_749"/>
          <p:cNvSpPr/>
          <p:nvPr/>
        </p:nvSpPr>
        <p:spPr>
          <a:xfrm>
            <a:off x="3931920" y="4681728"/>
            <a:ext cx="1463100" cy="2925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222222"/>
              </a:buClr>
              <a:buSzPts val="600"/>
              <a:buFont typeface="Arial"/>
              <a:buNone/>
            </a:pPr>
            <a:r>
              <a:rPr b="1" i="0" lang="en-US" sz="600" u="none" cap="none" strike="noStrike">
                <a:solidFill>
                  <a:srgbClr val="222222"/>
                </a:solidFill>
                <a:latin typeface="Arial"/>
                <a:ea typeface="Arial"/>
                <a:cs typeface="Arial"/>
                <a:sym typeface="Arial"/>
              </a:rPr>
              <a:t>SIGDIAL 2026</a:t>
            </a:r>
            <a:endParaRPr b="0" i="0" sz="600" u="none" cap="none" strike="noStrike">
              <a:solidFill>
                <a:schemeClr val="dk1"/>
              </a:solidFill>
              <a:latin typeface="Calibri"/>
              <a:ea typeface="Calibri"/>
              <a:cs typeface="Calibri"/>
              <a:sym typeface="Calibri"/>
            </a:endParaRPr>
          </a:p>
          <a:p>
            <a:pPr indent="0" lvl="0" marL="0" marR="0" rtl="0" algn="ctr">
              <a:lnSpc>
                <a:spcPct val="133333"/>
              </a:lnSpc>
              <a:spcBef>
                <a:spcPts val="0"/>
              </a:spcBef>
              <a:spcAft>
                <a:spcPts val="0"/>
              </a:spcAft>
              <a:buClr>
                <a:srgbClr val="222222"/>
              </a:buClr>
              <a:buSzPts val="600"/>
              <a:buFont typeface="Arial"/>
              <a:buNone/>
            </a:pPr>
            <a:r>
              <a:rPr b="0" i="0" lang="en-US" sz="600" u="none" cap="none" strike="noStrike">
                <a:solidFill>
                  <a:srgbClr val="222222"/>
                </a:solidFill>
                <a:latin typeface="Arial"/>
                <a:ea typeface="Arial"/>
                <a:cs typeface="Arial"/>
                <a:sym typeface="Arial"/>
              </a:rPr>
              <a:t>August 2026</a:t>
            </a:r>
            <a:endParaRPr b="0" i="0" sz="600" u="none" cap="none" strike="noStrike">
              <a:solidFill>
                <a:schemeClr val="dk1"/>
              </a:solidFill>
              <a:latin typeface="Calibri"/>
              <a:ea typeface="Calibri"/>
              <a:cs typeface="Calibri"/>
              <a:sym typeface="Calibri"/>
            </a:endParaRPr>
          </a:p>
        </p:txBody>
      </p:sp>
      <p:sp>
        <p:nvSpPr>
          <p:cNvPr id="1231" name="Google Shape;1231;g3f578cb17a1_0_749"/>
          <p:cNvSpPr/>
          <p:nvPr/>
        </p:nvSpPr>
        <p:spPr>
          <a:xfrm>
            <a:off x="8229600" y="4681728"/>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700"/>
              <a:buFont typeface="Arial"/>
              <a:buNone/>
            </a:pPr>
            <a:r>
              <a:rPr b="0" i="0" lang="en-US" sz="700" u="none" cap="none" strike="noStrike">
                <a:solidFill>
                  <a:srgbClr val="222222"/>
                </a:solidFill>
                <a:latin typeface="Arial"/>
                <a:ea typeface="Arial"/>
                <a:cs typeface="Arial"/>
                <a:sym typeface="Arial"/>
              </a:rPr>
              <a:t>17</a:t>
            </a:r>
            <a:endParaRPr b="0" i="0" sz="700" u="none" cap="none" strike="noStrike">
              <a:solidFill>
                <a:schemeClr val="dk1"/>
              </a:solidFill>
              <a:latin typeface="Calibri"/>
              <a:ea typeface="Calibri"/>
              <a:cs typeface="Calibri"/>
              <a:sym typeface="Calibri"/>
            </a:endParaRPr>
          </a:p>
        </p:txBody>
      </p:sp>
      <p:sp>
        <p:nvSpPr>
          <p:cNvPr id="1232" name="Google Shape;1232;g3f578cb17a1_0_749"/>
          <p:cNvSpPr/>
          <p:nvPr/>
        </p:nvSpPr>
        <p:spPr>
          <a:xfrm>
            <a:off x="685800" y="1234440"/>
            <a:ext cx="7772400" cy="1051500"/>
          </a:xfrm>
          <a:prstGeom prst="roundRect">
            <a:avLst>
              <a:gd fmla="val 5217" name="adj"/>
            </a:avLst>
          </a:prstGeom>
          <a:solidFill>
            <a:srgbClr val="4372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g3f578cb17a1_0_749"/>
          <p:cNvSpPr/>
          <p:nvPr/>
        </p:nvSpPr>
        <p:spPr>
          <a:xfrm>
            <a:off x="685800" y="1234440"/>
            <a:ext cx="7772400" cy="105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Be concise.  Be proactive.  Don’t dump information.</a:t>
            </a:r>
            <a:endParaRPr b="0" i="0" sz="1700" u="none" cap="none" strike="noStrike">
              <a:solidFill>
                <a:schemeClr val="dk1"/>
              </a:solidFill>
              <a:latin typeface="Calibri"/>
              <a:ea typeface="Calibri"/>
              <a:cs typeface="Calibri"/>
              <a:sym typeface="Calibri"/>
            </a:endParaRPr>
          </a:p>
        </p:txBody>
      </p:sp>
      <p:sp>
        <p:nvSpPr>
          <p:cNvPr id="1234" name="Google Shape;1234;g3f578cb17a1_0_749"/>
          <p:cNvSpPr/>
          <p:nvPr/>
        </p:nvSpPr>
        <p:spPr>
          <a:xfrm>
            <a:off x="685800" y="2606040"/>
            <a:ext cx="7772400" cy="1600200"/>
          </a:xfrm>
          <a:prstGeom prst="roundRect">
            <a:avLst>
              <a:gd fmla="val 3429" name="adj"/>
            </a:avLst>
          </a:prstGeom>
          <a:solidFill>
            <a:srgbClr val="FDF1F0"/>
          </a:solidFill>
          <a:ln cap="flat" cmpd="sng" w="22225">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g3f578cb17a1_0_749"/>
          <p:cNvSpPr/>
          <p:nvPr/>
        </p:nvSpPr>
        <p:spPr>
          <a:xfrm>
            <a:off x="914400" y="2788920"/>
            <a:ext cx="7315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600"/>
              <a:buFont typeface="Arial"/>
              <a:buNone/>
            </a:pPr>
            <a:r>
              <a:rPr b="1" i="0" lang="en-US" sz="1600" u="none" cap="none" strike="noStrike">
                <a:solidFill>
                  <a:srgbClr val="C0392B"/>
                </a:solidFill>
                <a:latin typeface="Arial"/>
                <a:ea typeface="Arial"/>
                <a:cs typeface="Arial"/>
                <a:sym typeface="Arial"/>
              </a:rPr>
              <a:t>Do not optimize an agent against this function.</a:t>
            </a:r>
            <a:endParaRPr b="0" i="0" sz="1600" u="none" cap="none" strike="noStrike">
              <a:solidFill>
                <a:schemeClr val="dk1"/>
              </a:solidFill>
              <a:latin typeface="Calibri"/>
              <a:ea typeface="Calibri"/>
              <a:cs typeface="Calibri"/>
              <a:sym typeface="Calibri"/>
            </a:endParaRPr>
          </a:p>
        </p:txBody>
      </p:sp>
      <p:sp>
        <p:nvSpPr>
          <p:cNvPr id="1236" name="Google Shape;1236;g3f578cb17a1_0_749"/>
          <p:cNvSpPr/>
          <p:nvPr/>
        </p:nvSpPr>
        <p:spPr>
          <a:xfrm>
            <a:off x="914400" y="3246120"/>
            <a:ext cx="7315200" cy="7773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222222"/>
              </a:buClr>
              <a:buSzPts val="1200"/>
              <a:buFont typeface="Arial"/>
              <a:buNone/>
            </a:pPr>
            <a:r>
              <a:rPr b="0" i="0" lang="en-US" sz="1200" u="none" cap="none" strike="noStrike">
                <a:solidFill>
                  <a:srgbClr val="222222"/>
                </a:solidFill>
                <a:latin typeface="Arial"/>
                <a:ea typeface="Arial"/>
                <a:cs typeface="Arial"/>
                <a:sym typeface="Arial"/>
              </a:rPr>
              <a:t>It would not produce a more accurate system</a:t>
            </a:r>
            <a:r>
              <a:rPr lang="en-US" sz="1200">
                <a:solidFill>
                  <a:srgbClr val="222222"/>
                </a:solidFill>
              </a:rPr>
              <a:t>,</a:t>
            </a:r>
            <a:r>
              <a:rPr b="0" i="0" lang="en-US" sz="1200" u="none" cap="none" strike="noStrike">
                <a:solidFill>
                  <a:srgbClr val="222222"/>
                </a:solidFill>
                <a:latin typeface="Arial"/>
                <a:ea typeface="Arial"/>
                <a:cs typeface="Arial"/>
                <a:sym typeface="Arial"/>
              </a:rPr>
              <a:t> it would produce a system whose</a:t>
            </a:r>
            <a:endParaRPr b="0" i="0" sz="1200" u="none" cap="none" strike="noStrike">
              <a:solidFill>
                <a:schemeClr val="dk1"/>
              </a:solidFill>
              <a:latin typeface="Calibri"/>
              <a:ea typeface="Calibri"/>
              <a:cs typeface="Calibri"/>
              <a:sym typeface="Calibri"/>
            </a:endParaRPr>
          </a:p>
          <a:p>
            <a:pPr indent="0" lvl="0" marL="0" marR="0" rtl="0" algn="ctr">
              <a:lnSpc>
                <a:spcPct val="150000"/>
              </a:lnSpc>
              <a:spcBef>
                <a:spcPts val="0"/>
              </a:spcBef>
              <a:spcAft>
                <a:spcPts val="0"/>
              </a:spcAft>
              <a:buClr>
                <a:srgbClr val="222222"/>
              </a:buClr>
              <a:buSzPts val="1200"/>
              <a:buFont typeface="Arial"/>
              <a:buNone/>
            </a:pPr>
            <a:r>
              <a:rPr b="0" i="0" lang="en-US" sz="1200" u="none" cap="none" strike="noStrike">
                <a:solidFill>
                  <a:srgbClr val="222222"/>
                </a:solidFill>
                <a:latin typeface="Arial"/>
                <a:ea typeface="Arial"/>
                <a:cs typeface="Arial"/>
                <a:sym typeface="Arial"/>
              </a:rPr>
              <a:t>inaccurate responses are more convincing, </a:t>
            </a:r>
            <a:r>
              <a:rPr lang="en-US" sz="1200">
                <a:solidFill>
                  <a:srgbClr val="222222"/>
                </a:solidFill>
              </a:rPr>
              <a:t>which may cause</a:t>
            </a:r>
            <a:r>
              <a:rPr b="0" i="0" lang="en-US" sz="1200" u="none" cap="none" strike="noStrike">
                <a:solidFill>
                  <a:srgbClr val="222222"/>
                </a:solidFill>
                <a:latin typeface="Arial"/>
                <a:ea typeface="Arial"/>
                <a:cs typeface="Arial"/>
                <a:sym typeface="Arial"/>
              </a:rPr>
              <a:t> the gap we report.</a:t>
            </a:r>
            <a:endParaRPr b="0" i="0" sz="1200" u="none" cap="none" strike="noStrike">
              <a:solidFill>
                <a:schemeClr val="dk1"/>
              </a:solidFill>
              <a:latin typeface="Calibri"/>
              <a:ea typeface="Calibri"/>
              <a:cs typeface="Calibri"/>
              <a:sym typeface="Calibri"/>
            </a:endParaRPr>
          </a:p>
        </p:txBody>
      </p:sp>
      <p:pic>
        <p:nvPicPr>
          <p:cNvPr id="1237" name="Google Shape;1237;g3f578cb17a1_0_749"/>
          <p:cNvPicPr preferRelativeResize="0"/>
          <p:nvPr/>
        </p:nvPicPr>
        <p:blipFill>
          <a:blip r:embed="rId4">
            <a:alphaModFix/>
          </a:blip>
          <a:stretch>
            <a:fillRect/>
          </a:stretch>
        </p:blipFill>
        <p:spPr>
          <a:xfrm>
            <a:off x="6455625" y="134425"/>
            <a:ext cx="1244825" cy="365750"/>
          </a:xfrm>
          <a:prstGeom prst="rect">
            <a:avLst/>
          </a:prstGeom>
          <a:noFill/>
          <a:ln>
            <a:noFill/>
          </a:ln>
        </p:spPr>
      </p:pic>
      <p:pic>
        <p:nvPicPr>
          <p:cNvPr id="1238" name="Google Shape;1238;g3f578cb17a1_0_749"/>
          <p:cNvPicPr preferRelativeResize="0"/>
          <p:nvPr/>
        </p:nvPicPr>
        <p:blipFill>
          <a:blip r:embed="rId5">
            <a:alphaModFix/>
          </a:blip>
          <a:stretch>
            <a:fillRect/>
          </a:stretch>
        </p:blipFill>
        <p:spPr>
          <a:xfrm>
            <a:off x="5973275" y="134425"/>
            <a:ext cx="364676" cy="3657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2026-07-13T19:27:03Z</dcterms:created>
  <dc:creator>Ali Pourghasemi Fatideh</dc:creator>
</cp:coreProperties>
</file>