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2260"/>
  </p:normalViewPr>
  <p:slideViewPr>
    <p:cSldViewPr snapToGrid="0">
      <p:cViewPr varScale="1">
        <p:scale>
          <a:sx n="117" d="100"/>
          <a:sy n="117" d="100"/>
        </p:scale>
        <p:origin x="9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4DBE3A-9864-4DAE-9CBD-07D9BE9D2E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CAC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92B0D-1E32-4C2B-9AA6-02B0121E1742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SIGDIAL 2026</a:t>
            </a:r>
            <a:endParaRPr lang="en-US" sz="1350" b="1">
              <a:solidFill>
                <a:srgbClr val="3F8FC1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endParaRPr sz="1350" b="1">
              <a:solidFill>
                <a:srgbClr val="3F8FC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E60EDC-D1EB-4E76-BEFE-9C6C0A387EAF}"/>
              </a:ext>
            </a:extLst>
          </p:cNvPr>
          <p:cNvSpPr>
            <a:spLocks noGrp="1"/>
          </p:cNvSpPr>
          <p:nvPr/>
        </p:nvSpPr>
        <p:spPr>
          <a:xfrm>
            <a:off x="647700" y="1200150"/>
            <a:ext cx="533400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Disentangling</a:t>
            </a:r>
          </a:p>
          <a:p>
            <a:pPr algn="l">
              <a:lnSpc>
                <a:spcPct val="90000"/>
              </a:lnSpc>
              <a:buNone/>
              <a:defRPr sz="3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Annotator Skill from</a:t>
            </a:r>
          </a:p>
          <a:p>
            <a:pPr algn="l">
              <a:lnSpc>
                <a:spcPct val="90000"/>
              </a:lnSpc>
              <a:buNone/>
              <a:defRPr sz="3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Verifier Strictness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6EFB0C-31F6-4B47-894F-D4E93C9286F2}"/>
              </a:ext>
            </a:extLst>
          </p:cNvPr>
          <p:cNvSpPr>
            <a:spLocks noGrp="1"/>
          </p:cNvSpPr>
          <p:nvPr/>
        </p:nvSpPr>
        <p:spPr>
          <a:xfrm>
            <a:off x="647700" y="3028950"/>
            <a:ext cx="533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32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in Cross-Verified Dialogue Annotation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B1B8E6-51F4-408A-8181-98AADDEB34C1}"/>
              </a:ext>
            </a:extLst>
          </p:cNvPr>
          <p:cNvSpPr>
            <a:spLocks noGrp="1"/>
          </p:cNvSpPr>
          <p:nvPr/>
        </p:nvSpPr>
        <p:spPr>
          <a:xfrm>
            <a:off x="647700" y="4171950"/>
            <a:ext cx="5334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6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34155"/>
                </a:solidFill>
                <a:latin typeface="Arial"/>
                <a:ea typeface="Arial"/>
                <a:cs typeface="Arial"/>
              </a:rPr>
              <a:t>Zihao Tao · John A. Prado · Ignazio Steven LaManna</a:t>
            </a:r>
          </a:p>
          <a:p>
            <a:pPr algn="l">
              <a:lnSpc>
                <a:spcPct val="110000"/>
              </a:lnSpc>
              <a:buNone/>
              <a:defRPr sz="16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34155"/>
                </a:solidFill>
                <a:latin typeface="Arial"/>
                <a:ea typeface="Arial"/>
                <a:cs typeface="Arial"/>
              </a:rPr>
              <a:t>Ryan Puterbaugh · Mim Datta · Julia Hirschberg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6F66CD-4F01-4CB4-93E6-A60975E078C4}"/>
              </a:ext>
            </a:extLst>
          </p:cNvPr>
          <p:cNvSpPr>
            <a:spLocks noGrp="1"/>
          </p:cNvSpPr>
          <p:nvPr/>
        </p:nvSpPr>
        <p:spPr>
          <a:xfrm>
            <a:off x="647700" y="49720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4748B"/>
                </a:solidFill>
                <a:latin typeface="Arial"/>
                <a:ea typeface="Arial"/>
                <a:cs typeface="Arial"/>
              </a:rPr>
              <a:t>Columbia University · University of Alberta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700471F-A8CB-4958-A71B-46BDF2ACC858}"/>
              </a:ext>
            </a:extLst>
          </p:cNvPr>
          <p:cNvSpPr>
            <a:spLocks noGrp="1"/>
          </p:cNvSpPr>
          <p:nvPr/>
        </p:nvSpPr>
        <p:spPr>
          <a:xfrm>
            <a:off x="6381750" y="1066800"/>
            <a:ext cx="5219700" cy="4038600"/>
          </a:xfrm>
          <a:prstGeom prst="roundRect">
            <a:avLst>
              <a:gd name="adj" fmla="val 4245"/>
            </a:avLst>
          </a:prstGeom>
          <a:solidFill>
            <a:srgbClr val="EFF7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 l="14928" r="14928"/>
          <a:stretch>
            <a:fillRect/>
          </a:stretch>
        </p:blipFill>
        <p:spPr>
          <a:xfrm>
            <a:off x="6515100" y="1200150"/>
            <a:ext cx="4953000" cy="3771900"/>
          </a:xfrm>
          <a:prstGeom prst="roundRect">
            <a:avLst>
              <a:gd name="adj" fmla="val 4040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9BA460B-4D39-43B3-8436-C95480D42517}"/>
              </a:ext>
            </a:extLst>
          </p:cNvPr>
          <p:cNvSpPr>
            <a:spLocks noGrp="1"/>
          </p:cNvSpPr>
          <p:nvPr/>
        </p:nvSpPr>
        <p:spPr>
          <a:xfrm>
            <a:off x="647700" y="581025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What does the paper’s correction count actually measure?</a:t>
            </a:r>
          </a:p>
        </p:txBody>
      </p:sp>
    </p:spTree>
    <p:extLst>
      <p:ext uri="{BB962C8B-B14F-4D97-AF65-F5344CB8AC3E}">
        <p14:creationId xmlns:p14="http://schemas.microsoft.com/office/powerpoint/2010/main" val="10368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6B8EA89-A494-41D0-AD9E-9D8ECF8A915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SIGDIAL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482542-CF64-4335-AE22-B919FA246C1B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observed count can have three workflow sources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DD7D9C-2AC0-4701-B5C1-E6FE22AF566A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38100"/>
          </a:xfrm>
          <a:prstGeom prst="rect">
            <a:avLst/>
          </a:prstGeom>
          <a:solidFill>
            <a:srgbClr val="6CAC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70452F-E152-4747-80AD-D56FBC6DC0C0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94A3B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E0528B-696C-4788-9CBA-FF5BF484B793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20955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391"/>
          </a:bodyPr>
          <a:lstStyle/>
          <a:p>
            <a:pPr algn="ctr">
              <a:defRPr sz="690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E493D8-C02B-427D-B6DC-6C5EA6608499}"/>
              </a:ext>
            </a:extLst>
          </p:cNvPr>
          <p:cNvSpPr>
            <a:spLocks noGrp="1"/>
          </p:cNvSpPr>
          <p:nvPr/>
        </p:nvSpPr>
        <p:spPr>
          <a:xfrm>
            <a:off x="762000" y="27622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derived records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0D0AAB-1547-4EAE-845F-5FD96803AF64}"/>
              </a:ext>
            </a:extLst>
          </p:cNvPr>
          <p:cNvSpPr>
            <a:spLocks noGrp="1"/>
          </p:cNvSpPr>
          <p:nvPr/>
        </p:nvSpPr>
        <p:spPr>
          <a:xfrm>
            <a:off x="3257550" y="2247900"/>
            <a:ext cx="152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0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64748B"/>
                </a:solidFill>
                <a:latin typeface="Arial"/>
                <a:ea typeface="Arial"/>
                <a:cs typeface="Arial"/>
              </a:rPr>
              <a:t>could reflect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7CBF77-2822-47AC-BA7E-EF44A720262F}"/>
              </a:ext>
            </a:extLst>
          </p:cNvPr>
          <p:cNvSpPr>
            <a:spLocks noGrp="1"/>
          </p:cNvSpPr>
          <p:nvPr/>
        </p:nvSpPr>
        <p:spPr>
          <a:xfrm>
            <a:off x="5676900" y="1866900"/>
            <a:ext cx="647700" cy="647700"/>
          </a:xfrm>
          <a:prstGeom prst="ellipse">
            <a:avLst/>
          </a:prstGeom>
          <a:solidFill>
            <a:srgbClr val="EFF7FC"/>
          </a:solidFill>
          <a:ln w="28575">
            <a:solidFill>
              <a:srgbClr val="3F8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E9453C-389F-403B-9A7A-249140ACE867}"/>
              </a:ext>
            </a:extLst>
          </p:cNvPr>
          <p:cNvSpPr>
            <a:spLocks noGrp="1"/>
          </p:cNvSpPr>
          <p:nvPr/>
        </p:nvSpPr>
        <p:spPr>
          <a:xfrm>
            <a:off x="5676900" y="2009775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025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3CEDE7-68A0-4834-B8DF-28DE888A6694}"/>
              </a:ext>
            </a:extLst>
          </p:cNvPr>
          <p:cNvSpPr>
            <a:spLocks noGrp="1"/>
          </p:cNvSpPr>
          <p:nvPr/>
        </p:nvSpPr>
        <p:spPr>
          <a:xfrm>
            <a:off x="5029200" y="272415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Annotator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B16244-96F7-46B6-BB59-199CDC887A61}"/>
              </a:ext>
            </a:extLst>
          </p:cNvPr>
          <p:cNvSpPr>
            <a:spLocks noGrp="1"/>
          </p:cNvSpPr>
          <p:nvPr/>
        </p:nvSpPr>
        <p:spPr>
          <a:xfrm>
            <a:off x="5029200" y="3219450"/>
            <a:ext cx="1943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4748B"/>
                </a:solidFill>
                <a:latin typeface="Arial"/>
                <a:ea typeface="Arial"/>
                <a:cs typeface="Arial"/>
              </a:rPr>
              <a:t>More differences left</a:t>
            </a:r>
          </a:p>
          <a:p>
            <a:pPr algn="ctr">
              <a:defRPr sz="15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4748B"/>
                </a:solidFill>
                <a:latin typeface="Arial"/>
                <a:ea typeface="Arial"/>
                <a:cs typeface="Arial"/>
              </a:rPr>
              <a:t>for verification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7771B2E-D87E-41B0-B385-1688ED748FA7}"/>
              </a:ext>
            </a:extLst>
          </p:cNvPr>
          <p:cNvSpPr>
            <a:spLocks noGrp="1"/>
          </p:cNvSpPr>
          <p:nvPr/>
        </p:nvSpPr>
        <p:spPr>
          <a:xfrm>
            <a:off x="7905750" y="1866900"/>
            <a:ext cx="647700" cy="647700"/>
          </a:xfrm>
          <a:prstGeom prst="ellipse">
            <a:avLst/>
          </a:prstGeom>
          <a:solidFill>
            <a:srgbClr val="EFF7FC"/>
          </a:solidFill>
          <a:ln w="2857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7EF7A9-92D7-4FAD-BE61-F116FF37886E}"/>
              </a:ext>
            </a:extLst>
          </p:cNvPr>
          <p:cNvSpPr>
            <a:spLocks noGrp="1"/>
          </p:cNvSpPr>
          <p:nvPr/>
        </p:nvSpPr>
        <p:spPr>
          <a:xfrm>
            <a:off x="7905750" y="2009775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02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08E9E7-1700-428D-AD62-1359287AF8FA}"/>
              </a:ext>
            </a:extLst>
          </p:cNvPr>
          <p:cNvSpPr>
            <a:spLocks noGrp="1"/>
          </p:cNvSpPr>
          <p:nvPr/>
        </p:nvSpPr>
        <p:spPr>
          <a:xfrm>
            <a:off x="7258050" y="272415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32F639-6737-4B5D-895A-94A435E14C0C}"/>
              </a:ext>
            </a:extLst>
          </p:cNvPr>
          <p:cNvSpPr>
            <a:spLocks noGrp="1"/>
          </p:cNvSpPr>
          <p:nvPr/>
        </p:nvSpPr>
        <p:spPr>
          <a:xfrm>
            <a:off x="7258050" y="3219450"/>
            <a:ext cx="1943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4748B"/>
                </a:solidFill>
                <a:latin typeface="Arial"/>
                <a:ea typeface="Arial"/>
                <a:cs typeface="Arial"/>
              </a:rPr>
              <a:t>More extensive edits</a:t>
            </a:r>
          </a:p>
          <a:p>
            <a:pPr algn="ctr">
              <a:defRPr sz="15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4748B"/>
                </a:solidFill>
                <a:latin typeface="Arial"/>
                <a:ea typeface="Arial"/>
                <a:cs typeface="Arial"/>
              </a:rPr>
              <a:t>during review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C6452AC-DAAB-4FDC-81F5-0988A4631BA6}"/>
              </a:ext>
            </a:extLst>
          </p:cNvPr>
          <p:cNvSpPr>
            <a:spLocks noGrp="1"/>
          </p:cNvSpPr>
          <p:nvPr/>
        </p:nvSpPr>
        <p:spPr>
          <a:xfrm>
            <a:off x="10134600" y="1866900"/>
            <a:ext cx="647700" cy="647700"/>
          </a:xfrm>
          <a:prstGeom prst="ellipse">
            <a:avLst/>
          </a:prstGeom>
          <a:solidFill>
            <a:srgbClr val="EFF7FC"/>
          </a:solidFill>
          <a:ln w="2857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222FB-5135-4C0A-8A79-B1BAF2DEB079}"/>
              </a:ext>
            </a:extLst>
          </p:cNvPr>
          <p:cNvSpPr>
            <a:spLocks noGrp="1"/>
          </p:cNvSpPr>
          <p:nvPr/>
        </p:nvSpPr>
        <p:spPr>
          <a:xfrm>
            <a:off x="10134600" y="2009775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0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5B1E3E-9936-459E-A120-39FC22DE21A6}"/>
              </a:ext>
            </a:extLst>
          </p:cNvPr>
          <p:cNvSpPr>
            <a:spLocks noGrp="1"/>
          </p:cNvSpPr>
          <p:nvPr/>
        </p:nvSpPr>
        <p:spPr>
          <a:xfrm>
            <a:off x="9486900" y="272415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5E9DF8-C2A7-450E-904B-7B35685E9CB6}"/>
              </a:ext>
            </a:extLst>
          </p:cNvPr>
          <p:cNvSpPr>
            <a:spLocks noGrp="1"/>
          </p:cNvSpPr>
          <p:nvPr/>
        </p:nvSpPr>
        <p:spPr>
          <a:xfrm>
            <a:off x="9486900" y="3219450"/>
            <a:ext cx="1943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88"/>
          </a:bodyPr>
          <a:lstStyle/>
          <a:p>
            <a:pPr algn="ctr">
              <a:defRPr sz="15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4748B"/>
                </a:solidFill>
                <a:latin typeface="Arial"/>
                <a:ea typeface="Arial"/>
                <a:cs typeface="Arial"/>
              </a:rPr>
              <a:t>Harder audio or</a:t>
            </a:r>
          </a:p>
          <a:p>
            <a:pPr algn="ctr">
              <a:defRPr sz="15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4748B"/>
                </a:solidFill>
                <a:latin typeface="Arial"/>
                <a:ea typeface="Arial"/>
                <a:cs typeface="Arial"/>
              </a:rPr>
              <a:t>conversation structure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04E415D-0A28-4B64-A03A-855A0947FD24}"/>
              </a:ext>
            </a:extLst>
          </p:cNvPr>
          <p:cNvSpPr>
            <a:spLocks noGrp="1"/>
          </p:cNvSpPr>
          <p:nvPr/>
        </p:nvSpPr>
        <p:spPr>
          <a:xfrm>
            <a:off x="800100" y="4686300"/>
            <a:ext cx="10591800" cy="1028700"/>
          </a:xfrm>
          <a:prstGeom prst="roundRect">
            <a:avLst>
              <a:gd name="adj" fmla="val 12963"/>
            </a:avLst>
          </a:prstGeom>
          <a:solidFill>
            <a:srgbClr val="EFF7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9B624E-7893-4E48-A39C-9D5740781E0A}"/>
              </a:ext>
            </a:extLst>
          </p:cNvPr>
          <p:cNvSpPr>
            <a:spLocks noGrp="1"/>
          </p:cNvSpPr>
          <p:nvPr/>
        </p:nvSpPr>
        <p:spPr>
          <a:xfrm>
            <a:off x="1143000" y="493395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92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Observed record count  ≠  annotator quality</a:t>
            </a:r>
          </a:p>
        </p:txBody>
      </p:sp>
    </p:spTree>
    <p:extLst>
      <p:ext uri="{BB962C8B-B14F-4D97-AF65-F5344CB8AC3E}">
        <p14:creationId xmlns:p14="http://schemas.microsoft.com/office/powerpoint/2010/main" val="1167537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E4E0366-F3B1-4403-9DE3-819311A7EEE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SIGDIAL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1ADE23-7DEC-4131-9D3F-30D17A0C881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RASwDA derives analysis records from two TextGrid versions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B162D6-ED94-4959-9273-8D9387584429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38100"/>
          </a:xfrm>
          <a:prstGeom prst="rect">
            <a:avLst/>
          </a:prstGeom>
          <a:solidFill>
            <a:srgbClr val="6CAC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A59C8A-5195-4B6A-BD50-18C52ADAD67F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94A3B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7B61914-4C75-4646-B205-B98D0A121024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2914650" cy="1638300"/>
          </a:xfrm>
          <a:prstGeom prst="roundRect">
            <a:avLst>
              <a:gd name="adj" fmla="val 8140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C91099-DF77-4B3A-BEF1-5BDE9E1E7341}"/>
              </a:ext>
            </a:extLst>
          </p:cNvPr>
          <p:cNvSpPr>
            <a:spLocks noGrp="1"/>
          </p:cNvSpPr>
          <p:nvPr/>
        </p:nvSpPr>
        <p:spPr>
          <a:xfrm>
            <a:off x="4629150" y="1943100"/>
            <a:ext cx="2914650" cy="1638300"/>
          </a:xfrm>
          <a:prstGeom prst="roundRect">
            <a:avLst>
              <a:gd name="adj" fmla="val 8140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C370C8F-9B9C-4425-8819-6CD4643E3224}"/>
              </a:ext>
            </a:extLst>
          </p:cNvPr>
          <p:cNvSpPr>
            <a:spLocks noGrp="1"/>
          </p:cNvSpPr>
          <p:nvPr/>
        </p:nvSpPr>
        <p:spPr>
          <a:xfrm>
            <a:off x="8572500" y="1943100"/>
            <a:ext cx="2914650" cy="1638300"/>
          </a:xfrm>
          <a:prstGeom prst="roundRect">
            <a:avLst>
              <a:gd name="adj" fmla="val 8140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35" name="Straight Arrow Connector 34"/>
          <p:cNvCxnSpPr>
            <a:stCxn id="5" idx="3"/>
            <a:endCxn id="6" idx="1"/>
          </p:cNvCxnSpPr>
          <p:nvPr/>
        </p:nvCxnSpPr>
        <p:spPr>
          <a:xfrm>
            <a:off x="3600450" y="2762250"/>
            <a:ext cx="1028700" cy="0"/>
          </a:xfrm>
          <a:prstGeom prst="straightConnector1">
            <a:avLst/>
          </a:prstGeom>
          <a:ln w="28575">
            <a:solidFill>
              <a:srgbClr val="3F8FC1"/>
            </a:solidFill>
            <a:prstDash val="solid"/>
            <a:tailEnd type="triangle" w="sm" len="sm"/>
          </a:ln>
        </p:spPr>
      </p:cxnSp>
      <p:cxnSp>
        <p:nvCxnSpPr>
          <p:cNvPr id="36" name="Straight Arrow Connector 35"/>
          <p:cNvCxnSpPr>
            <a:stCxn id="6" idx="3"/>
            <a:endCxn id="7" idx="1"/>
          </p:cNvCxnSpPr>
          <p:nvPr/>
        </p:nvCxnSpPr>
        <p:spPr>
          <a:xfrm>
            <a:off x="7543800" y="2762250"/>
            <a:ext cx="1028700" cy="0"/>
          </a:xfrm>
          <a:prstGeom prst="straightConnector1">
            <a:avLst/>
          </a:prstGeom>
          <a:ln w="28575">
            <a:solidFill>
              <a:srgbClr val="3F8FC1"/>
            </a:solidFill>
            <a:prstDash val="solid"/>
            <a:tailEnd type="triangle" w="sm" len="sm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0D706F2-A11C-495D-81A4-DD9A5F70A34A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2457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1 · Annotate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E03039-0EC2-42C0-9A50-8C0A15B46BF8}"/>
              </a:ext>
            </a:extLst>
          </p:cNvPr>
          <p:cNvSpPr>
            <a:spLocks noGrp="1"/>
          </p:cNvSpPr>
          <p:nvPr/>
        </p:nvSpPr>
        <p:spPr>
          <a:xfrm>
            <a:off x="914400" y="2628900"/>
            <a:ext cx="2457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34155"/>
                </a:solidFill>
                <a:latin typeface="Arial"/>
                <a:ea typeface="Arial"/>
                <a:cs typeface="Arial"/>
              </a:rPr>
              <a:t>Realign SwDA intervals</a:t>
            </a:r>
          </a:p>
          <a:p>
            <a:pPr algn="l">
              <a:defRPr sz="16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34155"/>
                </a:solidFill>
                <a:latin typeface="Arial"/>
                <a:ea typeface="Arial"/>
                <a:cs typeface="Arial"/>
              </a:rPr>
              <a:t>to the original audio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DF9849-6A68-4C62-83A2-190B207FAE12}"/>
              </a:ext>
            </a:extLst>
          </p:cNvPr>
          <p:cNvSpPr>
            <a:spLocks noGrp="1"/>
          </p:cNvSpPr>
          <p:nvPr/>
        </p:nvSpPr>
        <p:spPr>
          <a:xfrm>
            <a:off x="4857750" y="2152650"/>
            <a:ext cx="2457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2 · Verify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836208-DFB6-44BD-B566-B5D0AE158BB9}"/>
              </a:ext>
            </a:extLst>
          </p:cNvPr>
          <p:cNvSpPr>
            <a:spLocks noGrp="1"/>
          </p:cNvSpPr>
          <p:nvPr/>
        </p:nvSpPr>
        <p:spPr>
          <a:xfrm>
            <a:off x="4857750" y="2628900"/>
            <a:ext cx="2457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98"/>
          </a:bodyPr>
          <a:lstStyle/>
          <a:p>
            <a:pPr algn="l">
              <a:defRPr sz="16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34155"/>
                </a:solidFill>
                <a:latin typeface="Arial"/>
                <a:ea typeface="Arial"/>
                <a:cs typeface="Arial"/>
              </a:rPr>
              <a:t>Review and edit the submitted</a:t>
            </a:r>
          </a:p>
          <a:p>
            <a:pPr algn="l">
              <a:defRPr sz="16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34155"/>
                </a:solidFill>
                <a:latin typeface="Arial"/>
                <a:ea typeface="Arial"/>
                <a:cs typeface="Arial"/>
              </a:rPr>
              <a:t>TextGrid against the audio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46B4F9-3972-4856-9A98-354F97334217}"/>
              </a:ext>
            </a:extLst>
          </p:cNvPr>
          <p:cNvSpPr>
            <a:spLocks noGrp="1"/>
          </p:cNvSpPr>
          <p:nvPr/>
        </p:nvSpPr>
        <p:spPr>
          <a:xfrm>
            <a:off x="8801100" y="2152650"/>
            <a:ext cx="2457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3 · Derive records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7256D1-DC42-45B4-9CCB-4796195AD6B3}"/>
              </a:ext>
            </a:extLst>
          </p:cNvPr>
          <p:cNvSpPr>
            <a:spLocks noGrp="1"/>
          </p:cNvSpPr>
          <p:nvPr/>
        </p:nvSpPr>
        <p:spPr>
          <a:xfrm>
            <a:off x="8801100" y="2628900"/>
            <a:ext cx="2457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34155"/>
                </a:solidFill>
                <a:latin typeface="Arial"/>
                <a:ea typeface="Arial"/>
                <a:cs typeface="Arial"/>
              </a:rPr>
              <a:t>Match submitted and</a:t>
            </a:r>
          </a:p>
          <a:p>
            <a:pPr algn="l">
              <a:defRPr sz="16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34155"/>
                </a:solidFill>
                <a:latin typeface="Arial"/>
                <a:ea typeface="Arial"/>
                <a:cs typeface="Arial"/>
              </a:rPr>
              <a:t>verified TextGrids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2500" y="3747464"/>
            <a:ext cx="3333750" cy="563221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CA02364-0D29-4F7A-9742-A966A8D8CB9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3619500" cy="876300"/>
          </a:xfrm>
          <a:prstGeom prst="roundRect">
            <a:avLst>
              <a:gd name="adj" fmla="val 10870"/>
            </a:avLst>
          </a:prstGeom>
          <a:solidFill>
            <a:srgbClr val="EFF7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914E52-FDE7-4231-B8B4-7921C1D33D9B}"/>
              </a:ext>
            </a:extLst>
          </p:cNvPr>
          <p:cNvSpPr>
            <a:spLocks noGrp="1"/>
          </p:cNvSpPr>
          <p:nvPr/>
        </p:nvSpPr>
        <p:spPr>
          <a:xfrm>
            <a:off x="4686300" y="3905250"/>
            <a:ext cx="320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ANALYSIS UNIT</a:t>
            </a:r>
          </a:p>
          <a:p>
            <a:pPr algn="ctr">
              <a:defRPr sz="135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One algorithm-derived change record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F7BAF96-3046-405A-8031-268AB16DB210}"/>
              </a:ext>
            </a:extLst>
          </p:cNvPr>
          <p:cNvSpPr>
            <a:spLocks noGrp="1"/>
          </p:cNvSpPr>
          <p:nvPr/>
        </p:nvSpPr>
        <p:spPr>
          <a:xfrm>
            <a:off x="8420100" y="3733800"/>
            <a:ext cx="2971800" cy="876300"/>
          </a:xfrm>
          <a:prstGeom prst="roundRect">
            <a:avLst>
              <a:gd name="adj" fmla="val 10870"/>
            </a:avLst>
          </a:prstGeom>
          <a:solidFill>
            <a:srgbClr val="102A4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CA12F0-4EC9-4A62-80A6-A1C9BAD1050B}"/>
              </a:ext>
            </a:extLst>
          </p:cNvPr>
          <p:cNvSpPr>
            <a:spLocks noGrp="1"/>
          </p:cNvSpPr>
          <p:nvPr/>
        </p:nvSpPr>
        <p:spPr>
          <a:xfrm>
            <a:off x="8591550" y="3905250"/>
            <a:ext cx="2647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MATCH → CLASSIFY → COUNT</a:t>
            </a:r>
          </a:p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ACTION TYPES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6FD27E-AA74-4826-8824-95E577AFD615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336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540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1,045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8338E4-498B-42E9-85BE-D1892FA20638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336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file sides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F8FA72-3257-4C10-95E6-A97FBAF06404}"/>
              </a:ext>
            </a:extLst>
          </p:cNvPr>
          <p:cNvSpPr>
            <a:spLocks noGrp="1"/>
          </p:cNvSpPr>
          <p:nvPr/>
        </p:nvSpPr>
        <p:spPr>
          <a:xfrm>
            <a:off x="4413250" y="4781550"/>
            <a:ext cx="336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540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105,005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B1283E-0545-47B7-BF3E-05583E2678E6}"/>
              </a:ext>
            </a:extLst>
          </p:cNvPr>
          <p:cNvSpPr>
            <a:spLocks noGrp="1"/>
          </p:cNvSpPr>
          <p:nvPr/>
        </p:nvSpPr>
        <p:spPr>
          <a:xfrm>
            <a:off x="4413250" y="5676900"/>
            <a:ext cx="336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derived records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06A330-EC10-4035-816B-09E4AE0A1B9A}"/>
              </a:ext>
            </a:extLst>
          </p:cNvPr>
          <p:cNvSpPr>
            <a:spLocks noGrp="1"/>
          </p:cNvSpPr>
          <p:nvPr/>
        </p:nvSpPr>
        <p:spPr>
          <a:xfrm>
            <a:off x="8140700" y="4781550"/>
            <a:ext cx="336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540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FD4372-668E-4BE7-BA89-7E4D5D69D5F9}"/>
              </a:ext>
            </a:extLst>
          </p:cNvPr>
          <p:cNvSpPr>
            <a:spLocks noGrp="1"/>
          </p:cNvSpPr>
          <p:nvPr/>
        </p:nvSpPr>
        <p:spPr>
          <a:xfrm>
            <a:off x="8140700" y="5676900"/>
            <a:ext cx="336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action types</a:t>
            </a:r>
          </a:p>
        </p:txBody>
      </p:sp>
    </p:spTree>
    <p:extLst>
      <p:ext uri="{BB962C8B-B14F-4D97-AF65-F5344CB8AC3E}">
        <p14:creationId xmlns:p14="http://schemas.microsoft.com/office/powerpoint/2010/main" val="1757357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BA9BEE44-F044-47BF-9574-E2CC5D17B8C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SIGDIAL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266204-816E-442B-B7B0-D34EE4F3B6C5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Crossed assignments identify role effects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6F36BC-9656-4AB6-92D5-B6A4D72C32C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38100"/>
          </a:xfrm>
          <a:prstGeom prst="rect">
            <a:avLst/>
          </a:prstGeom>
          <a:solidFill>
            <a:srgbClr val="6CAC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046435-0859-471F-886B-87314785F688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94A3B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A015FC-1863-46FE-B619-7A672516D3A6}"/>
              </a:ext>
            </a:extLst>
          </p:cNvPr>
          <p:cNvSpPr>
            <a:spLocks noGrp="1"/>
          </p:cNvSpPr>
          <p:nvPr/>
        </p:nvSpPr>
        <p:spPr>
          <a:xfrm>
            <a:off x="4857750" y="14859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7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Verifier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C9D506F-C711-47C0-B7EA-834EC240F2D0}"/>
              </a:ext>
            </a:extLst>
          </p:cNvPr>
          <p:cNvSpPr>
            <a:spLocks noGrp="1"/>
          </p:cNvSpPr>
          <p:nvPr/>
        </p:nvSpPr>
        <p:spPr>
          <a:xfrm>
            <a:off x="857250" y="1847850"/>
            <a:ext cx="502920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1C0252-CFEC-4EBD-B5E7-844B5CE37A07}"/>
              </a:ext>
            </a:extLst>
          </p:cNvPr>
          <p:cNvSpPr>
            <a:spLocks noGrp="1"/>
          </p:cNvSpPr>
          <p:nvPr/>
        </p:nvSpPr>
        <p:spPr>
          <a:xfrm>
            <a:off x="857250" y="1847850"/>
            <a:ext cx="5029200" cy="552450"/>
          </a:xfrm>
          <a:prstGeom prst="roundRect">
            <a:avLst>
              <a:gd name="adj" fmla="val 13793"/>
            </a:avLst>
          </a:prstGeom>
          <a:solidFill>
            <a:srgbClr val="1D355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CD2E10-0466-43C2-A79F-41CEFE5B2E55}"/>
              </a:ext>
            </a:extLst>
          </p:cNvPr>
          <p:cNvSpPr>
            <a:spLocks noGrp="1"/>
          </p:cNvSpPr>
          <p:nvPr/>
        </p:nvSpPr>
        <p:spPr>
          <a:xfrm>
            <a:off x="895350" y="19621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Annot.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88131E-CA16-4183-81B9-CA9FB9EDE6D7}"/>
              </a:ext>
            </a:extLst>
          </p:cNvPr>
          <p:cNvSpPr>
            <a:spLocks noGrp="1"/>
          </p:cNvSpPr>
          <p:nvPr/>
        </p:nvSpPr>
        <p:spPr>
          <a:xfrm>
            <a:off x="1714500" y="19621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0F0CF9-9FFE-4AB6-ADEC-BB44DEF2E25F}"/>
              </a:ext>
            </a:extLst>
          </p:cNvPr>
          <p:cNvSpPr>
            <a:spLocks noGrp="1"/>
          </p:cNvSpPr>
          <p:nvPr/>
        </p:nvSpPr>
        <p:spPr>
          <a:xfrm>
            <a:off x="2552700" y="19621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68303C-43AC-41F7-902D-C0479042355B}"/>
              </a:ext>
            </a:extLst>
          </p:cNvPr>
          <p:cNvSpPr>
            <a:spLocks noGrp="1"/>
          </p:cNvSpPr>
          <p:nvPr/>
        </p:nvSpPr>
        <p:spPr>
          <a:xfrm>
            <a:off x="3390900" y="19621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773DF0-8F49-4941-B366-849284AF843E}"/>
              </a:ext>
            </a:extLst>
          </p:cNvPr>
          <p:cNvSpPr>
            <a:spLocks noGrp="1"/>
          </p:cNvSpPr>
          <p:nvPr/>
        </p:nvSpPr>
        <p:spPr>
          <a:xfrm>
            <a:off x="4229100" y="19621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C5367E-E299-4ED3-A0C9-E341347CE5EE}"/>
              </a:ext>
            </a:extLst>
          </p:cNvPr>
          <p:cNvSpPr>
            <a:spLocks noGrp="1"/>
          </p:cNvSpPr>
          <p:nvPr/>
        </p:nvSpPr>
        <p:spPr>
          <a:xfrm>
            <a:off x="5067300" y="196215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1C0CCF-04B7-48C5-B8FA-528A34303399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838200" cy="552450"/>
          </a:xfrm>
          <a:prstGeom prst="rect">
            <a:avLst/>
          </a:prstGeom>
          <a:solidFill>
            <a:srgbClr val="EFF7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EAD060-9A4F-419F-9A91-8A86E4F25754}"/>
              </a:ext>
            </a:extLst>
          </p:cNvPr>
          <p:cNvSpPr>
            <a:spLocks noGrp="1"/>
          </p:cNvSpPr>
          <p:nvPr/>
        </p:nvSpPr>
        <p:spPr>
          <a:xfrm>
            <a:off x="895350" y="25146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B3E7DA-B0F7-4E6D-934E-6C950CA86180}"/>
              </a:ext>
            </a:extLst>
          </p:cNvPr>
          <p:cNvSpPr>
            <a:spLocks noGrp="1"/>
          </p:cNvSpPr>
          <p:nvPr/>
        </p:nvSpPr>
        <p:spPr>
          <a:xfrm>
            <a:off x="1695450" y="2400300"/>
            <a:ext cx="838200" cy="55245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8ECC7F-BED4-4B5B-8973-17332C3747EF}"/>
              </a:ext>
            </a:extLst>
          </p:cNvPr>
          <p:cNvSpPr>
            <a:spLocks noGrp="1"/>
          </p:cNvSpPr>
          <p:nvPr/>
        </p:nvSpPr>
        <p:spPr>
          <a:xfrm>
            <a:off x="1733550" y="25146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CD53C0-12C5-41F1-90BC-B5B48165BE94}"/>
              </a:ext>
            </a:extLst>
          </p:cNvPr>
          <p:cNvSpPr>
            <a:spLocks noGrp="1"/>
          </p:cNvSpPr>
          <p:nvPr/>
        </p:nvSpPr>
        <p:spPr>
          <a:xfrm>
            <a:off x="2533650" y="2400300"/>
            <a:ext cx="838200" cy="552450"/>
          </a:xfrm>
          <a:prstGeom prst="rect">
            <a:avLst/>
          </a:prstGeom>
          <a:solidFill>
            <a:srgbClr val="DCEE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D98B78-C98E-4F0E-808E-5574B12FC0A8}"/>
              </a:ext>
            </a:extLst>
          </p:cNvPr>
          <p:cNvSpPr>
            <a:spLocks noGrp="1"/>
          </p:cNvSpPr>
          <p:nvPr/>
        </p:nvSpPr>
        <p:spPr>
          <a:xfrm>
            <a:off x="2571750" y="25146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164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9F074F-46F8-4121-A39C-AAE9A31EDBE9}"/>
              </a:ext>
            </a:extLst>
          </p:cNvPr>
          <p:cNvSpPr>
            <a:spLocks noGrp="1"/>
          </p:cNvSpPr>
          <p:nvPr/>
        </p:nvSpPr>
        <p:spPr>
          <a:xfrm>
            <a:off x="3371850" y="2400300"/>
            <a:ext cx="838200" cy="552450"/>
          </a:xfrm>
          <a:prstGeom prst="rect">
            <a:avLst/>
          </a:prstGeom>
          <a:solidFill>
            <a:srgbClr val="DCEE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7893EB-4C73-4035-BF82-FD7000511705}"/>
              </a:ext>
            </a:extLst>
          </p:cNvPr>
          <p:cNvSpPr>
            <a:spLocks noGrp="1"/>
          </p:cNvSpPr>
          <p:nvPr/>
        </p:nvSpPr>
        <p:spPr>
          <a:xfrm>
            <a:off x="3409950" y="25146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EE5A6F-417F-43F5-B258-2B89D1CBE3EF}"/>
              </a:ext>
            </a:extLst>
          </p:cNvPr>
          <p:cNvSpPr>
            <a:spLocks noGrp="1"/>
          </p:cNvSpPr>
          <p:nvPr/>
        </p:nvSpPr>
        <p:spPr>
          <a:xfrm>
            <a:off x="4210050" y="2400300"/>
            <a:ext cx="838200" cy="552450"/>
          </a:xfrm>
          <a:prstGeom prst="rect">
            <a:avLst/>
          </a:prstGeom>
          <a:solidFill>
            <a:srgbClr val="DCEE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D67629-EF7B-4A3C-BDAF-846DE762C963}"/>
              </a:ext>
            </a:extLst>
          </p:cNvPr>
          <p:cNvSpPr>
            <a:spLocks noGrp="1"/>
          </p:cNvSpPr>
          <p:nvPr/>
        </p:nvSpPr>
        <p:spPr>
          <a:xfrm>
            <a:off x="4248150" y="25146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8AE719-BFA9-4D12-880D-E49962CA1C10}"/>
              </a:ext>
            </a:extLst>
          </p:cNvPr>
          <p:cNvSpPr>
            <a:spLocks noGrp="1"/>
          </p:cNvSpPr>
          <p:nvPr/>
        </p:nvSpPr>
        <p:spPr>
          <a:xfrm>
            <a:off x="5048250" y="2400300"/>
            <a:ext cx="838200" cy="552450"/>
          </a:xfrm>
          <a:prstGeom prst="rect">
            <a:avLst/>
          </a:prstGeom>
          <a:solidFill>
            <a:srgbClr val="DCEE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788BF9-DC3E-42D2-BBDD-76746479FFCD}"/>
              </a:ext>
            </a:extLst>
          </p:cNvPr>
          <p:cNvSpPr>
            <a:spLocks noGrp="1"/>
          </p:cNvSpPr>
          <p:nvPr/>
        </p:nvSpPr>
        <p:spPr>
          <a:xfrm>
            <a:off x="5086350" y="25146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7F68D9-C613-4C71-90EC-6E414F585B27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838200" cy="552450"/>
          </a:xfrm>
          <a:prstGeom prst="rect">
            <a:avLst/>
          </a:prstGeom>
          <a:solidFill>
            <a:srgbClr val="EFF7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F7E3553-715B-486B-914A-9926EA8E3802}"/>
              </a:ext>
            </a:extLst>
          </p:cNvPr>
          <p:cNvSpPr>
            <a:spLocks noGrp="1"/>
          </p:cNvSpPr>
          <p:nvPr/>
        </p:nvSpPr>
        <p:spPr>
          <a:xfrm>
            <a:off x="895350" y="3067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T2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37B3A8-4C40-48AA-B692-9C78AC0A646E}"/>
              </a:ext>
            </a:extLst>
          </p:cNvPr>
          <p:cNvSpPr>
            <a:spLocks noGrp="1"/>
          </p:cNvSpPr>
          <p:nvPr/>
        </p:nvSpPr>
        <p:spPr>
          <a:xfrm>
            <a:off x="1695450" y="2952750"/>
            <a:ext cx="838200" cy="552450"/>
          </a:xfrm>
          <a:prstGeom prst="rect">
            <a:avLst/>
          </a:prstGeom>
          <a:solidFill>
            <a:srgbClr val="DCEE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DA72F2-4917-4B6C-8929-B750D3BCE9EE}"/>
              </a:ext>
            </a:extLst>
          </p:cNvPr>
          <p:cNvSpPr>
            <a:spLocks noGrp="1"/>
          </p:cNvSpPr>
          <p:nvPr/>
        </p:nvSpPr>
        <p:spPr>
          <a:xfrm>
            <a:off x="1733550" y="3067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3B1BFB-5646-475E-A57F-40A80550D7FA}"/>
              </a:ext>
            </a:extLst>
          </p:cNvPr>
          <p:cNvSpPr>
            <a:spLocks noGrp="1"/>
          </p:cNvSpPr>
          <p:nvPr/>
        </p:nvSpPr>
        <p:spPr>
          <a:xfrm>
            <a:off x="2533650" y="2952750"/>
            <a:ext cx="838200" cy="55245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57889AE-FE2B-4ECA-AADA-1C0237F5254A}"/>
              </a:ext>
            </a:extLst>
          </p:cNvPr>
          <p:cNvSpPr>
            <a:spLocks noGrp="1"/>
          </p:cNvSpPr>
          <p:nvPr/>
        </p:nvSpPr>
        <p:spPr>
          <a:xfrm>
            <a:off x="2571750" y="3067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403D616-0FF0-463A-BD75-0894CD67DF9A}"/>
              </a:ext>
            </a:extLst>
          </p:cNvPr>
          <p:cNvSpPr>
            <a:spLocks noGrp="1"/>
          </p:cNvSpPr>
          <p:nvPr/>
        </p:nvSpPr>
        <p:spPr>
          <a:xfrm>
            <a:off x="3371850" y="2952750"/>
            <a:ext cx="838200" cy="552450"/>
          </a:xfrm>
          <a:prstGeom prst="rect">
            <a:avLst/>
          </a:prstGeom>
          <a:solidFill>
            <a:srgbClr val="DCEE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84B5547-625E-402F-A734-F10BB27E1159}"/>
              </a:ext>
            </a:extLst>
          </p:cNvPr>
          <p:cNvSpPr>
            <a:spLocks noGrp="1"/>
          </p:cNvSpPr>
          <p:nvPr/>
        </p:nvSpPr>
        <p:spPr>
          <a:xfrm>
            <a:off x="3409950" y="3067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A261923-22D5-4CEB-973F-BAD59BDA817E}"/>
              </a:ext>
            </a:extLst>
          </p:cNvPr>
          <p:cNvSpPr>
            <a:spLocks noGrp="1"/>
          </p:cNvSpPr>
          <p:nvPr/>
        </p:nvSpPr>
        <p:spPr>
          <a:xfrm>
            <a:off x="4210050" y="2952750"/>
            <a:ext cx="838200" cy="552450"/>
          </a:xfrm>
          <a:prstGeom prst="rect">
            <a:avLst/>
          </a:prstGeom>
          <a:solidFill>
            <a:srgbClr val="DCEE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ED61B8B-09D9-4D41-AF6E-B93CB5BB6A5F}"/>
              </a:ext>
            </a:extLst>
          </p:cNvPr>
          <p:cNvSpPr>
            <a:spLocks noGrp="1"/>
          </p:cNvSpPr>
          <p:nvPr/>
        </p:nvSpPr>
        <p:spPr>
          <a:xfrm>
            <a:off x="4248150" y="3067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36D35A1-240F-482A-83BE-835F8A1DA505}"/>
              </a:ext>
            </a:extLst>
          </p:cNvPr>
          <p:cNvSpPr>
            <a:spLocks noGrp="1"/>
          </p:cNvSpPr>
          <p:nvPr/>
        </p:nvSpPr>
        <p:spPr>
          <a:xfrm>
            <a:off x="5048250" y="2952750"/>
            <a:ext cx="838200" cy="552450"/>
          </a:xfrm>
          <a:prstGeom prst="rect">
            <a:avLst/>
          </a:prstGeom>
          <a:solidFill>
            <a:srgbClr val="DCEE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30122A-E2D3-474A-864E-ACCC4160AF60}"/>
              </a:ext>
            </a:extLst>
          </p:cNvPr>
          <p:cNvSpPr>
            <a:spLocks noGrp="1"/>
          </p:cNvSpPr>
          <p:nvPr/>
        </p:nvSpPr>
        <p:spPr>
          <a:xfrm>
            <a:off x="5086350" y="30670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E76A642-C25C-4783-AB48-4A0B31A3D5F4}"/>
              </a:ext>
            </a:extLst>
          </p:cNvPr>
          <p:cNvSpPr>
            <a:spLocks noGrp="1"/>
          </p:cNvSpPr>
          <p:nvPr/>
        </p:nvSpPr>
        <p:spPr>
          <a:xfrm>
            <a:off x="857250" y="3505200"/>
            <a:ext cx="838200" cy="552450"/>
          </a:xfrm>
          <a:prstGeom prst="rect">
            <a:avLst/>
          </a:prstGeom>
          <a:solidFill>
            <a:srgbClr val="EFF7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58A56E5-F7F8-48E7-8CEE-A4DDAECCE3DB}"/>
              </a:ext>
            </a:extLst>
          </p:cNvPr>
          <p:cNvSpPr>
            <a:spLocks noGrp="1"/>
          </p:cNvSpPr>
          <p:nvPr/>
        </p:nvSpPr>
        <p:spPr>
          <a:xfrm>
            <a:off x="895350" y="36195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T3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5309D7B-37DA-4860-A3F1-6B6FB142B328}"/>
              </a:ext>
            </a:extLst>
          </p:cNvPr>
          <p:cNvSpPr>
            <a:spLocks noGrp="1"/>
          </p:cNvSpPr>
          <p:nvPr/>
        </p:nvSpPr>
        <p:spPr>
          <a:xfrm>
            <a:off x="1695450" y="3505200"/>
            <a:ext cx="838200" cy="552450"/>
          </a:xfrm>
          <a:prstGeom prst="rect">
            <a:avLst/>
          </a:prstGeom>
          <a:solidFill>
            <a:srgbClr val="DCEE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1FA25A3-E203-4144-9B79-5120CA7562F1}"/>
              </a:ext>
            </a:extLst>
          </p:cNvPr>
          <p:cNvSpPr>
            <a:spLocks noGrp="1"/>
          </p:cNvSpPr>
          <p:nvPr/>
        </p:nvSpPr>
        <p:spPr>
          <a:xfrm>
            <a:off x="1733550" y="36195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0E601CF-2F59-4BC8-AFD1-82AC79B86205}"/>
              </a:ext>
            </a:extLst>
          </p:cNvPr>
          <p:cNvSpPr>
            <a:spLocks noGrp="1"/>
          </p:cNvSpPr>
          <p:nvPr/>
        </p:nvSpPr>
        <p:spPr>
          <a:xfrm>
            <a:off x="2533650" y="3505200"/>
            <a:ext cx="838200" cy="552450"/>
          </a:xfrm>
          <a:prstGeom prst="rect">
            <a:avLst/>
          </a:prstGeom>
          <a:solidFill>
            <a:srgbClr val="DCEE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2E69CC1-4310-47F7-A677-4CE042DF768B}"/>
              </a:ext>
            </a:extLst>
          </p:cNvPr>
          <p:cNvSpPr>
            <a:spLocks noGrp="1"/>
          </p:cNvSpPr>
          <p:nvPr/>
        </p:nvSpPr>
        <p:spPr>
          <a:xfrm>
            <a:off x="2571750" y="36195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EF31545-0184-4342-97FB-0BF08EAC31ED}"/>
              </a:ext>
            </a:extLst>
          </p:cNvPr>
          <p:cNvSpPr>
            <a:spLocks noGrp="1"/>
          </p:cNvSpPr>
          <p:nvPr/>
        </p:nvSpPr>
        <p:spPr>
          <a:xfrm>
            <a:off x="3371850" y="3505200"/>
            <a:ext cx="838200" cy="552450"/>
          </a:xfrm>
          <a:prstGeom prst="rect">
            <a:avLst/>
          </a:prstGeom>
          <a:solidFill>
            <a:srgbClr val="E5E7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BF4F124-B0AD-421E-963A-172E1B8D03DC}"/>
              </a:ext>
            </a:extLst>
          </p:cNvPr>
          <p:cNvSpPr>
            <a:spLocks noGrp="1"/>
          </p:cNvSpPr>
          <p:nvPr/>
        </p:nvSpPr>
        <p:spPr>
          <a:xfrm>
            <a:off x="3409950" y="36195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4221B4E-DFE9-4DF6-9126-BE867C448DB3}"/>
              </a:ext>
            </a:extLst>
          </p:cNvPr>
          <p:cNvSpPr>
            <a:spLocks noGrp="1"/>
          </p:cNvSpPr>
          <p:nvPr/>
        </p:nvSpPr>
        <p:spPr>
          <a:xfrm>
            <a:off x="4210050" y="3505200"/>
            <a:ext cx="838200" cy="552450"/>
          </a:xfrm>
          <a:prstGeom prst="rect">
            <a:avLst/>
          </a:prstGeom>
          <a:solidFill>
            <a:srgbClr val="DCEE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4E10B67-78CD-4E5A-86EC-A5E17AFDAB38}"/>
              </a:ext>
            </a:extLst>
          </p:cNvPr>
          <p:cNvSpPr>
            <a:spLocks noGrp="1"/>
          </p:cNvSpPr>
          <p:nvPr/>
        </p:nvSpPr>
        <p:spPr>
          <a:xfrm>
            <a:off x="4248150" y="36195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CFA699E-B56F-44F3-92A9-56F32AECA124}"/>
              </a:ext>
            </a:extLst>
          </p:cNvPr>
          <p:cNvSpPr>
            <a:spLocks noGrp="1"/>
          </p:cNvSpPr>
          <p:nvPr/>
        </p:nvSpPr>
        <p:spPr>
          <a:xfrm>
            <a:off x="5048250" y="3505200"/>
            <a:ext cx="838200" cy="552450"/>
          </a:xfrm>
          <a:prstGeom prst="rect">
            <a:avLst/>
          </a:prstGeom>
          <a:solidFill>
            <a:srgbClr val="DCEE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B0DE06A-E07A-4BB7-BE2D-AD6D70C61E50}"/>
              </a:ext>
            </a:extLst>
          </p:cNvPr>
          <p:cNvSpPr>
            <a:spLocks noGrp="1"/>
          </p:cNvSpPr>
          <p:nvPr/>
        </p:nvSpPr>
        <p:spPr>
          <a:xfrm>
            <a:off x="5086350" y="36195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0" name="Straight Connector 49">
            <a:extLst>
              <a:ext uri="{FF2B5EF4-FFF2-40B4-BE49-F238E27FC236}">
                <a16:creationId xmlns:a16="http://schemas.microsoft.com/office/drawing/2014/main" id="{6FD016E2-4F96-4FA9-AD1A-94C2B164CD72}"/>
              </a:ext>
            </a:extLst>
          </p:cNvPr>
          <p:cNvSpPr>
            <a:spLocks noGrp="1"/>
          </p:cNvSpPr>
          <p:nvPr/>
        </p:nvSpPr>
        <p:spPr>
          <a:xfrm>
            <a:off x="1695450" y="1847850"/>
            <a:ext cx="0" cy="22098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traight Connector 50">
            <a:extLst>
              <a:ext uri="{FF2B5EF4-FFF2-40B4-BE49-F238E27FC236}">
                <a16:creationId xmlns:a16="http://schemas.microsoft.com/office/drawing/2014/main" id="{6AD7AB03-02F7-4480-A6CD-0BC9EA3EF78D}"/>
              </a:ext>
            </a:extLst>
          </p:cNvPr>
          <p:cNvSpPr>
            <a:spLocks noGrp="1"/>
          </p:cNvSpPr>
          <p:nvPr/>
        </p:nvSpPr>
        <p:spPr>
          <a:xfrm>
            <a:off x="2533650" y="1847850"/>
            <a:ext cx="0" cy="22098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traight Connector 51">
            <a:extLst>
              <a:ext uri="{FF2B5EF4-FFF2-40B4-BE49-F238E27FC236}">
                <a16:creationId xmlns:a16="http://schemas.microsoft.com/office/drawing/2014/main" id="{A40EA724-2ED9-404D-BD32-6BF81DF768D0}"/>
              </a:ext>
            </a:extLst>
          </p:cNvPr>
          <p:cNvSpPr>
            <a:spLocks noGrp="1"/>
          </p:cNvSpPr>
          <p:nvPr/>
        </p:nvSpPr>
        <p:spPr>
          <a:xfrm>
            <a:off x="3371850" y="1847850"/>
            <a:ext cx="0" cy="22098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20B2267A-2F15-4116-AC5A-8D1384BA778A}"/>
              </a:ext>
            </a:extLst>
          </p:cNvPr>
          <p:cNvSpPr>
            <a:spLocks noGrp="1"/>
          </p:cNvSpPr>
          <p:nvPr/>
        </p:nvSpPr>
        <p:spPr>
          <a:xfrm>
            <a:off x="4210050" y="1847850"/>
            <a:ext cx="0" cy="22098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traight Connector 53">
            <a:extLst>
              <a:ext uri="{FF2B5EF4-FFF2-40B4-BE49-F238E27FC236}">
                <a16:creationId xmlns:a16="http://schemas.microsoft.com/office/drawing/2014/main" id="{35EAFFF3-2FEE-40E7-9C86-F9A8C485D408}"/>
              </a:ext>
            </a:extLst>
          </p:cNvPr>
          <p:cNvSpPr>
            <a:spLocks noGrp="1"/>
          </p:cNvSpPr>
          <p:nvPr/>
        </p:nvSpPr>
        <p:spPr>
          <a:xfrm>
            <a:off x="5048250" y="1847850"/>
            <a:ext cx="0" cy="22098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093D81BF-86AC-4040-A54F-218BFD0E7C7E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50292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traight Connector 55">
            <a:extLst>
              <a:ext uri="{FF2B5EF4-FFF2-40B4-BE49-F238E27FC236}">
                <a16:creationId xmlns:a16="http://schemas.microsoft.com/office/drawing/2014/main" id="{E472FEC5-C3F3-45B3-ACF2-FD66A0C6FEA3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50292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traight Connector 56">
            <a:extLst>
              <a:ext uri="{FF2B5EF4-FFF2-40B4-BE49-F238E27FC236}">
                <a16:creationId xmlns:a16="http://schemas.microsoft.com/office/drawing/2014/main" id="{C3B1B5F6-93D6-4E37-A4A0-13489BE38A4D}"/>
              </a:ext>
            </a:extLst>
          </p:cNvPr>
          <p:cNvSpPr>
            <a:spLocks noGrp="1"/>
          </p:cNvSpPr>
          <p:nvPr/>
        </p:nvSpPr>
        <p:spPr>
          <a:xfrm>
            <a:off x="857250" y="3505200"/>
            <a:ext cx="50292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4A3C642-AF83-473E-A381-9091EDBCB2A6}"/>
              </a:ext>
            </a:extLst>
          </p:cNvPr>
          <p:cNvSpPr>
            <a:spLocks noGrp="1"/>
          </p:cNvSpPr>
          <p:nvPr/>
        </p:nvSpPr>
        <p:spPr>
          <a:xfrm>
            <a:off x="6905625" y="20764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Every annotator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E505AD7-917F-46E6-8182-A2D07714E163}"/>
              </a:ext>
            </a:extLst>
          </p:cNvPr>
          <p:cNvSpPr>
            <a:spLocks noGrp="1"/>
          </p:cNvSpPr>
          <p:nvPr/>
        </p:nvSpPr>
        <p:spPr>
          <a:xfrm>
            <a:off x="6905625" y="2514600"/>
            <a:ext cx="4095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334155"/>
                </a:solidFill>
                <a:latin typeface="Arial"/>
                <a:ea typeface="Arial"/>
                <a:cs typeface="Arial"/>
              </a:rPr>
              <a:t>was checked by all four other team members</a:t>
            </a:r>
          </a:p>
        </p:txBody>
      </p:sp>
      <p:sp>
        <p:nvSpPr>
          <p:cNvPr id="60" name="Straight Connector 59">
            <a:extLst>
              <a:ext uri="{FF2B5EF4-FFF2-40B4-BE49-F238E27FC236}">
                <a16:creationId xmlns:a16="http://schemas.microsoft.com/office/drawing/2014/main" id="{25C59BC5-4950-4AEE-94E9-4E3D0E1C66FD}"/>
              </a:ext>
            </a:extLst>
          </p:cNvPr>
          <p:cNvSpPr>
            <a:spLocks noGrp="1"/>
          </p:cNvSpPr>
          <p:nvPr/>
        </p:nvSpPr>
        <p:spPr>
          <a:xfrm>
            <a:off x="6905625" y="3371850"/>
            <a:ext cx="409575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80D955D-3ED3-4EED-9F6F-050C813C3973}"/>
              </a:ext>
            </a:extLst>
          </p:cNvPr>
          <p:cNvSpPr>
            <a:spLocks noGrp="1"/>
          </p:cNvSpPr>
          <p:nvPr/>
        </p:nvSpPr>
        <p:spPr>
          <a:xfrm>
            <a:off x="6905625" y="3638550"/>
            <a:ext cx="1619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619"/>
          </a:bodyPr>
          <a:lstStyle/>
          <a:p>
            <a:pPr algn="l">
              <a:defRPr sz="525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537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3FE2DFA-24BB-4532-BFA5-7948465EA094}"/>
              </a:ext>
            </a:extLst>
          </p:cNvPr>
          <p:cNvSpPr>
            <a:spLocks noGrp="1"/>
          </p:cNvSpPr>
          <p:nvPr/>
        </p:nvSpPr>
        <p:spPr>
          <a:xfrm>
            <a:off x="8591550" y="37338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094"/>
          </a:bodyPr>
          <a:lstStyle/>
          <a:p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complete cases</a:t>
            </a:r>
          </a:p>
          <a:p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with both roles identified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F0679B1D-1C5D-4119-99E2-5466631DAD41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10115550" cy="800100"/>
          </a:xfrm>
          <a:prstGeom prst="roundRect">
            <a:avLst>
              <a:gd name="adj" fmla="val 14286"/>
            </a:avLst>
          </a:prstGeom>
          <a:solidFill>
            <a:srgbClr val="EFF7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DA17F1D-6AF6-49A3-B96B-043AA54A0B52}"/>
              </a:ext>
            </a:extLst>
          </p:cNvPr>
          <p:cNvSpPr>
            <a:spLocks noGrp="1"/>
          </p:cNvSpPr>
          <p:nvPr/>
        </p:nvSpPr>
        <p:spPr>
          <a:xfrm>
            <a:off x="1143000" y="5076825"/>
            <a:ext cx="956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32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Off-diagonal overlap separates annotator and verifier effects.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30F7B62-016F-4A4F-9127-97E1018A581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endParaRPr sz="900">
              <a:solidFill>
                <a:srgbClr val="94A3B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217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30921EA-C3C9-4A2D-A389-8A72765A72A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SIGDIAL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3B7B70-482C-46F3-975F-97AE5FCAB83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model asks two symmetric questions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F47E23-19D0-470E-A736-B43E4512055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38100"/>
          </a:xfrm>
          <a:prstGeom prst="rect">
            <a:avLst/>
          </a:prstGeom>
          <a:solidFill>
            <a:srgbClr val="6CAC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98FE1C-3908-49A9-AA94-D732D08F541F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94A3B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05C54E-0BBA-4D9F-868B-7C08F87CDA58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Outcome used in the paper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228138D-AFA3-42B0-B38F-31463AA553D1}"/>
              </a:ext>
            </a:extLst>
          </p:cNvPr>
          <p:cNvSpPr>
            <a:spLocks noGrp="1"/>
          </p:cNvSpPr>
          <p:nvPr/>
        </p:nvSpPr>
        <p:spPr>
          <a:xfrm>
            <a:off x="742950" y="1924050"/>
            <a:ext cx="10706100" cy="838200"/>
          </a:xfrm>
          <a:prstGeom prst="roundRect">
            <a:avLst>
              <a:gd name="adj" fmla="val 13636"/>
            </a:avLst>
          </a:prstGeom>
          <a:solidFill>
            <a:srgbClr val="EFF7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003646-940D-4776-9560-1A3F93545F5B}"/>
              </a:ext>
            </a:extLst>
          </p:cNvPr>
          <p:cNvSpPr>
            <a:spLocks noGrp="1"/>
          </p:cNvSpPr>
          <p:nvPr/>
        </p:nvSpPr>
        <p:spPr>
          <a:xfrm>
            <a:off x="1047750" y="2133600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60"/>
          </a:bodyPr>
          <a:lstStyle/>
          <a:p>
            <a:pPr algn="ctr">
              <a:defRPr sz="217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normalized correction rate  =  derived change records  /  non-silence intervals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B0F4CE4-A4FF-4C79-AF0D-779F7D5E8374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5010150" cy="161925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28575">
            <a:solidFill>
              <a:srgbClr val="6CA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4F90517-F128-43F1-8767-DF8F0C1FAF87}"/>
              </a:ext>
            </a:extLst>
          </p:cNvPr>
          <p:cNvSpPr>
            <a:spLocks noGrp="1"/>
          </p:cNvSpPr>
          <p:nvPr/>
        </p:nvSpPr>
        <p:spPr>
          <a:xfrm>
            <a:off x="6438900" y="3181350"/>
            <a:ext cx="5010150" cy="161925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2857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9D0C28-5297-41E7-9DF5-7773411AFA12}"/>
              </a:ext>
            </a:extLst>
          </p:cNvPr>
          <p:cNvSpPr>
            <a:spLocks noGrp="1"/>
          </p:cNvSpPr>
          <p:nvPr/>
        </p:nvSpPr>
        <p:spPr>
          <a:xfrm>
            <a:off x="1028700" y="3476625"/>
            <a:ext cx="4438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40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Do annotators differ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60474A-B7B1-451E-A220-33CB5A1EEC39}"/>
              </a:ext>
            </a:extLst>
          </p:cNvPr>
          <p:cNvSpPr>
            <a:spLocks noGrp="1"/>
          </p:cNvSpPr>
          <p:nvPr/>
        </p:nvSpPr>
        <p:spPr>
          <a:xfrm>
            <a:off x="1028700" y="3943350"/>
            <a:ext cx="4438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34155"/>
                </a:solidFill>
                <a:latin typeface="Arial"/>
                <a:ea typeface="Arial"/>
                <a:cs typeface="Arial"/>
              </a:rPr>
              <a:t>after controlling for</a:t>
            </a:r>
          </a:p>
          <a:p>
            <a:pPr algn="ctr">
              <a:defRPr sz="18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34155"/>
                </a:solidFill>
                <a:latin typeface="Arial"/>
                <a:ea typeface="Arial"/>
                <a:cs typeface="Arial"/>
              </a:rPr>
              <a:t>who verified the file?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E9FB62-85B8-4963-8FD2-A669775B00F5}"/>
              </a:ext>
            </a:extLst>
          </p:cNvPr>
          <p:cNvSpPr>
            <a:spLocks noGrp="1"/>
          </p:cNvSpPr>
          <p:nvPr/>
        </p:nvSpPr>
        <p:spPr>
          <a:xfrm>
            <a:off x="6724650" y="3476625"/>
            <a:ext cx="4438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40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Do verifiers differ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CB2DF2-85FF-46FC-95D4-04AFC2DC3B12}"/>
              </a:ext>
            </a:extLst>
          </p:cNvPr>
          <p:cNvSpPr>
            <a:spLocks noGrp="1"/>
          </p:cNvSpPr>
          <p:nvPr/>
        </p:nvSpPr>
        <p:spPr>
          <a:xfrm>
            <a:off x="6724650" y="3943350"/>
            <a:ext cx="4438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34155"/>
                </a:solidFill>
                <a:latin typeface="Arial"/>
                <a:ea typeface="Arial"/>
                <a:cs typeface="Arial"/>
              </a:rPr>
              <a:t>after controlling for</a:t>
            </a:r>
          </a:p>
          <a:p>
            <a:pPr algn="ctr">
              <a:defRPr sz="18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34155"/>
                </a:solidFill>
                <a:latin typeface="Arial"/>
                <a:ea typeface="Arial"/>
                <a:cs typeface="Arial"/>
              </a:rPr>
              <a:t>who annotated the file?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72CC61-1ED0-44A0-A4F2-023E9774AC1C}"/>
              </a:ext>
            </a:extLst>
          </p:cNvPr>
          <p:cNvSpPr>
            <a:spLocks noGrp="1"/>
          </p:cNvSpPr>
          <p:nvPr/>
        </p:nvSpPr>
        <p:spPr>
          <a:xfrm>
            <a:off x="838200" y="52197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1640AD-2220-48F7-8B28-A97AA6798522}"/>
              </a:ext>
            </a:extLst>
          </p:cNvPr>
          <p:cNvSpPr>
            <a:spLocks noGrp="1"/>
          </p:cNvSpPr>
          <p:nvPr/>
        </p:nvSpPr>
        <p:spPr>
          <a:xfrm>
            <a:off x="2095500" y="52006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43"/>
                </a:solidFill>
                <a:latin typeface="Arial"/>
                <a:ea typeface="Arial"/>
                <a:cs typeface="Arial"/>
              </a:rPr>
              <a:t>personal batch index · verifier batch index · log(file length)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A7CEEE-0C07-49FE-8BD4-4B53CEE751D0}"/>
              </a:ext>
            </a:extLst>
          </p:cNvPr>
          <p:cNvSpPr>
            <a:spLocks noGrp="1"/>
          </p:cNvSpPr>
          <p:nvPr/>
        </p:nvSpPr>
        <p:spPr>
          <a:xfrm>
            <a:off x="838200" y="5619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Random effects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128770-171D-47B1-86F8-DDA56BDE5E76}"/>
              </a:ext>
            </a:extLst>
          </p:cNvPr>
          <p:cNvSpPr>
            <a:spLocks noGrp="1"/>
          </p:cNvSpPr>
          <p:nvPr/>
        </p:nvSpPr>
        <p:spPr>
          <a:xfrm>
            <a:off x="2381250" y="5600700"/>
            <a:ext cx="828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43"/>
                </a:solidFill>
                <a:latin typeface="Arial"/>
                <a:ea typeface="Arial"/>
                <a:cs typeface="Arial"/>
              </a:rPr>
              <a:t>annotator · verifier · batch within annotator · file residual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36FBBB-0EF6-47D1-85B9-7406F3723890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990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endParaRPr sz="900">
              <a:solidFill>
                <a:srgbClr val="94A3B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8986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41E167A-C2E2-44CB-B661-2C588884249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SIGDIAL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D77DE8-60DA-4245-81B8-A62A4E7B7D98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Residual dominates; verifier variance = 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947C86-B44D-45FB-AE1D-38AAD05833C6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38100"/>
          </a:xfrm>
          <a:prstGeom prst="rect">
            <a:avLst/>
          </a:prstGeom>
          <a:solidFill>
            <a:srgbClr val="6CAC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EEC826-1386-4731-A139-ADD1C7A29F84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94A3B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750EBD-BB22-4080-BEE8-50FE02210AB1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336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540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10.8%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604992-4798-4A46-A096-23079B3D0C7D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336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Annotator identity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0F06B9-1FE7-4FD5-AA0A-516C00E0A6D7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321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4748B"/>
                </a:solidFill>
                <a:latin typeface="Arial"/>
                <a:ea typeface="Arial"/>
                <a:cs typeface="Arial"/>
              </a:rPr>
              <a:t>modest component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5A1C26-8D3E-47D3-B0B0-312451F2F263}"/>
              </a:ext>
            </a:extLst>
          </p:cNvPr>
          <p:cNvSpPr>
            <a:spLocks noGrp="1"/>
          </p:cNvSpPr>
          <p:nvPr/>
        </p:nvSpPr>
        <p:spPr>
          <a:xfrm>
            <a:off x="4413250" y="1771650"/>
            <a:ext cx="336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540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0.0%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DE3B17-28C5-4694-BA22-CB802160FD83}"/>
              </a:ext>
            </a:extLst>
          </p:cNvPr>
          <p:cNvSpPr>
            <a:spLocks noGrp="1"/>
          </p:cNvSpPr>
          <p:nvPr/>
        </p:nvSpPr>
        <p:spPr>
          <a:xfrm>
            <a:off x="4413250" y="2667000"/>
            <a:ext cx="336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Verifier identity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9C9EE-A003-43E5-8DEE-604CE94EA338}"/>
              </a:ext>
            </a:extLst>
          </p:cNvPr>
          <p:cNvSpPr>
            <a:spLocks noGrp="1"/>
          </p:cNvSpPr>
          <p:nvPr/>
        </p:nvSpPr>
        <p:spPr>
          <a:xfrm>
            <a:off x="4489450" y="3238500"/>
            <a:ext cx="321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4748B"/>
                </a:solidFill>
                <a:latin typeface="Arial"/>
                <a:ea typeface="Arial"/>
                <a:cs typeface="Arial"/>
              </a:rPr>
              <a:t>singular-fit boundary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12DFF5-8F53-46C4-8BA5-AD5C35A2D71C}"/>
              </a:ext>
            </a:extLst>
          </p:cNvPr>
          <p:cNvSpPr>
            <a:spLocks noGrp="1"/>
          </p:cNvSpPr>
          <p:nvPr/>
        </p:nvSpPr>
        <p:spPr>
          <a:xfrm>
            <a:off x="8140700" y="1771650"/>
            <a:ext cx="336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54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80.6%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7C6B1-9803-4F65-AD50-2A72F87A7C73}"/>
              </a:ext>
            </a:extLst>
          </p:cNvPr>
          <p:cNvSpPr>
            <a:spLocks noGrp="1"/>
          </p:cNvSpPr>
          <p:nvPr/>
        </p:nvSpPr>
        <p:spPr>
          <a:xfrm>
            <a:off x="8140700" y="2667000"/>
            <a:ext cx="336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File-level residual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D9032A-826E-4B48-BF93-001FBED5E297}"/>
              </a:ext>
            </a:extLst>
          </p:cNvPr>
          <p:cNvSpPr>
            <a:spLocks noGrp="1"/>
          </p:cNvSpPr>
          <p:nvPr/>
        </p:nvSpPr>
        <p:spPr>
          <a:xfrm>
            <a:off x="8216900" y="3238500"/>
            <a:ext cx="321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4748B"/>
                </a:solidFill>
                <a:latin typeface="Arial"/>
                <a:ea typeface="Arial"/>
                <a:cs typeface="Arial"/>
              </a:rPr>
              <a:t>difficulty + measurement noise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FACD1B-1535-4273-9BD9-4FF0A24171E1}"/>
              </a:ext>
            </a:extLst>
          </p:cNvPr>
          <p:cNvSpPr>
            <a:spLocks noGrp="1"/>
          </p:cNvSpPr>
          <p:nvPr/>
        </p:nvSpPr>
        <p:spPr>
          <a:xfrm>
            <a:off x="819150" y="419100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32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8.7%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EAA0E8-C76D-4E51-9779-6937CF8C2DEC}"/>
              </a:ext>
            </a:extLst>
          </p:cNvPr>
          <p:cNvSpPr>
            <a:spLocks noGrp="1"/>
          </p:cNvSpPr>
          <p:nvPr/>
        </p:nvSpPr>
        <p:spPr>
          <a:xfrm>
            <a:off x="2209800" y="42481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4748B"/>
                </a:solidFill>
                <a:latin typeface="Arial"/>
                <a:ea typeface="Arial"/>
                <a:cs typeface="Arial"/>
              </a:rPr>
              <a:t>batch within annotator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33D5B4-7CBB-4416-B08B-3F13B425AFF0}"/>
              </a:ext>
            </a:extLst>
          </p:cNvPr>
          <p:cNvSpPr>
            <a:spLocks noGrp="1"/>
          </p:cNvSpPr>
          <p:nvPr/>
        </p:nvSpPr>
        <p:spPr>
          <a:xfrm>
            <a:off x="819150" y="4781550"/>
            <a:ext cx="1136211" cy="590550"/>
          </a:xfrm>
          <a:prstGeom prst="rect">
            <a:avLst/>
          </a:prstGeom>
          <a:solidFill>
            <a:srgbClr val="3F8FC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992AAD-9404-4071-B40B-0B5AF106E552}"/>
              </a:ext>
            </a:extLst>
          </p:cNvPr>
          <p:cNvSpPr>
            <a:spLocks noGrp="1"/>
          </p:cNvSpPr>
          <p:nvPr/>
        </p:nvSpPr>
        <p:spPr>
          <a:xfrm>
            <a:off x="1955361" y="4781550"/>
            <a:ext cx="47625" cy="590550"/>
          </a:xfrm>
          <a:prstGeom prst="rect">
            <a:avLst/>
          </a:prstGeom>
          <a:solidFill>
            <a:srgbClr val="1D355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5B5CA6-2E43-430C-8DD0-4D165A84C96A}"/>
              </a:ext>
            </a:extLst>
          </p:cNvPr>
          <p:cNvSpPr>
            <a:spLocks noGrp="1"/>
          </p:cNvSpPr>
          <p:nvPr/>
        </p:nvSpPr>
        <p:spPr>
          <a:xfrm>
            <a:off x="2002986" y="4781550"/>
            <a:ext cx="916378" cy="590550"/>
          </a:xfrm>
          <a:prstGeom prst="rect">
            <a:avLst/>
          </a:prstGeom>
          <a:solidFill>
            <a:srgbClr val="9CCB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84D8DA-EBEA-4126-9A17-441EB2884FFB}"/>
              </a:ext>
            </a:extLst>
          </p:cNvPr>
          <p:cNvSpPr>
            <a:spLocks noGrp="1"/>
          </p:cNvSpPr>
          <p:nvPr/>
        </p:nvSpPr>
        <p:spPr>
          <a:xfrm>
            <a:off x="2919364" y="4781550"/>
            <a:ext cx="8501111" cy="590550"/>
          </a:xfrm>
          <a:prstGeom prst="rect">
            <a:avLst/>
          </a:prstGeom>
          <a:solidFill>
            <a:srgbClr val="B8C4C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91EDCA-40E8-4EE1-ADF3-22379FFCB91A}"/>
              </a:ext>
            </a:extLst>
          </p:cNvPr>
          <p:cNvSpPr>
            <a:spLocks noGrp="1"/>
          </p:cNvSpPr>
          <p:nvPr/>
        </p:nvSpPr>
        <p:spPr>
          <a:xfrm>
            <a:off x="819150" y="54864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10.8 annotator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D6232B-130C-4E89-B5CA-2AE07B5D0185}"/>
              </a:ext>
            </a:extLst>
          </p:cNvPr>
          <p:cNvSpPr>
            <a:spLocks noGrp="1"/>
          </p:cNvSpPr>
          <p:nvPr/>
        </p:nvSpPr>
        <p:spPr>
          <a:xfrm>
            <a:off x="2286000" y="548640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8.7 batch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016453-8932-41AE-8020-13F97255C29F}"/>
              </a:ext>
            </a:extLst>
          </p:cNvPr>
          <p:cNvSpPr>
            <a:spLocks noGrp="1"/>
          </p:cNvSpPr>
          <p:nvPr/>
        </p:nvSpPr>
        <p:spPr>
          <a:xfrm>
            <a:off x="8763000" y="54864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80.6 file residual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0BB2871-B569-493F-B3F3-BAB34EAA87EE}"/>
              </a:ext>
            </a:extLst>
          </p:cNvPr>
          <p:cNvSpPr>
            <a:spLocks noGrp="1"/>
          </p:cNvSpPr>
          <p:nvPr/>
        </p:nvSpPr>
        <p:spPr>
          <a:xfrm>
            <a:off x="6934200" y="5791200"/>
            <a:ext cx="4438650" cy="400050"/>
          </a:xfrm>
          <a:prstGeom prst="roundRect">
            <a:avLst>
              <a:gd name="adj" fmla="val 19048"/>
            </a:avLst>
          </a:prstGeom>
          <a:solidFill>
            <a:srgbClr val="EFF7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C525BA-B367-4052-89A5-3FE04703F0F5}"/>
              </a:ext>
            </a:extLst>
          </p:cNvPr>
          <p:cNvSpPr>
            <a:spLocks noGrp="1"/>
          </p:cNvSpPr>
          <p:nvPr/>
        </p:nvSpPr>
        <p:spPr>
          <a:xfrm>
            <a:off x="7086600" y="5895975"/>
            <a:ext cx="413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No detectable verifier effect ≠ no verification value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3C1A6B-2CE4-4FD4-82AA-31125AAEDD07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38100"/>
          </a:xfrm>
          <a:prstGeom prst="rect">
            <a:avLst/>
          </a:prstGeom>
          <a:solidFill>
            <a:srgbClr val="6CAC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64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9715BC4-B584-4EA9-91D4-5A5043AB9B0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SIGDIAL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E99ADD-B687-43A0-ACBC-878263AF7C9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Experience does not explain the remaining variation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EC93B4-FDB9-4429-83B4-5DACFF1DD096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38100"/>
          </a:xfrm>
          <a:prstGeom prst="rect">
            <a:avLst/>
          </a:prstGeom>
          <a:solidFill>
            <a:srgbClr val="6CAC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531ACA-89CC-4490-A69B-3FB0453B4D88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94A3B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FD7DD5F-BD79-4E8F-95A4-AD6D2366B513}"/>
              </a:ext>
            </a:extLst>
          </p:cNvPr>
          <p:cNvSpPr>
            <a:spLocks noGrp="1"/>
          </p:cNvSpPr>
          <p:nvPr/>
        </p:nvSpPr>
        <p:spPr>
          <a:xfrm>
            <a:off x="647700" y="1581150"/>
            <a:ext cx="7962900" cy="405765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9150" y="2057623"/>
            <a:ext cx="7620000" cy="310470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0E3D4A-C8CF-49A6-851C-962C78A58393}"/>
              </a:ext>
            </a:extLst>
          </p:cNvPr>
          <p:cNvSpPr>
            <a:spLocks noGrp="1"/>
          </p:cNvSpPr>
          <p:nvPr/>
        </p:nvSpPr>
        <p:spPr>
          <a:xfrm>
            <a:off x="9010650" y="18097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Annotator batch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2B5316-6191-4AEB-9B03-866B99EA8318}"/>
              </a:ext>
            </a:extLst>
          </p:cNvPr>
          <p:cNvSpPr>
            <a:spLocks noGrp="1"/>
          </p:cNvSpPr>
          <p:nvPr/>
        </p:nvSpPr>
        <p:spPr>
          <a:xfrm>
            <a:off x="9010650" y="21526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20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p = 0.60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7E15B9-D5BA-4E5A-93F3-ED346BE2D1CA}"/>
              </a:ext>
            </a:extLst>
          </p:cNvPr>
          <p:cNvSpPr>
            <a:spLocks noGrp="1"/>
          </p:cNvSpPr>
          <p:nvPr/>
        </p:nvSpPr>
        <p:spPr>
          <a:xfrm>
            <a:off x="9010650" y="31432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Verifier batch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C7F7EA-07A8-4D12-9634-CBC20CE8C529}"/>
              </a:ext>
            </a:extLst>
          </p:cNvPr>
          <p:cNvSpPr>
            <a:spLocks noGrp="1"/>
          </p:cNvSpPr>
          <p:nvPr/>
        </p:nvSpPr>
        <p:spPr>
          <a:xfrm>
            <a:off x="9010650" y="34861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20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p = 0.06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CA41011-568A-45F4-BB2D-6F051F988C46}"/>
              </a:ext>
            </a:extLst>
          </p:cNvPr>
          <p:cNvSpPr>
            <a:spLocks noGrp="1"/>
          </p:cNvSpPr>
          <p:nvPr/>
        </p:nvSpPr>
        <p:spPr>
          <a:xfrm>
            <a:off x="8858250" y="4705350"/>
            <a:ext cx="2724150" cy="933450"/>
          </a:xfrm>
          <a:prstGeom prst="roundRect">
            <a:avLst>
              <a:gd name="adj" fmla="val 12245"/>
            </a:avLst>
          </a:prstGeom>
          <a:solidFill>
            <a:srgbClr val="EFF7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6E7530-5FE9-4B0F-97FD-5F9C2F7E1790}"/>
              </a:ext>
            </a:extLst>
          </p:cNvPr>
          <p:cNvSpPr>
            <a:spLocks noGrp="1"/>
          </p:cNvSpPr>
          <p:nvPr/>
        </p:nvSpPr>
        <p:spPr>
          <a:xfrm>
            <a:off x="9048750" y="4924425"/>
            <a:ext cx="2343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33"/>
          </a:bodyPr>
          <a:lstStyle/>
          <a:p>
            <a:pPr algn="ctr">
              <a:defRPr sz="187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No coherent</a:t>
            </a:r>
          </a:p>
          <a:p>
            <a:pPr algn="ctr">
              <a:defRPr sz="187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downward drift</a:t>
            </a:r>
          </a:p>
        </p:txBody>
      </p:sp>
    </p:spTree>
    <p:extLst>
      <p:ext uri="{BB962C8B-B14F-4D97-AF65-F5344CB8AC3E}">
        <p14:creationId xmlns:p14="http://schemas.microsoft.com/office/powerpoint/2010/main" val="100761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78D9E27-B095-4C65-A2CF-6E9A53D9B49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SIGDIAL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CBE293-1018-4F50-8470-4C6E6AF76831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Estimated verifier variance = 0 in all seven fits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E00548-6425-444D-9F2A-E75C0273666C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38100"/>
          </a:xfrm>
          <a:prstGeom prst="rect">
            <a:avLst/>
          </a:prstGeom>
          <a:solidFill>
            <a:srgbClr val="6CAC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16A321-CC81-4859-90D1-39FBDF955EEC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94A3B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E38A184-E918-4ACD-A9E1-1A62B42CFCCC}"/>
              </a:ext>
            </a:extLst>
          </p:cNvPr>
          <p:cNvSpPr>
            <a:spLocks noGrp="1"/>
          </p:cNvSpPr>
          <p:nvPr/>
        </p:nvSpPr>
        <p:spPr>
          <a:xfrm>
            <a:off x="952500" y="3143250"/>
            <a:ext cx="7277100" cy="0"/>
          </a:xfrm>
          <a:prstGeom prst="line">
            <a:avLst/>
          </a:prstGeom>
          <a:noFill/>
          <a:ln w="285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589690-7CF0-421A-A234-A4019DA883BA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533400" cy="533400"/>
          </a:xfrm>
          <a:prstGeom prst="ellipse">
            <a:avLst/>
          </a:prstGeom>
          <a:solidFill>
            <a:srgbClr val="1D355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2CAE93-DF17-45B7-B732-9A3708EC022A}"/>
              </a:ext>
            </a:extLst>
          </p:cNvPr>
          <p:cNvSpPr>
            <a:spLocks noGrp="1"/>
          </p:cNvSpPr>
          <p:nvPr/>
        </p:nvSpPr>
        <p:spPr>
          <a:xfrm>
            <a:off x="1066800" y="29908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726B50-6BFF-486C-932D-BB69619DB27F}"/>
              </a:ext>
            </a:extLst>
          </p:cNvPr>
          <p:cNvSpPr>
            <a:spLocks noGrp="1"/>
          </p:cNvSpPr>
          <p:nvPr/>
        </p:nvSpPr>
        <p:spPr>
          <a:xfrm>
            <a:off x="800100" y="3543300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4286993-32AF-4E3A-B4C8-EFAAAD039A3D}"/>
              </a:ext>
            </a:extLst>
          </p:cNvPr>
          <p:cNvSpPr>
            <a:spLocks noGrp="1"/>
          </p:cNvSpPr>
          <p:nvPr/>
        </p:nvSpPr>
        <p:spPr>
          <a:xfrm>
            <a:off x="2171700" y="2876550"/>
            <a:ext cx="533400" cy="533400"/>
          </a:xfrm>
          <a:prstGeom prst="ellipse">
            <a:avLst/>
          </a:prstGeom>
          <a:solidFill>
            <a:srgbClr val="6CAC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D4BC19-851B-46F5-AADC-EA168C16EF6E}"/>
              </a:ext>
            </a:extLst>
          </p:cNvPr>
          <p:cNvSpPr>
            <a:spLocks noGrp="1"/>
          </p:cNvSpPr>
          <p:nvPr/>
        </p:nvSpPr>
        <p:spPr>
          <a:xfrm>
            <a:off x="2171700" y="29908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9C2D49-772F-479C-9E33-C78A24FE8EE1}"/>
              </a:ext>
            </a:extLst>
          </p:cNvPr>
          <p:cNvSpPr>
            <a:spLocks noGrp="1"/>
          </p:cNvSpPr>
          <p:nvPr/>
        </p:nvSpPr>
        <p:spPr>
          <a:xfrm>
            <a:off x="1905000" y="3543300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−T1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155DF7-20DE-4F00-9991-8047CDC495A3}"/>
              </a:ext>
            </a:extLst>
          </p:cNvPr>
          <p:cNvSpPr>
            <a:spLocks noGrp="1"/>
          </p:cNvSpPr>
          <p:nvPr/>
        </p:nvSpPr>
        <p:spPr>
          <a:xfrm>
            <a:off x="3276600" y="2876550"/>
            <a:ext cx="533400" cy="533400"/>
          </a:xfrm>
          <a:prstGeom prst="ellipse">
            <a:avLst/>
          </a:prstGeom>
          <a:solidFill>
            <a:srgbClr val="6CAC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E572EE-72C3-4F13-8AAD-A15A8290CD14}"/>
              </a:ext>
            </a:extLst>
          </p:cNvPr>
          <p:cNvSpPr>
            <a:spLocks noGrp="1"/>
          </p:cNvSpPr>
          <p:nvPr/>
        </p:nvSpPr>
        <p:spPr>
          <a:xfrm>
            <a:off x="3276600" y="29908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36C87A-20BE-4CE8-83D4-2F34752441C0}"/>
              </a:ext>
            </a:extLst>
          </p:cNvPr>
          <p:cNvSpPr>
            <a:spLocks noGrp="1"/>
          </p:cNvSpPr>
          <p:nvPr/>
        </p:nvSpPr>
        <p:spPr>
          <a:xfrm>
            <a:off x="3009900" y="3543300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−T2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F49BD5A-83EB-4566-8ECC-122FF44DDD6D}"/>
              </a:ext>
            </a:extLst>
          </p:cNvPr>
          <p:cNvSpPr>
            <a:spLocks noGrp="1"/>
          </p:cNvSpPr>
          <p:nvPr/>
        </p:nvSpPr>
        <p:spPr>
          <a:xfrm>
            <a:off x="4381500" y="2876550"/>
            <a:ext cx="533400" cy="533400"/>
          </a:xfrm>
          <a:prstGeom prst="ellipse">
            <a:avLst/>
          </a:prstGeom>
          <a:solidFill>
            <a:srgbClr val="6CAC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370C7D-3B4D-46EB-93B1-BBE731A9B5B3}"/>
              </a:ext>
            </a:extLst>
          </p:cNvPr>
          <p:cNvSpPr>
            <a:spLocks noGrp="1"/>
          </p:cNvSpPr>
          <p:nvPr/>
        </p:nvSpPr>
        <p:spPr>
          <a:xfrm>
            <a:off x="4381500" y="29908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62A9BA-2986-4B14-873B-AB027A9639CB}"/>
              </a:ext>
            </a:extLst>
          </p:cNvPr>
          <p:cNvSpPr>
            <a:spLocks noGrp="1"/>
          </p:cNvSpPr>
          <p:nvPr/>
        </p:nvSpPr>
        <p:spPr>
          <a:xfrm>
            <a:off x="4114800" y="3543300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−T3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40BBD7E-A02C-4624-BB11-FBD2F4C59319}"/>
              </a:ext>
            </a:extLst>
          </p:cNvPr>
          <p:cNvSpPr>
            <a:spLocks noGrp="1"/>
          </p:cNvSpPr>
          <p:nvPr/>
        </p:nvSpPr>
        <p:spPr>
          <a:xfrm>
            <a:off x="5486400" y="2876550"/>
            <a:ext cx="533400" cy="533400"/>
          </a:xfrm>
          <a:prstGeom prst="ellipse">
            <a:avLst/>
          </a:prstGeom>
          <a:solidFill>
            <a:srgbClr val="6CAC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80B583-F8E9-4C43-AC5E-A4087F489E03}"/>
              </a:ext>
            </a:extLst>
          </p:cNvPr>
          <p:cNvSpPr>
            <a:spLocks noGrp="1"/>
          </p:cNvSpPr>
          <p:nvPr/>
        </p:nvSpPr>
        <p:spPr>
          <a:xfrm>
            <a:off x="5486400" y="29908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9A93BD-06D0-4AD4-949E-A6D5E1E768CE}"/>
              </a:ext>
            </a:extLst>
          </p:cNvPr>
          <p:cNvSpPr>
            <a:spLocks noGrp="1"/>
          </p:cNvSpPr>
          <p:nvPr/>
        </p:nvSpPr>
        <p:spPr>
          <a:xfrm>
            <a:off x="5219700" y="3543300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−T4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67EFB00-F3C6-4456-867F-66C10D26A59B}"/>
              </a:ext>
            </a:extLst>
          </p:cNvPr>
          <p:cNvSpPr>
            <a:spLocks noGrp="1"/>
          </p:cNvSpPr>
          <p:nvPr/>
        </p:nvSpPr>
        <p:spPr>
          <a:xfrm>
            <a:off x="6591300" y="2876550"/>
            <a:ext cx="533400" cy="533400"/>
          </a:xfrm>
          <a:prstGeom prst="ellipse">
            <a:avLst/>
          </a:prstGeom>
          <a:solidFill>
            <a:srgbClr val="6CAC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44FEC3-10F7-4C7B-A446-3E402B5E8AF3}"/>
              </a:ext>
            </a:extLst>
          </p:cNvPr>
          <p:cNvSpPr>
            <a:spLocks noGrp="1"/>
          </p:cNvSpPr>
          <p:nvPr/>
        </p:nvSpPr>
        <p:spPr>
          <a:xfrm>
            <a:off x="6591300" y="29908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58148B-7B07-4F66-9E33-CA5212D67941}"/>
              </a:ext>
            </a:extLst>
          </p:cNvPr>
          <p:cNvSpPr>
            <a:spLocks noGrp="1"/>
          </p:cNvSpPr>
          <p:nvPr/>
        </p:nvSpPr>
        <p:spPr>
          <a:xfrm>
            <a:off x="6324600" y="3543300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−T5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11D3560-84E9-4583-93DC-B44044F77026}"/>
              </a:ext>
            </a:extLst>
          </p:cNvPr>
          <p:cNvSpPr>
            <a:spLocks noGrp="1"/>
          </p:cNvSpPr>
          <p:nvPr/>
        </p:nvSpPr>
        <p:spPr>
          <a:xfrm>
            <a:off x="7696200" y="2876550"/>
            <a:ext cx="533400" cy="533400"/>
          </a:xfrm>
          <a:prstGeom prst="ellipse">
            <a:avLst/>
          </a:prstGeom>
          <a:solidFill>
            <a:srgbClr val="1D355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25C74E-F419-4D84-BB8C-3DC091E71567}"/>
              </a:ext>
            </a:extLst>
          </p:cNvPr>
          <p:cNvSpPr>
            <a:spLocks noGrp="1"/>
          </p:cNvSpPr>
          <p:nvPr/>
        </p:nvSpPr>
        <p:spPr>
          <a:xfrm>
            <a:off x="7696200" y="29908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82EF82-4C84-47F6-B7DB-2F261F0BA2CB}"/>
              </a:ext>
            </a:extLst>
          </p:cNvPr>
          <p:cNvSpPr>
            <a:spLocks noGrp="1"/>
          </p:cNvSpPr>
          <p:nvPr/>
        </p:nvSpPr>
        <p:spPr>
          <a:xfrm>
            <a:off x="7429500" y="3543300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Raw count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103D87-EF83-4963-9241-0027B49165CA}"/>
              </a:ext>
            </a:extLst>
          </p:cNvPr>
          <p:cNvSpPr>
            <a:spLocks noGrp="1"/>
          </p:cNvSpPr>
          <p:nvPr/>
        </p:nvSpPr>
        <p:spPr>
          <a:xfrm>
            <a:off x="990600" y="2000250"/>
            <a:ext cx="7467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92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σ²ᵥ = 0 in all seven fits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4BDC1F3-11C5-441B-A88C-455178334043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2609850" cy="2190750"/>
          </a:xfrm>
          <a:prstGeom prst="roundRect">
            <a:avLst>
              <a:gd name="adj" fmla="val 6087"/>
            </a:avLst>
          </a:prstGeom>
          <a:solidFill>
            <a:srgbClr val="F4F7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2469F7-BDEF-45ED-8315-FB54EF0684B2}"/>
              </a:ext>
            </a:extLst>
          </p:cNvPr>
          <p:cNvSpPr>
            <a:spLocks noGrp="1"/>
          </p:cNvSpPr>
          <p:nvPr/>
        </p:nvSpPr>
        <p:spPr>
          <a:xfrm>
            <a:off x="9201150" y="2076450"/>
            <a:ext cx="2076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02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Power limit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A7BD58-20C6-4A46-AF36-A554A4A9E7EE}"/>
              </a:ext>
            </a:extLst>
          </p:cNvPr>
          <p:cNvSpPr>
            <a:spLocks noGrp="1"/>
          </p:cNvSpPr>
          <p:nvPr/>
        </p:nvSpPr>
        <p:spPr>
          <a:xfrm>
            <a:off x="9201150" y="2647950"/>
            <a:ext cx="20764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72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34155"/>
                </a:solidFill>
                <a:latin typeface="Arial"/>
                <a:ea typeface="Arial"/>
                <a:cs typeface="Arial"/>
              </a:rPr>
              <a:t>5 verifiers</a:t>
            </a:r>
          </a:p>
          <a:p>
            <a:pPr algn="ctr">
              <a:defRPr sz="172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34155"/>
                </a:solidFill>
                <a:latin typeface="Arial"/>
                <a:ea typeface="Arial"/>
                <a:cs typeface="Arial"/>
              </a:rPr>
              <a:t>537 complete cases</a:t>
            </a:r>
          </a:p>
          <a:p>
            <a:pPr algn="ctr">
              <a:defRPr sz="172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34155"/>
                </a:solidFill>
                <a:latin typeface="Arial"/>
                <a:ea typeface="Arial"/>
                <a:cs typeface="Arial"/>
              </a:rPr>
              <a:t>Small effects may remain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8F0B0DE-89EF-4ECB-95B8-D85F3D6B3208}"/>
              </a:ext>
            </a:extLst>
          </p:cNvPr>
          <p:cNvSpPr>
            <a:spLocks noGrp="1"/>
          </p:cNvSpPr>
          <p:nvPr/>
        </p:nvSpPr>
        <p:spPr>
          <a:xfrm>
            <a:off x="933450" y="4705350"/>
            <a:ext cx="10610850" cy="895350"/>
          </a:xfrm>
          <a:prstGeom prst="roundRect">
            <a:avLst>
              <a:gd name="adj" fmla="val 12766"/>
            </a:avLst>
          </a:prstGeom>
          <a:solidFill>
            <a:srgbClr val="EFF7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603ECC-F661-4546-BD71-545657FA165B}"/>
              </a:ext>
            </a:extLst>
          </p:cNvPr>
          <p:cNvSpPr>
            <a:spLocks noGrp="1"/>
          </p:cNvSpPr>
          <p:nvPr/>
        </p:nvSpPr>
        <p:spPr>
          <a:xfrm>
            <a:off x="1238250" y="4943475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No detectable effect  ≠  identical verifiers</a:t>
            </a:r>
          </a:p>
        </p:txBody>
      </p:sp>
    </p:spTree>
    <p:extLst>
      <p:ext uri="{BB962C8B-B14F-4D97-AF65-F5344CB8AC3E}">
        <p14:creationId xmlns:p14="http://schemas.microsoft.com/office/powerpoint/2010/main" val="649223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A57740F-BB1F-4AB9-AF0B-FD7C605C3AF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SIGDIAL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F80AAD-3077-43BA-AEED-51CF73941D7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Most reconstructed changes involve boundary placement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11EACA-6874-4E4C-BB35-67816598B364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38100"/>
          </a:xfrm>
          <a:prstGeom prst="rect">
            <a:avLst/>
          </a:prstGeom>
          <a:solidFill>
            <a:srgbClr val="6CAC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A4288B-A952-4763-B328-22B6905BE72F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94A3B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7F2A16-8223-4699-940E-39588A64F894}"/>
              </a:ext>
            </a:extLst>
          </p:cNvPr>
          <p:cNvSpPr>
            <a:spLocks noGrp="1"/>
          </p:cNvSpPr>
          <p:nvPr/>
        </p:nvSpPr>
        <p:spPr>
          <a:xfrm>
            <a:off x="762000" y="1657350"/>
            <a:ext cx="523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Share of 105,005 derived change records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244933-2129-4419-BBC2-B11B7C5EC5B8}"/>
              </a:ext>
            </a:extLst>
          </p:cNvPr>
          <p:cNvSpPr>
            <a:spLocks noGrp="1"/>
          </p:cNvSpPr>
          <p:nvPr/>
        </p:nvSpPr>
        <p:spPr>
          <a:xfrm>
            <a:off x="762000" y="2362200"/>
            <a:ext cx="6240780" cy="800100"/>
          </a:xfrm>
          <a:prstGeom prst="rect">
            <a:avLst/>
          </a:prstGeom>
          <a:solidFill>
            <a:srgbClr val="1D355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07F68D-1A25-45ED-A543-57E63B19BF6D}"/>
              </a:ext>
            </a:extLst>
          </p:cNvPr>
          <p:cNvSpPr>
            <a:spLocks noGrp="1"/>
          </p:cNvSpPr>
          <p:nvPr/>
        </p:nvSpPr>
        <p:spPr>
          <a:xfrm>
            <a:off x="781050" y="2628900"/>
            <a:ext cx="62026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58.5%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EFAC80-06CD-4F24-BA8B-9A91E2D8DFB2}"/>
              </a:ext>
            </a:extLst>
          </p:cNvPr>
          <p:cNvSpPr>
            <a:spLocks noGrp="1"/>
          </p:cNvSpPr>
          <p:nvPr/>
        </p:nvSpPr>
        <p:spPr>
          <a:xfrm>
            <a:off x="7002780" y="2362200"/>
            <a:ext cx="2784348" cy="800100"/>
          </a:xfrm>
          <a:prstGeom prst="rect">
            <a:avLst/>
          </a:prstGeom>
          <a:solidFill>
            <a:srgbClr val="3F8FC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CD34D2-94EB-406F-BE96-A09E59252CE9}"/>
              </a:ext>
            </a:extLst>
          </p:cNvPr>
          <p:cNvSpPr>
            <a:spLocks noGrp="1"/>
          </p:cNvSpPr>
          <p:nvPr/>
        </p:nvSpPr>
        <p:spPr>
          <a:xfrm>
            <a:off x="7021830" y="2628900"/>
            <a:ext cx="274624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26.1%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5861EB-2376-4ADE-B37B-553094ECCDE5}"/>
              </a:ext>
            </a:extLst>
          </p:cNvPr>
          <p:cNvSpPr>
            <a:spLocks noGrp="1"/>
          </p:cNvSpPr>
          <p:nvPr/>
        </p:nvSpPr>
        <p:spPr>
          <a:xfrm>
            <a:off x="9787128" y="2362200"/>
            <a:ext cx="1002792" cy="800100"/>
          </a:xfrm>
          <a:prstGeom prst="rect">
            <a:avLst/>
          </a:prstGeom>
          <a:solidFill>
            <a:srgbClr val="9CCB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975A88-C937-45B2-93E2-A080262BDCC1}"/>
              </a:ext>
            </a:extLst>
          </p:cNvPr>
          <p:cNvSpPr>
            <a:spLocks noGrp="1"/>
          </p:cNvSpPr>
          <p:nvPr/>
        </p:nvSpPr>
        <p:spPr>
          <a:xfrm>
            <a:off x="9806178" y="2628900"/>
            <a:ext cx="96469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9.4%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C6FE8B-C633-43C7-A002-1FF87439418C}"/>
              </a:ext>
            </a:extLst>
          </p:cNvPr>
          <p:cNvSpPr>
            <a:spLocks noGrp="1"/>
          </p:cNvSpPr>
          <p:nvPr/>
        </p:nvSpPr>
        <p:spPr>
          <a:xfrm>
            <a:off x="10789920" y="2362200"/>
            <a:ext cx="320040" cy="800100"/>
          </a:xfrm>
          <a:prstGeom prst="rect">
            <a:avLst/>
          </a:prstGeom>
          <a:solidFill>
            <a:srgbClr val="D98C5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4DED54-2E01-4811-B57E-A2E819A5B965}"/>
              </a:ext>
            </a:extLst>
          </p:cNvPr>
          <p:cNvSpPr>
            <a:spLocks noGrp="1"/>
          </p:cNvSpPr>
          <p:nvPr/>
        </p:nvSpPr>
        <p:spPr>
          <a:xfrm>
            <a:off x="11109960" y="2362200"/>
            <a:ext cx="309372" cy="800100"/>
          </a:xfrm>
          <a:prstGeom prst="rect">
            <a:avLst/>
          </a:prstGeom>
          <a:solidFill>
            <a:srgbClr val="94A3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DFD062-1AC7-4F57-8C55-16F6BE1AD8E3}"/>
              </a:ext>
            </a:extLst>
          </p:cNvPr>
          <p:cNvSpPr>
            <a:spLocks noGrp="1"/>
          </p:cNvSpPr>
          <p:nvPr/>
        </p:nvSpPr>
        <p:spPr>
          <a:xfrm>
            <a:off x="2381250" y="32956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334155"/>
                </a:solidFill>
                <a:latin typeface="Arial"/>
                <a:ea typeface="Arial"/>
                <a:cs typeface="Arial"/>
              </a:rPr>
              <a:t>BOUNDARY_SHIFT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037588-1EA2-430B-A18F-D5AF7647A217}"/>
              </a:ext>
            </a:extLst>
          </p:cNvPr>
          <p:cNvSpPr>
            <a:spLocks noGrp="1"/>
          </p:cNvSpPr>
          <p:nvPr/>
        </p:nvSpPr>
        <p:spPr>
          <a:xfrm>
            <a:off x="7753350" y="32956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334155"/>
                </a:solidFill>
                <a:latin typeface="Arial"/>
                <a:ea typeface="Arial"/>
                <a:cs typeface="Arial"/>
              </a:rPr>
              <a:t>INSERT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05EABA-CC8F-4EF2-8900-B800293A8D87}"/>
              </a:ext>
            </a:extLst>
          </p:cNvPr>
          <p:cNvSpPr>
            <a:spLocks noGrp="1"/>
          </p:cNvSpPr>
          <p:nvPr/>
        </p:nvSpPr>
        <p:spPr>
          <a:xfrm>
            <a:off x="9906000" y="3295650"/>
            <a:ext cx="99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334155"/>
                </a:solidFill>
                <a:latin typeface="Arial"/>
                <a:ea typeface="Arial"/>
                <a:cs typeface="Arial"/>
              </a:rPr>
              <a:t>DELETE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B09B8-E51A-433F-9887-03576B926AEB}"/>
              </a:ext>
            </a:extLst>
          </p:cNvPr>
          <p:cNvSpPr>
            <a:spLocks noGrp="1"/>
          </p:cNvSpPr>
          <p:nvPr/>
        </p:nvSpPr>
        <p:spPr>
          <a:xfrm>
            <a:off x="9277350" y="3619500"/>
            <a:ext cx="114300" cy="114300"/>
          </a:xfrm>
          <a:prstGeom prst="rect">
            <a:avLst/>
          </a:prstGeom>
          <a:solidFill>
            <a:srgbClr val="D98C5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290AA5-9768-4CE3-BE97-71DC2F61C722}"/>
              </a:ext>
            </a:extLst>
          </p:cNvPr>
          <p:cNvSpPr>
            <a:spLocks noGrp="1"/>
          </p:cNvSpPr>
          <p:nvPr/>
        </p:nvSpPr>
        <p:spPr>
          <a:xfrm>
            <a:off x="9448800" y="356235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334155"/>
                </a:solidFill>
                <a:latin typeface="Arial"/>
                <a:ea typeface="Arial"/>
                <a:cs typeface="Arial"/>
              </a:rPr>
              <a:t>DA_CHANGE 3.0%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4E61C5-B6C0-40F7-A92C-671722330722}"/>
              </a:ext>
            </a:extLst>
          </p:cNvPr>
          <p:cNvSpPr>
            <a:spLocks noGrp="1"/>
          </p:cNvSpPr>
          <p:nvPr/>
        </p:nvSpPr>
        <p:spPr>
          <a:xfrm>
            <a:off x="10687050" y="3619500"/>
            <a:ext cx="114300" cy="114300"/>
          </a:xfrm>
          <a:prstGeom prst="rect">
            <a:avLst/>
          </a:prstGeom>
          <a:solidFill>
            <a:srgbClr val="94A3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32C7BB-E2E4-4075-9B05-EFA2D9133669}"/>
              </a:ext>
            </a:extLst>
          </p:cNvPr>
          <p:cNvSpPr>
            <a:spLocks noGrp="1"/>
          </p:cNvSpPr>
          <p:nvPr/>
        </p:nvSpPr>
        <p:spPr>
          <a:xfrm>
            <a:off x="10858500" y="35623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334155"/>
                </a:solidFill>
                <a:latin typeface="Arial"/>
                <a:ea typeface="Arial"/>
                <a:cs typeface="Arial"/>
              </a:rPr>
              <a:t>MODIFY 2.9%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F38F43-142D-4D61-AC85-4C85DDB58FBB}"/>
              </a:ext>
            </a:extLst>
          </p:cNvPr>
          <p:cNvSpPr>
            <a:spLocks noGrp="1"/>
          </p:cNvSpPr>
          <p:nvPr/>
        </p:nvSpPr>
        <p:spPr>
          <a:xfrm>
            <a:off x="838200" y="3981450"/>
            <a:ext cx="2381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39"/>
          </a:bodyPr>
          <a:lstStyle/>
          <a:p>
            <a:pPr algn="l">
              <a:defRPr sz="510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58.5%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3E3C3E-AAD2-449C-BB78-B3FC2221DAE5}"/>
              </a:ext>
            </a:extLst>
          </p:cNvPr>
          <p:cNvSpPr>
            <a:spLocks noGrp="1"/>
          </p:cNvSpPr>
          <p:nvPr/>
        </p:nvSpPr>
        <p:spPr>
          <a:xfrm>
            <a:off x="3181350" y="4095750"/>
            <a:ext cx="266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audio-anchored</a:t>
            </a:r>
          </a:p>
          <a:p>
            <a:pPr algn="l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boundary shifts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65B3C00D-9B41-415A-BD84-174840983496}"/>
              </a:ext>
            </a:extLst>
          </p:cNvPr>
          <p:cNvSpPr>
            <a:spLocks noGrp="1"/>
          </p:cNvSpPr>
          <p:nvPr/>
        </p:nvSpPr>
        <p:spPr>
          <a:xfrm>
            <a:off x="6267450" y="3943350"/>
            <a:ext cx="0" cy="104775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C9360D-6EB8-41A1-BBBF-57301D0EBA6D}"/>
              </a:ext>
            </a:extLst>
          </p:cNvPr>
          <p:cNvSpPr>
            <a:spLocks noGrp="1"/>
          </p:cNvSpPr>
          <p:nvPr/>
        </p:nvSpPr>
        <p:spPr>
          <a:xfrm>
            <a:off x="6800850" y="3981450"/>
            <a:ext cx="2095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39"/>
          </a:bodyPr>
          <a:lstStyle/>
          <a:p>
            <a:pPr algn="l">
              <a:defRPr sz="5100" b="1">
                <a:solidFill>
                  <a:srgbClr val="D98C5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D98C5F"/>
                </a:solidFill>
                <a:latin typeface="Arial"/>
                <a:ea typeface="Arial"/>
                <a:cs typeface="Arial"/>
              </a:rPr>
              <a:t>3.0%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569A98-D078-4669-8D95-A25FF12620A3}"/>
              </a:ext>
            </a:extLst>
          </p:cNvPr>
          <p:cNvSpPr>
            <a:spLocks noGrp="1"/>
          </p:cNvSpPr>
          <p:nvPr/>
        </p:nvSpPr>
        <p:spPr>
          <a:xfrm>
            <a:off x="8705850" y="4095750"/>
            <a:ext cx="266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pure dialogue-act</a:t>
            </a:r>
          </a:p>
          <a:p>
            <a:pPr algn="l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label changes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7494327-3732-48F8-BEE2-41D196F5C36D}"/>
              </a:ext>
            </a:extLst>
          </p:cNvPr>
          <p:cNvSpPr>
            <a:spLocks noGrp="1"/>
          </p:cNvSpPr>
          <p:nvPr/>
        </p:nvSpPr>
        <p:spPr>
          <a:xfrm>
            <a:off x="762000" y="5314950"/>
            <a:ext cx="10668000" cy="590550"/>
          </a:xfrm>
          <a:prstGeom prst="roundRect">
            <a:avLst>
              <a:gd name="adj" fmla="val 16129"/>
            </a:avLst>
          </a:prstGeom>
          <a:solidFill>
            <a:srgbClr val="EFF7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8EC9AB0-8913-4D75-BD49-FBEBEFBCA210}"/>
              </a:ext>
            </a:extLst>
          </p:cNvPr>
          <p:cNvSpPr>
            <a:spLocks noGrp="1"/>
          </p:cNvSpPr>
          <p:nvPr/>
        </p:nvSpPr>
        <p:spPr>
          <a:xfrm>
            <a:off x="1047750" y="5476875"/>
            <a:ext cx="1009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Boundary-shift records are audio-anchored, not pure label judgments.</a:t>
            </a:r>
          </a:p>
        </p:txBody>
      </p:sp>
    </p:spTree>
    <p:extLst>
      <p:ext uri="{BB962C8B-B14F-4D97-AF65-F5344CB8AC3E}">
        <p14:creationId xmlns:p14="http://schemas.microsoft.com/office/powerpoint/2010/main" val="575145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39FB1E0-B569-4ED6-B7E2-64857E0140C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SIGDIAL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D88120-1383-4845-90A3-DA3310AB751B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Audio anchors boundaries; label shares vary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F6C9F5-2062-4EDC-AF2D-FB50D3368D3C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38100"/>
          </a:xfrm>
          <a:prstGeom prst="rect">
            <a:avLst/>
          </a:prstGeom>
          <a:solidFill>
            <a:srgbClr val="6CAC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ECAD95-2FEF-4429-9CD7-AF1DF36D8688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94A3B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7350555-A551-4227-A9FF-B35096B17973}"/>
              </a:ext>
            </a:extLst>
          </p:cNvPr>
          <p:cNvSpPr>
            <a:spLocks noGrp="1"/>
          </p:cNvSpPr>
          <p:nvPr/>
        </p:nvSpPr>
        <p:spPr>
          <a:xfrm>
            <a:off x="647700" y="1600200"/>
            <a:ext cx="5619750" cy="3429000"/>
          </a:xfrm>
          <a:prstGeom prst="roundRect">
            <a:avLst>
              <a:gd name="adj" fmla="val 3889"/>
            </a:avLst>
          </a:prstGeom>
          <a:solidFill>
            <a:srgbClr val="F4F7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rcRect l="4705" r="4705"/>
          <a:stretch>
            <a:fillRect/>
          </a:stretch>
        </p:blipFill>
        <p:spPr>
          <a:xfrm>
            <a:off x="781050" y="1733550"/>
            <a:ext cx="5353050" cy="3162300"/>
          </a:xfrm>
          <a:prstGeom prst="roundRect">
            <a:avLst>
              <a:gd name="adj" fmla="val 3614"/>
            </a:avLst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AA958CB-C7DC-4C1C-BD72-F1D762079CF1}"/>
              </a:ext>
            </a:extLst>
          </p:cNvPr>
          <p:cNvSpPr>
            <a:spLocks noGrp="1"/>
          </p:cNvSpPr>
          <p:nvPr/>
        </p:nvSpPr>
        <p:spPr>
          <a:xfrm>
            <a:off x="819150" y="5162550"/>
            <a:ext cx="5276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40"/>
          </a:bodyPr>
          <a:lstStyle/>
          <a:p>
            <a:pPr algn="ctr">
              <a:defRPr sz="180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Audio constrains where speech begins and ends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D71599-4ACA-49FE-A39D-FE054AE35B05}"/>
              </a:ext>
            </a:extLst>
          </p:cNvPr>
          <p:cNvSpPr>
            <a:spLocks noGrp="1"/>
          </p:cNvSpPr>
          <p:nvPr/>
        </p:nvSpPr>
        <p:spPr>
          <a:xfrm>
            <a:off x="6781800" y="16954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495"/>
          </a:bodyPr>
          <a:lstStyle/>
          <a:p>
            <a:pPr algn="l">
              <a:defRPr sz="210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Semantic choices leave room to diverge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210FCB-89DB-4E73-9686-59238DA8C973}"/>
              </a:ext>
            </a:extLst>
          </p:cNvPr>
          <p:cNvSpPr>
            <a:spLocks noGrp="1"/>
          </p:cNvSpPr>
          <p:nvPr/>
        </p:nvSpPr>
        <p:spPr>
          <a:xfrm>
            <a:off x="6896100" y="2247900"/>
            <a:ext cx="200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defRPr sz="3300" b="1">
                <a:solidFill>
                  <a:srgbClr val="3F8FC1"/>
                </a:solidFill>
                <a:latin typeface="Aptos Mono"/>
                <a:ea typeface="Aptos Mono"/>
                <a:cs typeface="Aptos Mono"/>
              </a:defRPr>
            </a:pPr>
            <a:r>
              <a:rPr sz="3300" b="1">
                <a:solidFill>
                  <a:srgbClr val="3F8FC1"/>
                </a:solidFill>
                <a:latin typeface="Aptos Mono"/>
                <a:ea typeface="Aptos Mono"/>
                <a:cs typeface="Aptos Mono"/>
              </a:rPr>
              <a:t>sd  ↔</a:t>
            </a:r>
            <a:r>
              <a:rPr lang="zh-CN" altLang="en-US" sz="3300" b="1">
                <a:solidFill>
                  <a:srgbClr val="3F8FC1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3300" b="1">
                <a:solidFill>
                  <a:srgbClr val="3F8FC1"/>
                </a:solidFill>
                <a:latin typeface="Aptos Mono"/>
                <a:ea typeface="Aptos Mono"/>
                <a:cs typeface="Aptos Mono"/>
              </a:rPr>
              <a:t>sv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59B95B-5271-4BDA-85A9-BC5E24F9D51A}"/>
              </a:ext>
            </a:extLst>
          </p:cNvPr>
          <p:cNvSpPr>
            <a:spLocks noGrp="1"/>
          </p:cNvSpPr>
          <p:nvPr/>
        </p:nvSpPr>
        <p:spPr>
          <a:xfrm>
            <a:off x="8991600" y="224790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D98C5F"/>
                </a:solidFill>
                <a:latin typeface="Aptos Mono"/>
                <a:ea typeface="Aptos Mono"/>
                <a:cs typeface="Aptos Mono"/>
              </a:defRPr>
            </a:pPr>
            <a:r>
              <a:rPr sz="2850" b="1">
                <a:solidFill>
                  <a:srgbClr val="D98C5F"/>
                </a:solidFill>
                <a:latin typeface="Aptos Mono"/>
                <a:ea typeface="Aptos Mono"/>
                <a:cs typeface="Aptos Mono"/>
              </a:rPr>
              <a:t>b  /  aa  /  ny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8B7FF6-A4A5-4B02-A986-A3987029146A}"/>
              </a:ext>
            </a:extLst>
          </p:cNvPr>
          <p:cNvSpPr>
            <a:spLocks noGrp="1"/>
          </p:cNvSpPr>
          <p:nvPr/>
        </p:nvSpPr>
        <p:spPr>
          <a:xfrm>
            <a:off x="6781800" y="31051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Semantic-edit share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A5061-531A-4005-B9AE-34BB7A00EAD5}"/>
              </a:ext>
            </a:extLst>
          </p:cNvPr>
          <p:cNvSpPr>
            <a:spLocks noGrp="1"/>
          </p:cNvSpPr>
          <p:nvPr/>
        </p:nvSpPr>
        <p:spPr>
          <a:xfrm>
            <a:off x="6800850" y="3657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D5F4F26-1D2F-4D5D-AF09-7550677B5851}"/>
              </a:ext>
            </a:extLst>
          </p:cNvPr>
          <p:cNvSpPr>
            <a:spLocks noGrp="1"/>
          </p:cNvSpPr>
          <p:nvPr/>
        </p:nvSpPr>
        <p:spPr>
          <a:xfrm>
            <a:off x="7353300" y="3562350"/>
            <a:ext cx="3390900" cy="381000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C78F7D1-8654-4A0F-950C-F6D6FEBDF38D}"/>
              </a:ext>
            </a:extLst>
          </p:cNvPr>
          <p:cNvSpPr>
            <a:spLocks noGrp="1"/>
          </p:cNvSpPr>
          <p:nvPr/>
        </p:nvSpPr>
        <p:spPr>
          <a:xfrm>
            <a:off x="7353300" y="3562350"/>
            <a:ext cx="215785" cy="381000"/>
          </a:xfrm>
          <a:prstGeom prst="roundRect">
            <a:avLst>
              <a:gd name="adj" fmla="val 35313"/>
            </a:avLst>
          </a:prstGeom>
          <a:solidFill>
            <a:srgbClr val="9CCB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A9CF11-8770-4E70-A75B-6675D001B99D}"/>
              </a:ext>
            </a:extLst>
          </p:cNvPr>
          <p:cNvSpPr>
            <a:spLocks noGrp="1"/>
          </p:cNvSpPr>
          <p:nvPr/>
        </p:nvSpPr>
        <p:spPr>
          <a:xfrm>
            <a:off x="10839450" y="363855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5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1.4%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15CEE4-D804-4046-8042-B4125F02B4C8}"/>
              </a:ext>
            </a:extLst>
          </p:cNvPr>
          <p:cNvSpPr>
            <a:spLocks noGrp="1"/>
          </p:cNvSpPr>
          <p:nvPr/>
        </p:nvSpPr>
        <p:spPr>
          <a:xfrm>
            <a:off x="6800850" y="43434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T2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D764038-1072-45AC-957C-46D0E8C5D12A}"/>
              </a:ext>
            </a:extLst>
          </p:cNvPr>
          <p:cNvSpPr>
            <a:spLocks noGrp="1"/>
          </p:cNvSpPr>
          <p:nvPr/>
        </p:nvSpPr>
        <p:spPr>
          <a:xfrm>
            <a:off x="7353300" y="4248150"/>
            <a:ext cx="3390900" cy="381000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83534C9-40AF-480A-857B-8FD1B7275CCF}"/>
              </a:ext>
            </a:extLst>
          </p:cNvPr>
          <p:cNvSpPr>
            <a:spLocks noGrp="1"/>
          </p:cNvSpPr>
          <p:nvPr/>
        </p:nvSpPr>
        <p:spPr>
          <a:xfrm>
            <a:off x="7353300" y="4248150"/>
            <a:ext cx="431569" cy="381000"/>
          </a:xfrm>
          <a:prstGeom prst="roundRect">
            <a:avLst>
              <a:gd name="adj" fmla="val 20000"/>
            </a:avLst>
          </a:prstGeom>
          <a:solidFill>
            <a:srgbClr val="9CCB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561D5B-28B3-4D2C-A37B-77C7F426251D}"/>
              </a:ext>
            </a:extLst>
          </p:cNvPr>
          <p:cNvSpPr>
            <a:spLocks noGrp="1"/>
          </p:cNvSpPr>
          <p:nvPr/>
        </p:nvSpPr>
        <p:spPr>
          <a:xfrm>
            <a:off x="10839450" y="432435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5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2.8%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8170EF-1192-4085-B4C5-467D6D21C731}"/>
              </a:ext>
            </a:extLst>
          </p:cNvPr>
          <p:cNvSpPr>
            <a:spLocks noGrp="1"/>
          </p:cNvSpPr>
          <p:nvPr/>
        </p:nvSpPr>
        <p:spPr>
          <a:xfrm>
            <a:off x="6800850" y="50292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T3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9FD0A47-7ECF-46A7-8084-1159C0997107}"/>
              </a:ext>
            </a:extLst>
          </p:cNvPr>
          <p:cNvSpPr>
            <a:spLocks noGrp="1"/>
          </p:cNvSpPr>
          <p:nvPr/>
        </p:nvSpPr>
        <p:spPr>
          <a:xfrm>
            <a:off x="7353300" y="4933950"/>
            <a:ext cx="3390900" cy="381000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79C25DD-7771-4DF7-9EE3-26AB171360EB}"/>
              </a:ext>
            </a:extLst>
          </p:cNvPr>
          <p:cNvSpPr>
            <a:spLocks noGrp="1"/>
          </p:cNvSpPr>
          <p:nvPr/>
        </p:nvSpPr>
        <p:spPr>
          <a:xfrm>
            <a:off x="7353300" y="4933950"/>
            <a:ext cx="3128876" cy="381000"/>
          </a:xfrm>
          <a:prstGeom prst="roundRect">
            <a:avLst>
              <a:gd name="adj" fmla="val 20000"/>
            </a:avLst>
          </a:prstGeom>
          <a:solidFill>
            <a:srgbClr val="1D355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48CE70-AB42-4A0A-88D4-8A4E3D39D86A}"/>
              </a:ext>
            </a:extLst>
          </p:cNvPr>
          <p:cNvSpPr>
            <a:spLocks noGrp="1"/>
          </p:cNvSpPr>
          <p:nvPr/>
        </p:nvSpPr>
        <p:spPr>
          <a:xfrm>
            <a:off x="10839450" y="501015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50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20.3%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7F5C53-E226-49EB-AB3D-EC4FC69F8FBF}"/>
              </a:ext>
            </a:extLst>
          </p:cNvPr>
          <p:cNvSpPr>
            <a:spLocks noGrp="1"/>
          </p:cNvSpPr>
          <p:nvPr/>
        </p:nvSpPr>
        <p:spPr>
          <a:xfrm>
            <a:off x="6800850" y="5695950"/>
            <a:ext cx="466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T3: 12.8% DA_CHANGE + 7.5% MODIFY</a:t>
            </a:r>
          </a:p>
        </p:txBody>
      </p:sp>
    </p:spTree>
    <p:extLst>
      <p:ext uri="{BB962C8B-B14F-4D97-AF65-F5344CB8AC3E}">
        <p14:creationId xmlns:p14="http://schemas.microsoft.com/office/powerpoint/2010/main" val="773711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0DB2AED-ECCF-4837-B4AC-DA3C1F8C628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SIGDIAL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377232-F08E-48CA-838E-E4E14B5219FB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Version differences are not always annotator errors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F0D1FD-AD7E-4EE2-A6A2-CE2F37E375EA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38100"/>
          </a:xfrm>
          <a:prstGeom prst="rect">
            <a:avLst/>
          </a:prstGeom>
          <a:solidFill>
            <a:srgbClr val="6CAC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7EE3AB-123F-4077-AD66-AE0B637F0829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94A3B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EEE5B06-76C6-40F8-A508-795C45F2510C}"/>
              </a:ext>
            </a:extLst>
          </p:cNvPr>
          <p:cNvSpPr>
            <a:spLocks noGrp="1"/>
          </p:cNvSpPr>
          <p:nvPr/>
        </p:nvSpPr>
        <p:spPr>
          <a:xfrm>
            <a:off x="914400" y="1714500"/>
            <a:ext cx="2724150" cy="95250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23B46B7-0E28-473D-9325-69E4F4B7A42B}"/>
              </a:ext>
            </a:extLst>
          </p:cNvPr>
          <p:cNvSpPr>
            <a:spLocks noGrp="1"/>
          </p:cNvSpPr>
          <p:nvPr/>
        </p:nvSpPr>
        <p:spPr>
          <a:xfrm>
            <a:off x="4495800" y="1714500"/>
            <a:ext cx="2724150" cy="95250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4224A7-CAA4-4355-86CE-081945EC08ED}"/>
              </a:ext>
            </a:extLst>
          </p:cNvPr>
          <p:cNvSpPr>
            <a:spLocks noGrp="1"/>
          </p:cNvSpPr>
          <p:nvPr/>
        </p:nvSpPr>
        <p:spPr>
          <a:xfrm>
            <a:off x="8077200" y="1714500"/>
            <a:ext cx="2724150" cy="95250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37" name="Straight Arrow Connector 36"/>
          <p:cNvCxnSpPr>
            <a:stCxn id="5" idx="3"/>
            <a:endCxn id="6" idx="1"/>
          </p:cNvCxnSpPr>
          <p:nvPr/>
        </p:nvCxnSpPr>
        <p:spPr>
          <a:xfrm>
            <a:off x="3638550" y="2190750"/>
            <a:ext cx="857250" cy="0"/>
          </a:xfrm>
          <a:prstGeom prst="straightConnector1">
            <a:avLst/>
          </a:prstGeom>
          <a:ln w="28575">
            <a:solidFill>
              <a:srgbClr val="3F8FC1"/>
            </a:solidFill>
            <a:prstDash val="solid"/>
            <a:tailEnd type="triangle" w="sm" len="sm"/>
          </a:ln>
        </p:spPr>
      </p:cxnSp>
      <p:cxnSp>
        <p:nvCxnSpPr>
          <p:cNvPr id="38" name="Straight Arrow Connector 37"/>
          <p:cNvCxnSpPr>
            <a:stCxn id="6" idx="3"/>
            <a:endCxn id="7" idx="1"/>
          </p:cNvCxnSpPr>
          <p:nvPr/>
        </p:nvCxnSpPr>
        <p:spPr>
          <a:xfrm>
            <a:off x="7219950" y="2190750"/>
            <a:ext cx="857250" cy="0"/>
          </a:xfrm>
          <a:prstGeom prst="straightConnector1">
            <a:avLst/>
          </a:prstGeom>
          <a:ln w="28575">
            <a:solidFill>
              <a:srgbClr val="3F8FC1"/>
            </a:solidFill>
            <a:prstDash val="solid"/>
            <a:tailEnd type="triangle" w="sm" len="sm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D6A1B69-2BF2-4F92-BDD9-05C532649929}"/>
              </a:ext>
            </a:extLst>
          </p:cNvPr>
          <p:cNvSpPr>
            <a:spLocks noGrp="1"/>
          </p:cNvSpPr>
          <p:nvPr/>
        </p:nvSpPr>
        <p:spPr>
          <a:xfrm>
            <a:off x="1104900" y="1885950"/>
            <a:ext cx="2343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17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Original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0087FC-DB96-49E3-AD4C-47D56BD635FF}"/>
              </a:ext>
            </a:extLst>
          </p:cNvPr>
          <p:cNvSpPr>
            <a:spLocks noGrp="1"/>
          </p:cNvSpPr>
          <p:nvPr/>
        </p:nvSpPr>
        <p:spPr>
          <a:xfrm>
            <a:off x="1104900" y="2305050"/>
            <a:ext cx="2343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4748B"/>
                </a:solidFill>
                <a:latin typeface="Arial"/>
                <a:ea typeface="Arial"/>
                <a:cs typeface="Arial"/>
              </a:rPr>
              <a:t>forced alignment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C9E04E-446C-4247-BC06-CA2423505141}"/>
              </a:ext>
            </a:extLst>
          </p:cNvPr>
          <p:cNvSpPr>
            <a:spLocks noGrp="1"/>
          </p:cNvSpPr>
          <p:nvPr/>
        </p:nvSpPr>
        <p:spPr>
          <a:xfrm>
            <a:off x="4686300" y="1885950"/>
            <a:ext cx="2343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17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Annotated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64D8DE-BEB5-44FE-A8C0-06A1E3F7E43F}"/>
              </a:ext>
            </a:extLst>
          </p:cNvPr>
          <p:cNvSpPr>
            <a:spLocks noGrp="1"/>
          </p:cNvSpPr>
          <p:nvPr/>
        </p:nvSpPr>
        <p:spPr>
          <a:xfrm>
            <a:off x="4686300" y="2305050"/>
            <a:ext cx="2343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4748B"/>
                </a:solidFill>
                <a:latin typeface="Arial"/>
                <a:ea typeface="Arial"/>
                <a:cs typeface="Arial"/>
              </a:rPr>
              <a:t>manual realignment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DEC4C0-6083-4784-9B8C-2F1B1D511330}"/>
              </a:ext>
            </a:extLst>
          </p:cNvPr>
          <p:cNvSpPr>
            <a:spLocks noGrp="1"/>
          </p:cNvSpPr>
          <p:nvPr/>
        </p:nvSpPr>
        <p:spPr>
          <a:xfrm>
            <a:off x="8267700" y="1885950"/>
            <a:ext cx="2343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17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5A3684-0373-46C6-8DCE-320B6C36E3C3}"/>
              </a:ext>
            </a:extLst>
          </p:cNvPr>
          <p:cNvSpPr>
            <a:spLocks noGrp="1"/>
          </p:cNvSpPr>
          <p:nvPr/>
        </p:nvSpPr>
        <p:spPr>
          <a:xfrm>
            <a:off x="8267700" y="2305050"/>
            <a:ext cx="2343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4748B"/>
                </a:solidFill>
                <a:latin typeface="Arial"/>
                <a:ea typeface="Arial"/>
                <a:cs typeface="Arial"/>
              </a:rPr>
              <a:t>final refinement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C283CC-FB06-4C68-B28E-00CC13FC0891}"/>
              </a:ext>
            </a:extLst>
          </p:cNvPr>
          <p:cNvSpPr>
            <a:spLocks noGrp="1"/>
          </p:cNvSpPr>
          <p:nvPr/>
        </p:nvSpPr>
        <p:spPr>
          <a:xfrm>
            <a:off x="876300" y="3486150"/>
            <a:ext cx="5232894" cy="723900"/>
          </a:xfrm>
          <a:prstGeom prst="rect">
            <a:avLst/>
          </a:prstGeom>
          <a:solidFill>
            <a:srgbClr val="1D355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D3E94B-FCAE-4026-8DBD-0405B9B48F7C}"/>
              </a:ext>
            </a:extLst>
          </p:cNvPr>
          <p:cNvSpPr>
            <a:spLocks noGrp="1"/>
          </p:cNvSpPr>
          <p:nvPr/>
        </p:nvSpPr>
        <p:spPr>
          <a:xfrm>
            <a:off x="895350" y="3714750"/>
            <a:ext cx="519479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50.3%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1CC913-F575-499F-9110-AED0ECAAAFE0}"/>
              </a:ext>
            </a:extLst>
          </p:cNvPr>
          <p:cNvSpPr>
            <a:spLocks noGrp="1"/>
          </p:cNvSpPr>
          <p:nvPr/>
        </p:nvSpPr>
        <p:spPr>
          <a:xfrm>
            <a:off x="781050" y="4324350"/>
            <a:ext cx="542339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/>
          <a:p>
            <a:pPr algn="ctr"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Further refinement after</a:t>
            </a:r>
          </a:p>
          <a:p>
            <a:pPr algn="ctr"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annotator improvement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C68669-8FC2-4EFA-807B-8C7994E6731D}"/>
              </a:ext>
            </a:extLst>
          </p:cNvPr>
          <p:cNvSpPr>
            <a:spLocks noGrp="1"/>
          </p:cNvSpPr>
          <p:nvPr/>
        </p:nvSpPr>
        <p:spPr>
          <a:xfrm>
            <a:off x="6109194" y="3486150"/>
            <a:ext cx="3346098" cy="723900"/>
          </a:xfrm>
          <a:prstGeom prst="rect">
            <a:avLst/>
          </a:prstGeom>
          <a:solidFill>
            <a:srgbClr val="3F8FC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BC9329-630B-429E-855C-5E59A32C801C}"/>
              </a:ext>
            </a:extLst>
          </p:cNvPr>
          <p:cNvSpPr>
            <a:spLocks noGrp="1"/>
          </p:cNvSpPr>
          <p:nvPr/>
        </p:nvSpPr>
        <p:spPr>
          <a:xfrm>
            <a:off x="6128244" y="3714750"/>
            <a:ext cx="330799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32.2%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9192B2-CC1E-4E91-87A9-C09676C16A39}"/>
              </a:ext>
            </a:extLst>
          </p:cNvPr>
          <p:cNvSpPr>
            <a:spLocks noGrp="1"/>
          </p:cNvSpPr>
          <p:nvPr/>
        </p:nvSpPr>
        <p:spPr>
          <a:xfrm>
            <a:off x="6013944" y="4324350"/>
            <a:ext cx="3536598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/>
          <a:p>
            <a:pPr algn="ctr"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Original error unchanged</a:t>
            </a:r>
          </a:p>
          <a:p>
            <a:pPr algn="ctr"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after annotation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111A7F-407A-48CE-A41E-F5233819DEA8}"/>
              </a:ext>
            </a:extLst>
          </p:cNvPr>
          <p:cNvSpPr>
            <a:spLocks noGrp="1"/>
          </p:cNvSpPr>
          <p:nvPr/>
        </p:nvSpPr>
        <p:spPr>
          <a:xfrm>
            <a:off x="9455292" y="3486150"/>
            <a:ext cx="1681890" cy="723900"/>
          </a:xfrm>
          <a:prstGeom prst="rect">
            <a:avLst/>
          </a:prstGeom>
          <a:solidFill>
            <a:srgbClr val="D98C5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C1A177-1CD3-4287-AE2A-6062CD221C25}"/>
              </a:ext>
            </a:extLst>
          </p:cNvPr>
          <p:cNvSpPr>
            <a:spLocks noGrp="1"/>
          </p:cNvSpPr>
          <p:nvPr/>
        </p:nvSpPr>
        <p:spPr>
          <a:xfrm>
            <a:off x="9474342" y="3714750"/>
            <a:ext cx="164379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16.2%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8E5F58-5358-4DCD-8745-6A359DA1BD83}"/>
              </a:ext>
            </a:extLst>
          </p:cNvPr>
          <p:cNvSpPr>
            <a:spLocks noGrp="1"/>
          </p:cNvSpPr>
          <p:nvPr/>
        </p:nvSpPr>
        <p:spPr>
          <a:xfrm>
            <a:off x="9360042" y="4324350"/>
            <a:ext cx="187239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/>
          <a:p>
            <a:pPr algn="ctr"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Annotator change moved</a:t>
            </a:r>
          </a:p>
          <a:p>
            <a:pPr algn="ctr"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away from final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57807C6-39D8-4ED5-BC3F-6A3C1870A633}"/>
              </a:ext>
            </a:extLst>
          </p:cNvPr>
          <p:cNvSpPr>
            <a:spLocks noGrp="1"/>
          </p:cNvSpPr>
          <p:nvPr/>
        </p:nvSpPr>
        <p:spPr>
          <a:xfrm>
            <a:off x="11137182" y="3486150"/>
            <a:ext cx="140418" cy="723900"/>
          </a:xfrm>
          <a:prstGeom prst="rect">
            <a:avLst/>
          </a:prstGeom>
          <a:solidFill>
            <a:srgbClr val="94A3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CB45FE-D1BD-44B1-BA08-22E0B960E7B5}"/>
              </a:ext>
            </a:extLst>
          </p:cNvPr>
          <p:cNvSpPr>
            <a:spLocks noGrp="1"/>
          </p:cNvSpPr>
          <p:nvPr/>
        </p:nvSpPr>
        <p:spPr>
          <a:xfrm>
            <a:off x="11041932" y="4324350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0"/>
          </a:bodyPr>
          <a:lstStyle/>
          <a:p>
            <a:pPr algn="ctr"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Neutral / equivalent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854517F-8732-4B5A-958C-91C8EF6B2565}"/>
              </a:ext>
            </a:extLst>
          </p:cNvPr>
          <p:cNvSpPr>
            <a:spLocks noGrp="1"/>
          </p:cNvSpPr>
          <p:nvPr/>
        </p:nvSpPr>
        <p:spPr>
          <a:xfrm>
            <a:off x="876300" y="5162550"/>
            <a:ext cx="10401300" cy="685800"/>
          </a:xfrm>
          <a:prstGeom prst="roundRect">
            <a:avLst>
              <a:gd name="adj" fmla="val 16667"/>
            </a:avLst>
          </a:prstGeom>
          <a:solidFill>
            <a:srgbClr val="EFF7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A4CDE0-3431-4DA1-ADB7-992246DC137A}"/>
              </a:ext>
            </a:extLst>
          </p:cNvPr>
          <p:cNvSpPr>
            <a:spLocks noGrp="1"/>
          </p:cNvSpPr>
          <p:nvPr/>
        </p:nvSpPr>
        <p:spPr>
          <a:xfrm>
            <a:off x="1143000" y="5362575"/>
            <a:ext cx="9867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44"/>
          </a:bodyPr>
          <a:lstStyle/>
          <a:p>
            <a:pPr algn="ctr">
              <a:defRPr sz="225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The derived rate is a process measure—not a pure error rate.</a:t>
            </a:r>
          </a:p>
        </p:txBody>
      </p:sp>
    </p:spTree>
    <p:extLst>
      <p:ext uri="{BB962C8B-B14F-4D97-AF65-F5344CB8AC3E}">
        <p14:creationId xmlns:p14="http://schemas.microsoft.com/office/powerpoint/2010/main" val="1320326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3DAA90A-10FF-4945-9DA7-F16E8A7A62E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SIGDIAL 2026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4D4EE1-AB7B-4D80-AC6A-263A21EBE791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Make verification auditable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12CA99-7A55-4860-BB23-17CA55EFC07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972800" cy="38100"/>
          </a:xfrm>
          <a:prstGeom prst="rect">
            <a:avLst/>
          </a:prstGeom>
          <a:solidFill>
            <a:srgbClr val="6CAC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8CF87A-2C0A-4DE6-8817-E441303E5A6F}"/>
              </a:ext>
            </a:extLst>
          </p:cNvPr>
          <p:cNvSpPr>
            <a:spLocks noGrp="1"/>
          </p:cNvSpPr>
          <p:nvPr/>
        </p:nvSpPr>
        <p:spPr>
          <a:xfrm>
            <a:off x="11239500" y="64389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94A3B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7D86315F-4DFA-4E27-A9AC-E4AAE797B347}"/>
              </a:ext>
            </a:extLst>
          </p:cNvPr>
          <p:cNvSpPr>
            <a:spLocks noGrp="1"/>
          </p:cNvSpPr>
          <p:nvPr/>
        </p:nvSpPr>
        <p:spPr>
          <a:xfrm>
            <a:off x="1409700" y="3028950"/>
            <a:ext cx="9372600" cy="0"/>
          </a:xfrm>
          <a:prstGeom prst="line">
            <a:avLst/>
          </a:prstGeom>
          <a:noFill/>
          <a:ln w="285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7D54E98-0377-42DA-A89D-4431A7A93014}"/>
              </a:ext>
            </a:extLst>
          </p:cNvPr>
          <p:cNvSpPr>
            <a:spLocks noGrp="1"/>
          </p:cNvSpPr>
          <p:nvPr/>
        </p:nvSpPr>
        <p:spPr>
          <a:xfrm>
            <a:off x="1485900" y="2647950"/>
            <a:ext cx="762000" cy="762000"/>
          </a:xfrm>
          <a:prstGeom prst="ellipse">
            <a:avLst/>
          </a:prstGeom>
          <a:solidFill>
            <a:srgbClr val="1D355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22D691-F59B-4961-83EA-69AB9501A3D7}"/>
              </a:ext>
            </a:extLst>
          </p:cNvPr>
          <p:cNvSpPr>
            <a:spLocks noGrp="1"/>
          </p:cNvSpPr>
          <p:nvPr/>
        </p:nvSpPr>
        <p:spPr>
          <a:xfrm>
            <a:off x="1485900" y="2838450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2E70AE-7E5C-4336-B25A-AFCF35370A68}"/>
              </a:ext>
            </a:extLst>
          </p:cNvPr>
          <p:cNvSpPr>
            <a:spLocks noGrp="1"/>
          </p:cNvSpPr>
          <p:nvPr/>
        </p:nvSpPr>
        <p:spPr>
          <a:xfrm>
            <a:off x="762000" y="363855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662"/>
          </a:bodyPr>
          <a:lstStyle/>
          <a:p>
            <a:pPr algn="ctr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Preserve evidence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887D66-9042-44C7-AFA0-B60CCF89524B}"/>
              </a:ext>
            </a:extLst>
          </p:cNvPr>
          <p:cNvSpPr>
            <a:spLocks noGrp="1"/>
          </p:cNvSpPr>
          <p:nvPr/>
        </p:nvSpPr>
        <p:spPr>
          <a:xfrm>
            <a:off x="571500" y="4191000"/>
            <a:ext cx="2590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0298"/>
          </a:bodyPr>
          <a:lstStyle/>
          <a:p>
            <a:pPr algn="ctr">
              <a:defRPr sz="15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4748B"/>
                </a:solidFill>
                <a:latin typeface="Arial"/>
                <a:ea typeface="Arial"/>
                <a:cs typeface="Arial"/>
              </a:rPr>
              <a:t>Log edit events directly—or derive typed records</a:t>
            </a:r>
          </a:p>
          <a:p>
            <a:pPr algn="ctr">
              <a:defRPr sz="15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4748B"/>
                </a:solidFill>
                <a:latin typeface="Arial"/>
                <a:ea typeface="Arial"/>
                <a:cs typeface="Arial"/>
              </a:rPr>
              <a:t>from versioned files—with metadata.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2512C8-8637-4881-816F-C5CE2DE9D07E}"/>
              </a:ext>
            </a:extLst>
          </p:cNvPr>
          <p:cNvSpPr>
            <a:spLocks noGrp="1"/>
          </p:cNvSpPr>
          <p:nvPr/>
        </p:nvSpPr>
        <p:spPr>
          <a:xfrm>
            <a:off x="5029200" y="2647950"/>
            <a:ext cx="762000" cy="762000"/>
          </a:xfrm>
          <a:prstGeom prst="ellipse">
            <a:avLst/>
          </a:prstGeom>
          <a:solidFill>
            <a:srgbClr val="1D355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B31774-054F-4E03-9AC2-BE7307341E3A}"/>
              </a:ext>
            </a:extLst>
          </p:cNvPr>
          <p:cNvSpPr>
            <a:spLocks noGrp="1"/>
          </p:cNvSpPr>
          <p:nvPr/>
        </p:nvSpPr>
        <p:spPr>
          <a:xfrm>
            <a:off x="5029200" y="2838450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14F0AE-5522-4D04-AFF9-9415EFB18726}"/>
              </a:ext>
            </a:extLst>
          </p:cNvPr>
          <p:cNvSpPr>
            <a:spLocks noGrp="1"/>
          </p:cNvSpPr>
          <p:nvPr/>
        </p:nvSpPr>
        <p:spPr>
          <a:xfrm>
            <a:off x="4305300" y="363855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452"/>
          </a:bodyPr>
          <a:lstStyle/>
          <a:p>
            <a:pPr algn="ctr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Cross assignments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58A014-F2B9-4285-B5C9-E38E81D1176E}"/>
              </a:ext>
            </a:extLst>
          </p:cNvPr>
          <p:cNvSpPr>
            <a:spLocks noGrp="1"/>
          </p:cNvSpPr>
          <p:nvPr/>
        </p:nvSpPr>
        <p:spPr>
          <a:xfrm>
            <a:off x="4114800" y="4191000"/>
            <a:ext cx="2590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4748B"/>
                </a:solidFill>
                <a:latin typeface="Arial"/>
                <a:ea typeface="Arial"/>
                <a:cs typeface="Arial"/>
              </a:rPr>
              <a:t>Use at least two verifiers</a:t>
            </a:r>
          </a:p>
          <a:p>
            <a:pPr algn="ctr">
              <a:defRPr sz="15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4748B"/>
                </a:solidFill>
                <a:latin typeface="Arial"/>
                <a:ea typeface="Arial"/>
                <a:cs typeface="Arial"/>
              </a:rPr>
              <a:t>per annotator, with overlap.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2FA9150-09A5-4CAA-BE9B-EE4A269C1580}"/>
              </a:ext>
            </a:extLst>
          </p:cNvPr>
          <p:cNvSpPr>
            <a:spLocks noGrp="1"/>
          </p:cNvSpPr>
          <p:nvPr/>
        </p:nvSpPr>
        <p:spPr>
          <a:xfrm>
            <a:off x="8572500" y="2647950"/>
            <a:ext cx="762000" cy="762000"/>
          </a:xfrm>
          <a:prstGeom prst="ellipse">
            <a:avLst/>
          </a:prstGeom>
          <a:solidFill>
            <a:srgbClr val="1D355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897420-CCFD-4243-8A47-8EA5CFB00C2A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D69BDB-E47C-4FDC-9584-FBAC299F8537}"/>
              </a:ext>
            </a:extLst>
          </p:cNvPr>
          <p:cNvSpPr>
            <a:spLocks noGrp="1"/>
          </p:cNvSpPr>
          <p:nvPr/>
        </p:nvSpPr>
        <p:spPr>
          <a:xfrm>
            <a:off x="7848600" y="363855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6491"/>
          </a:bodyPr>
          <a:lstStyle/>
          <a:p>
            <a:pPr algn="ctr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Release data + method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1D7E3-8783-4060-A52D-A0E68F8D6182}"/>
              </a:ext>
            </a:extLst>
          </p:cNvPr>
          <p:cNvSpPr>
            <a:spLocks noGrp="1"/>
          </p:cNvSpPr>
          <p:nvPr/>
        </p:nvSpPr>
        <p:spPr>
          <a:xfrm>
            <a:off x="7658100" y="4191000"/>
            <a:ext cx="2590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38"/>
          </a:bodyPr>
          <a:lstStyle/>
          <a:p>
            <a:pPr algn="ctr">
              <a:defRPr sz="15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4748B"/>
                </a:solidFill>
                <a:latin typeface="Arial"/>
                <a:ea typeface="Arial"/>
                <a:cs typeface="Arial"/>
              </a:rPr>
              <a:t>Share versions, derived records,</a:t>
            </a:r>
          </a:p>
          <a:p>
            <a:pPr algn="ctr">
              <a:defRPr sz="15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4748B"/>
                </a:solidFill>
                <a:latin typeface="Arial"/>
                <a:ea typeface="Arial"/>
                <a:cs typeface="Arial"/>
              </a:rPr>
              <a:t>and comparison code.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5083B97-5719-4A57-86BA-E3CD3AA8F5E4}"/>
              </a:ext>
            </a:extLst>
          </p:cNvPr>
          <p:cNvSpPr>
            <a:spLocks noGrp="1"/>
          </p:cNvSpPr>
          <p:nvPr/>
        </p:nvSpPr>
        <p:spPr>
          <a:xfrm>
            <a:off x="1219200" y="5372100"/>
            <a:ext cx="9753600" cy="723900"/>
          </a:xfrm>
          <a:prstGeom prst="roundRect">
            <a:avLst>
              <a:gd name="adj" fmla="val 15789"/>
            </a:avLst>
          </a:prstGeom>
          <a:solidFill>
            <a:srgbClr val="EFF7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217C56-04B5-4F39-A50B-57BAD093C5A7}"/>
              </a:ext>
            </a:extLst>
          </p:cNvPr>
          <p:cNvSpPr>
            <a:spLocks noGrp="1"/>
          </p:cNvSpPr>
          <p:nvPr/>
        </p:nvSpPr>
        <p:spPr>
          <a:xfrm>
            <a:off x="1581150" y="5581650"/>
            <a:ext cx="9029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25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For RASwDA: improve boundary-placement support first.</a:t>
            </a:r>
          </a:p>
        </p:txBody>
      </p:sp>
    </p:spTree>
    <p:extLst>
      <p:ext uri="{BB962C8B-B14F-4D97-AF65-F5344CB8AC3E}">
        <p14:creationId xmlns:p14="http://schemas.microsoft.com/office/powerpoint/2010/main" val="13409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23705BF-EDD6-40B3-B71F-130E837D0F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CAC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C4604D-B84A-4260-A6C7-4AF0FDF5BEAE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8096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Correction count is a derived joint measure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D858FBB-33C5-43A7-8A9B-06D05C8F7C81}"/>
              </a:ext>
            </a:extLst>
          </p:cNvPr>
          <p:cNvSpPr>
            <a:spLocks noGrp="1"/>
          </p:cNvSpPr>
          <p:nvPr/>
        </p:nvSpPr>
        <p:spPr>
          <a:xfrm>
            <a:off x="742950" y="2095500"/>
            <a:ext cx="190500" cy="190500"/>
          </a:xfrm>
          <a:prstGeom prst="ellipse">
            <a:avLst/>
          </a:prstGeom>
          <a:solidFill>
            <a:srgbClr val="3F8FC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73CF46-4BD1-4009-BB90-99C0C74E466A}"/>
              </a:ext>
            </a:extLst>
          </p:cNvPr>
          <p:cNvSpPr>
            <a:spLocks noGrp="1"/>
          </p:cNvSpPr>
          <p:nvPr/>
        </p:nvSpPr>
        <p:spPr>
          <a:xfrm>
            <a:off x="1123950" y="200025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Crossed design + derived records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1E3077-9353-414F-A8A5-A4C82AEFA85C}"/>
              </a:ext>
            </a:extLst>
          </p:cNvPr>
          <p:cNvSpPr>
            <a:spLocks noGrp="1"/>
          </p:cNvSpPr>
          <p:nvPr/>
        </p:nvSpPr>
        <p:spPr>
          <a:xfrm>
            <a:off x="1123950" y="2438400"/>
            <a:ext cx="6381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34155"/>
                </a:solidFill>
                <a:latin typeface="Arial"/>
                <a:ea typeface="Arial"/>
                <a:cs typeface="Arial"/>
              </a:rPr>
              <a:t>separate annotator, verifier, batch, and residual components.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781688-A070-48E4-A087-5C79337666C0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190500" cy="190500"/>
          </a:xfrm>
          <a:prstGeom prst="ellipse">
            <a:avLst/>
          </a:prstGeom>
          <a:solidFill>
            <a:srgbClr val="3F8FC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405328-D2AF-49A8-9F69-70082EDE7866}"/>
              </a:ext>
            </a:extLst>
          </p:cNvPr>
          <p:cNvSpPr>
            <a:spLocks noGrp="1"/>
          </p:cNvSpPr>
          <p:nvPr/>
        </p:nvSpPr>
        <p:spPr>
          <a:xfrm>
            <a:off x="1123950" y="316230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10.8% vs. 0.0%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4897B4-5761-4D9B-9639-049BD48E35C4}"/>
              </a:ext>
            </a:extLst>
          </p:cNvPr>
          <p:cNvSpPr>
            <a:spLocks noGrp="1"/>
          </p:cNvSpPr>
          <p:nvPr/>
        </p:nvSpPr>
        <p:spPr>
          <a:xfrm>
            <a:off x="1123950" y="3600450"/>
            <a:ext cx="6381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34155"/>
                </a:solidFill>
                <a:latin typeface="Arial"/>
                <a:ea typeface="Arial"/>
                <a:cs typeface="Arial"/>
              </a:rPr>
              <a:t>Annotator identity matters modestly; verifier identity does not detectably differ.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85FDA5-F36D-403A-8963-C5EE07B224A9}"/>
              </a:ext>
            </a:extLst>
          </p:cNvPr>
          <p:cNvSpPr>
            <a:spLocks noGrp="1"/>
          </p:cNvSpPr>
          <p:nvPr/>
        </p:nvSpPr>
        <p:spPr>
          <a:xfrm>
            <a:off x="742950" y="4419600"/>
            <a:ext cx="190500" cy="190500"/>
          </a:xfrm>
          <a:prstGeom prst="ellipse">
            <a:avLst/>
          </a:prstGeom>
          <a:solidFill>
            <a:srgbClr val="3F8FC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7F5896-E634-439A-8208-2397C7889F9A}"/>
              </a:ext>
            </a:extLst>
          </p:cNvPr>
          <p:cNvSpPr>
            <a:spLocks noGrp="1"/>
          </p:cNvSpPr>
          <p:nvPr/>
        </p:nvSpPr>
        <p:spPr>
          <a:xfrm>
            <a:off x="1123950" y="432435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58.5% boundary-shift records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047F66-B1B4-47DE-A3D7-8301A15AD6E1}"/>
              </a:ext>
            </a:extLst>
          </p:cNvPr>
          <p:cNvSpPr>
            <a:spLocks noGrp="1"/>
          </p:cNvSpPr>
          <p:nvPr/>
        </p:nvSpPr>
        <p:spPr>
          <a:xfrm>
            <a:off x="1123950" y="4762500"/>
            <a:ext cx="6381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34155"/>
                </a:solidFill>
                <a:latin typeface="Arial"/>
                <a:ea typeface="Arial"/>
                <a:cs typeface="Arial"/>
              </a:rPr>
              <a:t>Audio anchoring is consistent with limited room for verifier-specific differences.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64172C5-5990-4531-AECB-D97E1742B0C0}"/>
              </a:ext>
            </a:extLst>
          </p:cNvPr>
          <p:cNvSpPr>
            <a:spLocks noGrp="1"/>
          </p:cNvSpPr>
          <p:nvPr/>
        </p:nvSpPr>
        <p:spPr>
          <a:xfrm>
            <a:off x="8648700" y="1790700"/>
            <a:ext cx="2819400" cy="3752850"/>
          </a:xfrm>
          <a:prstGeom prst="roundRect">
            <a:avLst>
              <a:gd name="adj" fmla="val 6081"/>
            </a:avLst>
          </a:prstGeom>
          <a:solidFill>
            <a:srgbClr val="EFF7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67800" y="2152650"/>
            <a:ext cx="1981200" cy="19812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7601631-C4B9-43EE-8E84-D50057B64EE4}"/>
              </a:ext>
            </a:extLst>
          </p:cNvPr>
          <p:cNvSpPr>
            <a:spLocks noGrp="1"/>
          </p:cNvSpPr>
          <p:nvPr/>
        </p:nvSpPr>
        <p:spPr>
          <a:xfrm>
            <a:off x="8877300" y="4343400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025" b="1">
                <a:solidFill>
                  <a:srgbClr val="1D355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3557"/>
                </a:solidFill>
                <a:latin typeface="Arial"/>
                <a:ea typeface="Arial"/>
                <a:cs typeface="Arial"/>
              </a:rPr>
              <a:t>Read the paper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4460F0-9D3C-4091-A485-AB9F68EE8DDD}"/>
              </a:ext>
            </a:extLst>
          </p:cNvPr>
          <p:cNvSpPr>
            <a:spLocks noGrp="1"/>
          </p:cNvSpPr>
          <p:nvPr/>
        </p:nvSpPr>
        <p:spPr>
          <a:xfrm>
            <a:off x="8705850" y="4838700"/>
            <a:ext cx="2743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aclanthology.org/2026.sigdial-1.29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684634-AC31-4A44-8261-65E7F991D495}"/>
              </a:ext>
            </a:extLst>
          </p:cNvPr>
          <p:cNvSpPr>
            <a:spLocks noGrp="1"/>
          </p:cNvSpPr>
          <p:nvPr/>
        </p:nvSpPr>
        <p:spPr>
          <a:xfrm>
            <a:off x="647700" y="59817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3F8FC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F8FC1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78784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</Words>
  <Application>Microsoft Macintosh PowerPoint</Application>
  <DocSecurity>0</DocSecurity>
  <PresentationFormat>Widescreen</PresentationFormat>
  <Paragraphs>229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 Mono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zt2263</cp:lastModifiedBy>
  <cp:revision>1</cp:revision>
  <dcterms:created xsi:type="dcterms:W3CDTF">2026-08-01T03:57:57Z</dcterms:created>
  <dcterms:modified xsi:type="dcterms:W3CDTF">2026-08-01T04:09:00Z</dcterms:modified>
</cp:coreProperties>
</file>